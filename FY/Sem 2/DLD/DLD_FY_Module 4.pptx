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8" r:id="rId31"/>
    <p:sldId id="287" r:id="rId32"/>
    <p:sldId id="290" r:id="rId33"/>
    <p:sldId id="289" r:id="rId34"/>
    <p:sldId id="291" r:id="rId35"/>
    <p:sldId id="307" r:id="rId36"/>
    <p:sldId id="294" r:id="rId37"/>
    <p:sldId id="293" r:id="rId38"/>
    <p:sldId id="292" r:id="rId39"/>
    <p:sldId id="301" r:id="rId40"/>
    <p:sldId id="302" r:id="rId41"/>
    <p:sldId id="297" r:id="rId42"/>
    <p:sldId id="309" r:id="rId43"/>
    <p:sldId id="303" r:id="rId44"/>
    <p:sldId id="298" r:id="rId45"/>
    <p:sldId id="299" r:id="rId46"/>
    <p:sldId id="300" r:id="rId47"/>
    <p:sldId id="306" r:id="rId48"/>
    <p:sldId id="305" r:id="rId49"/>
    <p:sldId id="304" r:id="rId50"/>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762" y="-90"/>
      </p:cViewPr>
      <p:guideLst>
        <p:guide orient="horz" pos="2160"/>
        <p:guide pos="383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2138" y="2130427"/>
            <a:ext cx="10337563"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4277" y="3886200"/>
            <a:ext cx="85132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0701" y="4406902"/>
            <a:ext cx="10337563"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0701" y="2906713"/>
            <a:ext cx="10337563"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8092" y="1600202"/>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82268" y="1600202"/>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8092" y="1535113"/>
            <a:ext cx="5373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8092" y="2174875"/>
            <a:ext cx="5373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8045" y="1535113"/>
            <a:ext cx="537570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8045" y="2174875"/>
            <a:ext cx="537570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93" y="273050"/>
            <a:ext cx="4001161"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54941" y="273052"/>
            <a:ext cx="679880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8093" y="1435102"/>
            <a:ext cx="400116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3805" y="4800600"/>
            <a:ext cx="7297103"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3805" y="612775"/>
            <a:ext cx="729710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3805" y="5367338"/>
            <a:ext cx="729710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7333" y="274640"/>
            <a:ext cx="2736414"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8092" y="274640"/>
            <a:ext cx="8006543"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8092" y="274638"/>
            <a:ext cx="1094565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8092" y="1600202"/>
            <a:ext cx="1094565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8092" y="6356352"/>
            <a:ext cx="283776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4/6/2026</a:t>
            </a:fld>
            <a:endParaRPr lang="en-US"/>
          </a:p>
        </p:txBody>
      </p:sp>
      <p:sp>
        <p:nvSpPr>
          <p:cNvPr id="5" name="Footer Placeholder 4"/>
          <p:cNvSpPr>
            <a:spLocks noGrp="1"/>
          </p:cNvSpPr>
          <p:nvPr>
            <p:ph type="ftr" sz="quarter" idx="3"/>
          </p:nvPr>
        </p:nvSpPr>
        <p:spPr>
          <a:xfrm>
            <a:off x="4155295" y="6356352"/>
            <a:ext cx="385124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15984" y="6356352"/>
            <a:ext cx="283776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hyperlink" Target="https://www.geeksforgeeks.org/digital-logic/shift-registers-in-digital-logic/" TargetMode="External"/><Relationship Id="rId3" Type="http://schemas.openxmlformats.org/officeDocument/2006/relationships/image" Target="../media/image2.png"/><Relationship Id="rId7" Type="http://schemas.openxmlformats.org/officeDocument/2006/relationships/hyperlink" Target="https://www.geeksforgeeks.org/computer-networks/frequency-division-and-time-division-multiplexing/" TargetMode="External"/><Relationship Id="rId12" Type="http://schemas.openxmlformats.org/officeDocument/2006/relationships/hyperlink" Target="https://www.geeksforgeeks.org/computer-organization-architecture/introduction-to-memory-and-memory-unit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geeksforgeeks.org/digital-logic/counters-in-digital-logic/" TargetMode="External"/><Relationship Id="rId11" Type="http://schemas.openxmlformats.org/officeDocument/2006/relationships/hyperlink" Target="https://www.geeksforgeeks.org/digital-logic/registers-vs-counters/" TargetMode="External"/><Relationship Id="rId5" Type="http://schemas.openxmlformats.org/officeDocument/2006/relationships/image" Target="../media/image4.png"/><Relationship Id="rId10" Type="http://schemas.openxmlformats.org/officeDocument/2006/relationships/hyperlink" Target="https://www.geeksforgeeks.org/digital-logic/introduction-of-sequential-circuits/" TargetMode="External"/><Relationship Id="rId4" Type="http://schemas.openxmlformats.org/officeDocument/2006/relationships/image" Target="../media/image3.png"/><Relationship Id="rId9" Type="http://schemas.openxmlformats.org/officeDocument/2006/relationships/hyperlink" Target="https://www.geeksforgeeks.org/electrical-engineering/electronic-component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hyperlink" Target="https://hackatronic.com/ic74193-up-down-counter-pin-configuration-datasheet/" TargetMode="External"/><Relationship Id="rId3" Type="http://schemas.openxmlformats.org/officeDocument/2006/relationships/image" Target="../media/image2.png"/><Relationship Id="rId7" Type="http://schemas.openxmlformats.org/officeDocument/2006/relationships/hyperlink" Target="https://hackatronic.com/ic74163-pin-diagram-truth-table-counter-circuit/"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hackatronic.com/ic74163-pin-diagram-truth-table-counter-circuit/"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png"/><Relationship Id="rId7" Type="http://schemas.openxmlformats.org/officeDocument/2006/relationships/hyperlink" Target="https://www.hackatronic.com/74160-bcd-counter-circuit-diagram/"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hackatronic.com/ic74163-pin-diagram-truth-table-counter-circuit/"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hackatronic.com/74160-bcd-counter-circuit-diagram/"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geeksforgeeks.org/digital-logic/pipo-shift-register/"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geeksforgeeks.org/digital-logic/flip-flop-types-their-conversion-and-applications/"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geeksforgeeks.org/digital-logic/multiplexers-in-digital-logic/"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6.jpe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8" Type="http://schemas.openxmlformats.org/officeDocument/2006/relationships/hyperlink" Target="https://www.geeksforgeeks.org/digital-logic/flip-flop-types-their-conversion-and-applications/" TargetMode="External"/><Relationship Id="rId3" Type="http://schemas.openxmlformats.org/officeDocument/2006/relationships/image" Target="../media/image2.png"/><Relationship Id="rId7"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9.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hyperlink" Target="https://www.geeksforgeeks.org/digital-logic/counters-in-digital-logic/"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geeksforgeeks.org/digital-logic/shift-registers-in-digital-logic/"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www.geeksforgeeks.org/digital-logic/flip-flop-types-their-conversion-and-applications/" TargetMode="Externa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Google Shape;25;p1"/>
          <p:cNvSpPr txBox="1">
            <a:spLocks/>
          </p:cNvSpPr>
          <p:nvPr/>
        </p:nvSpPr>
        <p:spPr>
          <a:xfrm>
            <a:off x="2346431" y="365125"/>
            <a:ext cx="7886625" cy="1325750"/>
          </a:xfrm>
          <a:prstGeom prst="rect">
            <a:avLst/>
          </a:prstGeom>
          <a:noFill/>
          <a:ln>
            <a:noFill/>
          </a:ln>
        </p:spPr>
        <p:txBody>
          <a:bodyPr spcFirstLastPara="1" wrap="square" lIns="76790" tIns="38395" rIns="76790" bIns="3839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spcBef>
                <a:spcPts val="0"/>
              </a:spcBef>
              <a:buClr>
                <a:srgbClr val="C00000"/>
              </a:buClr>
              <a:buSzPts val="5300"/>
            </a:pPr>
            <a:r>
              <a:rPr lang="en-US" sz="3200" dirty="0" smtClean="0">
                <a:solidFill>
                  <a:srgbClr val="C00000"/>
                </a:solidFill>
                <a:latin typeface="Marcellus"/>
                <a:ea typeface="Marcellus"/>
                <a:cs typeface="Marcellus"/>
                <a:sym typeface="Marcellus"/>
              </a:rPr>
              <a:t>Digital Logic Design</a:t>
            </a:r>
            <a:endParaRPr lang="en-US" sz="3200" dirty="0">
              <a:solidFill>
                <a:srgbClr val="C00000"/>
              </a:solidFill>
              <a:latin typeface="Marcellus"/>
              <a:ea typeface="Marcellus"/>
              <a:cs typeface="Marcellus"/>
              <a:sym typeface="Marcellus"/>
            </a:endParaRPr>
          </a:p>
        </p:txBody>
      </p:sp>
      <p:sp>
        <p:nvSpPr>
          <p:cNvPr id="7" name="Google Shape;26;p1"/>
          <p:cNvSpPr txBox="1">
            <a:spLocks/>
          </p:cNvSpPr>
          <p:nvPr/>
        </p:nvSpPr>
        <p:spPr>
          <a:xfrm>
            <a:off x="3061702" y="1995583"/>
            <a:ext cx="6853688" cy="4005250"/>
          </a:xfrm>
          <a:prstGeom prst="rect">
            <a:avLst/>
          </a:prstGeom>
          <a:noFill/>
          <a:ln>
            <a:noFill/>
          </a:ln>
        </p:spPr>
        <p:txBody>
          <a:bodyPr spcFirstLastPara="1" wrap="square" lIns="76790" tIns="38395" rIns="76790" bIns="38395" anchor="t" anchorCtr="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lnSpc>
                <a:spcPct val="90000"/>
              </a:lnSpc>
              <a:spcBef>
                <a:spcPts val="0"/>
              </a:spcBef>
              <a:buSzPts val="2200"/>
              <a:buFont typeface="Arial" pitchFamily="34" charset="0"/>
              <a:buNone/>
            </a:pPr>
            <a:r>
              <a:rPr lang="en-US" sz="2500" dirty="0" smtClean="0">
                <a:solidFill>
                  <a:srgbClr val="262626"/>
                </a:solidFill>
                <a:latin typeface="Fira Sans"/>
                <a:ea typeface="Fira Sans"/>
                <a:cs typeface="Fira Sans"/>
                <a:sym typeface="Fira Sans"/>
              </a:rPr>
              <a:t>Semester II</a:t>
            </a:r>
          </a:p>
          <a:p>
            <a:pPr marL="0" indent="0" algn="ctr">
              <a:lnSpc>
                <a:spcPct val="90000"/>
              </a:lnSpc>
              <a:spcBef>
                <a:spcPts val="0"/>
              </a:spcBef>
              <a:buSzPts val="2200"/>
              <a:buFont typeface="Arial" pitchFamily="34" charset="0"/>
              <a:buNone/>
            </a:pPr>
            <a:r>
              <a:rPr lang="en-US" sz="2500" dirty="0" smtClean="0">
                <a:solidFill>
                  <a:srgbClr val="262626"/>
                </a:solidFill>
                <a:latin typeface="Fira Sans"/>
                <a:ea typeface="Fira Sans"/>
                <a:cs typeface="Fira Sans"/>
                <a:sym typeface="Fira Sans"/>
              </a:rPr>
              <a:t>FY</a:t>
            </a:r>
          </a:p>
          <a:p>
            <a:pPr marL="0" indent="0" algn="ctr">
              <a:lnSpc>
                <a:spcPct val="90000"/>
              </a:lnSpc>
              <a:spcBef>
                <a:spcPts val="0"/>
              </a:spcBef>
              <a:buSzPts val="2200"/>
              <a:buFont typeface="Arial" pitchFamily="34" charset="0"/>
              <a:buNone/>
            </a:pPr>
            <a:endParaRPr lang="en-US" sz="2500" dirty="0" smtClean="0">
              <a:solidFill>
                <a:srgbClr val="262626"/>
              </a:solidFill>
              <a:latin typeface="Fira Sans"/>
              <a:ea typeface="Fira Sans"/>
              <a:cs typeface="Fira Sans"/>
              <a:sym typeface="Fira Sans"/>
            </a:endParaRPr>
          </a:p>
          <a:p>
            <a:pPr marL="0" indent="0" algn="ctr">
              <a:lnSpc>
                <a:spcPct val="90000"/>
              </a:lnSpc>
              <a:spcBef>
                <a:spcPts val="0"/>
              </a:spcBef>
              <a:buSzPts val="2200"/>
              <a:buFont typeface="Arial" pitchFamily="34" charset="0"/>
              <a:buNone/>
            </a:pPr>
            <a:r>
              <a:rPr lang="en-US" sz="2500" dirty="0" smtClean="0">
                <a:solidFill>
                  <a:srgbClr val="262626"/>
                </a:solidFill>
                <a:latin typeface="Fira Sans"/>
                <a:ea typeface="Fira Sans"/>
                <a:cs typeface="Fira Sans"/>
                <a:sym typeface="Fira Sans"/>
              </a:rPr>
              <a:t>Course Code</a:t>
            </a:r>
          </a:p>
          <a:p>
            <a:pPr marL="0" indent="0" algn="ctr">
              <a:spcBef>
                <a:spcPts val="0"/>
              </a:spcBef>
              <a:buClr>
                <a:srgbClr val="000000"/>
              </a:buClr>
              <a:buFont typeface="Arial" pitchFamily="34" charset="0"/>
              <a:buNone/>
            </a:pPr>
            <a:r>
              <a:rPr lang="en-US" sz="2500" b="1" dirty="0" smtClean="0"/>
              <a:t>316U06C203</a:t>
            </a:r>
          </a:p>
          <a:p>
            <a:pPr marL="0" indent="0" algn="ctr">
              <a:spcBef>
                <a:spcPts val="0"/>
              </a:spcBef>
              <a:buClr>
                <a:srgbClr val="000000"/>
              </a:buClr>
              <a:buFont typeface="Arial" pitchFamily="34" charset="0"/>
              <a:buNone/>
            </a:pPr>
            <a:r>
              <a:rPr lang="en-US" sz="2500" dirty="0" smtClean="0">
                <a:solidFill>
                  <a:srgbClr val="262626"/>
                </a:solidFill>
                <a:latin typeface="Fira Sans"/>
                <a:ea typeface="Fira Sans"/>
                <a:cs typeface="Fira Sans"/>
                <a:sym typeface="Fira Sans"/>
              </a:rPr>
              <a:t>Jan – May 2026</a:t>
            </a:r>
            <a:endParaRPr lang="en-US" sz="2500" dirty="0">
              <a:solidFill>
                <a:srgbClr val="262626"/>
              </a:solidFill>
              <a:latin typeface="Marcellus"/>
              <a:ea typeface="Marcellus"/>
              <a:cs typeface="Marcellus"/>
              <a:sym typeface="Marcellus"/>
            </a:endParaRPr>
          </a:p>
        </p:txBody>
      </p:sp>
    </p:spTree>
    <p:extLst>
      <p:ext uri="{BB962C8B-B14F-4D97-AF65-F5344CB8AC3E}">
        <p14:creationId xmlns:p14="http://schemas.microsoft.com/office/powerpoint/2010/main" val="20173009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2221202" y="2720340"/>
            <a:ext cx="8077200" cy="535531"/>
          </a:xfrm>
          <a:prstGeom prst="rect">
            <a:avLst/>
          </a:prstGeom>
          <a:noFill/>
          <a:ln>
            <a:noFill/>
          </a:ln>
        </p:spPr>
        <p:txBody>
          <a:bodyPr spcFirstLastPara="1" wrap="square" lIns="76790" tIns="38395" rIns="76790" bIns="38395" anchor="ctr" anchorCtr="0">
            <a:noAutofit/>
          </a:bodyPr>
          <a:lstStyle/>
          <a:p>
            <a:pPr algn="ctr">
              <a:lnSpc>
                <a:spcPct val="90000"/>
              </a:lnSpc>
              <a:buClr>
                <a:srgbClr val="C00000"/>
              </a:buClr>
              <a:buSzPts val="5300"/>
            </a:pPr>
            <a:r>
              <a:rPr lang="en-US" sz="4000" dirty="0" smtClean="0">
                <a:solidFill>
                  <a:srgbClr val="C00000"/>
                </a:solidFill>
                <a:latin typeface="Marcellus"/>
                <a:ea typeface="Marcellus"/>
                <a:cs typeface="Marcellus"/>
              </a:rPr>
              <a:t>4. Sequential </a:t>
            </a:r>
            <a:r>
              <a:rPr lang="en-US" sz="4000" dirty="0">
                <a:solidFill>
                  <a:srgbClr val="C00000"/>
                </a:solidFill>
                <a:latin typeface="Marcellus"/>
                <a:ea typeface="Marcellus"/>
                <a:cs typeface="Marcellus"/>
              </a:rPr>
              <a:t>Logic Circuits</a:t>
            </a: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727257" y="1371600"/>
            <a:ext cx="9743595" cy="825167"/>
          </a:xfrm>
          <a:prstGeom prst="rect">
            <a:avLst/>
          </a:prstGeom>
          <a:noFill/>
          <a:ln>
            <a:noFill/>
          </a:ln>
        </p:spPr>
        <p:txBody>
          <a:bodyPr spcFirstLastPara="1" wrap="square" lIns="76790" tIns="38395" rIns="76790" bIns="38395" anchor="t" anchorCtr="0">
            <a:noAutofit/>
          </a:bodyPr>
          <a:lstStyle/>
          <a:p>
            <a:pPr algn="just">
              <a:lnSpc>
                <a:spcPct val="90000"/>
              </a:lnSpc>
              <a:buSzPts val="2200"/>
              <a:buFont typeface="Arial" pitchFamily="34" charset="0"/>
              <a:buNone/>
            </a:pPr>
            <a:r>
              <a:rPr lang="en-US" sz="2500" dirty="0">
                <a:solidFill>
                  <a:srgbClr val="262626"/>
                </a:solidFill>
                <a:latin typeface="Fira Sans"/>
                <a:ea typeface="Fira Sans"/>
                <a:cs typeface="Fira Sans"/>
              </a:rPr>
              <a:t>4.1 Latches and flip-flops: Types: SR, D, JK, T flip-flops truth tables, Excitation table, and characteristics equations.</a:t>
            </a:r>
          </a:p>
        </p:txBody>
      </p:sp>
      <p:sp>
        <p:nvSpPr>
          <p:cNvPr id="7" name="Google Shape;44;p3"/>
          <p:cNvSpPr txBox="1">
            <a:spLocks/>
          </p:cNvSpPr>
          <p:nvPr/>
        </p:nvSpPr>
        <p:spPr>
          <a:xfrm>
            <a:off x="2131685" y="274185"/>
            <a:ext cx="8546813" cy="721750"/>
          </a:xfrm>
          <a:prstGeom prst="rect">
            <a:avLst/>
          </a:prstGeom>
          <a:noFill/>
          <a:ln>
            <a:noFill/>
          </a:ln>
        </p:spPr>
        <p:txBody>
          <a:bodyPr spcFirstLastPara="1" wrap="square" lIns="76790" tIns="38395" rIns="76790" bIns="38395"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82270"/>
            <a:r>
              <a:rPr lang="en-US" sz="3000" b="1" smtClean="0">
                <a:solidFill>
                  <a:srgbClr val="C00000"/>
                </a:solidFill>
                <a:latin typeface="Marcellus" charset="0"/>
              </a:rPr>
              <a:t>Contents</a:t>
            </a:r>
            <a:endParaRPr lang="en-US" sz="3000" b="1" dirty="0">
              <a:solidFill>
                <a:srgbClr val="C00000"/>
              </a:solidFill>
              <a:latin typeface="Marcellus" charset="0"/>
            </a:endParaRPr>
          </a:p>
        </p:txBody>
      </p:sp>
      <p:sp>
        <p:nvSpPr>
          <p:cNvPr id="8" name="Rectangle 7"/>
          <p:cNvSpPr/>
          <p:nvPr/>
        </p:nvSpPr>
        <p:spPr>
          <a:xfrm>
            <a:off x="1727257" y="2672961"/>
            <a:ext cx="9601457" cy="1067912"/>
          </a:xfrm>
          <a:prstGeom prst="rect">
            <a:avLst/>
          </a:prstGeom>
          <a:noFill/>
          <a:ln>
            <a:noFill/>
          </a:ln>
        </p:spPr>
        <p:txBody>
          <a:bodyPr spcFirstLastPara="1" wrap="square" lIns="76790" tIns="38395" rIns="76790" bIns="38395" anchor="t" anchorCtr="0">
            <a:noAutofit/>
          </a:bodyPr>
          <a:lstStyle/>
          <a:p>
            <a:pPr algn="just">
              <a:lnSpc>
                <a:spcPct val="90000"/>
              </a:lnSpc>
              <a:buSzPts val="2200"/>
              <a:buFont typeface="Arial" pitchFamily="34" charset="0"/>
              <a:buNone/>
            </a:pPr>
            <a:r>
              <a:rPr lang="en-US" sz="2500" dirty="0" smtClean="0">
                <a:solidFill>
                  <a:srgbClr val="262626"/>
                </a:solidFill>
                <a:latin typeface="Fira Sans"/>
                <a:ea typeface="Fira Sans"/>
                <a:cs typeface="Fira Sans"/>
              </a:rPr>
              <a:t>4.2 Counters</a:t>
            </a:r>
            <a:r>
              <a:rPr lang="en-US" sz="2500" dirty="0">
                <a:solidFill>
                  <a:srgbClr val="262626"/>
                </a:solidFill>
                <a:latin typeface="Fira Sans"/>
                <a:ea typeface="Fira Sans"/>
                <a:cs typeface="Fira Sans"/>
              </a:rPr>
              <a:t>: Asynchronous counters, Synchronous counters, up/down counter, mod counters using </a:t>
            </a:r>
            <a:r>
              <a:rPr lang="en-US" sz="2500" dirty="0" err="1">
                <a:solidFill>
                  <a:srgbClr val="262626"/>
                </a:solidFill>
                <a:latin typeface="Fira Sans"/>
                <a:ea typeface="Fira Sans"/>
                <a:cs typeface="Fira Sans"/>
              </a:rPr>
              <a:t>flipflops</a:t>
            </a:r>
            <a:r>
              <a:rPr lang="en-US" sz="2500" dirty="0">
                <a:solidFill>
                  <a:srgbClr val="262626"/>
                </a:solidFill>
                <a:latin typeface="Fira Sans"/>
                <a:ea typeface="Fira Sans"/>
                <a:cs typeface="Fira Sans"/>
              </a:rPr>
              <a:t>, Use of MSI devices for </a:t>
            </a:r>
            <a:r>
              <a:rPr lang="en-US" sz="2500" dirty="0" smtClean="0">
                <a:solidFill>
                  <a:srgbClr val="262626"/>
                </a:solidFill>
                <a:latin typeface="Fira Sans"/>
                <a:ea typeface="Fira Sans"/>
                <a:cs typeface="Fira Sans"/>
              </a:rPr>
              <a:t>counters.</a:t>
            </a:r>
            <a:endParaRPr lang="en-US" sz="2500" dirty="0">
              <a:solidFill>
                <a:srgbClr val="262626"/>
              </a:solidFill>
              <a:latin typeface="Fira Sans"/>
              <a:ea typeface="Fira Sans"/>
              <a:cs typeface="Fira Sans"/>
            </a:endParaRPr>
          </a:p>
        </p:txBody>
      </p:sp>
      <p:sp>
        <p:nvSpPr>
          <p:cNvPr id="9" name="Rectangle 8"/>
          <p:cNvSpPr/>
          <p:nvPr/>
        </p:nvSpPr>
        <p:spPr>
          <a:xfrm>
            <a:off x="1726031" y="4114800"/>
            <a:ext cx="9601457" cy="1113472"/>
          </a:xfrm>
          <a:prstGeom prst="rect">
            <a:avLst/>
          </a:prstGeom>
          <a:noFill/>
          <a:ln>
            <a:noFill/>
          </a:ln>
        </p:spPr>
        <p:txBody>
          <a:bodyPr spcFirstLastPara="1" wrap="square" lIns="76790" tIns="38395" rIns="76790" bIns="38395" anchor="t" anchorCtr="0">
            <a:noAutofit/>
          </a:bodyPr>
          <a:lstStyle/>
          <a:p>
            <a:pPr algn="just">
              <a:lnSpc>
                <a:spcPct val="90000"/>
              </a:lnSpc>
              <a:buSzPts val="2200"/>
              <a:buFont typeface="Arial" pitchFamily="34" charset="0"/>
              <a:buNone/>
            </a:pPr>
            <a:r>
              <a:rPr lang="en-US" sz="2500" dirty="0" smtClean="0">
                <a:solidFill>
                  <a:srgbClr val="262626"/>
                </a:solidFill>
                <a:latin typeface="Fira Sans"/>
                <a:ea typeface="Fira Sans"/>
                <a:cs typeface="Fira Sans"/>
              </a:rPr>
              <a:t>4.3 Registers</a:t>
            </a:r>
            <a:r>
              <a:rPr lang="en-US" sz="2500" dirty="0">
                <a:solidFill>
                  <a:srgbClr val="262626"/>
                </a:solidFill>
                <a:latin typeface="Fira Sans"/>
                <a:ea typeface="Fira Sans"/>
                <a:cs typeface="Fira Sans"/>
              </a:rPr>
              <a:t>: Shift registers using D-FF and types of shift registers (SISO, SIPO, PIPO, PISO). MSI shift register, Ring and Johnson Counter using Shift register. </a:t>
            </a: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4328319" y="304800"/>
            <a:ext cx="3434466" cy="523220"/>
          </a:xfrm>
          <a:prstGeom prst="rect">
            <a:avLst/>
          </a:prstGeom>
        </p:spPr>
        <p:txBody>
          <a:bodyPr wrap="none">
            <a:spAutoFit/>
          </a:bodyPr>
          <a:lstStyle/>
          <a:p>
            <a:r>
              <a:rPr lang="en-US" sz="2800" b="1" dirty="0">
                <a:latin typeface="Times New Roman" pitchFamily="18" charset="0"/>
                <a:cs typeface="Times New Roman" pitchFamily="18" charset="0"/>
              </a:rPr>
              <a:t>Flip-Flop </a:t>
            </a:r>
            <a:r>
              <a:rPr lang="en-US" sz="2800" b="1" dirty="0" smtClean="0">
                <a:latin typeface="Times New Roman" pitchFamily="18" charset="0"/>
                <a:cs typeface="Times New Roman" pitchFamily="18" charset="0"/>
              </a:rPr>
              <a:t>&amp; its Types</a:t>
            </a:r>
            <a:endParaRPr lang="en-US" sz="2800" b="1" dirty="0">
              <a:latin typeface="Times New Roman" pitchFamily="18" charset="0"/>
              <a:cs typeface="Times New Roman" pitchFamily="18" charset="0"/>
            </a:endParaRPr>
          </a:p>
        </p:txBody>
      </p:sp>
      <p:sp>
        <p:nvSpPr>
          <p:cNvPr id="7" name="Rectangle 6"/>
          <p:cNvSpPr/>
          <p:nvPr/>
        </p:nvSpPr>
        <p:spPr>
          <a:xfrm>
            <a:off x="1444150" y="1196846"/>
            <a:ext cx="10048394" cy="3046988"/>
          </a:xfrm>
          <a:prstGeom prst="rect">
            <a:avLst/>
          </a:prstGeom>
        </p:spPr>
        <p:txBody>
          <a:bodyPr wrap="square">
            <a:spAutoFit/>
          </a:bodyPr>
          <a:lstStyle/>
          <a:p>
            <a:pPr algn="just" fontAlgn="base"/>
            <a:r>
              <a:rPr lang="en-US" sz="2400" dirty="0">
                <a:latin typeface="Times New Roman" pitchFamily="18" charset="0"/>
                <a:cs typeface="Times New Roman" pitchFamily="18" charset="0"/>
              </a:rPr>
              <a:t>The flip-flop is a circuit that maintains a state until directed by input to change the state. A basic flip-flop can be constructed using four-NAND or four-NOR gates. A flip-flop is popularly known as the basic digital memory circuit. It has its two states as logic 1(High) and logic 0 (Low) states.</a:t>
            </a:r>
          </a:p>
          <a:p>
            <a:pPr algn="just" fontAlgn="base"/>
            <a:r>
              <a:rPr lang="en-US" sz="2400" dirty="0">
                <a:latin typeface="Times New Roman" pitchFamily="18" charset="0"/>
                <a:cs typeface="Times New Roman" pitchFamily="18" charset="0"/>
              </a:rPr>
              <a:t>A flip-flop is a sequential circuit which consists of a single binary state of information or data.</a:t>
            </a:r>
          </a:p>
          <a:p>
            <a:pPr algn="just" fontAlgn="base"/>
            <a:r>
              <a:rPr lang="en-US" sz="2400" dirty="0">
                <a:latin typeface="Times New Roman" pitchFamily="18" charset="0"/>
                <a:cs typeface="Times New Roman" pitchFamily="18" charset="0"/>
              </a:rPr>
              <a:t>The digital circuit is a flip-flop which has two outputs and are of opposite states. It is also known as a </a:t>
            </a:r>
            <a:r>
              <a:rPr lang="en-US" sz="2400" dirty="0" err="1">
                <a:latin typeface="Times New Roman" pitchFamily="18" charset="0"/>
                <a:cs typeface="Times New Roman" pitchFamily="18" charset="0"/>
              </a:rPr>
              <a:t>Bistable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Multivibrator</a:t>
            </a:r>
            <a:r>
              <a:rPr lang="en-US" sz="2400" dirty="0">
                <a:latin typeface="Times New Roman" pitchFamily="18" charset="0"/>
                <a:cs typeface="Times New Roman" pitchFamily="18" charset="0"/>
              </a:rPr>
              <a:t>.</a:t>
            </a:r>
          </a:p>
        </p:txBody>
      </p:sp>
      <p:sp>
        <p:nvSpPr>
          <p:cNvPr id="8" name="Rectangle 7"/>
          <p:cNvSpPr/>
          <p:nvPr/>
        </p:nvSpPr>
        <p:spPr>
          <a:xfrm>
            <a:off x="3428284" y="4553060"/>
            <a:ext cx="6080125" cy="1938992"/>
          </a:xfrm>
          <a:prstGeom prst="rect">
            <a:avLst/>
          </a:prstGeom>
        </p:spPr>
        <p:txBody>
          <a:bodyPr>
            <a:spAutoFit/>
          </a:bodyPr>
          <a:lstStyle/>
          <a:p>
            <a:pPr fontAlgn="base"/>
            <a:r>
              <a:rPr lang="en-US" sz="2000" b="1" dirty="0">
                <a:latin typeface="Times New Roman" pitchFamily="18" charset="0"/>
                <a:cs typeface="Times New Roman" pitchFamily="18" charset="0"/>
              </a:rPr>
              <a:t>Types of Flip-Flops</a:t>
            </a:r>
          </a:p>
          <a:p>
            <a:pPr fontAlgn="base"/>
            <a:r>
              <a:rPr lang="en-US" sz="2000" dirty="0">
                <a:latin typeface="Times New Roman" pitchFamily="18" charset="0"/>
                <a:cs typeface="Times New Roman" pitchFamily="18" charset="0"/>
              </a:rPr>
              <a:t>Given Below are the Types of Flip-Flop</a:t>
            </a:r>
          </a:p>
          <a:p>
            <a:pPr fontAlgn="base"/>
            <a:r>
              <a:rPr lang="en-US" sz="2000" dirty="0">
                <a:latin typeface="Times New Roman" pitchFamily="18" charset="0"/>
                <a:cs typeface="Times New Roman" pitchFamily="18" charset="0"/>
              </a:rPr>
              <a:t>SR Flip Flop</a:t>
            </a:r>
          </a:p>
          <a:p>
            <a:pPr fontAlgn="base"/>
            <a:r>
              <a:rPr lang="en-US" sz="2000" dirty="0">
                <a:latin typeface="Times New Roman" pitchFamily="18" charset="0"/>
                <a:cs typeface="Times New Roman" pitchFamily="18" charset="0"/>
              </a:rPr>
              <a:t>JK Flip Flop</a:t>
            </a:r>
          </a:p>
          <a:p>
            <a:pPr fontAlgn="base"/>
            <a:r>
              <a:rPr lang="en-US" sz="2000" dirty="0">
                <a:latin typeface="Times New Roman" pitchFamily="18" charset="0"/>
                <a:cs typeface="Times New Roman" pitchFamily="18" charset="0"/>
              </a:rPr>
              <a:t>D Flip Flop</a:t>
            </a:r>
          </a:p>
          <a:p>
            <a:pPr fontAlgn="base"/>
            <a:r>
              <a:rPr lang="en-US" sz="2000" dirty="0">
                <a:latin typeface="Times New Roman" pitchFamily="18" charset="0"/>
                <a:cs typeface="Times New Roman" pitchFamily="18" charset="0"/>
              </a:rPr>
              <a:t>T Flip Flop</a:t>
            </a: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280319" y="228600"/>
            <a:ext cx="10363200" cy="2308324"/>
          </a:xfrm>
          <a:prstGeom prst="rect">
            <a:avLst/>
          </a:prstGeom>
        </p:spPr>
        <p:txBody>
          <a:bodyPr wrap="square">
            <a:spAutoFit/>
          </a:bodyPr>
          <a:lstStyle/>
          <a:p>
            <a:pPr algn="ctr" fontAlgn="base"/>
            <a:r>
              <a:rPr lang="en-US" b="1" dirty="0">
                <a:latin typeface="Times New Roman" pitchFamily="18" charset="0"/>
                <a:cs typeface="Times New Roman" pitchFamily="18" charset="0"/>
              </a:rPr>
              <a:t>S-R Flip Flop</a:t>
            </a:r>
          </a:p>
          <a:p>
            <a:pPr algn="just" fontAlgn="base"/>
            <a:r>
              <a:rPr lang="en-US" dirty="0">
                <a:latin typeface="Times New Roman" pitchFamily="18" charset="0"/>
                <a:cs typeface="Times New Roman" pitchFamily="18" charset="0"/>
              </a:rPr>
              <a:t>In the flip flop, with the help of preset and clear when the power is switched ON, the states of the circuit keeps on changing, that is it is uncertain. It may come to set(Q=1) or reset(Q’=0) state. In many applications, it is desired to initially set or reset the flip flop that is the initial state of the flip flop that needs to be assigned. This thing is accomplished by the preset(PR) and the clear(CLR</a:t>
            </a:r>
            <a:r>
              <a:rPr lang="en-US" dirty="0" smtClean="0">
                <a:latin typeface="Times New Roman" pitchFamily="18" charset="0"/>
                <a:cs typeface="Times New Roman" pitchFamily="18" charset="0"/>
              </a:rPr>
              <a:t>).</a:t>
            </a:r>
          </a:p>
          <a:p>
            <a:pPr algn="just" fontAlgn="base"/>
            <a:endParaRPr lang="en-US" dirty="0">
              <a:latin typeface="Times New Roman" pitchFamily="18" charset="0"/>
              <a:cs typeface="Times New Roman" pitchFamily="18" charset="0"/>
            </a:endParaRPr>
          </a:p>
          <a:p>
            <a:pPr fontAlgn="base"/>
            <a:r>
              <a:rPr lang="en-US" sz="1600" b="1" dirty="0">
                <a:latin typeface="Times New Roman" pitchFamily="18" charset="0"/>
                <a:cs typeface="Times New Roman" pitchFamily="18" charset="0"/>
              </a:rPr>
              <a:t>Block Diagram of S-R Flip </a:t>
            </a:r>
            <a:r>
              <a:rPr lang="en-US" sz="1600" b="1" dirty="0" smtClean="0">
                <a:latin typeface="Times New Roman" pitchFamily="18" charset="0"/>
                <a:cs typeface="Times New Roman" pitchFamily="18" charset="0"/>
              </a:rPr>
              <a:t>Flop, Circuit </a:t>
            </a:r>
            <a:r>
              <a:rPr lang="en-US" sz="1600" b="1" dirty="0">
                <a:latin typeface="Times New Roman" pitchFamily="18" charset="0"/>
                <a:cs typeface="Times New Roman" pitchFamily="18" charset="0"/>
              </a:rPr>
              <a:t>Diagram </a:t>
            </a:r>
            <a:r>
              <a:rPr lang="en-US" sz="1600" b="1" dirty="0" smtClean="0">
                <a:latin typeface="Times New Roman" pitchFamily="18" charset="0"/>
                <a:cs typeface="Times New Roman" pitchFamily="18" charset="0"/>
              </a:rPr>
              <a:t>and </a:t>
            </a:r>
            <a:r>
              <a:rPr lang="en-US" sz="1600" b="1" dirty="0">
                <a:latin typeface="Times New Roman" pitchFamily="18" charset="0"/>
                <a:cs typeface="Times New Roman" pitchFamily="18" charset="0"/>
              </a:rPr>
              <a:t>Truth </a:t>
            </a:r>
            <a:r>
              <a:rPr lang="en-US" sz="1600" b="1" dirty="0" smtClean="0">
                <a:latin typeface="Times New Roman" pitchFamily="18" charset="0"/>
                <a:cs typeface="Times New Roman" pitchFamily="18" charset="0"/>
              </a:rPr>
              <a:t>Table </a:t>
            </a:r>
          </a:p>
          <a:p>
            <a:pPr fontAlgn="base"/>
            <a:r>
              <a:rPr lang="en-US" sz="1600" b="1" dirty="0" smtClean="0">
                <a:latin typeface="Times New Roman" pitchFamily="18" charset="0"/>
                <a:cs typeface="Times New Roman" pitchFamily="18" charset="0"/>
              </a:rPr>
              <a:t>of </a:t>
            </a:r>
            <a:r>
              <a:rPr lang="en-US" sz="1600" b="1" dirty="0">
                <a:latin typeface="Times New Roman" pitchFamily="18" charset="0"/>
                <a:cs typeface="Times New Roman" pitchFamily="18" charset="0"/>
              </a:rPr>
              <a:t>S-R Flip </a:t>
            </a:r>
            <a:r>
              <a:rPr lang="en-US" sz="1600" b="1" dirty="0" smtClean="0">
                <a:latin typeface="Times New Roman" pitchFamily="18" charset="0"/>
                <a:cs typeface="Times New Roman" pitchFamily="18" charset="0"/>
              </a:rPr>
              <a:t>Flop</a:t>
            </a:r>
            <a:r>
              <a:rPr lang="en-US" sz="1600" b="1" dirty="0">
                <a:latin typeface="Times New Roman" pitchFamily="18" charset="0"/>
                <a:cs typeface="Times New Roman" pitchFamily="18" charset="0"/>
              </a:rPr>
              <a:t>:</a:t>
            </a: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2590" y="2536924"/>
            <a:ext cx="2711556"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descr="SR_flip"/>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04591" y="1533529"/>
            <a:ext cx="2590800" cy="532447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p:cNvSpPr>
            <a:spLocks noChangeArrowheads="1"/>
          </p:cNvSpPr>
          <p:nvPr/>
        </p:nvSpPr>
        <p:spPr bwMode="auto">
          <a:xfrm>
            <a:off x="1280319" y="2474120"/>
            <a:ext cx="4876800" cy="38164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Operations of S-R Flip Flop:</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273239"/>
                </a:solidFill>
                <a:effectLst/>
                <a:latin typeface="Times New Roman" pitchFamily="18" charset="0"/>
                <a:cs typeface="Times New Roman" pitchFamily="18" charset="0"/>
              </a:rPr>
              <a:t>Given Below is the Operations of S-R Flip Flop</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Case 1(PR=CLR=1):</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 The asynchronous inputs are inactive and the flip flop responds freely to the S,R and the CLK inputs in the normal way.</a:t>
            </a:r>
          </a:p>
          <a:p>
            <a:pPr marL="0" marR="0" lvl="0" indent="0" algn="just" defTabSz="914400" rtl="0" eaLnBrk="0" fontAlgn="base" latinLnBrk="0" hangingPunct="0">
              <a:lnSpc>
                <a:spcPct val="100000"/>
              </a:lnSpc>
              <a:spcBef>
                <a:spcPct val="0"/>
              </a:spcBef>
              <a:spcAft>
                <a:spcPct val="0"/>
              </a:spcAft>
              <a:buClrTx/>
              <a:buSzTx/>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Case 2(PR=0 and CLR=1):</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This is used when the Q is set to 1.</a:t>
            </a:r>
          </a:p>
          <a:p>
            <a:pPr marL="0" marR="0" lvl="0" indent="0" algn="just" defTabSz="914400" rtl="0" eaLnBrk="0" fontAlgn="base" latinLnBrk="0" hangingPunct="0">
              <a:lnSpc>
                <a:spcPct val="100000"/>
              </a:lnSpc>
              <a:spcBef>
                <a:spcPct val="0"/>
              </a:spcBef>
              <a:spcAft>
                <a:spcPct val="0"/>
              </a:spcAft>
              <a:buClrTx/>
              <a:buSzTx/>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Case 3(PR=1 and CLR=0):</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This is used when the </a:t>
            </a:r>
            <a:r>
              <a:rPr lang="en-US" dirty="0" smtClean="0">
                <a:solidFill>
                  <a:srgbClr val="273239"/>
                </a:solidFill>
                <a:latin typeface="Times New Roman" pitchFamily="18" charset="0"/>
                <a:cs typeface="Times New Roman" pitchFamily="18" charset="0"/>
              </a:rPr>
              <a:t>Q is set to 0 &amp; </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Q’ is set to 1.</a:t>
            </a:r>
          </a:p>
          <a:p>
            <a:pPr marL="0" marR="0" lvl="0" indent="0" algn="just" defTabSz="914400" rtl="0" eaLnBrk="0" fontAlgn="base" latinLnBrk="0" hangingPunct="0">
              <a:lnSpc>
                <a:spcPct val="100000"/>
              </a:lnSpc>
              <a:spcBef>
                <a:spcPct val="0"/>
              </a:spcBef>
              <a:spcAft>
                <a:spcPct val="0"/>
              </a:spcAft>
              <a:buClrTx/>
              <a:buSzTx/>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Case 4(PR=CLR=0): </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This is an invalid state.</a:t>
            </a:r>
          </a:p>
          <a:p>
            <a:pPr marL="0" marR="0" lvl="0" indent="0" algn="just"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rgbClr val="273239"/>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Characteristics Equation for SR Flip Flop</a:t>
            </a:r>
            <a:endParaRPr kumimoji="0" lang="en-US" sz="16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Q</a:t>
            </a:r>
            <a:r>
              <a:rPr kumimoji="0" lang="en-US" sz="1100" b="1" i="0" u="none" strike="noStrike" cap="none" normalizeH="0" baseline="-30000" dirty="0" smtClean="0">
                <a:ln>
                  <a:noFill/>
                </a:ln>
                <a:solidFill>
                  <a:schemeClr val="tx1"/>
                </a:solidFill>
                <a:effectLst/>
                <a:latin typeface="Times New Roman" pitchFamily="18" charset="0"/>
                <a:cs typeface="Times New Roman" pitchFamily="18" charset="0"/>
              </a:rPr>
              <a:t>N+1</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  Q</a:t>
            </a:r>
            <a:r>
              <a:rPr kumimoji="0" lang="en-US" sz="1100" b="1" i="0" u="none" strike="noStrike" cap="none" normalizeH="0" baseline="-30000" dirty="0" smtClean="0">
                <a:ln>
                  <a:noFill/>
                </a:ln>
                <a:solidFill>
                  <a:schemeClr val="tx1"/>
                </a:solidFill>
                <a:effectLst/>
                <a:latin typeface="Times New Roman" pitchFamily="18" charset="0"/>
                <a:cs typeface="Times New Roman" pitchFamily="18" charset="0"/>
              </a:rPr>
              <a:t>N</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R' + SR'</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262519"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204119" y="381000"/>
            <a:ext cx="10557862" cy="2031325"/>
          </a:xfrm>
          <a:prstGeom prst="rect">
            <a:avLst/>
          </a:prstGeom>
        </p:spPr>
        <p:txBody>
          <a:bodyPr wrap="square">
            <a:spAutoFit/>
          </a:bodyPr>
          <a:lstStyle/>
          <a:p>
            <a:pPr algn="ctr" fontAlgn="base"/>
            <a:r>
              <a:rPr lang="en-US" b="1" dirty="0">
                <a:latin typeface="Times New Roman" pitchFamily="18" charset="0"/>
                <a:cs typeface="Times New Roman" pitchFamily="18" charset="0"/>
              </a:rPr>
              <a:t>J-K Flip </a:t>
            </a:r>
            <a:r>
              <a:rPr lang="en-US" b="1" dirty="0" smtClean="0">
                <a:latin typeface="Times New Roman" pitchFamily="18" charset="0"/>
                <a:cs typeface="Times New Roman" pitchFamily="18" charset="0"/>
              </a:rPr>
              <a:t>Flop</a:t>
            </a:r>
          </a:p>
          <a:p>
            <a:pPr algn="ctr" fontAlgn="base"/>
            <a:endParaRPr lang="en-US" b="1" dirty="0">
              <a:latin typeface="Times New Roman" pitchFamily="18" charset="0"/>
              <a:cs typeface="Times New Roman" pitchFamily="18" charset="0"/>
            </a:endParaRPr>
          </a:p>
          <a:p>
            <a:pPr fontAlgn="base"/>
            <a:r>
              <a:rPr lang="en-US" dirty="0">
                <a:latin typeface="Times New Roman" pitchFamily="18" charset="0"/>
                <a:cs typeface="Times New Roman" pitchFamily="18" charset="0"/>
              </a:rPr>
              <a:t>In JK flip flops, The basic structure of the flip flop which consists of Clock (CLK), Clear (CLR), Preset (PR).</a:t>
            </a:r>
          </a:p>
          <a:p>
            <a:pPr fontAlgn="base"/>
            <a:endParaRPr lang="en-US" b="1" dirty="0" smtClean="0">
              <a:latin typeface="Times New Roman" pitchFamily="18" charset="0"/>
              <a:cs typeface="Times New Roman" pitchFamily="18" charset="0"/>
            </a:endParaRPr>
          </a:p>
          <a:p>
            <a:pPr lvl="0" fontAlgn="base"/>
            <a:r>
              <a:rPr lang="en-US" b="1" dirty="0" smtClean="0">
                <a:latin typeface="Times New Roman" pitchFamily="18" charset="0"/>
                <a:cs typeface="Times New Roman" pitchFamily="18" charset="0"/>
              </a:rPr>
              <a:t>Block </a:t>
            </a:r>
            <a:r>
              <a:rPr lang="en-US" b="1" dirty="0">
                <a:latin typeface="Times New Roman" pitchFamily="18" charset="0"/>
                <a:cs typeface="Times New Roman" pitchFamily="18" charset="0"/>
              </a:rPr>
              <a:t>Diagram of J-K Flip </a:t>
            </a:r>
            <a:r>
              <a:rPr lang="en-US" b="1" dirty="0" smtClean="0">
                <a:latin typeface="Times New Roman" pitchFamily="18" charset="0"/>
                <a:cs typeface="Times New Roman" pitchFamily="18" charset="0"/>
              </a:rPr>
              <a:t>Flop, </a:t>
            </a:r>
            <a:r>
              <a:rPr lang="en-US" b="1" dirty="0">
                <a:solidFill>
                  <a:srgbClr val="273239"/>
                </a:solidFill>
                <a:latin typeface="Times New Roman" pitchFamily="18" charset="0"/>
                <a:cs typeface="Times New Roman" pitchFamily="18" charset="0"/>
              </a:rPr>
              <a:t>Circuit Diagram and </a:t>
            </a:r>
            <a:endParaRPr lang="en-US" b="1" dirty="0" smtClean="0">
              <a:solidFill>
                <a:srgbClr val="273239"/>
              </a:solidFill>
              <a:latin typeface="Times New Roman" pitchFamily="18" charset="0"/>
              <a:cs typeface="Times New Roman" pitchFamily="18" charset="0"/>
            </a:endParaRPr>
          </a:p>
          <a:p>
            <a:pPr lvl="0" fontAlgn="base"/>
            <a:r>
              <a:rPr lang="en-US" b="1" dirty="0" smtClean="0">
                <a:solidFill>
                  <a:srgbClr val="273239"/>
                </a:solidFill>
                <a:latin typeface="Times New Roman" pitchFamily="18" charset="0"/>
                <a:cs typeface="Times New Roman" pitchFamily="18" charset="0"/>
              </a:rPr>
              <a:t>Truth </a:t>
            </a:r>
            <a:r>
              <a:rPr lang="en-US" b="1" dirty="0">
                <a:solidFill>
                  <a:srgbClr val="273239"/>
                </a:solidFill>
                <a:latin typeface="Times New Roman" pitchFamily="18" charset="0"/>
                <a:cs typeface="Times New Roman" pitchFamily="18" charset="0"/>
              </a:rPr>
              <a:t>Table of J-K Flip Flop</a:t>
            </a:r>
          </a:p>
          <a:p>
            <a:pPr fontAlgn="base"/>
            <a:endParaRPr lang="en-US" b="1"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8519" y="1938383"/>
            <a:ext cx="2630647" cy="213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descr="JK_flip"/>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24119" y="1295490"/>
            <a:ext cx="3327189" cy="556251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204120" y="2402681"/>
            <a:ext cx="4876800" cy="3693319"/>
          </a:xfrm>
          <a:prstGeom prst="rect">
            <a:avLst/>
          </a:prstGeom>
        </p:spPr>
        <p:txBody>
          <a:bodyPr wrap="square">
            <a:spAutoFit/>
          </a:bodyPr>
          <a:lstStyle/>
          <a:p>
            <a:pPr algn="just" fontAlgn="base"/>
            <a:r>
              <a:rPr lang="en-US" b="1" dirty="0">
                <a:latin typeface="Times New Roman" pitchFamily="18" charset="0"/>
                <a:cs typeface="Times New Roman" pitchFamily="18" charset="0"/>
              </a:rPr>
              <a:t>Operations of J-K Flip Flop</a:t>
            </a:r>
          </a:p>
          <a:p>
            <a:pPr algn="just" fontAlgn="base"/>
            <a:r>
              <a:rPr lang="en-US" dirty="0">
                <a:latin typeface="Times New Roman" pitchFamily="18" charset="0"/>
                <a:cs typeface="Times New Roman" pitchFamily="18" charset="0"/>
              </a:rPr>
              <a:t>Given Below is the Operations of J-K Flip Flop</a:t>
            </a:r>
          </a:p>
          <a:p>
            <a:pPr algn="just" fontAlgn="base"/>
            <a:r>
              <a:rPr lang="en-US" b="1" dirty="0">
                <a:latin typeface="Times New Roman" pitchFamily="18" charset="0"/>
                <a:cs typeface="Times New Roman" pitchFamily="18" charset="0"/>
              </a:rPr>
              <a:t>Case 1 (PR=CLR=0 ):</a:t>
            </a:r>
            <a:r>
              <a:rPr lang="en-US" dirty="0">
                <a:latin typeface="Times New Roman" pitchFamily="18" charset="0"/>
                <a:cs typeface="Times New Roman" pitchFamily="18" charset="0"/>
              </a:rPr>
              <a:t>This condition is in its invalid state.</a:t>
            </a:r>
          </a:p>
          <a:p>
            <a:pPr algn="just" fontAlgn="base"/>
            <a:r>
              <a:rPr lang="en-US" b="1" dirty="0">
                <a:latin typeface="Times New Roman" pitchFamily="18" charset="0"/>
                <a:cs typeface="Times New Roman" pitchFamily="18" charset="0"/>
              </a:rPr>
              <a:t>Case 2 (PR=0 and CLR=1):</a:t>
            </a:r>
            <a:r>
              <a:rPr lang="en-US" dirty="0">
                <a:latin typeface="Times New Roman" pitchFamily="18" charset="0"/>
                <a:cs typeface="Times New Roman" pitchFamily="18" charset="0"/>
              </a:rPr>
              <a:t>The PR is activated which means the output in the Q is set to 1. Therefore, the flip flop is in the set state.</a:t>
            </a:r>
          </a:p>
          <a:p>
            <a:pPr algn="just" fontAlgn="base"/>
            <a:r>
              <a:rPr lang="en-US" b="1" dirty="0">
                <a:latin typeface="Times New Roman" pitchFamily="18" charset="0"/>
                <a:cs typeface="Times New Roman" pitchFamily="18" charset="0"/>
              </a:rPr>
              <a:t>Case 3 (PR=1 and CLR=0):</a:t>
            </a:r>
            <a:r>
              <a:rPr lang="en-US" dirty="0">
                <a:latin typeface="Times New Roman" pitchFamily="18" charset="0"/>
                <a:cs typeface="Times New Roman" pitchFamily="18" charset="0"/>
              </a:rPr>
              <a:t>The CLR is activated which means the output in the Q’ is set to 1. Therefore, the flip flop is in the reset state.</a:t>
            </a:r>
          </a:p>
          <a:p>
            <a:pPr algn="just" fontAlgn="base"/>
            <a:r>
              <a:rPr lang="en-US" b="1" dirty="0">
                <a:latin typeface="Times New Roman" pitchFamily="18" charset="0"/>
                <a:cs typeface="Times New Roman" pitchFamily="18" charset="0"/>
              </a:rPr>
              <a:t>Case 4 (PR=CLR=1):</a:t>
            </a:r>
            <a:r>
              <a:rPr lang="en-US" dirty="0">
                <a:latin typeface="Times New Roman" pitchFamily="18" charset="0"/>
                <a:cs typeface="Times New Roman" pitchFamily="18" charset="0"/>
              </a:rPr>
              <a:t>In this condition the flip flop works in its normal way whereas the PR and CLR gets deactivated.</a:t>
            </a: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1"/>
          <p:cNvSpPr>
            <a:spLocks noChangeArrowheads="1"/>
          </p:cNvSpPr>
          <p:nvPr/>
        </p:nvSpPr>
        <p:spPr bwMode="auto">
          <a:xfrm>
            <a:off x="1954888" y="1027571"/>
            <a:ext cx="9372600"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Race Around Condition in J-K Flip Flop</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When the J and K both are set to 1, the input remains high for a longer duration of time, then the output keeps on toggling. Toggle means that switching in the output instantly i.e. Q=0, Q’=1 will immediately change to Q=1 and Q’=0 and this continuation keeps on changing. This change in output leads to race around condition.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cs typeface="Times New Roman" pitchFamily="18" charset="0"/>
              </a:rPr>
              <a:t>Characteristics Equation for JK Flip Flop</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cs typeface="Times New Roman" pitchFamily="18" charset="0"/>
              </a:rPr>
              <a:t>Q</a:t>
            </a:r>
            <a:r>
              <a:rPr kumimoji="0" lang="en-US" sz="1600" b="1" i="0" u="none" strike="noStrike" cap="none" normalizeH="0" baseline="-30000" dirty="0" smtClean="0">
                <a:ln>
                  <a:noFill/>
                </a:ln>
                <a:solidFill>
                  <a:schemeClr val="tx1"/>
                </a:solidFill>
                <a:effectLst/>
                <a:latin typeface="Times New Roman" pitchFamily="18" charset="0"/>
                <a:cs typeface="Times New Roman" pitchFamily="18" charset="0"/>
              </a:rPr>
              <a:t>N+1</a:t>
            </a:r>
            <a:r>
              <a:rPr kumimoji="0" lang="en-US" sz="2800" b="1" i="0" u="none" strike="noStrike" cap="none" normalizeH="0" baseline="0" dirty="0" smtClean="0">
                <a:ln>
                  <a:noFill/>
                </a:ln>
                <a:solidFill>
                  <a:schemeClr val="tx1"/>
                </a:solidFill>
                <a:effectLst/>
                <a:latin typeface="Times New Roman" pitchFamily="18" charset="0"/>
                <a:cs typeface="Times New Roman" pitchFamily="18" charset="0"/>
              </a:rPr>
              <a:t> = JQ'</a:t>
            </a:r>
            <a:r>
              <a:rPr kumimoji="0" lang="en-US" sz="1600" b="1" i="0" u="none" strike="noStrike" cap="none" normalizeH="0" baseline="-30000" dirty="0" smtClean="0">
                <a:ln>
                  <a:noFill/>
                </a:ln>
                <a:solidFill>
                  <a:schemeClr val="tx1"/>
                </a:solidFill>
                <a:effectLst/>
                <a:latin typeface="Times New Roman" pitchFamily="18" charset="0"/>
                <a:cs typeface="Times New Roman" pitchFamily="18" charset="0"/>
              </a:rPr>
              <a:t>N</a:t>
            </a:r>
            <a:r>
              <a:rPr kumimoji="0" lang="en-US" sz="2800" b="1" i="0" u="none" strike="noStrike" cap="none" normalizeH="0" baseline="0" dirty="0" smtClean="0">
                <a:ln>
                  <a:noFill/>
                </a:ln>
                <a:solidFill>
                  <a:schemeClr val="tx1"/>
                </a:solidFill>
                <a:effectLst/>
                <a:latin typeface="Times New Roman" pitchFamily="18" charset="0"/>
                <a:cs typeface="Times New Roman" pitchFamily="18" charset="0"/>
              </a:rPr>
              <a:t> + K'Q</a:t>
            </a:r>
            <a:r>
              <a:rPr kumimoji="0" lang="en-US" sz="1600" b="1" i="0" u="none" strike="noStrike" cap="none" normalizeH="0" baseline="-30000" dirty="0" smtClean="0">
                <a:ln>
                  <a:noFill/>
                </a:ln>
                <a:solidFill>
                  <a:schemeClr val="tx1"/>
                </a:solidFill>
                <a:effectLst/>
                <a:latin typeface="Times New Roman" pitchFamily="18" charset="0"/>
                <a:cs typeface="Times New Roman" pitchFamily="18" charset="0"/>
              </a:rPr>
              <a:t>N</a:t>
            </a:r>
            <a:endParaRPr kumimoji="0" lang="en-US" sz="4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1127918" y="4483404"/>
            <a:ext cx="10439400" cy="21082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effectLst/>
                <a:latin typeface="Times New Roman" pitchFamily="18" charset="0"/>
                <a:cs typeface="Times New Roman" pitchFamily="18" charset="0"/>
              </a:rPr>
              <a:t>Operation of the D Flip-Flop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effectLst/>
                <a:latin typeface="Times New Roman" pitchFamily="18" charset="0"/>
                <a:cs typeface="Times New Roman" pitchFamily="18" charset="0"/>
              </a:rPr>
              <a:t>Given Below is the operation of D Flip-Flip</a:t>
            </a:r>
          </a:p>
          <a:p>
            <a:pPr marL="0" marR="0" lvl="0" indent="0" algn="l" defTabSz="914400" rtl="0" eaLnBrk="0" fontAlgn="base" latinLnBrk="0" hangingPunct="0">
              <a:lnSpc>
                <a:spcPct val="100000"/>
              </a:lnSpc>
              <a:spcBef>
                <a:spcPct val="0"/>
              </a:spcBef>
              <a:spcAft>
                <a:spcPct val="0"/>
              </a:spcAft>
              <a:buClrTx/>
              <a:buSzTx/>
              <a:tabLst/>
            </a:pPr>
            <a:r>
              <a:rPr kumimoji="0" lang="en-US" sz="1400" b="1" i="0" u="none" strike="noStrike" cap="none" normalizeH="0" baseline="0" dirty="0" smtClean="0">
                <a:ln>
                  <a:noFill/>
                </a:ln>
                <a:effectLst/>
                <a:latin typeface="Times New Roman" pitchFamily="18" charset="0"/>
                <a:cs typeface="Times New Roman" pitchFamily="18" charset="0"/>
              </a:rPr>
              <a:t>Case 1 (PR=CLR=0):</a:t>
            </a:r>
            <a:r>
              <a:rPr kumimoji="0" lang="en-US" sz="1400" b="0" i="0" u="none" strike="noStrike" cap="none" normalizeH="0" baseline="0" dirty="0" smtClean="0">
                <a:ln>
                  <a:noFill/>
                </a:ln>
                <a:effectLst/>
                <a:latin typeface="Times New Roman" pitchFamily="18" charset="0"/>
                <a:cs typeface="Times New Roman" pitchFamily="18" charset="0"/>
              </a:rPr>
              <a:t>This conditions is represents as invalid state where both PR(present) and CLR(clear) inputs are inactive.</a:t>
            </a:r>
          </a:p>
          <a:p>
            <a:pPr marL="0" marR="0" lvl="0" indent="0" algn="l" defTabSz="914400" rtl="0" eaLnBrk="0" fontAlgn="base" latinLnBrk="0" hangingPunct="0">
              <a:lnSpc>
                <a:spcPct val="100000"/>
              </a:lnSpc>
              <a:spcBef>
                <a:spcPct val="0"/>
              </a:spcBef>
              <a:spcAft>
                <a:spcPct val="0"/>
              </a:spcAft>
              <a:buClrTx/>
              <a:buSzTx/>
              <a:tabLst/>
            </a:pPr>
            <a:r>
              <a:rPr kumimoji="0" lang="en-US" sz="1400" b="1" i="0" u="none" strike="noStrike" cap="none" normalizeH="0" baseline="0" dirty="0" smtClean="0">
                <a:ln>
                  <a:noFill/>
                </a:ln>
                <a:effectLst/>
                <a:latin typeface="Times New Roman" pitchFamily="18" charset="0"/>
                <a:cs typeface="Times New Roman" pitchFamily="18" charset="0"/>
              </a:rPr>
              <a:t>Case 2 (PR=0 and CLR=1)</a:t>
            </a:r>
            <a:r>
              <a:rPr kumimoji="0" lang="en-US" sz="1400" b="0" i="0" u="none" strike="noStrike" cap="none" normalizeH="0" baseline="0" dirty="0" smtClean="0">
                <a:ln>
                  <a:noFill/>
                </a:ln>
                <a:effectLst/>
                <a:latin typeface="Times New Roman" pitchFamily="18" charset="0"/>
                <a:cs typeface="Times New Roman" pitchFamily="18" charset="0"/>
              </a:rPr>
              <a:t>:This state is set state in which PR is inactive (0) and CLR is active(1) and the output Q is set to 1.</a:t>
            </a:r>
          </a:p>
          <a:p>
            <a:pPr marL="0" marR="0" lvl="0" indent="0" algn="l" defTabSz="914400" rtl="0" eaLnBrk="0" fontAlgn="base" latinLnBrk="0" hangingPunct="0">
              <a:lnSpc>
                <a:spcPct val="100000"/>
              </a:lnSpc>
              <a:spcBef>
                <a:spcPct val="0"/>
              </a:spcBef>
              <a:spcAft>
                <a:spcPct val="0"/>
              </a:spcAft>
              <a:buClrTx/>
              <a:buSzTx/>
              <a:tabLst/>
            </a:pPr>
            <a:r>
              <a:rPr kumimoji="0" lang="en-US" sz="1400" b="1" i="0" u="none" strike="noStrike" cap="none" normalizeH="0" baseline="0" dirty="0" smtClean="0">
                <a:ln>
                  <a:noFill/>
                </a:ln>
                <a:effectLst/>
                <a:latin typeface="Times New Roman" pitchFamily="18" charset="0"/>
                <a:cs typeface="Times New Roman" pitchFamily="18" charset="0"/>
              </a:rPr>
              <a:t>Case 3 (PR=1 and CLR=0):</a:t>
            </a:r>
            <a:r>
              <a:rPr kumimoji="0" lang="en-US" sz="1400" b="0" i="0" u="none" strike="noStrike" cap="none" normalizeH="0" baseline="0" dirty="0" smtClean="0">
                <a:ln>
                  <a:noFill/>
                </a:ln>
                <a:effectLst/>
                <a:latin typeface="Times New Roman" pitchFamily="18" charset="0"/>
                <a:cs typeface="Times New Roman" pitchFamily="18" charset="0"/>
              </a:rPr>
              <a:t>This state is reset state in which PR is active (1) and CLR is inactive (0) and the complementary output Q' is set to 1.</a:t>
            </a:r>
          </a:p>
          <a:p>
            <a:pPr marL="0" marR="0" lvl="0" indent="0" algn="l" defTabSz="914400" rtl="0" eaLnBrk="0" fontAlgn="base" latinLnBrk="0" hangingPunct="0">
              <a:lnSpc>
                <a:spcPct val="100000"/>
              </a:lnSpc>
              <a:spcBef>
                <a:spcPct val="0"/>
              </a:spcBef>
              <a:spcAft>
                <a:spcPct val="0"/>
              </a:spcAft>
              <a:buClrTx/>
              <a:buSzTx/>
              <a:tabLst/>
            </a:pPr>
            <a:r>
              <a:rPr kumimoji="0" lang="en-US" sz="1400" b="1" i="0" u="none" strike="noStrike" cap="none" normalizeH="0" baseline="0" dirty="0" smtClean="0">
                <a:ln>
                  <a:noFill/>
                </a:ln>
                <a:effectLst/>
                <a:latin typeface="Times New Roman" pitchFamily="18" charset="0"/>
                <a:cs typeface="Times New Roman" pitchFamily="18" charset="0"/>
              </a:rPr>
              <a:t>Case 4 (PR=CLR=1):</a:t>
            </a:r>
            <a:r>
              <a:rPr kumimoji="0" lang="en-US" sz="1400" b="0" i="0" u="none" strike="noStrike" cap="none" normalizeH="0" baseline="0" dirty="0" smtClean="0">
                <a:ln>
                  <a:noFill/>
                </a:ln>
                <a:effectLst/>
                <a:latin typeface="Times New Roman" pitchFamily="18" charset="0"/>
                <a:cs typeface="Times New Roman" pitchFamily="18" charset="0"/>
              </a:rPr>
              <a:t>In This state the flip flop behaves as normal, both PR and CLR inputs are active(1).</a:t>
            </a:r>
          </a:p>
          <a:p>
            <a:pPr marL="0" marR="0" lvl="0" indent="0" algn="ctr" defTabSz="914400" rtl="0" eaLnBrk="0" fontAlgn="base" latinLnBrk="0" hangingPunct="0">
              <a:lnSpc>
                <a:spcPct val="100000"/>
              </a:lnSpc>
              <a:spcBef>
                <a:spcPct val="0"/>
              </a:spcBef>
              <a:spcAft>
                <a:spcPct val="0"/>
              </a:spcAft>
              <a:buClrTx/>
              <a:buSzTx/>
              <a:buFontTx/>
              <a:buNone/>
              <a:tabLst/>
            </a:pPr>
            <a:endParaRPr lang="en-US" sz="1200" dirty="0">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effectLst/>
                <a:latin typeface="Times New Roman" pitchFamily="18" charset="0"/>
                <a:cs typeface="Times New Roman" pitchFamily="18" charset="0"/>
              </a:rPr>
              <a:t>Characteristics Equation for D Flip Flop</a:t>
            </a:r>
            <a:endParaRPr kumimoji="0" lang="en-US" sz="1600" b="0" i="0" u="none" strike="noStrike" cap="none" normalizeH="0" baseline="0" dirty="0" smtClean="0">
              <a:ln>
                <a:noFill/>
              </a:ln>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effectLst/>
                <a:latin typeface="Times New Roman" pitchFamily="18" charset="0"/>
                <a:cs typeface="Times New Roman" pitchFamily="18" charset="0"/>
              </a:rPr>
              <a:t>Q</a:t>
            </a:r>
            <a:r>
              <a:rPr kumimoji="0" lang="en-US" sz="1100" b="1" i="0" u="none" strike="noStrike" cap="none" normalizeH="0" baseline="-30000" dirty="0" smtClean="0">
                <a:ln>
                  <a:noFill/>
                </a:ln>
                <a:effectLst/>
                <a:latin typeface="Times New Roman" pitchFamily="18" charset="0"/>
                <a:cs typeface="Times New Roman" pitchFamily="18" charset="0"/>
              </a:rPr>
              <a:t>N+1</a:t>
            </a:r>
            <a:r>
              <a:rPr kumimoji="0" lang="en-US" b="1" i="0" u="none" strike="noStrike" cap="none" normalizeH="0" baseline="0" dirty="0" smtClean="0">
                <a:ln>
                  <a:noFill/>
                </a:ln>
                <a:effectLst/>
                <a:latin typeface="Times New Roman" pitchFamily="18" charset="0"/>
                <a:cs typeface="Times New Roman" pitchFamily="18" charset="0"/>
              </a:rPr>
              <a:t> = D</a:t>
            </a:r>
            <a:endParaRPr kumimoji="0" lang="en-US" sz="2800" b="0" i="0" u="none" strike="noStrike" cap="none" normalizeH="0" baseline="0" dirty="0" smtClean="0">
              <a:ln>
                <a:noFill/>
              </a:ln>
              <a:effectLst/>
              <a:latin typeface="Times New Roman" pitchFamily="18" charset="0"/>
              <a:cs typeface="Times New Roman" pitchFamily="18" charset="0"/>
            </a:endParaRPr>
          </a:p>
        </p:txBody>
      </p:sp>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27919" y="304800"/>
            <a:ext cx="10439400" cy="1477328"/>
          </a:xfrm>
          <a:prstGeom prst="rect">
            <a:avLst/>
          </a:prstGeom>
        </p:spPr>
        <p:txBody>
          <a:bodyPr wrap="square">
            <a:spAutoFit/>
          </a:bodyPr>
          <a:lstStyle/>
          <a:p>
            <a:pPr algn="ctr" fontAlgn="base"/>
            <a:r>
              <a:rPr lang="en-US" b="1" dirty="0">
                <a:latin typeface="Times New Roman" pitchFamily="18" charset="0"/>
                <a:cs typeface="Times New Roman" pitchFamily="18" charset="0"/>
              </a:rPr>
              <a:t>D Flip </a:t>
            </a:r>
            <a:r>
              <a:rPr lang="en-US" b="1" dirty="0" smtClean="0">
                <a:latin typeface="Times New Roman" pitchFamily="18" charset="0"/>
                <a:cs typeface="Times New Roman" pitchFamily="18" charset="0"/>
              </a:rPr>
              <a:t>Flop</a:t>
            </a:r>
          </a:p>
          <a:p>
            <a:pPr algn="ctr" fontAlgn="base"/>
            <a:endParaRPr lang="en-US" b="1" dirty="0">
              <a:latin typeface="Times New Roman" pitchFamily="18" charset="0"/>
              <a:cs typeface="Times New Roman" pitchFamily="18" charset="0"/>
            </a:endParaRPr>
          </a:p>
          <a:p>
            <a:pPr algn="just" fontAlgn="base"/>
            <a:r>
              <a:rPr lang="en-US" dirty="0">
                <a:latin typeface="Times New Roman" pitchFamily="18" charset="0"/>
                <a:cs typeface="Times New Roman" pitchFamily="18" charset="0"/>
              </a:rPr>
              <a:t>The D Flip Flop Consists a single data input(D), a clock input(CLK),and two outputs: Q and Q' (the complement of Q).</a:t>
            </a:r>
          </a:p>
          <a:p>
            <a:pPr algn="just" fontAlgn="base"/>
            <a:r>
              <a:rPr lang="en-US" b="1" dirty="0">
                <a:latin typeface="Times New Roman" pitchFamily="18" charset="0"/>
                <a:cs typeface="Times New Roman" pitchFamily="18" charset="0"/>
              </a:rPr>
              <a:t>Block Diagram of D Flip </a:t>
            </a:r>
            <a:r>
              <a:rPr lang="en-US" b="1" dirty="0" smtClean="0">
                <a:latin typeface="Times New Roman" pitchFamily="18" charset="0"/>
                <a:cs typeface="Times New Roman" pitchFamily="18" charset="0"/>
              </a:rPr>
              <a:t>Flop, </a:t>
            </a:r>
            <a:r>
              <a:rPr lang="en-US" b="1" dirty="0">
                <a:latin typeface="Times New Roman" pitchFamily="18" charset="0"/>
                <a:cs typeface="Times New Roman" pitchFamily="18" charset="0"/>
              </a:rPr>
              <a:t>Circuit Diagram and Truth Table of D Flip </a:t>
            </a:r>
            <a:r>
              <a:rPr lang="en-US" b="1" dirty="0" smtClean="0">
                <a:latin typeface="Times New Roman" pitchFamily="18" charset="0"/>
                <a:cs typeface="Times New Roman" pitchFamily="18" charset="0"/>
              </a:rPr>
              <a:t>Flop</a:t>
            </a:r>
            <a:endParaRPr lang="en-US" b="1"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5119" y="2155554"/>
            <a:ext cx="3126129" cy="2292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0843" y="2440331"/>
            <a:ext cx="3666476" cy="1503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0377" y="2088591"/>
            <a:ext cx="2654483" cy="237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27919" y="228600"/>
            <a:ext cx="10363200" cy="1200329"/>
          </a:xfrm>
          <a:prstGeom prst="rect">
            <a:avLst/>
          </a:prstGeom>
        </p:spPr>
        <p:txBody>
          <a:bodyPr wrap="square">
            <a:spAutoFit/>
          </a:bodyPr>
          <a:lstStyle/>
          <a:p>
            <a:pPr algn="ctr" fontAlgn="base"/>
            <a:r>
              <a:rPr lang="en-US" b="1" dirty="0">
                <a:latin typeface="Times New Roman" pitchFamily="18" charset="0"/>
                <a:cs typeface="Times New Roman" pitchFamily="18" charset="0"/>
              </a:rPr>
              <a:t>T Flip Flop</a:t>
            </a:r>
          </a:p>
          <a:p>
            <a:pPr algn="just" fontAlgn="base"/>
            <a:r>
              <a:rPr lang="en-US" dirty="0">
                <a:latin typeface="Times New Roman" pitchFamily="18" charset="0"/>
                <a:cs typeface="Times New Roman" pitchFamily="18" charset="0"/>
              </a:rPr>
              <a:t>The T Flip Flop consists of data input (T), a clock input (CLK), and two outputs: Q and Q' (the complement of Q).</a:t>
            </a:r>
          </a:p>
          <a:p>
            <a:pPr algn="just" fontAlgn="base"/>
            <a:r>
              <a:rPr lang="en-US" b="1" dirty="0">
                <a:latin typeface="Times New Roman" pitchFamily="18" charset="0"/>
                <a:cs typeface="Times New Roman" pitchFamily="18" charset="0"/>
              </a:rPr>
              <a:t>Block Diagram of T Flip </a:t>
            </a:r>
            <a:r>
              <a:rPr lang="en-US" b="1" dirty="0" smtClean="0">
                <a:latin typeface="Times New Roman" pitchFamily="18" charset="0"/>
                <a:cs typeface="Times New Roman" pitchFamily="18" charset="0"/>
              </a:rPr>
              <a:t>Flop, </a:t>
            </a:r>
            <a:r>
              <a:rPr lang="en-US" b="1" dirty="0">
                <a:latin typeface="Times New Roman" pitchFamily="18" charset="0"/>
                <a:cs typeface="Times New Roman" pitchFamily="18" charset="0"/>
              </a:rPr>
              <a:t>Circuit Diagram and Truth Table of T Flip </a:t>
            </a:r>
            <a:r>
              <a:rPr lang="en-US" b="1" dirty="0" smtClean="0">
                <a:latin typeface="Times New Roman" pitchFamily="18" charset="0"/>
                <a:cs typeface="Times New Roman" pitchFamily="18" charset="0"/>
              </a:rPr>
              <a:t>Flop</a:t>
            </a:r>
            <a:endParaRPr lang="en-US" b="1" dirty="0">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3719" y="1794164"/>
            <a:ext cx="2469444"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4809" y="2039302"/>
            <a:ext cx="2857500"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38319" y="2039302"/>
            <a:ext cx="3546236" cy="1501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5"/>
          <p:cNvSpPr>
            <a:spLocks noChangeArrowheads="1"/>
          </p:cNvSpPr>
          <p:nvPr/>
        </p:nvSpPr>
        <p:spPr bwMode="auto">
          <a:xfrm>
            <a:off x="1432719" y="3831610"/>
            <a:ext cx="10058400" cy="24929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Operation of the T Flip-Flop</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Given Below is the Operation of T Flip-Flop</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Case 1 (T=0):</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In this condition the </a:t>
            </a: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fl</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ip-flop remains in its current state regardless of clock input, also the Output Q will remain unchanged unit the value of T will not change.</a:t>
            </a:r>
          </a:p>
          <a:p>
            <a:pPr marL="0" marR="0" lvl="0" indent="0" algn="just" defTabSz="914400" rtl="0" eaLnBrk="0" fontAlgn="base" latinLnBrk="0" hangingPunct="0">
              <a:lnSpc>
                <a:spcPct val="100000"/>
              </a:lnSpc>
              <a:spcBef>
                <a:spcPct val="0"/>
              </a:spcBef>
              <a:spcAft>
                <a:spcPct val="0"/>
              </a:spcAft>
              <a:buClrTx/>
              <a:buSzTx/>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Case 2 (T=1):</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In this condition the flip flop will change when T input is 1,At each rising or falling edge of the clock signal the output Q will be in complementary state.</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Characteristics Equation for T Flip Flop</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Q</a:t>
            </a:r>
            <a:r>
              <a:rPr kumimoji="0" lang="en-US" b="1" i="0" u="none" strike="noStrike" cap="none" normalizeH="0" baseline="-30000" dirty="0" smtClean="0">
                <a:ln>
                  <a:noFill/>
                </a:ln>
                <a:solidFill>
                  <a:schemeClr val="tx1"/>
                </a:solidFill>
                <a:effectLst/>
                <a:latin typeface="Times New Roman" pitchFamily="18" charset="0"/>
                <a:cs typeface="Times New Roman" pitchFamily="18" charset="0"/>
              </a:rPr>
              <a:t>N+1</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 Q'</a:t>
            </a:r>
            <a:r>
              <a:rPr kumimoji="0" lang="en-US" b="1" i="0" u="none" strike="noStrike" cap="none" normalizeH="0" baseline="-30000" dirty="0" smtClean="0">
                <a:ln>
                  <a:noFill/>
                </a:ln>
                <a:solidFill>
                  <a:schemeClr val="tx1"/>
                </a:solidFill>
                <a:effectLst/>
                <a:latin typeface="Times New Roman" pitchFamily="18" charset="0"/>
                <a:cs typeface="Times New Roman" pitchFamily="18" charset="0"/>
              </a:rPr>
              <a:t>N</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T + Q</a:t>
            </a:r>
            <a:r>
              <a:rPr kumimoji="0" lang="en-US" b="1" i="0" u="none" strike="noStrike" cap="none" normalizeH="0" baseline="-30000" dirty="0" smtClean="0">
                <a:ln>
                  <a:noFill/>
                </a:ln>
                <a:solidFill>
                  <a:schemeClr val="tx1"/>
                </a:solidFill>
                <a:effectLst/>
                <a:latin typeface="Times New Roman" pitchFamily="18" charset="0"/>
                <a:cs typeface="Times New Roman" pitchFamily="18" charset="0"/>
              </a:rPr>
              <a:t>N</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T' = Q</a:t>
            </a:r>
            <a:r>
              <a:rPr kumimoji="0" lang="en-US" b="1" i="0" u="none" strike="noStrike" cap="none" normalizeH="0" baseline="-30000" dirty="0" smtClean="0">
                <a:ln>
                  <a:noFill/>
                </a:ln>
                <a:solidFill>
                  <a:schemeClr val="tx1"/>
                </a:solidFill>
                <a:effectLst/>
                <a:latin typeface="Times New Roman" pitchFamily="18" charset="0"/>
                <a:cs typeface="Times New Roman" pitchFamily="18" charset="0"/>
              </a:rPr>
              <a:t>N</a:t>
            </a: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 XOR T</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1"/>
          <p:cNvSpPr>
            <a:spLocks noChangeArrowheads="1"/>
          </p:cNvSpPr>
          <p:nvPr/>
        </p:nvSpPr>
        <p:spPr bwMode="auto">
          <a:xfrm>
            <a:off x="1280319" y="203423"/>
            <a:ext cx="9833736" cy="22159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273239"/>
                </a:solidFill>
                <a:effectLst/>
                <a:latin typeface="Times New Roman" pitchFamily="18" charset="0"/>
                <a:cs typeface="Times New Roman" pitchFamily="18" charset="0"/>
              </a:rPr>
              <a:t>Conversion for Flip Flops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273239"/>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273239"/>
                </a:solidFill>
                <a:effectLst/>
                <a:latin typeface="Times New Roman" pitchFamily="18" charset="0"/>
                <a:cs typeface="Times New Roman" pitchFamily="18" charset="0"/>
              </a:rPr>
              <a:t>The Excitation Table of the Flip Flop can be given as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rgbClr val="273239"/>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273239"/>
                </a:solidFill>
                <a:effectLst/>
                <a:latin typeface="Times New Roman" pitchFamily="18" charset="0"/>
                <a:cs typeface="Times New Roman" pitchFamily="18" charset="0"/>
              </a:rPr>
              <a:t>EXCITATION TABLE</a:t>
            </a:r>
            <a:r>
              <a:rPr kumimoji="0" lang="en-US" sz="2400" b="0" i="0" u="none" strike="noStrike" cap="none" normalizeH="0" baseline="0" dirty="0" smtClean="0">
                <a:ln>
                  <a:noFill/>
                </a:ln>
                <a:solidFill>
                  <a:srgbClr val="273239"/>
                </a:solidFill>
                <a:effectLst/>
                <a:latin typeface="Times New Roman" pitchFamily="18" charset="0"/>
                <a:cs typeface="Times New Roman" pitchFamily="18" charset="0"/>
              </a:rPr>
              <a:t>:</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273239"/>
                </a:solidFill>
                <a:effectLst/>
                <a:latin typeface="Times New Roman" pitchFamily="18" charset="0"/>
                <a:cs typeface="Times New Roman" pitchFamily="18" charset="0"/>
              </a:rPr>
              <a:t>  </a:t>
            </a:r>
          </a:p>
        </p:txBody>
      </p:sp>
      <p:pic>
        <p:nvPicPr>
          <p:cNvPr id="6146" name="Picture 2" descr="flip_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6470" y="2438400"/>
            <a:ext cx="8488897"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04006" y="76200"/>
            <a:ext cx="10657975" cy="6063198"/>
          </a:xfrm>
          <a:prstGeom prst="rect">
            <a:avLst/>
          </a:prstGeom>
        </p:spPr>
        <p:txBody>
          <a:bodyPr wrap="square">
            <a:spAutoFit/>
          </a:bodyPr>
          <a:lstStyle/>
          <a:p>
            <a:pPr algn="ctr" fontAlgn="base"/>
            <a:r>
              <a:rPr lang="en-US" sz="2800" b="1" dirty="0">
                <a:latin typeface="Times New Roman" pitchFamily="18" charset="0"/>
                <a:cs typeface="Times New Roman" pitchFamily="18" charset="0"/>
              </a:rPr>
              <a:t>Applications of </a:t>
            </a:r>
            <a:r>
              <a:rPr lang="en-US" sz="2800" b="1" dirty="0" smtClean="0">
                <a:latin typeface="Times New Roman" pitchFamily="18" charset="0"/>
                <a:cs typeface="Times New Roman" pitchFamily="18" charset="0"/>
              </a:rPr>
              <a:t>Flip-Flops</a:t>
            </a:r>
          </a:p>
          <a:p>
            <a:pPr algn="ctr" fontAlgn="base"/>
            <a:endParaRPr lang="en-US" sz="2000" b="1" dirty="0">
              <a:latin typeface="Times New Roman" pitchFamily="18" charset="0"/>
              <a:cs typeface="Times New Roman" pitchFamily="18" charset="0"/>
            </a:endParaRPr>
          </a:p>
          <a:p>
            <a:pPr fontAlgn="base"/>
            <a:r>
              <a:rPr lang="en-US" sz="2000" dirty="0">
                <a:latin typeface="Times New Roman" pitchFamily="18" charset="0"/>
                <a:cs typeface="Times New Roman" pitchFamily="18" charset="0"/>
              </a:rPr>
              <a:t>These are the various types of flip-flops being used in digital electronic circuits and the applications of Flip-flops are as specified below</a:t>
            </a:r>
            <a:r>
              <a:rPr lang="en-US" sz="2000" dirty="0" smtClean="0">
                <a:latin typeface="Times New Roman" pitchFamily="18" charset="0"/>
                <a:cs typeface="Times New Roman" pitchFamily="18" charset="0"/>
              </a:rPr>
              <a:t>.</a:t>
            </a:r>
          </a:p>
          <a:p>
            <a:pPr fontAlgn="base"/>
            <a:endParaRPr lang="en-US" sz="2000" dirty="0">
              <a:latin typeface="Times New Roman" pitchFamily="18" charset="0"/>
              <a:cs typeface="Times New Roman" pitchFamily="18" charset="0"/>
            </a:endParaRPr>
          </a:p>
          <a:p>
            <a:pPr marL="457200" indent="-457200" fontAlgn="base">
              <a:buFont typeface="+mj-lt"/>
              <a:buAutoNum type="arabicPeriod"/>
            </a:pPr>
            <a:r>
              <a:rPr lang="en-US" sz="2000" b="1" dirty="0">
                <a:latin typeface="Times New Roman" pitchFamily="18" charset="0"/>
                <a:cs typeface="Times New Roman" pitchFamily="18" charset="0"/>
              </a:rPr>
              <a:t>Counters: </a:t>
            </a:r>
            <a:r>
              <a:rPr lang="en-US" sz="2000" dirty="0">
                <a:latin typeface="Times New Roman" pitchFamily="18" charset="0"/>
                <a:cs typeface="Times New Roman" pitchFamily="18" charset="0"/>
              </a:rPr>
              <a:t>The Flip Flop are used in the </a:t>
            </a:r>
            <a:r>
              <a:rPr lang="en-US" sz="2000" u="sng" dirty="0">
                <a:latin typeface="Times New Roman" pitchFamily="18" charset="0"/>
                <a:cs typeface="Times New Roman" pitchFamily="18" charset="0"/>
                <a:hlinkClick r:id="rId6"/>
              </a:rPr>
              <a:t>Counter</a:t>
            </a:r>
            <a:r>
              <a:rPr lang="en-US" sz="2000" dirty="0">
                <a:latin typeface="Times New Roman" pitchFamily="18" charset="0"/>
                <a:cs typeface="Times New Roman" pitchFamily="18" charset="0"/>
              </a:rPr>
              <a:t> Circuits for Counting pulse or events.</a:t>
            </a:r>
          </a:p>
          <a:p>
            <a:pPr marL="457200" indent="-457200" fontAlgn="base">
              <a:buFont typeface="+mj-lt"/>
              <a:buAutoNum type="arabicPeriod"/>
            </a:pPr>
            <a:r>
              <a:rPr lang="en-US" sz="2000" b="1" dirty="0">
                <a:latin typeface="Times New Roman" pitchFamily="18" charset="0"/>
                <a:cs typeface="Times New Roman" pitchFamily="18" charset="0"/>
              </a:rPr>
              <a:t>Frequency Dividers: </a:t>
            </a:r>
            <a:r>
              <a:rPr lang="en-US" sz="2000" dirty="0">
                <a:latin typeface="Times New Roman" pitchFamily="18" charset="0"/>
                <a:cs typeface="Times New Roman" pitchFamily="18" charset="0"/>
              </a:rPr>
              <a:t>The Flip Flop are used in </a:t>
            </a:r>
            <a:r>
              <a:rPr lang="en-US" sz="2000" u="sng" dirty="0">
                <a:latin typeface="Times New Roman" pitchFamily="18" charset="0"/>
                <a:cs typeface="Times New Roman" pitchFamily="18" charset="0"/>
                <a:hlinkClick r:id="rId7"/>
              </a:rPr>
              <a:t>Frequency Dividers</a:t>
            </a:r>
            <a:r>
              <a:rPr lang="en-US" sz="2000" dirty="0">
                <a:latin typeface="Times New Roman" pitchFamily="18" charset="0"/>
                <a:cs typeface="Times New Roman" pitchFamily="18" charset="0"/>
              </a:rPr>
              <a:t> to divide the frequency of a input signal by a specific factor.</a:t>
            </a:r>
          </a:p>
          <a:p>
            <a:pPr marL="457200" indent="-457200" fontAlgn="base">
              <a:buFont typeface="+mj-lt"/>
              <a:buAutoNum type="arabicPeriod"/>
            </a:pPr>
            <a:r>
              <a:rPr lang="en-US" sz="2000" b="1" dirty="0">
                <a:latin typeface="Times New Roman" pitchFamily="18" charset="0"/>
                <a:cs typeface="Times New Roman" pitchFamily="18" charset="0"/>
              </a:rPr>
              <a:t>Shift Registers: </a:t>
            </a:r>
            <a:r>
              <a:rPr lang="en-US" sz="2000" dirty="0">
                <a:latin typeface="Times New Roman" pitchFamily="18" charset="0"/>
                <a:cs typeface="Times New Roman" pitchFamily="18" charset="0"/>
              </a:rPr>
              <a:t>The </a:t>
            </a:r>
            <a:r>
              <a:rPr lang="en-US" sz="2000" u="sng" dirty="0">
                <a:latin typeface="Times New Roman" pitchFamily="18" charset="0"/>
                <a:cs typeface="Times New Roman" pitchFamily="18" charset="0"/>
                <a:hlinkClick r:id="rId8"/>
              </a:rPr>
              <a:t>Shift registers</a:t>
            </a:r>
            <a:r>
              <a:rPr lang="en-US" sz="2000" dirty="0">
                <a:latin typeface="Times New Roman" pitchFamily="18" charset="0"/>
                <a:cs typeface="Times New Roman" pitchFamily="18" charset="0"/>
              </a:rPr>
              <a:t> consist of interconnected flip-flops that shift data serially.</a:t>
            </a:r>
          </a:p>
          <a:p>
            <a:pPr marL="457200" indent="-457200" fontAlgn="base">
              <a:buFont typeface="+mj-lt"/>
              <a:buAutoNum type="arabicPeriod"/>
            </a:pPr>
            <a:r>
              <a:rPr lang="en-US" sz="2000" b="1" dirty="0">
                <a:latin typeface="Times New Roman" pitchFamily="18" charset="0"/>
                <a:cs typeface="Times New Roman" pitchFamily="18" charset="0"/>
              </a:rPr>
              <a:t>Storage Registers: </a:t>
            </a:r>
            <a:r>
              <a:rPr lang="en-US" sz="2000" dirty="0">
                <a:latin typeface="Times New Roman" pitchFamily="18" charset="0"/>
                <a:cs typeface="Times New Roman" pitchFamily="18" charset="0"/>
              </a:rPr>
              <a:t>The Storage Resistor uses Flip Flop to store data in binary information.</a:t>
            </a:r>
          </a:p>
          <a:p>
            <a:pPr marL="457200" indent="-457200" fontAlgn="base">
              <a:buFont typeface="+mj-lt"/>
              <a:buAutoNum type="arabicPeriod"/>
            </a:pPr>
            <a:r>
              <a:rPr lang="en-US" sz="2000" b="1" dirty="0">
                <a:latin typeface="Times New Roman" pitchFamily="18" charset="0"/>
                <a:cs typeface="Times New Roman" pitchFamily="18" charset="0"/>
              </a:rPr>
              <a:t>Bounce elimination switch: </a:t>
            </a:r>
            <a:r>
              <a:rPr lang="en-US" sz="2000" dirty="0">
                <a:latin typeface="Times New Roman" pitchFamily="18" charset="0"/>
                <a:cs typeface="Times New Roman" pitchFamily="18" charset="0"/>
              </a:rPr>
              <a:t>The Flip Flop are used in Bounce elimination switch to eliminate the contact bounce.</a:t>
            </a:r>
          </a:p>
          <a:p>
            <a:pPr marL="457200" indent="-457200" fontAlgn="base">
              <a:buFont typeface="+mj-lt"/>
              <a:buAutoNum type="arabicPeriod"/>
            </a:pPr>
            <a:r>
              <a:rPr lang="en-US" sz="2000" b="1" dirty="0">
                <a:latin typeface="Times New Roman" pitchFamily="18" charset="0"/>
                <a:cs typeface="Times New Roman" pitchFamily="18" charset="0"/>
              </a:rPr>
              <a:t>Data storage: </a:t>
            </a:r>
            <a:r>
              <a:rPr lang="en-US" sz="2000" dirty="0">
                <a:latin typeface="Times New Roman" pitchFamily="18" charset="0"/>
                <a:cs typeface="Times New Roman" pitchFamily="18" charset="0"/>
              </a:rPr>
              <a:t>The Flip Flop are used in the Data Storage to store binary data temporarily or permanently.</a:t>
            </a:r>
          </a:p>
          <a:p>
            <a:pPr marL="457200" indent="-457200" fontAlgn="base">
              <a:buFont typeface="+mj-lt"/>
              <a:buAutoNum type="arabicPeriod"/>
            </a:pPr>
            <a:r>
              <a:rPr lang="en-US" sz="2000" b="1" dirty="0">
                <a:latin typeface="Times New Roman" pitchFamily="18" charset="0"/>
                <a:cs typeface="Times New Roman" pitchFamily="18" charset="0"/>
              </a:rPr>
              <a:t>Data transfer: </a:t>
            </a:r>
            <a:r>
              <a:rPr lang="en-US" sz="2000" dirty="0">
                <a:latin typeface="Times New Roman" pitchFamily="18" charset="0"/>
                <a:cs typeface="Times New Roman" pitchFamily="18" charset="0"/>
              </a:rPr>
              <a:t>The Flip Flops are used for data transfer in different </a:t>
            </a:r>
            <a:r>
              <a:rPr lang="en-US" sz="2000" u="sng" dirty="0">
                <a:latin typeface="Times New Roman" pitchFamily="18" charset="0"/>
                <a:cs typeface="Times New Roman" pitchFamily="18" charset="0"/>
                <a:hlinkClick r:id="rId9"/>
              </a:rPr>
              <a:t>electronic parts</a:t>
            </a:r>
            <a:r>
              <a:rPr lang="en-US" sz="2000" dirty="0">
                <a:latin typeface="Times New Roman" pitchFamily="18" charset="0"/>
                <a:cs typeface="Times New Roman" pitchFamily="18" charset="0"/>
              </a:rPr>
              <a:t>.</a:t>
            </a:r>
          </a:p>
          <a:p>
            <a:pPr marL="457200" indent="-457200" fontAlgn="base">
              <a:buFont typeface="+mj-lt"/>
              <a:buAutoNum type="arabicPeriod"/>
            </a:pPr>
            <a:r>
              <a:rPr lang="en-US" sz="2000" b="1" dirty="0">
                <a:latin typeface="Times New Roman" pitchFamily="18" charset="0"/>
                <a:cs typeface="Times New Roman" pitchFamily="18" charset="0"/>
              </a:rPr>
              <a:t>Latch: </a:t>
            </a:r>
            <a:r>
              <a:rPr lang="en-US" sz="2000" dirty="0">
                <a:latin typeface="Times New Roman" pitchFamily="18" charset="0"/>
                <a:cs typeface="Times New Roman" pitchFamily="18" charset="0"/>
              </a:rPr>
              <a:t>The Latches are the </a:t>
            </a:r>
            <a:r>
              <a:rPr lang="en-US" sz="2000" u="sng" dirty="0">
                <a:latin typeface="Times New Roman" pitchFamily="18" charset="0"/>
                <a:cs typeface="Times New Roman" pitchFamily="18" charset="0"/>
                <a:hlinkClick r:id="rId10"/>
              </a:rPr>
              <a:t>Sequential circuit</a:t>
            </a:r>
            <a:r>
              <a:rPr lang="en-US" sz="2000" dirty="0">
                <a:latin typeface="Times New Roman" pitchFamily="18" charset="0"/>
                <a:cs typeface="Times New Roman" pitchFamily="18" charset="0"/>
              </a:rPr>
              <a:t> which uses Flip Flop for temporary storage of data</a:t>
            </a:r>
          </a:p>
          <a:p>
            <a:pPr marL="457200" indent="-457200" fontAlgn="base">
              <a:buFont typeface="+mj-lt"/>
              <a:buAutoNum type="arabicPeriod"/>
            </a:pPr>
            <a:r>
              <a:rPr lang="en-US" sz="2000" b="1" dirty="0">
                <a:latin typeface="Times New Roman" pitchFamily="18" charset="0"/>
                <a:cs typeface="Times New Roman" pitchFamily="18" charset="0"/>
              </a:rPr>
              <a:t>Registers: </a:t>
            </a:r>
            <a:r>
              <a:rPr lang="en-US" sz="2000" dirty="0">
                <a:latin typeface="Times New Roman" pitchFamily="18" charset="0"/>
                <a:cs typeface="Times New Roman" pitchFamily="18" charset="0"/>
              </a:rPr>
              <a:t>The </a:t>
            </a:r>
            <a:r>
              <a:rPr lang="en-US" sz="2000" u="sng" dirty="0">
                <a:latin typeface="Times New Roman" pitchFamily="18" charset="0"/>
                <a:cs typeface="Times New Roman" pitchFamily="18" charset="0"/>
                <a:hlinkClick r:id="rId11"/>
              </a:rPr>
              <a:t>Registers </a:t>
            </a:r>
            <a:r>
              <a:rPr lang="en-US" sz="2000" dirty="0">
                <a:latin typeface="Times New Roman" pitchFamily="18" charset="0"/>
                <a:cs typeface="Times New Roman" pitchFamily="18" charset="0"/>
              </a:rPr>
              <a:t>are mode from the array of flip flop which are used to store data temporarily</a:t>
            </a:r>
            <a:r>
              <a:rPr lang="en-US" sz="2000" b="1" dirty="0">
                <a:latin typeface="Times New Roman" pitchFamily="18" charset="0"/>
                <a:cs typeface="Times New Roman" pitchFamily="18" charset="0"/>
              </a:rPr>
              <a:t>.</a:t>
            </a:r>
            <a:endParaRPr lang="en-US" sz="2000" dirty="0">
              <a:latin typeface="Times New Roman" pitchFamily="18" charset="0"/>
              <a:cs typeface="Times New Roman" pitchFamily="18" charset="0"/>
            </a:endParaRPr>
          </a:p>
          <a:p>
            <a:pPr marL="457200" indent="-457200" fontAlgn="base">
              <a:buFont typeface="+mj-lt"/>
              <a:buAutoNum type="arabicPeriod"/>
            </a:pPr>
            <a:r>
              <a:rPr lang="en-US" sz="2000" b="1" dirty="0">
                <a:latin typeface="Times New Roman" pitchFamily="18" charset="0"/>
                <a:cs typeface="Times New Roman" pitchFamily="18" charset="0"/>
              </a:rPr>
              <a:t>Memory: </a:t>
            </a:r>
            <a:r>
              <a:rPr lang="en-US" sz="2000" dirty="0">
                <a:latin typeface="Times New Roman" pitchFamily="18" charset="0"/>
                <a:cs typeface="Times New Roman" pitchFamily="18" charset="0"/>
              </a:rPr>
              <a:t>The Flip Flops are the main components in the </a:t>
            </a:r>
            <a:r>
              <a:rPr lang="en-US" sz="2000" u="sng" dirty="0">
                <a:latin typeface="Times New Roman" pitchFamily="18" charset="0"/>
                <a:cs typeface="Times New Roman" pitchFamily="18" charset="0"/>
                <a:hlinkClick r:id="rId12"/>
              </a:rPr>
              <a:t>memory unit</a:t>
            </a:r>
            <a:r>
              <a:rPr lang="en-US" sz="2000" dirty="0">
                <a:latin typeface="Times New Roman" pitchFamily="18" charset="0"/>
                <a:cs typeface="Times New Roman" pitchFamily="18" charset="0"/>
              </a:rPr>
              <a:t> for data storage.</a:t>
            </a: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4843441" y="381000"/>
            <a:ext cx="2678938" cy="369332"/>
          </a:xfrm>
          <a:prstGeom prst="rect">
            <a:avLst/>
          </a:prstGeom>
        </p:spPr>
        <p:txBody>
          <a:bodyPr wrap="none">
            <a:spAutoFit/>
          </a:bodyPr>
          <a:lstStyle/>
          <a:p>
            <a:r>
              <a:rPr lang="en-US" b="1" dirty="0" smtClean="0">
                <a:latin typeface="Times New Roman" pitchFamily="18" charset="0"/>
                <a:cs typeface="Times New Roman" pitchFamily="18" charset="0"/>
              </a:rPr>
              <a:t>Counters in Digital Logic</a:t>
            </a:r>
            <a:endParaRPr lang="en-US" b="1" dirty="0">
              <a:latin typeface="Times New Roman" pitchFamily="18" charset="0"/>
              <a:cs typeface="Times New Roman" pitchFamily="18" charset="0"/>
            </a:endParaRPr>
          </a:p>
        </p:txBody>
      </p:sp>
      <p:sp>
        <p:nvSpPr>
          <p:cNvPr id="7" name="Rectangle 6"/>
          <p:cNvSpPr/>
          <p:nvPr/>
        </p:nvSpPr>
        <p:spPr>
          <a:xfrm>
            <a:off x="1127919" y="887980"/>
            <a:ext cx="10634062" cy="1477328"/>
          </a:xfrm>
          <a:prstGeom prst="rect">
            <a:avLst/>
          </a:prstGeom>
        </p:spPr>
        <p:txBody>
          <a:bodyPr wrap="square">
            <a:spAutoFit/>
          </a:bodyPr>
          <a:lstStyle/>
          <a:p>
            <a:pPr algn="just"/>
            <a:r>
              <a:rPr lang="en-US" dirty="0">
                <a:latin typeface="Times New Roman" pitchFamily="18" charset="0"/>
                <a:cs typeface="Times New Roman" pitchFamily="18" charset="0"/>
              </a:rPr>
              <a:t>A counter is a digital electronic device that counts the number of times an event occurs using a clock signal. With each clock pulse, the count changes, such as in an up counter where the count increases by one. Counters are built using flip-flops and can follow fixed or custom sequences like 0, 1, 3, 2. They can also act as frequency dividers by reducing the input clock frequency. Counters are sequential circuits that count pulses in binary or BCD form and mainly perform counting, timing, and sequencing functions.</a:t>
            </a:r>
          </a:p>
        </p:txBody>
      </p:sp>
      <p:sp>
        <p:nvSpPr>
          <p:cNvPr id="8" name="Rectangle 7"/>
          <p:cNvSpPr/>
          <p:nvPr/>
        </p:nvSpPr>
        <p:spPr>
          <a:xfrm>
            <a:off x="1127919" y="2709133"/>
            <a:ext cx="10634061" cy="2862322"/>
          </a:xfrm>
          <a:prstGeom prst="rect">
            <a:avLst/>
          </a:prstGeom>
        </p:spPr>
        <p:txBody>
          <a:bodyPr wrap="square">
            <a:spAutoFit/>
          </a:bodyPr>
          <a:lstStyle/>
          <a:p>
            <a:pPr algn="ctr" fontAlgn="base"/>
            <a:r>
              <a:rPr lang="en-US" b="1" dirty="0">
                <a:latin typeface="Times New Roman" pitchFamily="18" charset="0"/>
                <a:cs typeface="Times New Roman" pitchFamily="18" charset="0"/>
              </a:rPr>
              <a:t>Counter Classification</a:t>
            </a:r>
          </a:p>
          <a:p>
            <a:pPr fontAlgn="base"/>
            <a:r>
              <a:rPr lang="en-US" b="1" dirty="0">
                <a:latin typeface="Times New Roman" pitchFamily="18" charset="0"/>
                <a:cs typeface="Times New Roman" pitchFamily="18" charset="0"/>
              </a:rPr>
              <a:t>1. Asynchronous Counter </a:t>
            </a:r>
          </a:p>
          <a:p>
            <a:pPr algn="just" fontAlgn="base"/>
            <a:r>
              <a:rPr lang="en-US" dirty="0">
                <a:latin typeface="Times New Roman" pitchFamily="18" charset="0"/>
                <a:cs typeface="Times New Roman" pitchFamily="18" charset="0"/>
              </a:rPr>
              <a:t>In an asynchronous counter, there is no common (universal) clock for all flip-flops; only the first flip-flop is driven by the main clock, and each subsequent flip-flop is triggered by the output of the previous one, causing the count to ripple through the circuit</a:t>
            </a:r>
            <a:r>
              <a:rPr lang="en-US" dirty="0" smtClean="0">
                <a:latin typeface="Times New Roman" pitchFamily="18" charset="0"/>
                <a:cs typeface="Times New Roman" pitchFamily="18" charset="0"/>
              </a:rPr>
              <a:t>. </a:t>
            </a:r>
          </a:p>
          <a:p>
            <a:pPr algn="just" fontAlgn="base"/>
            <a:endParaRPr lang="en-US" dirty="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From </a:t>
            </a:r>
            <a:r>
              <a:rPr lang="en-US" dirty="0">
                <a:latin typeface="Times New Roman" pitchFamily="18" charset="0"/>
                <a:cs typeface="Times New Roman" pitchFamily="18" charset="0"/>
              </a:rPr>
              <a:t>the timing diagram, Q0 changes immediately at the rising edge of the clock, Q1 changes at the rising edge of Q0, and the same pattern continues for Q2 and Q3. This step-by-step change creates a ripple effect through the flip-flops, which is why it is called a ripple counter or serial counter. A ripple counter is a cascade of flip-flops where the output of one flip-flop acts as the clock input for the next</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0713" y="2221"/>
            <a:ext cx="8382000" cy="6855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sp>
        <p:nvSpPr>
          <p:cNvPr id="6" name="Rectangle 5"/>
          <p:cNvSpPr/>
          <p:nvPr/>
        </p:nvSpPr>
        <p:spPr>
          <a:xfrm>
            <a:off x="1127919" y="228600"/>
            <a:ext cx="10634062" cy="2862322"/>
          </a:xfrm>
          <a:prstGeom prst="rect">
            <a:avLst/>
          </a:prstGeom>
        </p:spPr>
        <p:txBody>
          <a:bodyPr wrap="square">
            <a:spAutoFit/>
          </a:bodyPr>
          <a:lstStyle/>
          <a:p>
            <a:pPr algn="ctr" fontAlgn="base"/>
            <a:r>
              <a:rPr lang="en-US" b="1" dirty="0">
                <a:latin typeface="Times New Roman" pitchFamily="18" charset="0"/>
                <a:cs typeface="Times New Roman" pitchFamily="18" charset="0"/>
              </a:rPr>
              <a:t>2. Synchronous </a:t>
            </a:r>
            <a:r>
              <a:rPr lang="en-US" b="1" dirty="0" smtClean="0">
                <a:latin typeface="Times New Roman" pitchFamily="18" charset="0"/>
                <a:cs typeface="Times New Roman" pitchFamily="18" charset="0"/>
              </a:rPr>
              <a:t>Counter</a:t>
            </a:r>
          </a:p>
          <a:p>
            <a:pPr algn="ctr" fontAlgn="base"/>
            <a:r>
              <a:rPr lang="en-US" b="1" dirty="0">
                <a:latin typeface="Times New Roman" pitchFamily="18" charset="0"/>
                <a:cs typeface="Times New Roman" pitchFamily="18" charset="0"/>
              </a:rPr>
              <a:t> </a:t>
            </a:r>
          </a:p>
          <a:p>
            <a:pPr algn="just" fontAlgn="base"/>
            <a:r>
              <a:rPr lang="en-US" dirty="0">
                <a:latin typeface="Times New Roman" pitchFamily="18" charset="0"/>
                <a:cs typeface="Times New Roman" pitchFamily="18" charset="0"/>
              </a:rPr>
              <a:t>Unlike an asynchronous counter, a synchronous counter uses a single global clock that drives all flip-flops simultaneously, so all outputs change in parallel. Its main advantage is that it can operate at higher frequencies because it does not suffer from cumulative delay, as the same clock is applied to every flip-flop. Hence, it is also called a parallel counter</a:t>
            </a:r>
            <a:r>
              <a:rPr lang="en-US" dirty="0" smtClean="0">
                <a:latin typeface="Times New Roman" pitchFamily="18" charset="0"/>
                <a:cs typeface="Times New Roman" pitchFamily="18" charset="0"/>
              </a:rPr>
              <a:t>. </a:t>
            </a:r>
          </a:p>
          <a:p>
            <a:pPr algn="just" fontAlgn="base"/>
            <a:endParaRPr lang="en-US" dirty="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From </a:t>
            </a:r>
            <a:r>
              <a:rPr lang="en-US" dirty="0">
                <a:latin typeface="Times New Roman" pitchFamily="18" charset="0"/>
                <a:cs typeface="Times New Roman" pitchFamily="18" charset="0"/>
              </a:rPr>
              <a:t>the circuit diagram, Q0 responds to every falling edge of the clock, Q1 depends on Q0, Q2 depends on both Q1 and Q0, and Q3 depends on Q2, Q1, and Q0, so all flip-flops change state simultaneously under the same clock signal</a:t>
            </a:r>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3223" y="3271123"/>
            <a:ext cx="9865490" cy="4196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42913"/>
            <a:ext cx="8048625" cy="597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27919" y="381000"/>
            <a:ext cx="10634062" cy="1477328"/>
          </a:xfrm>
          <a:prstGeom prst="rect">
            <a:avLst/>
          </a:prstGeom>
        </p:spPr>
        <p:txBody>
          <a:bodyPr wrap="square">
            <a:spAutoFit/>
          </a:bodyPr>
          <a:lstStyle/>
          <a:p>
            <a:pPr algn="ctr" fontAlgn="base"/>
            <a:r>
              <a:rPr lang="en-US" b="1" dirty="0">
                <a:latin typeface="Times New Roman" pitchFamily="18" charset="0"/>
                <a:cs typeface="Times New Roman" pitchFamily="18" charset="0"/>
              </a:rPr>
              <a:t>Decade Counter</a:t>
            </a:r>
          </a:p>
          <a:p>
            <a:pPr algn="just" fontAlgn="base"/>
            <a:r>
              <a:rPr lang="en-US" dirty="0">
                <a:latin typeface="Times New Roman" pitchFamily="18" charset="0"/>
                <a:cs typeface="Times New Roman" pitchFamily="18" charset="0"/>
              </a:rPr>
              <a:t>Counts ten states and then resets to its initial state. The most common decade counter counts from 0 to 9, but it can also be designed to count any ten states within 0 to 15 in a 4-bit counter before resetting. </a:t>
            </a:r>
            <a:endParaRPr lang="en-US" dirty="0" smtClean="0">
              <a:latin typeface="Times New Roman" pitchFamily="18" charset="0"/>
              <a:cs typeface="Times New Roman" pitchFamily="18" charset="0"/>
            </a:endParaRPr>
          </a:p>
          <a:p>
            <a:pPr fontAlgn="base"/>
            <a:endParaRPr lang="en-US" dirty="0">
              <a:latin typeface="Times New Roman" pitchFamily="18" charset="0"/>
              <a:cs typeface="Times New Roman" pitchFamily="18" charset="0"/>
            </a:endParaRPr>
          </a:p>
          <a:p>
            <a:pPr fontAlgn="base"/>
            <a:r>
              <a:rPr lang="en-US" b="1" dirty="0">
                <a:latin typeface="Times New Roman" pitchFamily="18" charset="0"/>
                <a:cs typeface="Times New Roman" pitchFamily="18" charset="0"/>
              </a:rPr>
              <a:t>Truth table for simple decade counter</a:t>
            </a:r>
            <a:r>
              <a:rPr lang="en-US" dirty="0">
                <a:latin typeface="Times New Roman" pitchFamily="18" charset="0"/>
                <a:cs typeface="Times New Roman" pitchFamily="18" charset="0"/>
              </a:rPr>
              <a:t>:</a:t>
            </a:r>
          </a:p>
        </p:txBody>
      </p:sp>
      <p:graphicFrame>
        <p:nvGraphicFramePr>
          <p:cNvPr id="8" name="Table 7"/>
          <p:cNvGraphicFramePr>
            <a:graphicFrameLocks noGrp="1"/>
          </p:cNvGraphicFramePr>
          <p:nvPr>
            <p:extLst>
              <p:ext uri="{D42A27DB-BD31-4B8C-83A1-F6EECF244321}">
                <p14:modId xmlns:p14="http://schemas.microsoft.com/office/powerpoint/2010/main" val="3775492177"/>
              </p:ext>
            </p:extLst>
          </p:nvPr>
        </p:nvGraphicFramePr>
        <p:xfrm>
          <a:off x="3185319" y="1866367"/>
          <a:ext cx="6858000" cy="4834704"/>
        </p:xfrm>
        <a:graphic>
          <a:graphicData uri="http://schemas.openxmlformats.org/drawingml/2006/table">
            <a:tbl>
              <a:tblPr/>
              <a:tblGrid>
                <a:gridCol w="1371600"/>
                <a:gridCol w="1371600"/>
                <a:gridCol w="1371600"/>
                <a:gridCol w="1371600"/>
                <a:gridCol w="1371600"/>
              </a:tblGrid>
              <a:tr h="371519">
                <a:tc>
                  <a:txBody>
                    <a:bodyPr/>
                    <a:lstStyle/>
                    <a:p>
                      <a:pPr algn="ctr" fontAlgn="ctr"/>
                      <a:r>
                        <a:rPr lang="en-US" sz="1200" b="0" dirty="0">
                          <a:effectLst/>
                          <a:latin typeface="Times New Roman" pitchFamily="18" charset="0"/>
                          <a:cs typeface="Times New Roman" pitchFamily="18" charset="0"/>
                        </a:rPr>
                        <a:t>Clock pulse</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Q3</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Q2</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Q1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Q0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2</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3</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4</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5</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6</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7</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8</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9</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1</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71519">
                <a:tc>
                  <a:txBody>
                    <a:bodyPr/>
                    <a:lstStyle/>
                    <a:p>
                      <a:pPr algn="ctr" fontAlgn="ctr"/>
                      <a:r>
                        <a:rPr lang="en-US" sz="1200" b="0">
                          <a:effectLst/>
                          <a:latin typeface="Times New Roman" pitchFamily="18" charset="0"/>
                          <a:cs typeface="Times New Roman" pitchFamily="18" charset="0"/>
                        </a:rPr>
                        <a:t>10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latin typeface="Times New Roman" pitchFamily="18" charset="0"/>
                          <a:cs typeface="Times New Roman" pitchFamily="18" charset="0"/>
                        </a:rPr>
                        <a:t>0</a:t>
                      </a:r>
                    </a:p>
                  </a:txBody>
                  <a:tcPr marL="78576" marR="78576" marT="110006" marB="1100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512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325" y="1128713"/>
            <a:ext cx="10010775" cy="460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737519" y="990600"/>
            <a:ext cx="9220200" cy="3046988"/>
          </a:xfrm>
          <a:prstGeom prst="rect">
            <a:avLst/>
          </a:prstGeom>
        </p:spPr>
        <p:txBody>
          <a:bodyPr wrap="square">
            <a:spAutoFit/>
          </a:bodyPr>
          <a:lstStyle/>
          <a:p>
            <a:pPr algn="just" fontAlgn="base"/>
            <a:r>
              <a:rPr lang="en-US" sz="2400" dirty="0">
                <a:latin typeface="Times New Roman" pitchFamily="18" charset="0"/>
                <a:cs typeface="Times New Roman" pitchFamily="18" charset="0"/>
              </a:rPr>
              <a:t>From the circuit diagram, a NAND gate is connected to Q3 and Q1 and its output is fed to the clear input because the binary representation of 10 is 1010. When Q3 and Q1 both become 1, the NAND gate output goes low, activating the clear input, so the counter resets at 10 and starts counting again from 0.</a:t>
            </a:r>
          </a:p>
          <a:p>
            <a:pPr algn="just" fontAlgn="base"/>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b="1" u="sng" dirty="0">
                <a:latin typeface="Times New Roman" pitchFamily="18" charset="0"/>
                <a:cs typeface="Times New Roman" pitchFamily="18" charset="0"/>
              </a:rPr>
              <a:t>Important point</a:t>
            </a:r>
            <a:r>
              <a:rPr lang="en-US" sz="2400" dirty="0">
                <a:latin typeface="Times New Roman" pitchFamily="18" charset="0"/>
                <a:cs typeface="Times New Roman" pitchFamily="18" charset="0"/>
              </a:rPr>
              <a:t>: Number of flip flops used in counter are always greater than equal to (</a:t>
            </a:r>
            <a:r>
              <a:rPr lang="en-US" sz="2400" b="1" dirty="0">
                <a:latin typeface="Times New Roman" pitchFamily="18" charset="0"/>
                <a:cs typeface="Times New Roman" pitchFamily="18" charset="0"/>
              </a:rPr>
              <a:t>log</a:t>
            </a:r>
            <a:r>
              <a:rPr lang="en-US" sz="2400" b="1" baseline="-25000" dirty="0">
                <a:latin typeface="Times New Roman" pitchFamily="18" charset="0"/>
                <a:cs typeface="Times New Roman" pitchFamily="18" charset="0"/>
              </a:rPr>
              <a:t>2</a:t>
            </a:r>
            <a:r>
              <a:rPr lang="en-US" sz="2400" b="1" dirty="0">
                <a:latin typeface="Times New Roman" pitchFamily="18" charset="0"/>
                <a:cs typeface="Times New Roman" pitchFamily="18" charset="0"/>
              </a:rPr>
              <a:t> n</a:t>
            </a:r>
            <a:r>
              <a:rPr lang="en-US" sz="2400" dirty="0">
                <a:latin typeface="Times New Roman" pitchFamily="18" charset="0"/>
                <a:cs typeface="Times New Roman" pitchFamily="18" charset="0"/>
              </a:rPr>
              <a:t>)  where n=number of states in counter. </a:t>
            </a: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4328319" y="228600"/>
            <a:ext cx="3771225" cy="369332"/>
          </a:xfrm>
          <a:prstGeom prst="rect">
            <a:avLst/>
          </a:prstGeom>
        </p:spPr>
        <p:txBody>
          <a:bodyPr wrap="none">
            <a:spAutoFit/>
          </a:bodyPr>
          <a:lstStyle/>
          <a:p>
            <a:r>
              <a:rPr lang="en-US" b="1" dirty="0" smtClean="0">
                <a:latin typeface="Times New Roman" pitchFamily="18" charset="0"/>
                <a:cs typeface="Times New Roman" pitchFamily="18" charset="0"/>
              </a:rPr>
              <a:t>Synchronous 3 bit Up/Down counter</a:t>
            </a:r>
            <a:endParaRPr lang="en-US" b="1" dirty="0">
              <a:latin typeface="Times New Roman" pitchFamily="18" charset="0"/>
              <a:cs typeface="Times New Roman" pitchFamily="18" charset="0"/>
            </a:endParaRPr>
          </a:p>
        </p:txBody>
      </p:sp>
      <p:sp>
        <p:nvSpPr>
          <p:cNvPr id="7" name="Rectangle 6"/>
          <p:cNvSpPr/>
          <p:nvPr/>
        </p:nvSpPr>
        <p:spPr>
          <a:xfrm>
            <a:off x="1127919" y="733226"/>
            <a:ext cx="10634061" cy="2308324"/>
          </a:xfrm>
          <a:prstGeom prst="rect">
            <a:avLst/>
          </a:prstGeom>
        </p:spPr>
        <p:txBody>
          <a:bodyPr wrap="square">
            <a:spAutoFit/>
          </a:bodyPr>
          <a:lstStyle/>
          <a:p>
            <a:pPr fontAlgn="base"/>
            <a:r>
              <a:rPr lang="en-US" b="1" dirty="0">
                <a:latin typeface="Times New Roman" pitchFamily="18" charset="0"/>
                <a:cs typeface="Times New Roman" pitchFamily="18" charset="0"/>
              </a:rPr>
              <a:t>Steps to design Synchronous 3 bit Up/Down Counter</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a:t>
            </a:r>
          </a:p>
          <a:p>
            <a:pPr fontAlgn="base"/>
            <a:endParaRPr lang="en-US" dirty="0">
              <a:latin typeface="Times New Roman" pitchFamily="18" charset="0"/>
              <a:cs typeface="Times New Roman" pitchFamily="18" charset="0"/>
            </a:endParaRPr>
          </a:p>
          <a:p>
            <a:pPr fontAlgn="base"/>
            <a:r>
              <a:rPr lang="en-US" b="1" dirty="0">
                <a:latin typeface="Times New Roman" pitchFamily="18" charset="0"/>
                <a:cs typeface="Times New Roman" pitchFamily="18" charset="0"/>
              </a:rPr>
              <a:t>1. Decide the number and type of FF -</a:t>
            </a:r>
            <a:endParaRPr lang="en-US" dirty="0">
              <a:latin typeface="Times New Roman" pitchFamily="18" charset="0"/>
              <a:cs typeface="Times New Roman" pitchFamily="18" charset="0"/>
            </a:endParaRPr>
          </a:p>
          <a:p>
            <a:pPr fontAlgn="base"/>
            <a:r>
              <a:rPr lang="en-US" dirty="0">
                <a:latin typeface="Times New Roman" pitchFamily="18" charset="0"/>
                <a:cs typeface="Times New Roman" pitchFamily="18" charset="0"/>
              </a:rPr>
              <a:t>Here we are performing 3 bit or mod-8  </a:t>
            </a:r>
            <a:r>
              <a:rPr lang="en-US" b="1" dirty="0">
                <a:latin typeface="Times New Roman" pitchFamily="18" charset="0"/>
                <a:cs typeface="Times New Roman" pitchFamily="18" charset="0"/>
              </a:rPr>
              <a:t>Up or Down counting,</a:t>
            </a:r>
            <a:r>
              <a:rPr lang="en-US" dirty="0">
                <a:latin typeface="Times New Roman" pitchFamily="18" charset="0"/>
                <a:cs typeface="Times New Roman" pitchFamily="18" charset="0"/>
              </a:rPr>
              <a:t> so 3 Flip Flops are required, which can count up to  2</a:t>
            </a:r>
            <a:r>
              <a:rPr lang="en-US" baseline="30000" dirty="0">
                <a:latin typeface="Times New Roman" pitchFamily="18" charset="0"/>
                <a:cs typeface="Times New Roman" pitchFamily="18" charset="0"/>
              </a:rPr>
              <a:t>3</a:t>
            </a:r>
            <a:r>
              <a:rPr lang="en-US" dirty="0">
                <a:latin typeface="Times New Roman" pitchFamily="18" charset="0"/>
                <a:cs typeface="Times New Roman" pitchFamily="18" charset="0"/>
              </a:rPr>
              <a:t>-1 = 7.</a:t>
            </a:r>
          </a:p>
          <a:p>
            <a:pPr fontAlgn="base"/>
            <a:r>
              <a:rPr lang="en-US" dirty="0">
                <a:latin typeface="Times New Roman" pitchFamily="18" charset="0"/>
                <a:cs typeface="Times New Roman" pitchFamily="18" charset="0"/>
              </a:rPr>
              <a:t>Here T Flip Flop is used</a:t>
            </a:r>
            <a:r>
              <a:rPr lang="en-US" dirty="0" smtClean="0">
                <a:latin typeface="Times New Roman" pitchFamily="18" charset="0"/>
                <a:cs typeface="Times New Roman" pitchFamily="18" charset="0"/>
              </a:rPr>
              <a:t>.</a:t>
            </a:r>
          </a:p>
          <a:p>
            <a:pPr fontAlgn="base"/>
            <a:endParaRPr lang="en-US" dirty="0">
              <a:latin typeface="Times New Roman" pitchFamily="18" charset="0"/>
              <a:cs typeface="Times New Roman" pitchFamily="18" charset="0"/>
            </a:endParaRPr>
          </a:p>
          <a:p>
            <a:pPr fontAlgn="base"/>
            <a:r>
              <a:rPr lang="en-US" dirty="0">
                <a:latin typeface="Times New Roman" pitchFamily="18" charset="0"/>
                <a:cs typeface="Times New Roman" pitchFamily="18" charset="0"/>
              </a:rPr>
              <a:t>2. </a:t>
            </a:r>
            <a:r>
              <a:rPr lang="en-US" b="1" dirty="0">
                <a:latin typeface="Times New Roman" pitchFamily="18" charset="0"/>
                <a:cs typeface="Times New Roman" pitchFamily="18" charset="0"/>
              </a:rPr>
              <a:t>Write excitation table of Flip Flop - </a:t>
            </a:r>
            <a:endParaRPr lang="en-US" dirty="0">
              <a:latin typeface="Times New Roman" pitchFamily="18" charset="0"/>
              <a:cs typeface="Times New Roman" pitchFamily="18" charset="0"/>
            </a:endParaRPr>
          </a:p>
        </p:txBody>
      </p:sp>
      <p:pic>
        <p:nvPicPr>
          <p:cNvPr id="6146" name="Picture 2" descr="https://media.geeksforgeeks.org/wp-content/uploads/20210517153828/ExcitationtableT-660x188.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9962" y="3200400"/>
            <a:ext cx="6286500" cy="17907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127919" y="5181600"/>
            <a:ext cx="10439400" cy="923330"/>
          </a:xfrm>
          <a:prstGeom prst="rect">
            <a:avLst/>
          </a:prstGeom>
        </p:spPr>
        <p:txBody>
          <a:bodyPr wrap="square">
            <a:spAutoFit/>
          </a:bodyPr>
          <a:lstStyle/>
          <a:p>
            <a:pPr fontAlgn="base"/>
            <a:r>
              <a:rPr lang="en-US" b="1" dirty="0">
                <a:latin typeface="Times New Roman" pitchFamily="18" charset="0"/>
                <a:cs typeface="Times New Roman" pitchFamily="18" charset="0"/>
              </a:rPr>
              <a:t>3. Decision for Mode control input M -</a:t>
            </a:r>
            <a:endParaRPr lang="en-US" dirty="0">
              <a:latin typeface="Times New Roman" pitchFamily="18" charset="0"/>
              <a:cs typeface="Times New Roman" pitchFamily="18" charset="0"/>
            </a:endParaRPr>
          </a:p>
          <a:p>
            <a:pPr fontAlgn="base"/>
            <a:r>
              <a:rPr lang="en-US" dirty="0">
                <a:latin typeface="Times New Roman" pitchFamily="18" charset="0"/>
                <a:cs typeface="Times New Roman" pitchFamily="18" charset="0"/>
              </a:rPr>
              <a:t>When M=0 ,then the counter will perform up counting.</a:t>
            </a:r>
          </a:p>
          <a:p>
            <a:pPr fontAlgn="base"/>
            <a:r>
              <a:rPr lang="en-US" dirty="0">
                <a:latin typeface="Times New Roman" pitchFamily="18" charset="0"/>
                <a:cs typeface="Times New Roman" pitchFamily="18" charset="0"/>
              </a:rPr>
              <a:t>When M=1 ,then the counter will perform down counting</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2919" y="1066800"/>
            <a:ext cx="6172200" cy="524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585119" y="228600"/>
            <a:ext cx="9448800" cy="369332"/>
          </a:xfrm>
          <a:prstGeom prst="rect">
            <a:avLst/>
          </a:prstGeom>
        </p:spPr>
        <p:txBody>
          <a:bodyPr wrap="square">
            <a:spAutoFit/>
          </a:bodyPr>
          <a:lstStyle/>
          <a:p>
            <a:r>
              <a:rPr lang="en-US" b="1" dirty="0">
                <a:latin typeface="Times New Roman" pitchFamily="18" charset="0"/>
                <a:cs typeface="Times New Roman" pitchFamily="18" charset="0"/>
              </a:rPr>
              <a:t>4. Draw the state transition diagram and circuit excitation table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051719" y="412016"/>
            <a:ext cx="10710262" cy="1477328"/>
          </a:xfrm>
          <a:prstGeom prst="rect">
            <a:avLst/>
          </a:prstGeom>
        </p:spPr>
        <p:txBody>
          <a:bodyPr wrap="square">
            <a:spAutoFit/>
          </a:bodyPr>
          <a:lstStyle/>
          <a:p>
            <a:pPr algn="just" fontAlgn="base"/>
            <a:r>
              <a:rPr lang="en-US" b="1" dirty="0">
                <a:latin typeface="Times New Roman" pitchFamily="18" charset="0"/>
                <a:cs typeface="Times New Roman" pitchFamily="18" charset="0"/>
              </a:rPr>
              <a:t>5. Circuit excitation table -</a:t>
            </a:r>
            <a:endParaRPr lang="en-US" dirty="0">
              <a:latin typeface="Times New Roman" pitchFamily="18" charset="0"/>
              <a:cs typeface="Times New Roman" pitchFamily="18" charset="0"/>
            </a:endParaRPr>
          </a:p>
          <a:p>
            <a:pPr algn="just" fontAlgn="base"/>
            <a:r>
              <a:rPr lang="en-US" dirty="0">
                <a:latin typeface="Times New Roman" pitchFamily="18" charset="0"/>
                <a:cs typeface="Times New Roman" pitchFamily="18" charset="0"/>
              </a:rPr>
              <a:t>The circuit excitation table represents the present states of the counting sequence and the next states after the clock pulse is applied and input T of the flip-flops. By seeing the transition between the present state and the next state, we can find the input values of 3 Flip Flops using the Flip Flops excitation table. The table is designed according to the required counting sequence. </a:t>
            </a:r>
          </a:p>
        </p:txBody>
      </p:sp>
      <p:pic>
        <p:nvPicPr>
          <p:cNvPr id="819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7864" y="1738422"/>
            <a:ext cx="4489011" cy="479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27919" y="304800"/>
            <a:ext cx="10634062" cy="1200329"/>
          </a:xfrm>
          <a:prstGeom prst="rect">
            <a:avLst/>
          </a:prstGeom>
        </p:spPr>
        <p:txBody>
          <a:bodyPr wrap="square">
            <a:spAutoFit/>
          </a:bodyPr>
          <a:lstStyle/>
          <a:p>
            <a:pPr fontAlgn="base"/>
            <a:r>
              <a:rPr lang="en-US" dirty="0"/>
              <a:t>If there is a change in the output state of a flip flop (i.e. 0 to 1 or 1 to 0), then the corresponding T value becomes 1 otherwise 0.</a:t>
            </a:r>
          </a:p>
          <a:p>
            <a:pPr fontAlgn="base"/>
            <a:r>
              <a:rPr lang="en-US" b="1" dirty="0"/>
              <a:t>6. Find a simplified equation using k map -</a:t>
            </a:r>
            <a:r>
              <a:rPr lang="en-US" dirty="0"/>
              <a:t/>
            </a:r>
            <a:br>
              <a:rPr lang="en-US" dirty="0"/>
            </a:br>
            <a:r>
              <a:rPr lang="en-US" dirty="0"/>
              <a:t>Here we are finding the minimal Boolean expression for each Flip Flop input T using k map.</a:t>
            </a:r>
          </a:p>
        </p:txBody>
      </p:sp>
      <p:pic>
        <p:nvPicPr>
          <p:cNvPr id="92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8463" y="1752600"/>
            <a:ext cx="6286500"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42668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1"/>
          <p:cNvSpPr>
            <a:spLocks noChangeArrowheads="1"/>
          </p:cNvSpPr>
          <p:nvPr/>
        </p:nvSpPr>
        <p:spPr bwMode="auto">
          <a:xfrm>
            <a:off x="899319" y="546509"/>
            <a:ext cx="10517116"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7. Create a circuit diagram -</a:t>
            </a: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
            </a:r>
            <a:br>
              <a:rPr kumimoji="0" lang="en-US" b="0" i="0" u="none" strike="noStrike" cap="none" normalizeH="0" baseline="0" dirty="0" smtClean="0">
                <a:ln>
                  <a:noFill/>
                </a:ln>
                <a:solidFill>
                  <a:srgbClr val="273239"/>
                </a:solidFill>
                <a:effectLst/>
                <a:latin typeface="Times New Roman" pitchFamily="18" charset="0"/>
                <a:cs typeface="Times New Roman" pitchFamily="18" charset="0"/>
              </a:rPr>
            </a:b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The simplified expression for Flip Flops is used to design circuit diagrams. Here all the connections are made according to simplified expressions for Flip Flops. </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br>
              <a:rPr kumimoji="0" lang="en-US" b="0" i="0" u="none" strike="noStrike" cap="none" normalizeH="0" baseline="0" dirty="0" smtClean="0">
                <a:ln>
                  <a:noFill/>
                </a:ln>
                <a:solidFill>
                  <a:schemeClr val="tx1"/>
                </a:solidFill>
                <a:effectLst/>
                <a:latin typeface="Times New Roman" pitchFamily="18" charset="0"/>
                <a:cs typeface="Times New Roman" pitchFamily="18" charset="0"/>
              </a:rPr>
            </a:b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21506" name="Picture 2" descr="https://media.geeksforgeeks.org/wp-content/uploads/20210518140350/SynchronousUpDownCounter-660x356.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4627" y="2049780"/>
            <a:ext cx="6286500" cy="339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7437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1"/>
          <p:cNvSpPr>
            <a:spLocks noChangeArrowheads="1"/>
          </p:cNvSpPr>
          <p:nvPr/>
        </p:nvSpPr>
        <p:spPr bwMode="auto">
          <a:xfrm>
            <a:off x="2193745" y="485001"/>
            <a:ext cx="7487306"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8. Timing Diagram -</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br>
              <a:rPr kumimoji="0" lang="en-US" b="0" i="0" u="none" strike="noStrike" cap="none" normalizeH="0" baseline="0" dirty="0" smtClean="0">
                <a:ln>
                  <a:noFill/>
                </a:ln>
                <a:solidFill>
                  <a:schemeClr val="tx1"/>
                </a:solidFill>
                <a:effectLst/>
                <a:latin typeface="Times New Roman" pitchFamily="18" charset="0"/>
                <a:cs typeface="Times New Roman" pitchFamily="18" charset="0"/>
              </a:rPr>
            </a:b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20482" name="Picture 2" descr="https://media.geeksforgeeks.org/wp-content/uploads/20210518153326/TimingDiagramcontrol4-660x495.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4140" y="1038999"/>
            <a:ext cx="7290068" cy="5467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2221202" y="2720340"/>
            <a:ext cx="8077200" cy="535531"/>
          </a:xfrm>
          <a:prstGeom prst="rect">
            <a:avLst/>
          </a:prstGeom>
          <a:noFill/>
          <a:ln>
            <a:noFill/>
          </a:ln>
        </p:spPr>
        <p:txBody>
          <a:bodyPr spcFirstLastPara="1" wrap="square" lIns="76790" tIns="38395" rIns="76790" bIns="38395" anchor="ctr" anchorCtr="0">
            <a:noAutofit/>
          </a:bodyPr>
          <a:lstStyle/>
          <a:p>
            <a:pPr algn="ctr">
              <a:lnSpc>
                <a:spcPct val="90000"/>
              </a:lnSpc>
              <a:buClr>
                <a:srgbClr val="C00000"/>
              </a:buClr>
              <a:buSzPts val="5300"/>
            </a:pPr>
            <a:r>
              <a:rPr lang="en-US" sz="4000" dirty="0" smtClean="0">
                <a:solidFill>
                  <a:srgbClr val="C00000"/>
                </a:solidFill>
                <a:latin typeface="Marcellus"/>
                <a:ea typeface="Marcellus"/>
                <a:cs typeface="Marcellus"/>
              </a:rPr>
              <a:t>Counters using MSI Devices</a:t>
            </a:r>
          </a:p>
        </p:txBody>
      </p:sp>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1026" name="Picture 2" descr="74163 High-Speed CMOS 4-Bit Synchronous Binary Counter DIP-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1511" y="2221"/>
            <a:ext cx="821520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427360" y="336957"/>
            <a:ext cx="10048395" cy="5632311"/>
          </a:xfrm>
          <a:prstGeom prst="rect">
            <a:avLst/>
          </a:prstGeom>
        </p:spPr>
        <p:txBody>
          <a:bodyPr wrap="square">
            <a:spAutoFit/>
          </a:bodyPr>
          <a:lstStyle/>
          <a:p>
            <a:pPr algn="just"/>
            <a:r>
              <a:rPr lang="en-US" dirty="0">
                <a:latin typeface="Times New Roman" pitchFamily="18" charset="0"/>
                <a:cs typeface="Times New Roman" pitchFamily="18" charset="0"/>
              </a:rPr>
              <a:t>IC74163 Integrated </a:t>
            </a:r>
            <a:r>
              <a:rPr lang="en-US" dirty="0" err="1">
                <a:latin typeface="Times New Roman" pitchFamily="18" charset="0"/>
                <a:cs typeface="Times New Roman" pitchFamily="18" charset="0"/>
              </a:rPr>
              <a:t>Presettable</a:t>
            </a:r>
            <a:r>
              <a:rPr lang="en-US" dirty="0">
                <a:latin typeface="Times New Roman" pitchFamily="18" charset="0"/>
                <a:cs typeface="Times New Roman" pitchFamily="18" charset="0"/>
              </a:rPr>
              <a:t> Synchronous 4-bit Modulo-16 Up counter. The </a:t>
            </a:r>
            <a:r>
              <a:rPr lang="en-US" dirty="0" smtClean="0">
                <a:latin typeface="Times New Roman" pitchFamily="18" charset="0"/>
                <a:cs typeface="Times New Roman" pitchFamily="18" charset="0"/>
                <a:hlinkClick r:id="rId6"/>
              </a:rPr>
              <a:t>IC</a:t>
            </a:r>
            <a:r>
              <a:rPr lang="en-US" dirty="0">
                <a:latin typeface="Times New Roman" pitchFamily="18" charset="0"/>
                <a:cs typeface="Times New Roman" pitchFamily="18" charset="0"/>
              </a:rPr>
              <a:t> is a synchronous counter as all 4 flip-flops are integrated into the same </a:t>
            </a:r>
            <a:r>
              <a:rPr lang="en-US" dirty="0" smtClean="0">
                <a:latin typeface="Times New Roman" pitchFamily="18" charset="0"/>
                <a:cs typeface="Times New Roman" pitchFamily="18" charset="0"/>
                <a:hlinkClick r:id="rId6"/>
              </a:rPr>
              <a:t>chip</a:t>
            </a:r>
            <a:r>
              <a:rPr lang="en-US" dirty="0">
                <a:latin typeface="Times New Roman" pitchFamily="18" charset="0"/>
                <a:cs typeface="Times New Roman" pitchFamily="18" charset="0"/>
              </a:rPr>
              <a:t> &amp; they receive the same clock pulse (clock signal). </a:t>
            </a:r>
            <a:endParaRPr lang="en-US"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IC74163 is a completely programmable binary counter due to its four preset inputs, which allow it to begin counting with any loaded input by sending a low signal to the load pin. </a:t>
            </a:r>
            <a:endParaRPr lang="en-US"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For </a:t>
            </a:r>
            <a:r>
              <a:rPr lang="en-US" dirty="0">
                <a:latin typeface="Times New Roman" pitchFamily="18" charset="0"/>
                <a:cs typeface="Times New Roman" pitchFamily="18" charset="0"/>
              </a:rPr>
              <a:t>cascading counters with n-bit synchronous counting, a ripple-carry (RC) output terminal is provided. IC </a:t>
            </a:r>
            <a:r>
              <a:rPr lang="en-US" dirty="0">
                <a:latin typeface="Times New Roman" pitchFamily="18" charset="0"/>
                <a:cs typeface="Times New Roman" pitchFamily="18" charset="0"/>
                <a:hlinkClick r:id="rId7"/>
              </a:rPr>
              <a:t>74163</a:t>
            </a:r>
            <a:r>
              <a:rPr lang="en-US" dirty="0">
                <a:latin typeface="Times New Roman" pitchFamily="18" charset="0"/>
                <a:cs typeface="Times New Roman" pitchFamily="18" charset="0"/>
              </a:rPr>
              <a:t>, </a:t>
            </a:r>
            <a:r>
              <a:rPr lang="en-US" dirty="0">
                <a:latin typeface="Times New Roman" pitchFamily="18" charset="0"/>
                <a:cs typeface="Times New Roman" pitchFamily="18" charset="0"/>
                <a:hlinkClick r:id="rId8"/>
              </a:rPr>
              <a:t>74193</a:t>
            </a:r>
            <a:r>
              <a:rPr lang="en-US" dirty="0">
                <a:latin typeface="Times New Roman" pitchFamily="18" charset="0"/>
                <a:cs typeface="Times New Roman" pitchFamily="18" charset="0"/>
              </a:rPr>
              <a:t> 74161, etc. are 4-bit binary counters. </a:t>
            </a:r>
          </a:p>
          <a:p>
            <a:pPr algn="just"/>
            <a:endParaRPr lang="en-US" dirty="0" smtClean="0">
              <a:latin typeface="Times New Roman" pitchFamily="18" charset="0"/>
              <a:cs typeface="Times New Roman" pitchFamily="18" charset="0"/>
            </a:endParaRPr>
          </a:p>
          <a:p>
            <a:pPr fontAlgn="base"/>
            <a:r>
              <a:rPr lang="en-US" b="1" dirty="0">
                <a:latin typeface="Times New Roman" pitchFamily="18" charset="0"/>
                <a:cs typeface="Times New Roman" pitchFamily="18" charset="0"/>
              </a:rPr>
              <a:t>Features of IC74163:</a:t>
            </a:r>
            <a:endParaRPr lang="en-US" dirty="0">
              <a:latin typeface="Times New Roman" pitchFamily="18" charset="0"/>
              <a:cs typeface="Times New Roman" pitchFamily="18" charset="0"/>
            </a:endParaRPr>
          </a:p>
          <a:p>
            <a:pPr fontAlgn="base"/>
            <a:r>
              <a:rPr lang="en-US" dirty="0">
                <a:latin typeface="Times New Roman" pitchFamily="18" charset="0"/>
                <a:cs typeface="Times New Roman" pitchFamily="18" charset="0"/>
              </a:rPr>
              <a:t>Typical clock frequency 32MHz</a:t>
            </a:r>
          </a:p>
          <a:p>
            <a:pPr fontAlgn="base"/>
            <a:r>
              <a:rPr lang="en-US" dirty="0">
                <a:latin typeface="Times New Roman" pitchFamily="18" charset="0"/>
                <a:cs typeface="Times New Roman" pitchFamily="18" charset="0"/>
              </a:rPr>
              <a:t>Typical Power dissipation 93mW</a:t>
            </a:r>
          </a:p>
          <a:p>
            <a:pPr fontAlgn="base"/>
            <a:r>
              <a:rPr lang="en-US" dirty="0">
                <a:latin typeface="Times New Roman" pitchFamily="18" charset="0"/>
                <a:cs typeface="Times New Roman" pitchFamily="18" charset="0"/>
              </a:rPr>
              <a:t>4-Bit Modulo-16 Up counter.</a:t>
            </a:r>
          </a:p>
          <a:p>
            <a:pPr fontAlgn="base"/>
            <a:r>
              <a:rPr lang="en-US" dirty="0">
                <a:latin typeface="Times New Roman" pitchFamily="18" charset="0"/>
                <a:cs typeface="Times New Roman" pitchFamily="18" charset="0"/>
              </a:rPr>
              <a:t>Preset inputs are available</a:t>
            </a:r>
          </a:p>
          <a:p>
            <a:pPr fontAlgn="base"/>
            <a:r>
              <a:rPr lang="en-US" dirty="0">
                <a:latin typeface="Times New Roman" pitchFamily="18" charset="0"/>
                <a:cs typeface="Times New Roman" pitchFamily="18" charset="0"/>
              </a:rPr>
              <a:t>Synchronously programmable</a:t>
            </a:r>
          </a:p>
          <a:p>
            <a:pPr fontAlgn="base"/>
            <a:r>
              <a:rPr lang="en-US" dirty="0">
                <a:latin typeface="Times New Roman" pitchFamily="18" charset="0"/>
                <a:cs typeface="Times New Roman" pitchFamily="18" charset="0"/>
              </a:rPr>
              <a:t>Internal look-ahead (Ripple carry) for fast counting</a:t>
            </a:r>
          </a:p>
          <a:p>
            <a:pPr fontAlgn="base"/>
            <a:r>
              <a:rPr lang="en-US" dirty="0">
                <a:latin typeface="Times New Roman" pitchFamily="18" charset="0"/>
                <a:cs typeface="Times New Roman" pitchFamily="18" charset="0"/>
              </a:rPr>
              <a:t>Carry output for n-bit cascading</a:t>
            </a:r>
          </a:p>
          <a:p>
            <a:pPr fontAlgn="base"/>
            <a:r>
              <a:rPr lang="en-US" dirty="0">
                <a:latin typeface="Times New Roman" pitchFamily="18" charset="0"/>
                <a:cs typeface="Times New Roman" pitchFamily="18" charset="0"/>
              </a:rPr>
              <a:t>Active low load control line to load input number</a:t>
            </a:r>
          </a:p>
          <a:p>
            <a:pPr fontAlgn="base"/>
            <a:r>
              <a:rPr lang="en-US" dirty="0">
                <a:latin typeface="Times New Roman" pitchFamily="18" charset="0"/>
                <a:cs typeface="Times New Roman" pitchFamily="18" charset="0"/>
              </a:rPr>
              <a:t>Active low Reset terminal to reset the chip at any point.</a:t>
            </a:r>
          </a:p>
          <a:p>
            <a:pPr fontAlgn="base"/>
            <a:r>
              <a:rPr lang="en-US" dirty="0">
                <a:latin typeface="Times New Roman" pitchFamily="18" charset="0"/>
                <a:cs typeface="Times New Roman" pitchFamily="18" charset="0"/>
              </a:rPr>
              <a:t>Typical propagation time, clock to Q output </a:t>
            </a:r>
            <a:r>
              <a:rPr lang="en-US" dirty="0" smtClean="0">
                <a:latin typeface="Times New Roman" pitchFamily="18" charset="0"/>
                <a:cs typeface="Times New Roman" pitchFamily="18" charset="0"/>
              </a:rPr>
              <a:t>14ns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575114" y="533400"/>
            <a:ext cx="9753600" cy="1446550"/>
          </a:xfrm>
          <a:prstGeom prst="rect">
            <a:avLst/>
          </a:prstGeom>
        </p:spPr>
        <p:txBody>
          <a:bodyPr wrap="square">
            <a:spAutoFit/>
          </a:bodyPr>
          <a:lstStyle/>
          <a:p>
            <a:pPr algn="ctr"/>
            <a:r>
              <a:rPr lang="en-US" sz="2400" b="1" dirty="0">
                <a:latin typeface="Times New Roman" pitchFamily="18" charset="0"/>
                <a:cs typeface="Times New Roman" pitchFamily="18" charset="0"/>
              </a:rPr>
              <a:t>IC 7490, 74160, 74190, etc. are the decade counter </a:t>
            </a:r>
            <a:r>
              <a:rPr lang="en-US" sz="2400" b="1" dirty="0">
                <a:latin typeface="Times New Roman" pitchFamily="18" charset="0"/>
                <a:cs typeface="Times New Roman" pitchFamily="18" charset="0"/>
                <a:hlinkClick r:id="rId6"/>
              </a:rPr>
              <a:t>chips</a:t>
            </a:r>
            <a:r>
              <a:rPr lang="en-US" sz="2400" b="1" dirty="0">
                <a:latin typeface="Times New Roman" pitchFamily="18" charset="0"/>
                <a:cs typeface="Times New Roman" pitchFamily="18" charset="0"/>
              </a:rPr>
              <a:t>. </a:t>
            </a:r>
            <a:endParaRPr lang="en-US" sz="2400" b="1" dirty="0" smtClean="0">
              <a:latin typeface="Times New Roman" pitchFamily="18" charset="0"/>
              <a:cs typeface="Times New Roman" pitchFamily="18" charset="0"/>
            </a:endParaRPr>
          </a:p>
          <a:p>
            <a:pPr algn="just"/>
            <a:endParaRPr lang="en-US" sz="1600" dirty="0" smtClean="0">
              <a:latin typeface="Times New Roman" pitchFamily="18" charset="0"/>
              <a:cs typeface="Times New Roman" pitchFamily="18" charset="0"/>
              <a:hlinkClick r:id="rId7"/>
            </a:endParaRPr>
          </a:p>
          <a:p>
            <a:pPr algn="just"/>
            <a:r>
              <a:rPr lang="en-US" sz="1600" dirty="0" smtClean="0">
                <a:latin typeface="Times New Roman" pitchFamily="18" charset="0"/>
                <a:cs typeface="Times New Roman" pitchFamily="18" charset="0"/>
                <a:hlinkClick r:id="rId7"/>
              </a:rPr>
              <a:t>IC</a:t>
            </a:r>
            <a:r>
              <a:rPr lang="en-US" sz="1600" dirty="0">
                <a:latin typeface="Times New Roman" pitchFamily="18" charset="0"/>
                <a:cs typeface="Times New Roman" pitchFamily="18" charset="0"/>
              </a:rPr>
              <a:t> you can see 74160 BCD Counter Circuit Diagram. It is a 16 pin BCD counter with a feature of count loading means it is </a:t>
            </a:r>
            <a:r>
              <a:rPr lang="en-US" sz="1600" dirty="0" err="1">
                <a:latin typeface="Times New Roman" pitchFamily="18" charset="0"/>
                <a:cs typeface="Times New Roman" pitchFamily="18" charset="0"/>
              </a:rPr>
              <a:t>presettable</a:t>
            </a:r>
            <a:r>
              <a:rPr lang="en-US" sz="1600" dirty="0">
                <a:latin typeface="Times New Roman" pitchFamily="18" charset="0"/>
                <a:cs typeface="Times New Roman" pitchFamily="18" charset="0"/>
              </a:rPr>
              <a:t>. </a:t>
            </a:r>
            <a:endParaRPr lang="en-US" sz="1600" dirty="0" smtClean="0">
              <a:latin typeface="Times New Roman" pitchFamily="18" charset="0"/>
              <a:cs typeface="Times New Roman" pitchFamily="18" charset="0"/>
            </a:endParaRPr>
          </a:p>
          <a:p>
            <a:pPr algn="just"/>
            <a:r>
              <a:rPr lang="en-US" sz="1600" dirty="0" smtClean="0">
                <a:latin typeface="Times New Roman" pitchFamily="18" charset="0"/>
                <a:cs typeface="Times New Roman" pitchFamily="18" charset="0"/>
              </a:rPr>
              <a:t>That </a:t>
            </a:r>
            <a:r>
              <a:rPr lang="en-US" sz="1600" dirty="0">
                <a:latin typeface="Times New Roman" pitchFamily="18" charset="0"/>
                <a:cs typeface="Times New Roman" pitchFamily="18" charset="0"/>
              </a:rPr>
              <a:t>means if you want you can count from anywhere between 0 to 9. It is a positive edge triggered IC.</a:t>
            </a:r>
            <a:endParaRPr lang="en-US" sz="1600" b="1" dirty="0">
              <a:latin typeface="Times New Roman" pitchFamily="18" charset="0"/>
              <a:cs typeface="Times New Roman" pitchFamily="18" charset="0"/>
            </a:endParaRPr>
          </a:p>
        </p:txBody>
      </p:sp>
      <p:pic>
        <p:nvPicPr>
          <p:cNvPr id="2050" name="Picture 2" descr="74160 BCD counter IC"/>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2919" y="2286000"/>
            <a:ext cx="6320837" cy="441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995074" y="457200"/>
            <a:ext cx="10668000" cy="1200329"/>
          </a:xfrm>
          <a:prstGeom prst="rect">
            <a:avLst/>
          </a:prstGeom>
        </p:spPr>
        <p:txBody>
          <a:bodyPr wrap="square">
            <a:spAutoFit/>
          </a:bodyPr>
          <a:lstStyle/>
          <a:p>
            <a:pPr algn="just" fontAlgn="base"/>
            <a:r>
              <a:rPr lang="en-US" dirty="0">
                <a:latin typeface="Times New Roman" pitchFamily="18" charset="0"/>
                <a:cs typeface="Times New Roman" pitchFamily="18" charset="0"/>
              </a:rPr>
              <a:t>By using the A, B, C, and D data input pins we can set the output pins QA, QB, QC, and QD to high or low. The active-low clear input resets the IC to 0000. The load enables input (P) enables the count. load input loads data inputs to counter on the positive edge of the clock. Pin 15 is the ripple carry output of this IC, it makes it very easy to cascade multiple </a:t>
            </a:r>
            <a:r>
              <a:rPr lang="en-US" dirty="0">
                <a:latin typeface="Times New Roman" pitchFamily="18" charset="0"/>
                <a:cs typeface="Times New Roman" pitchFamily="18" charset="0"/>
                <a:hlinkClick r:id="rId6"/>
              </a:rPr>
              <a:t> ICs</a:t>
            </a:r>
            <a:r>
              <a:rPr lang="en-US" dirty="0">
                <a:latin typeface="Times New Roman" pitchFamily="18" charset="0"/>
                <a:cs typeface="Times New Roman" pitchFamily="18" charset="0"/>
              </a:rPr>
              <a:t> to get a higher count</a:t>
            </a:r>
            <a:r>
              <a:rPr lang="en-US" dirty="0" smtClean="0"/>
              <a:t>.</a:t>
            </a:r>
            <a:endParaRPr lang="en-US" dirty="0"/>
          </a:p>
        </p:txBody>
      </p:sp>
      <p:pic>
        <p:nvPicPr>
          <p:cNvPr id="307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7718" y="1524000"/>
            <a:ext cx="4180995" cy="5010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463223" y="2294331"/>
            <a:ext cx="5257800" cy="3108543"/>
          </a:xfrm>
          <a:prstGeom prst="rect">
            <a:avLst/>
          </a:prstGeom>
        </p:spPr>
        <p:txBody>
          <a:bodyPr wrap="square">
            <a:spAutoFit/>
          </a:bodyPr>
          <a:lstStyle/>
          <a:p>
            <a:pPr algn="just" fontAlgn="base"/>
            <a:r>
              <a:rPr lang="en-US" sz="2800" b="1" dirty="0">
                <a:latin typeface="Times New Roman" pitchFamily="18" charset="0"/>
                <a:cs typeface="Times New Roman" pitchFamily="18" charset="0"/>
              </a:rPr>
              <a:t>Features:</a:t>
            </a:r>
          </a:p>
          <a:p>
            <a:pPr marL="457200" indent="-457200" algn="just" fontAlgn="base">
              <a:buFont typeface="Arial" pitchFamily="34" charset="0"/>
              <a:buChar char="•"/>
            </a:pPr>
            <a:r>
              <a:rPr lang="en-US" sz="2800" dirty="0">
                <a:latin typeface="Times New Roman" pitchFamily="18" charset="0"/>
                <a:cs typeface="Times New Roman" pitchFamily="18" charset="0"/>
              </a:rPr>
              <a:t>Synchronous counter with the feature of loading</a:t>
            </a:r>
          </a:p>
          <a:p>
            <a:pPr marL="457200" indent="-457200" algn="just" fontAlgn="base">
              <a:buFont typeface="Arial" pitchFamily="34" charset="0"/>
              <a:buChar char="•"/>
            </a:pPr>
            <a:r>
              <a:rPr lang="en-US" sz="2800" dirty="0">
                <a:latin typeface="Times New Roman" pitchFamily="18" charset="0"/>
                <a:cs typeface="Times New Roman" pitchFamily="18" charset="0"/>
              </a:rPr>
              <a:t>Two counts enable inputs for n-bit cascading</a:t>
            </a:r>
          </a:p>
          <a:p>
            <a:pPr marL="457200" indent="-457200" algn="just" fontAlgn="base">
              <a:buFont typeface="Arial" pitchFamily="34" charset="0"/>
              <a:buChar char="•"/>
            </a:pPr>
            <a:r>
              <a:rPr lang="en-US" sz="2800" dirty="0">
                <a:latin typeface="Times New Roman" pitchFamily="18" charset="0"/>
                <a:cs typeface="Times New Roman" pitchFamily="18" charset="0"/>
              </a:rPr>
              <a:t>Asynchronous reset</a:t>
            </a:r>
          </a:p>
          <a:p>
            <a:pPr marL="457200" indent="-457200" algn="just" fontAlgn="base">
              <a:buFont typeface="Arial" pitchFamily="34" charset="0"/>
              <a:buChar char="•"/>
            </a:pPr>
            <a:r>
              <a:rPr lang="en-US" sz="2800" dirty="0">
                <a:latin typeface="Times New Roman" pitchFamily="18" charset="0"/>
                <a:cs typeface="Times New Roman" pitchFamily="18" charset="0"/>
              </a:rPr>
              <a:t>Positive-edge triggering</a:t>
            </a:r>
          </a:p>
        </p:txBody>
      </p:sp>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2221202" y="2720340"/>
            <a:ext cx="8077200" cy="535531"/>
          </a:xfrm>
          <a:prstGeom prst="rect">
            <a:avLst/>
          </a:prstGeom>
          <a:noFill/>
          <a:ln>
            <a:noFill/>
          </a:ln>
        </p:spPr>
        <p:txBody>
          <a:bodyPr spcFirstLastPara="1" wrap="square" lIns="76790" tIns="38395" rIns="76790" bIns="38395" anchor="ctr" anchorCtr="0">
            <a:noAutofit/>
          </a:bodyPr>
          <a:lstStyle/>
          <a:p>
            <a:pPr algn="ctr">
              <a:lnSpc>
                <a:spcPct val="90000"/>
              </a:lnSpc>
              <a:buClr>
                <a:srgbClr val="C00000"/>
              </a:buClr>
              <a:buSzPts val="5300"/>
            </a:pPr>
            <a:r>
              <a:rPr lang="en-US" sz="4000" dirty="0" smtClean="0">
                <a:solidFill>
                  <a:srgbClr val="C00000"/>
                </a:solidFill>
                <a:latin typeface="Marcellus"/>
                <a:ea typeface="Marcellus"/>
                <a:cs typeface="Marcellus"/>
              </a:rPr>
              <a:t>Design a MOD 7 Counter using 74LS160</a:t>
            </a:r>
          </a:p>
        </p:txBody>
      </p:sp>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2512" y="381000"/>
            <a:ext cx="9921921" cy="5692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4564577" y="2890391"/>
            <a:ext cx="3520516" cy="707886"/>
          </a:xfrm>
          <a:prstGeom prst="rect">
            <a:avLst/>
          </a:prstGeom>
        </p:spPr>
        <p:txBody>
          <a:bodyPr wrap="none">
            <a:spAutoFit/>
          </a:bodyPr>
          <a:lstStyle/>
          <a:p>
            <a:r>
              <a:rPr lang="en-US" sz="4000" dirty="0">
                <a:solidFill>
                  <a:srgbClr val="C00000"/>
                </a:solidFill>
                <a:latin typeface="Marcellus"/>
                <a:ea typeface="Marcellus"/>
                <a:cs typeface="Marcellus"/>
              </a:rPr>
              <a:t>Shift </a:t>
            </a:r>
            <a:r>
              <a:rPr lang="en-US" sz="4000" dirty="0" smtClean="0">
                <a:solidFill>
                  <a:srgbClr val="C00000"/>
                </a:solidFill>
                <a:latin typeface="Marcellus"/>
                <a:ea typeface="Marcellus"/>
                <a:cs typeface="Marcellus"/>
              </a:rPr>
              <a:t>Registers</a:t>
            </a:r>
            <a:endParaRPr lang="en-US" sz="4000" dirty="0">
              <a:solidFill>
                <a:srgbClr val="C00000"/>
              </a:solidFill>
              <a:latin typeface="Marcellus"/>
              <a:ea typeface="Marcellus"/>
              <a:cs typeface="Marcellus"/>
            </a:endParaRPr>
          </a:p>
        </p:txBody>
      </p:sp>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468924" y="241280"/>
            <a:ext cx="9723096" cy="3416320"/>
          </a:xfrm>
          <a:prstGeom prst="rect">
            <a:avLst/>
          </a:prstGeom>
        </p:spPr>
        <p:txBody>
          <a:bodyPr wrap="square">
            <a:spAutoFit/>
          </a:bodyPr>
          <a:lstStyle/>
          <a:p>
            <a:pPr algn="just" fontAlgn="base"/>
            <a:r>
              <a:rPr lang="en-US" dirty="0">
                <a:latin typeface="Times New Roman" pitchFamily="18" charset="0"/>
                <a:cs typeface="Times New Roman" pitchFamily="18" charset="0"/>
              </a:rPr>
              <a:t>A shift register is a group of flip-flops connected in series to store and shift multiple bits of data either left or right with clock pulses.</a:t>
            </a:r>
          </a:p>
          <a:p>
            <a:pPr algn="just" fontAlgn="base"/>
            <a:r>
              <a:rPr lang="en-US" dirty="0">
                <a:latin typeface="Times New Roman" pitchFamily="18" charset="0"/>
                <a:cs typeface="Times New Roman" pitchFamily="18" charset="0"/>
              </a:rPr>
              <a:t>The registers which will shift the bits to the left are called “Shift left registers”.</a:t>
            </a:r>
          </a:p>
          <a:p>
            <a:pPr algn="just" fontAlgn="base"/>
            <a:r>
              <a:rPr lang="en-US" dirty="0">
                <a:latin typeface="Times New Roman" pitchFamily="18" charset="0"/>
                <a:cs typeface="Times New Roman" pitchFamily="18" charset="0"/>
              </a:rPr>
              <a:t>The registers which will shift the bits to the right are called “Shift right registers</a:t>
            </a:r>
            <a:r>
              <a:rPr lang="en-US" dirty="0" smtClean="0">
                <a:latin typeface="Times New Roman" pitchFamily="18" charset="0"/>
                <a:cs typeface="Times New Roman" pitchFamily="18" charset="0"/>
              </a:rPr>
              <a:t>”.</a:t>
            </a:r>
          </a:p>
          <a:p>
            <a:pPr algn="just" fontAlgn="base"/>
            <a:endParaRPr lang="en-US" dirty="0">
              <a:latin typeface="Times New Roman" pitchFamily="18" charset="0"/>
              <a:cs typeface="Times New Roman" pitchFamily="18" charset="0"/>
            </a:endParaRPr>
          </a:p>
          <a:p>
            <a:pPr algn="ctr" fontAlgn="base"/>
            <a:r>
              <a:rPr lang="en-US" b="1" dirty="0">
                <a:latin typeface="Times New Roman" pitchFamily="18" charset="0"/>
                <a:cs typeface="Times New Roman" pitchFamily="18" charset="0"/>
              </a:rPr>
              <a:t>Serial-In Serial-Out Shift Register (SISO</a:t>
            </a:r>
            <a:r>
              <a:rPr lang="en-US" b="1" dirty="0" smtClean="0">
                <a:latin typeface="Times New Roman" pitchFamily="18" charset="0"/>
                <a:cs typeface="Times New Roman" pitchFamily="18" charset="0"/>
              </a:rPr>
              <a:t>)</a:t>
            </a:r>
          </a:p>
          <a:p>
            <a:pPr algn="just" fontAlgn="base"/>
            <a:endParaRPr lang="en-US" b="1" dirty="0">
              <a:latin typeface="Times New Roman" pitchFamily="18" charset="0"/>
              <a:cs typeface="Times New Roman" pitchFamily="18" charset="0"/>
            </a:endParaRPr>
          </a:p>
          <a:p>
            <a:pPr algn="just" fontAlgn="base"/>
            <a:r>
              <a:rPr lang="en-US" dirty="0">
                <a:latin typeface="Times New Roman" pitchFamily="18" charset="0"/>
                <a:cs typeface="Times New Roman" pitchFamily="18" charset="0"/>
              </a:rPr>
              <a:t>A Serial-In Serial-Out (SISO) shift register accepts data one bit at a time through a single input line and outputs data serially, using a series of flip-flops all triggered by the same clock. The main use of a SISO is to act as a delay element.</a:t>
            </a:r>
          </a:p>
          <a:p>
            <a:pPr algn="just" fontAlgn="base"/>
            <a:r>
              <a:rPr lang="en-US" dirty="0">
                <a:latin typeface="Times New Roman" pitchFamily="18" charset="0"/>
                <a:cs typeface="Times New Roman" pitchFamily="18" charset="0"/>
              </a:rPr>
              <a:t>Data enters and leaves one bit at a time in a serial sequence.</a:t>
            </a:r>
          </a:p>
          <a:p>
            <a:pPr algn="just" fontAlgn="base"/>
            <a:r>
              <a:rPr lang="en-US" dirty="0">
                <a:latin typeface="Times New Roman" pitchFamily="18" charset="0"/>
                <a:cs typeface="Times New Roman" pitchFamily="18" charset="0"/>
              </a:rPr>
              <a:t>Typically made of multiple D flip-flops connected in series and </a:t>
            </a:r>
            <a:r>
              <a:rPr lang="en-US" dirty="0" smtClean="0">
                <a:latin typeface="Times New Roman" pitchFamily="18" charset="0"/>
                <a:cs typeface="Times New Roman" pitchFamily="18" charset="0"/>
              </a:rPr>
              <a:t>synchronized </a:t>
            </a:r>
            <a:r>
              <a:rPr lang="en-US" dirty="0">
                <a:latin typeface="Times New Roman" pitchFamily="18" charset="0"/>
                <a:cs typeface="Times New Roman" pitchFamily="18" charset="0"/>
              </a:rPr>
              <a:t>by a common clock.</a:t>
            </a:r>
          </a:p>
        </p:txBody>
      </p:sp>
      <p:pic>
        <p:nvPicPr>
          <p:cNvPr id="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6347" y="3962400"/>
            <a:ext cx="9020175"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3"/>
          <p:cNvSpPr>
            <a:spLocks noChangeArrowheads="1"/>
          </p:cNvSpPr>
          <p:nvPr/>
        </p:nvSpPr>
        <p:spPr bwMode="auto">
          <a:xfrm>
            <a:off x="1482778" y="304800"/>
            <a:ext cx="9753580" cy="2986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14245"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Serial-In Parallel-Out Shift Register (SIPO)</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smtClean="0">
              <a:ln>
                <a:noFill/>
              </a:ln>
              <a:solidFill>
                <a:srgbClr val="273239"/>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A Serial-In Parallel-Out (SIPO) shift register accepts data serially through a single input line and produces all bits simultaneously as a parallel output, using multiple synchronized flip-flops. The main use of the SIPO register is to convert serial data into parallel data.</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Data is input one bit at a time and outputs all stored bits in parallel.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Consists of connected D flip-flops with a common clock and a clear (CLR) signal to reset all flip-flops.</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br>
              <a:rPr kumimoji="0" lang="en-US" b="0" i="0" u="none" strike="noStrike" cap="none" normalizeH="0" baseline="0" dirty="0" smtClean="0">
                <a:ln>
                  <a:noFill/>
                </a:ln>
                <a:solidFill>
                  <a:schemeClr val="tx1"/>
                </a:solidFill>
                <a:effectLst/>
                <a:latin typeface="Times New Roman" pitchFamily="18" charset="0"/>
                <a:cs typeface="Times New Roman" pitchFamily="18" charset="0"/>
              </a:rPr>
            </a:b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51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5319" y="2923309"/>
            <a:ext cx="6825456" cy="2986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37832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48580985"/>
              </p:ext>
            </p:extLst>
          </p:nvPr>
        </p:nvGraphicFramePr>
        <p:xfrm>
          <a:off x="1966119" y="1912620"/>
          <a:ext cx="3943349" cy="3528060"/>
        </p:xfrm>
        <a:graphic>
          <a:graphicData uri="http://schemas.openxmlformats.org/drawingml/2006/table">
            <a:tbl>
              <a:tblPr/>
              <a:tblGrid>
                <a:gridCol w="1452813"/>
                <a:gridCol w="622634"/>
                <a:gridCol w="622634"/>
                <a:gridCol w="622634"/>
                <a:gridCol w="622634"/>
              </a:tblGrid>
              <a:tr h="0">
                <a:tc>
                  <a:txBody>
                    <a:bodyPr/>
                    <a:lstStyle/>
                    <a:p>
                      <a:pPr algn="ctr"/>
                      <a:r>
                        <a:rPr lang="en-US" dirty="0">
                          <a:solidFill>
                            <a:srgbClr val="FFFFFF"/>
                          </a:solidFill>
                          <a:effectLst/>
                        </a:rPr>
                        <a:t>Clock Pulse No</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solidFill>
                      <a:srgbClr val="414143"/>
                    </a:solidFill>
                  </a:tcPr>
                </a:tc>
                <a:tc>
                  <a:txBody>
                    <a:bodyPr/>
                    <a:lstStyle/>
                    <a:p>
                      <a:pPr algn="ctr"/>
                      <a:r>
                        <a:rPr lang="en-US">
                          <a:solidFill>
                            <a:srgbClr val="FFFFFF"/>
                          </a:solidFill>
                          <a:effectLst/>
                        </a:rPr>
                        <a:t>QA</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solidFill>
                      <a:srgbClr val="414143"/>
                    </a:solidFill>
                  </a:tcPr>
                </a:tc>
                <a:tc>
                  <a:txBody>
                    <a:bodyPr/>
                    <a:lstStyle/>
                    <a:p>
                      <a:pPr algn="ctr"/>
                      <a:r>
                        <a:rPr lang="en-US">
                          <a:solidFill>
                            <a:srgbClr val="FFFFFF"/>
                          </a:solidFill>
                          <a:effectLst/>
                        </a:rPr>
                        <a:t>QB</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solidFill>
                      <a:srgbClr val="414143"/>
                    </a:solidFill>
                  </a:tcPr>
                </a:tc>
                <a:tc>
                  <a:txBody>
                    <a:bodyPr/>
                    <a:lstStyle/>
                    <a:p>
                      <a:pPr algn="ctr"/>
                      <a:r>
                        <a:rPr lang="en-US">
                          <a:solidFill>
                            <a:srgbClr val="FFFFFF"/>
                          </a:solidFill>
                          <a:effectLst/>
                        </a:rPr>
                        <a:t>QC</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solidFill>
                      <a:srgbClr val="414143"/>
                    </a:solidFill>
                  </a:tcPr>
                </a:tc>
                <a:tc>
                  <a:txBody>
                    <a:bodyPr/>
                    <a:lstStyle/>
                    <a:p>
                      <a:pPr algn="ctr"/>
                      <a:r>
                        <a:rPr lang="en-US">
                          <a:solidFill>
                            <a:srgbClr val="FFFFFF"/>
                          </a:solidFill>
                          <a:effectLst/>
                        </a:rPr>
                        <a:t>QD</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solidFill>
                      <a:srgbClr val="414143"/>
                    </a:solidFill>
                  </a:tcPr>
                </a:tc>
              </a:tr>
              <a:tr h="0">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r>
              <a:tr h="0">
                <a:tc>
                  <a:txBody>
                    <a:bodyPr/>
                    <a:lstStyle/>
                    <a:p>
                      <a:pPr algn="ctr"/>
                      <a:r>
                        <a:rPr lang="en-US">
                          <a:solidFill>
                            <a:srgbClr val="414143"/>
                          </a:solidFill>
                          <a:effectLst/>
                        </a:rPr>
                        <a:t>1</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u="none" strike="noStrike">
                          <a:solidFill>
                            <a:srgbClr val="414143"/>
                          </a:solidFill>
                          <a:effectLst/>
                        </a:rPr>
                        <a:t>1</a:t>
                      </a:r>
                      <a:endParaRPr lang="en-US">
                        <a:solidFill>
                          <a:srgbClr val="414143"/>
                        </a:solidFill>
                        <a:effectLst/>
                      </a:endParaRP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r>
              <a:tr h="0">
                <a:tc>
                  <a:txBody>
                    <a:bodyPr/>
                    <a:lstStyle/>
                    <a:p>
                      <a:pPr algn="ctr"/>
                      <a:r>
                        <a:rPr lang="en-US" dirty="0">
                          <a:solidFill>
                            <a:srgbClr val="414143"/>
                          </a:solidFill>
                          <a:effectLst/>
                        </a:rPr>
                        <a:t>2</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u="none" strike="noStrike">
                          <a:solidFill>
                            <a:srgbClr val="414143"/>
                          </a:solidFill>
                          <a:effectLst/>
                        </a:rPr>
                        <a:t>1</a:t>
                      </a:r>
                      <a:endParaRPr lang="en-US">
                        <a:solidFill>
                          <a:srgbClr val="414143"/>
                        </a:solidFill>
                        <a:effectLst/>
                      </a:endParaRP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r>
              <a:tr h="0">
                <a:tc>
                  <a:txBody>
                    <a:bodyPr/>
                    <a:lstStyle/>
                    <a:p>
                      <a:pPr algn="ctr"/>
                      <a:r>
                        <a:rPr lang="en-US">
                          <a:solidFill>
                            <a:srgbClr val="414143"/>
                          </a:solidFill>
                          <a:effectLst/>
                        </a:rPr>
                        <a:t>3</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u="none" strike="noStrike">
                          <a:solidFill>
                            <a:srgbClr val="414143"/>
                          </a:solidFill>
                          <a:effectLst/>
                        </a:rPr>
                        <a:t>1</a:t>
                      </a:r>
                      <a:endParaRPr lang="en-US">
                        <a:solidFill>
                          <a:srgbClr val="414143"/>
                        </a:solidFill>
                        <a:effectLst/>
                      </a:endParaRP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r>
              <a:tr h="0">
                <a:tc>
                  <a:txBody>
                    <a:bodyPr/>
                    <a:lstStyle/>
                    <a:p>
                      <a:pPr algn="ctr"/>
                      <a:r>
                        <a:rPr lang="en-US">
                          <a:solidFill>
                            <a:srgbClr val="414143"/>
                          </a:solidFill>
                          <a:effectLst/>
                        </a:rPr>
                        <a:t>4</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u="none" strike="noStrike">
                          <a:solidFill>
                            <a:srgbClr val="414143"/>
                          </a:solidFill>
                          <a:effectLst/>
                        </a:rPr>
                        <a:t>1</a:t>
                      </a:r>
                      <a:endParaRPr lang="en-US">
                        <a:solidFill>
                          <a:srgbClr val="414143"/>
                        </a:solidFill>
                        <a:effectLst/>
                      </a:endParaRP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r>
              <a:tr h="0">
                <a:tc>
                  <a:txBody>
                    <a:bodyPr/>
                    <a:lstStyle/>
                    <a:p>
                      <a:pPr algn="ctr"/>
                      <a:r>
                        <a:rPr lang="en-US">
                          <a:solidFill>
                            <a:srgbClr val="414143"/>
                          </a:solidFill>
                          <a:effectLst/>
                        </a:rPr>
                        <a:t>5</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c>
                  <a:txBody>
                    <a:bodyPr/>
                    <a:lstStyle/>
                    <a:p>
                      <a:pPr algn="ctr"/>
                      <a:r>
                        <a:rPr lang="en-US" dirty="0">
                          <a:solidFill>
                            <a:srgbClr val="414143"/>
                          </a:solidFill>
                          <a:effectLst/>
                        </a:rPr>
                        <a:t>0</a:t>
                      </a:r>
                    </a:p>
                  </a:txBody>
                  <a:tcPr marL="47625" marR="47625" marT="95250" marB="95250" anchor="ctr">
                    <a:lnL w="9525" cap="flat" cmpd="sng" algn="ctr">
                      <a:solidFill>
                        <a:srgbClr val="414143"/>
                      </a:solidFill>
                      <a:prstDash val="solid"/>
                      <a:round/>
                      <a:headEnd type="none" w="med" len="med"/>
                      <a:tailEnd type="none" w="med" len="med"/>
                    </a:lnL>
                    <a:lnR w="9525" cap="flat" cmpd="sng" algn="ctr">
                      <a:solidFill>
                        <a:srgbClr val="414143"/>
                      </a:solidFill>
                      <a:prstDash val="solid"/>
                      <a:round/>
                      <a:headEnd type="none" w="med" len="med"/>
                      <a:tailEnd type="none" w="med" len="med"/>
                    </a:lnR>
                    <a:lnT w="9525" cap="flat" cmpd="sng" algn="ctr">
                      <a:solidFill>
                        <a:srgbClr val="414143"/>
                      </a:solidFill>
                      <a:prstDash val="solid"/>
                      <a:round/>
                      <a:headEnd type="none" w="med" len="med"/>
                      <a:tailEnd type="none" w="med" len="med"/>
                    </a:lnT>
                    <a:lnB w="9525" cap="flat" cmpd="sng" algn="ctr">
                      <a:solidFill>
                        <a:srgbClr val="414143"/>
                      </a:solidFill>
                      <a:prstDash val="solid"/>
                      <a:round/>
                      <a:headEnd type="none" w="med" len="med"/>
                      <a:tailEnd type="none" w="med" len="med"/>
                    </a:lnB>
                  </a:tcPr>
                </a:tc>
              </a:tr>
            </a:tbl>
          </a:graphicData>
        </a:graphic>
      </p:graphicFrame>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6719" y="1905000"/>
            <a:ext cx="4561995" cy="3910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Google Shape;27;p1"/>
          <p:cNvPicPr preferRelativeResize="0"/>
          <p:nvPr/>
        </p:nvPicPr>
        <p:blipFill rotWithShape="1">
          <a:blip r:embed="rId3">
            <a:alphaModFix/>
          </a:blip>
          <a:srcRect/>
          <a:stretch/>
        </p:blipFill>
        <p:spPr>
          <a:xfrm>
            <a:off x="605" y="2221"/>
            <a:ext cx="565557" cy="6855783"/>
          </a:xfrm>
          <a:prstGeom prst="rect">
            <a:avLst/>
          </a:prstGeom>
          <a:noFill/>
          <a:ln>
            <a:noFill/>
          </a:ln>
        </p:spPr>
      </p:pic>
      <p:pic>
        <p:nvPicPr>
          <p:cNvPr id="5" name="Google Shape;28;p1"/>
          <p:cNvPicPr preferRelativeResize="0"/>
          <p:nvPr/>
        </p:nvPicPr>
        <p:blipFill rotWithShape="1">
          <a:blip r:embed="rId4">
            <a:alphaModFix/>
          </a:blip>
          <a:srcRect/>
          <a:stretch/>
        </p:blipFill>
        <p:spPr>
          <a:xfrm>
            <a:off x="566160" y="0"/>
            <a:ext cx="209159" cy="5440680"/>
          </a:xfrm>
          <a:prstGeom prst="rect">
            <a:avLst/>
          </a:prstGeom>
          <a:noFill/>
          <a:ln>
            <a:noFill/>
          </a:ln>
        </p:spPr>
      </p:pic>
      <p:pic>
        <p:nvPicPr>
          <p:cNvPr id="6" name="Google Shape;29;p1" descr="A close up of a sign&#10;&#10;Description automatically generated"/>
          <p:cNvPicPr preferRelativeResize="0"/>
          <p:nvPr/>
        </p:nvPicPr>
        <p:blipFill rotWithShape="1">
          <a:blip r:embed="rId5">
            <a:alphaModFix/>
          </a:blip>
          <a:srcRect/>
          <a:stretch/>
        </p:blipFill>
        <p:spPr>
          <a:xfrm>
            <a:off x="11328714" y="6210516"/>
            <a:ext cx="866534" cy="647488"/>
          </a:xfrm>
          <a:prstGeom prst="rect">
            <a:avLst/>
          </a:prstGeom>
          <a:noFill/>
          <a:ln>
            <a:noFill/>
          </a:ln>
        </p:spPr>
      </p:pic>
      <p:pic>
        <p:nvPicPr>
          <p:cNvPr id="7" name="Picture 6">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6">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Tree>
    <p:extLst>
      <p:ext uri="{BB962C8B-B14F-4D97-AF65-F5344CB8AC3E}">
        <p14:creationId xmlns:p14="http://schemas.microsoft.com/office/powerpoint/2010/main" val="23884335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1"/>
          <p:cNvSpPr>
            <a:spLocks noChangeArrowheads="1"/>
          </p:cNvSpPr>
          <p:nvPr/>
        </p:nvSpPr>
        <p:spPr bwMode="auto">
          <a:xfrm>
            <a:off x="1073546" y="158472"/>
            <a:ext cx="10652919" cy="2432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14245"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rgbClr val="273239"/>
                </a:solidFill>
                <a:effectLst/>
                <a:latin typeface="Times New Roman" pitchFamily="18" charset="0"/>
                <a:cs typeface="Times New Roman" pitchFamily="18" charset="0"/>
              </a:rPr>
              <a:t>Parallel-In Parallel-Out Shift Register (PIPO)</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smtClean="0">
              <a:ln>
                <a:noFill/>
              </a:ln>
              <a:solidFill>
                <a:srgbClr val="273239"/>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A Parallel-In Parallel-Out (PIPO) shift register accepts and outputs data simultaneously across all flip-flops without any serial shifting, using synchronized control signals. It is used as a temporary storage device and also acts as a delay element.</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Data is loaded and retrieved in parallel from each flip-flop at the same time.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273239"/>
                </a:solidFill>
                <a:effectLst/>
                <a:latin typeface="Times New Roman" pitchFamily="18" charset="0"/>
                <a:cs typeface="Times New Roman" pitchFamily="18" charset="0"/>
              </a:rPr>
              <a:t>Includes D flip-flops with no interconnections, controlled by common clock and clear (CLR) signals</a:t>
            </a:r>
            <a:r>
              <a:rPr lang="en-US" dirty="0" smtClean="0">
                <a:latin typeface="Times New Roman" pitchFamily="18" charset="0"/>
                <a:cs typeface="Times New Roman" pitchFamily="18" charset="0"/>
              </a:rPr>
              <a:t>.</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p>
        </p:txBody>
      </p:sp>
      <p:pic>
        <p:nvPicPr>
          <p:cNvPr id="8194" name="Picture 2" descr="Parallel-In Parallel-Out Shift Register (PIP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9919" y="2819400"/>
            <a:ext cx="9020175" cy="3905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1"/>
          <p:cNvSpPr>
            <a:spLocks noChangeArrowheads="1"/>
          </p:cNvSpPr>
          <p:nvPr/>
        </p:nvSpPr>
        <p:spPr bwMode="auto">
          <a:xfrm>
            <a:off x="1202943" y="685800"/>
            <a:ext cx="10543957" cy="50792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14245"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effectLst/>
                <a:latin typeface="Times New Roman" pitchFamily="18" charset="0"/>
                <a:cs typeface="Times New Roman" pitchFamily="18" charset="0"/>
              </a:rPr>
              <a:t>Parallel-In Serial-Out Shift Register (PISO)</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smtClean="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effectLst/>
                <a:latin typeface="Times New Roman" pitchFamily="18" charset="0"/>
                <a:cs typeface="Times New Roman" pitchFamily="18" charset="0"/>
              </a:rPr>
              <a:t>A Parallel-In Serial-Out (PISO) shift register accepts parallel data simultaneously into each flip-flop and shifts it out serially through a single output line using synchronized flip-flops and multiplexers. It is used to convert parallel data to serial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effectLst/>
                <a:latin typeface="Times New Roman" pitchFamily="18" charset="0"/>
                <a:cs typeface="Times New Roman" pitchFamily="18" charset="0"/>
              </a:rPr>
              <a:t>Data is loaded in parallel and then shifted out one bit at a time serially.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effectLst/>
                <a:latin typeface="Times New Roman" pitchFamily="18" charset="0"/>
                <a:cs typeface="Times New Roman" pitchFamily="18" charset="0"/>
              </a:rPr>
              <a:t>Consists of D flip-flops with inputs controlled by multiplexers selecting between parallel data and previous flip</a:t>
            </a:r>
            <a:r>
              <a:rPr kumimoji="0" lang="en-US" b="0" i="0" u="none" strike="noStrike" cap="none" normalizeH="0" dirty="0" smtClean="0">
                <a:ln>
                  <a:noFill/>
                </a:ln>
                <a:effectLst/>
                <a:latin typeface="Times New Roman" pitchFamily="18" charset="0"/>
                <a:cs typeface="Times New Roman" pitchFamily="18" charset="0"/>
              </a:rPr>
              <a:t> </a:t>
            </a:r>
            <a:r>
              <a:rPr kumimoji="0" lang="en-US" b="0" i="0" u="none" strike="noStrike" cap="none" normalizeH="0" baseline="0" dirty="0" smtClean="0">
                <a:ln>
                  <a:noFill/>
                </a:ln>
                <a:effectLst/>
                <a:latin typeface="Times New Roman" pitchFamily="18" charset="0"/>
                <a:cs typeface="Times New Roman" pitchFamily="18" charset="0"/>
              </a:rPr>
              <a:t>flop output, all clocked</a:t>
            </a:r>
            <a:r>
              <a:rPr kumimoji="0" lang="en-US" b="0" i="0" u="none" strike="noStrike" cap="none" normalizeH="0" dirty="0" smtClean="0">
                <a:ln>
                  <a:noFill/>
                </a:ln>
                <a:effectLst/>
                <a:latin typeface="Times New Roman" pitchFamily="18" charset="0"/>
                <a:cs typeface="Times New Roman" pitchFamily="18" charset="0"/>
              </a:rPr>
              <a:t> t</a:t>
            </a:r>
            <a:r>
              <a:rPr kumimoji="0" lang="en-US" b="0" i="0" u="none" strike="noStrike" cap="none" normalizeH="0" baseline="0" dirty="0" smtClean="0">
                <a:ln>
                  <a:noFill/>
                </a:ln>
                <a:effectLst/>
                <a:latin typeface="Times New Roman" pitchFamily="18" charset="0"/>
                <a:cs typeface="Times New Roman" pitchFamily="18" charset="0"/>
              </a:rPr>
              <a:t>ogether.                                                                                                </a:t>
            </a:r>
            <a:br>
              <a:rPr kumimoji="0" lang="en-US" b="0" i="0" u="none" strike="noStrike" cap="none" normalizeH="0" baseline="0" dirty="0" smtClean="0">
                <a:ln>
                  <a:noFill/>
                </a:ln>
                <a:effectLst/>
                <a:latin typeface="Times New Roman" pitchFamily="18" charset="0"/>
                <a:cs typeface="Times New Roman" pitchFamily="18" charset="0"/>
              </a:rPr>
            </a:br>
            <a:endParaRPr kumimoji="0" lang="en-US" b="0" i="0" u="none" strike="noStrike" cap="none" normalizeH="0" baseline="0" dirty="0" smtClean="0">
              <a:ln>
                <a:noFill/>
              </a:ln>
              <a:effectLst/>
              <a:latin typeface="Times New Roman" pitchFamily="18" charset="0"/>
              <a:cs typeface="Times New Roman" pitchFamily="18" charset="0"/>
            </a:endParaRPr>
          </a:p>
          <a:p>
            <a:pPr algn="just" eaLnBrk="0" fontAlgn="base" hangingPunct="0">
              <a:spcBef>
                <a:spcPct val="0"/>
              </a:spcBef>
              <a:spcAft>
                <a:spcPct val="0"/>
              </a:spcAft>
              <a:buFontTx/>
              <a:buChar char="•"/>
            </a:pPr>
            <a:r>
              <a:rPr lang="en-US" dirty="0">
                <a:latin typeface="Times New Roman" pitchFamily="18" charset="0"/>
                <a:cs typeface="Times New Roman" pitchFamily="18" charset="0"/>
              </a:rPr>
              <a:t>A PISO shift register is a digital circuit that can accept parallel data and output serial data. It is made up of a succession of flip-flops, with each </a:t>
            </a:r>
            <a:r>
              <a:rPr lang="en-US" dirty="0">
                <a:latin typeface="Times New Roman" pitchFamily="18" charset="0"/>
                <a:cs typeface="Times New Roman" pitchFamily="18" charset="0"/>
                <a:hlinkClick r:id="rId6"/>
              </a:rPr>
              <a:t>flip-flop</a:t>
            </a:r>
            <a:r>
              <a:rPr lang="en-US" dirty="0">
                <a:latin typeface="Times New Roman" pitchFamily="18" charset="0"/>
                <a:cs typeface="Times New Roman" pitchFamily="18" charset="0"/>
              </a:rPr>
              <a:t> capable of storing one bit of data. Unlike </a:t>
            </a:r>
            <a:r>
              <a:rPr lang="en-US" dirty="0">
                <a:latin typeface="Times New Roman" pitchFamily="18" charset="0"/>
                <a:cs typeface="Times New Roman" pitchFamily="18" charset="0"/>
                <a:hlinkClick r:id="rId7"/>
              </a:rPr>
              <a:t>PIPO</a:t>
            </a:r>
            <a:r>
              <a:rPr lang="en-US" dirty="0">
                <a:latin typeface="Times New Roman" pitchFamily="18" charset="0"/>
                <a:cs typeface="Times New Roman" pitchFamily="18" charset="0"/>
              </a:rPr>
              <a:t> shift registers, which offer parallel input and output, a PISO shift register accepts data in parallel and outputs it sequentially, or serially</a:t>
            </a:r>
            <a:r>
              <a:rPr lang="en-US" dirty="0">
                <a:latin typeface="Times New Roman" pitchFamily="18" charset="0"/>
                <a:cs typeface="Times New Roman" pitchFamily="18" charset="0"/>
              </a:rPr>
              <a:t>.</a:t>
            </a:r>
          </a:p>
          <a:p>
            <a:pPr algn="just" eaLnBrk="0" fontAlgn="base" hangingPunct="0">
              <a:spcBef>
                <a:spcPct val="0"/>
              </a:spcBef>
              <a:spcAft>
                <a:spcPct val="0"/>
              </a:spcAft>
              <a:buFontTx/>
              <a:buChar char="•"/>
            </a:pPr>
            <a:endParaRPr lang="en-US" dirty="0">
              <a:latin typeface="Times New Roman" pitchFamily="18" charset="0"/>
              <a:cs typeface="Times New Roman" pitchFamily="18" charset="0"/>
            </a:endParaRPr>
          </a:p>
          <a:p>
            <a:pPr algn="just" eaLnBrk="0" fontAlgn="base" hangingPunct="0">
              <a:spcBef>
                <a:spcPct val="0"/>
              </a:spcBef>
              <a:spcAft>
                <a:spcPct val="0"/>
              </a:spcAft>
              <a:buFontTx/>
              <a:buChar char="•"/>
            </a:pPr>
            <a:r>
              <a:rPr lang="en-US" dirty="0">
                <a:latin typeface="Times New Roman" pitchFamily="18" charset="0"/>
                <a:cs typeface="Times New Roman" pitchFamily="18" charset="0"/>
              </a:rPr>
              <a:t>To understand the operation of a PISO shift register, let's consider a basic example with four flip-flops labeled D0, D1, D2, and D3. Each flip-flop can store one bit of data. The parallel data is loaded into the flip-flops simultaneously through the parallel input lines. Once the data is loaded, it can be shifted out in a sequential manner through the serial output.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7170" name="Picture 2" descr="Parallel-In Serial-Out Shift Register (PIS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8519" y="609600"/>
            <a:ext cx="9029700" cy="5295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35602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67030" y="313702"/>
            <a:ext cx="10287000" cy="6370975"/>
          </a:xfrm>
          <a:prstGeom prst="rect">
            <a:avLst/>
          </a:prstGeom>
        </p:spPr>
        <p:txBody>
          <a:bodyPr wrap="square">
            <a:spAutoFit/>
          </a:bodyPr>
          <a:lstStyle/>
          <a:p>
            <a:pPr algn="just" fontAlgn="base"/>
            <a:r>
              <a:rPr lang="en-US" sz="1700" dirty="0">
                <a:latin typeface="Times New Roman" pitchFamily="18" charset="0"/>
                <a:cs typeface="Times New Roman" pitchFamily="18" charset="0"/>
              </a:rPr>
              <a:t>To shift the data out, a clock signal is applied to the shift register. Each clock pulse triggers the movement of data from one flip-flop to the next in a cascading fashion. The most significant bit (MSB) is usually the first to be shifted out, followed by the remaining bits. The serial output provides the bits one at a time, in the order they were loaded</a:t>
            </a:r>
            <a:r>
              <a:rPr lang="en-US" sz="1700" dirty="0" smtClean="0">
                <a:latin typeface="Times New Roman" pitchFamily="18" charset="0"/>
                <a:cs typeface="Times New Roman" pitchFamily="18" charset="0"/>
              </a:rPr>
              <a:t>.</a:t>
            </a:r>
          </a:p>
          <a:p>
            <a:pPr algn="just" fontAlgn="base"/>
            <a:endParaRPr lang="en-US" sz="1700" dirty="0">
              <a:latin typeface="Times New Roman" pitchFamily="18" charset="0"/>
              <a:cs typeface="Times New Roman" pitchFamily="18" charset="0"/>
            </a:endParaRPr>
          </a:p>
          <a:p>
            <a:pPr algn="just" fontAlgn="base"/>
            <a:r>
              <a:rPr lang="en-US" sz="1700" b="1" dirty="0">
                <a:latin typeface="Times New Roman" pitchFamily="18" charset="0"/>
                <a:cs typeface="Times New Roman" pitchFamily="18" charset="0"/>
              </a:rPr>
              <a:t>Example:</a:t>
            </a:r>
            <a:endParaRPr lang="en-US" sz="1700" dirty="0">
              <a:latin typeface="Times New Roman" pitchFamily="18" charset="0"/>
              <a:cs typeface="Times New Roman" pitchFamily="18" charset="0"/>
            </a:endParaRPr>
          </a:p>
          <a:p>
            <a:pPr algn="just" fontAlgn="base"/>
            <a:r>
              <a:rPr lang="en-US" sz="1700" dirty="0">
                <a:latin typeface="Times New Roman" pitchFamily="18" charset="0"/>
                <a:cs typeface="Times New Roman" pitchFamily="18" charset="0"/>
              </a:rPr>
              <a:t>Let us consider, We have a PISO shift register with four flip-flops (D0, D1, D2, and D3) and a 2-to-1 multiplexer. Initially, all flip-flops are cleared and contain the value '0'. We want to load the binary value '</a:t>
            </a:r>
            <a:r>
              <a:rPr lang="en-US" sz="1700" b="1" dirty="0">
                <a:latin typeface="Times New Roman" pitchFamily="18" charset="0"/>
                <a:cs typeface="Times New Roman" pitchFamily="18" charset="0"/>
              </a:rPr>
              <a:t>1010</a:t>
            </a:r>
            <a:r>
              <a:rPr lang="en-US" sz="1700" dirty="0">
                <a:latin typeface="Times New Roman" pitchFamily="18" charset="0"/>
                <a:cs typeface="Times New Roman" pitchFamily="18" charset="0"/>
              </a:rPr>
              <a:t>' into the shift register using parallel input and then shift the data out serially</a:t>
            </a:r>
            <a:r>
              <a:rPr lang="en-US" sz="1700" dirty="0" smtClean="0">
                <a:latin typeface="Times New Roman" pitchFamily="18" charset="0"/>
                <a:cs typeface="Times New Roman" pitchFamily="18" charset="0"/>
              </a:rPr>
              <a:t>.</a:t>
            </a:r>
          </a:p>
          <a:p>
            <a:pPr algn="just" fontAlgn="base"/>
            <a:endParaRPr lang="en-US" sz="1700" dirty="0" smtClean="0">
              <a:latin typeface="Times New Roman" pitchFamily="18" charset="0"/>
              <a:cs typeface="Times New Roman" pitchFamily="18" charset="0"/>
            </a:endParaRPr>
          </a:p>
          <a:p>
            <a:pPr algn="just" fontAlgn="base"/>
            <a:r>
              <a:rPr lang="en-US" sz="1700" b="1" dirty="0">
                <a:latin typeface="Times New Roman" pitchFamily="18" charset="0"/>
                <a:cs typeface="Times New Roman" pitchFamily="18" charset="0"/>
              </a:rPr>
              <a:t>Solution:</a:t>
            </a:r>
            <a:endParaRPr lang="en-US" sz="1700" dirty="0">
              <a:latin typeface="Times New Roman" pitchFamily="18" charset="0"/>
              <a:cs typeface="Times New Roman" pitchFamily="18" charset="0"/>
            </a:endParaRPr>
          </a:p>
          <a:p>
            <a:pPr algn="just" fontAlgn="base"/>
            <a:r>
              <a:rPr lang="en-US" sz="1700" b="1" dirty="0">
                <a:latin typeface="Times New Roman" pitchFamily="18" charset="0"/>
                <a:cs typeface="Times New Roman" pitchFamily="18" charset="0"/>
              </a:rPr>
              <a:t>Step 1:</a:t>
            </a:r>
            <a:r>
              <a:rPr lang="en-US" sz="1700" dirty="0">
                <a:latin typeface="Times New Roman" pitchFamily="18" charset="0"/>
                <a:cs typeface="Times New Roman" pitchFamily="18" charset="0"/>
              </a:rPr>
              <a:t> Parallel Input To load the value '1010' into the shift register, we apply the parallel input as follows:</a:t>
            </a:r>
          </a:p>
          <a:p>
            <a:pPr algn="just" fontAlgn="base"/>
            <a:r>
              <a:rPr lang="en-US" sz="1700" dirty="0">
                <a:latin typeface="Times New Roman" pitchFamily="18" charset="0"/>
                <a:cs typeface="Times New Roman" pitchFamily="18" charset="0"/>
              </a:rPr>
              <a:t>Data: 1 0 1 </a:t>
            </a:r>
            <a:r>
              <a:rPr lang="en-US" sz="1700" dirty="0" smtClean="0">
                <a:latin typeface="Times New Roman" pitchFamily="18" charset="0"/>
                <a:cs typeface="Times New Roman" pitchFamily="18" charset="0"/>
              </a:rPr>
              <a:t>0</a:t>
            </a:r>
          </a:p>
          <a:p>
            <a:pPr algn="just" fontAlgn="base"/>
            <a:endParaRPr lang="en-US" sz="1700" b="1" dirty="0">
              <a:latin typeface="Times New Roman" pitchFamily="18" charset="0"/>
              <a:cs typeface="Times New Roman" pitchFamily="18" charset="0"/>
            </a:endParaRPr>
          </a:p>
          <a:p>
            <a:pPr algn="just" fontAlgn="base"/>
            <a:r>
              <a:rPr lang="en-US" sz="1700" b="1" dirty="0" smtClean="0">
                <a:latin typeface="Times New Roman" pitchFamily="18" charset="0"/>
                <a:cs typeface="Times New Roman" pitchFamily="18" charset="0"/>
              </a:rPr>
              <a:t>Step </a:t>
            </a:r>
            <a:r>
              <a:rPr lang="en-US" sz="1700" b="1" dirty="0">
                <a:latin typeface="Times New Roman" pitchFamily="18" charset="0"/>
                <a:cs typeface="Times New Roman" pitchFamily="18" charset="0"/>
              </a:rPr>
              <a:t>2:</a:t>
            </a:r>
            <a:r>
              <a:rPr lang="en-US" sz="1700" dirty="0">
                <a:latin typeface="Times New Roman" pitchFamily="18" charset="0"/>
                <a:cs typeface="Times New Roman" pitchFamily="18" charset="0"/>
              </a:rPr>
              <a:t> </a:t>
            </a:r>
            <a:r>
              <a:rPr lang="en-US" sz="1700" u="sng" dirty="0">
                <a:latin typeface="Times New Roman" pitchFamily="18" charset="0"/>
                <a:cs typeface="Times New Roman" pitchFamily="18" charset="0"/>
                <a:hlinkClick r:id="rId6"/>
              </a:rPr>
              <a:t>Multiplexer</a:t>
            </a:r>
            <a:r>
              <a:rPr lang="en-US" sz="1700" dirty="0">
                <a:latin typeface="Times New Roman" pitchFamily="18" charset="0"/>
                <a:cs typeface="Times New Roman" pitchFamily="18" charset="0"/>
              </a:rPr>
              <a:t> Selection </a:t>
            </a:r>
            <a:r>
              <a:rPr lang="en-US" sz="1700" dirty="0" smtClean="0">
                <a:latin typeface="Times New Roman" pitchFamily="18" charset="0"/>
                <a:cs typeface="Times New Roman" pitchFamily="18" charset="0"/>
              </a:rPr>
              <a:t>To </a:t>
            </a:r>
            <a:r>
              <a:rPr lang="en-US" sz="1700" dirty="0">
                <a:latin typeface="Times New Roman" pitchFamily="18" charset="0"/>
                <a:cs typeface="Times New Roman" pitchFamily="18" charset="0"/>
              </a:rPr>
              <a:t>facilitate the serial output, we use a 2-to-1 multiplexer. The inputs to the multiplexer are the outputs of the flip-flops (Q0, Q1, Q2, and Q3), and the select line of the multiplexer is controlled by the clock signal.</a:t>
            </a:r>
          </a:p>
          <a:p>
            <a:pPr algn="just" fontAlgn="base"/>
            <a:r>
              <a:rPr lang="en-US" sz="1700" dirty="0">
                <a:latin typeface="Times New Roman" pitchFamily="18" charset="0"/>
                <a:cs typeface="Times New Roman" pitchFamily="18" charset="0"/>
              </a:rPr>
              <a:t>Initially, with the clock selecting the line at logic '0', the multiplexer selects the first input (Q0) as the output.</a:t>
            </a:r>
          </a:p>
          <a:p>
            <a:pPr algn="just" fontAlgn="base"/>
            <a:endParaRPr lang="en-US" sz="1700" dirty="0" smtClean="0">
              <a:latin typeface="Times New Roman" pitchFamily="18" charset="0"/>
              <a:cs typeface="Times New Roman" pitchFamily="18" charset="0"/>
            </a:endParaRPr>
          </a:p>
          <a:p>
            <a:pPr algn="just" fontAlgn="base"/>
            <a:r>
              <a:rPr lang="en-US" sz="1700" b="1" dirty="0">
                <a:latin typeface="Times New Roman" pitchFamily="18" charset="0"/>
                <a:cs typeface="Times New Roman" pitchFamily="18" charset="0"/>
              </a:rPr>
              <a:t>Step 3:</a:t>
            </a:r>
            <a:r>
              <a:rPr lang="en-US" sz="1700" dirty="0">
                <a:latin typeface="Times New Roman" pitchFamily="18" charset="0"/>
                <a:cs typeface="Times New Roman" pitchFamily="18" charset="0"/>
              </a:rPr>
              <a:t> Clock Cycle (Shift Out) Now, we activate the clock signal to shift the data out serially. Each clock pulse triggers the movement of data from one flip-flop to the next, and the output of the multiplexer represents the serial data</a:t>
            </a:r>
            <a:r>
              <a:rPr lang="en-US" sz="1700" dirty="0" smtClean="0">
                <a:latin typeface="Times New Roman" pitchFamily="18" charset="0"/>
                <a:cs typeface="Times New Roman" pitchFamily="18" charset="0"/>
              </a:rPr>
              <a:t>.</a:t>
            </a:r>
          </a:p>
          <a:p>
            <a:pPr algn="just" fontAlgn="base"/>
            <a:endParaRPr lang="en-US" sz="1700" dirty="0">
              <a:latin typeface="Times New Roman" pitchFamily="18" charset="0"/>
              <a:cs typeface="Times New Roman" pitchFamily="18" charset="0"/>
            </a:endParaRPr>
          </a:p>
          <a:p>
            <a:pPr algn="ctr" fontAlgn="base"/>
            <a:r>
              <a:rPr lang="en-US" sz="1700" b="1" dirty="0">
                <a:latin typeface="Times New Roman" pitchFamily="18" charset="0"/>
                <a:cs typeface="Times New Roman" pitchFamily="18" charset="0"/>
              </a:rPr>
              <a:t>Clock Cycle 1:</a:t>
            </a:r>
            <a:endParaRPr lang="en-US" sz="1700" dirty="0">
              <a:latin typeface="Times New Roman" pitchFamily="18" charset="0"/>
              <a:cs typeface="Times New Roman" pitchFamily="18" charset="0"/>
            </a:endParaRPr>
          </a:p>
          <a:p>
            <a:pPr algn="ctr"/>
            <a:r>
              <a:rPr lang="en-US" sz="1700" dirty="0">
                <a:latin typeface="Times New Roman" pitchFamily="18" charset="0"/>
                <a:cs typeface="Times New Roman" pitchFamily="18" charset="0"/>
              </a:rPr>
              <a:t>Data Out: 1 (Q0)</a:t>
            </a: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1"/>
          <p:cNvSpPr>
            <a:spLocks noChangeArrowheads="1"/>
          </p:cNvSpPr>
          <p:nvPr/>
        </p:nvSpPr>
        <p:spPr bwMode="auto">
          <a:xfrm>
            <a:off x="1279093" y="335839"/>
            <a:ext cx="9865491" cy="58477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effectLst/>
                <a:latin typeface="Times New Roman" pitchFamily="18" charset="0"/>
                <a:cs typeface="Times New Roman" pitchFamily="18" charset="0"/>
              </a:rPr>
              <a:t>Clock Cycle 2:</a:t>
            </a:r>
            <a:endParaRPr kumimoji="0" lang="en-US" sz="2000" b="0" i="0" u="none" strike="noStrike" cap="none" normalizeH="0" baseline="0" dirty="0" smtClean="0">
              <a:ln>
                <a:noFill/>
              </a:ln>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effectLst/>
                <a:latin typeface="Times New Roman" pitchFamily="18" charset="0"/>
                <a:cs typeface="Times New Roman" pitchFamily="18" charset="0"/>
              </a:rPr>
              <a:t>Data Out: 0 (Q1)</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effectLst/>
                <a:latin typeface="Times New Roman" pitchFamily="18" charset="0"/>
                <a:cs typeface="Times New Roman" pitchFamily="18" charset="0"/>
              </a:rPr>
              <a:t>Clock Cycle 3:</a:t>
            </a:r>
            <a:endParaRPr kumimoji="0" lang="en-US" sz="2000" b="0" i="0" u="none" strike="noStrike" cap="none" normalizeH="0" baseline="0" dirty="0" smtClean="0">
              <a:ln>
                <a:noFill/>
              </a:ln>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effectLst/>
                <a:latin typeface="Times New Roman" pitchFamily="18" charset="0"/>
                <a:cs typeface="Times New Roman" pitchFamily="18" charset="0"/>
              </a:rPr>
              <a:t>Data Out: 1 (Q2)</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effectLst/>
                <a:latin typeface="Times New Roman" pitchFamily="18" charset="0"/>
                <a:cs typeface="Times New Roman" pitchFamily="18" charset="0"/>
              </a:rPr>
              <a:t>Clock Cycle 4:</a:t>
            </a:r>
            <a:endParaRPr kumimoji="0" lang="en-US" sz="2000" b="0" i="0" u="none" strike="noStrike" cap="none" normalizeH="0" baseline="0" dirty="0" smtClean="0">
              <a:ln>
                <a:noFill/>
              </a:ln>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effectLst/>
                <a:latin typeface="Times New Roman" pitchFamily="18" charset="0"/>
                <a:cs typeface="Times New Roman" pitchFamily="18" charset="0"/>
              </a:rPr>
              <a:t>Data Out: 0 (Q3)</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effectLst/>
                <a:latin typeface="Times New Roman" pitchFamily="18" charset="0"/>
                <a:cs typeface="Times New Roman" pitchFamily="18" charset="0"/>
              </a:rPr>
              <a:t>After four clock cycles, the binary value '</a:t>
            </a:r>
            <a:r>
              <a:rPr kumimoji="0" lang="en-US" sz="2000" b="1" i="0" u="none" strike="noStrike" cap="none" normalizeH="0" baseline="0" dirty="0" smtClean="0">
                <a:ln>
                  <a:noFill/>
                </a:ln>
                <a:effectLst/>
                <a:latin typeface="Times New Roman" pitchFamily="18" charset="0"/>
                <a:cs typeface="Times New Roman" pitchFamily="18" charset="0"/>
              </a:rPr>
              <a:t>1010</a:t>
            </a:r>
            <a:r>
              <a:rPr kumimoji="0" lang="en-US" sz="2000" b="0" i="0" u="none" strike="noStrike" cap="none" normalizeH="0" baseline="0" dirty="0" smtClean="0">
                <a:ln>
                  <a:noFill/>
                </a:ln>
                <a:effectLst/>
                <a:latin typeface="Times New Roman" pitchFamily="18" charset="0"/>
                <a:cs typeface="Times New Roman" pitchFamily="18" charset="0"/>
              </a:rPr>
              <a:t>' has been shifted out serially, with the MSB (Most Significant Bit) appearing first and the LSB (Least Significant Bit) appearing last.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effectLst/>
                <a:latin typeface="Times New Roman" pitchFamily="18" charset="0"/>
                <a:cs typeface="Times New Roman" pitchFamily="18" charset="0"/>
              </a:rPr>
              <a:t>In this numerical example, the operation of a 4-bit PISO shift register with the use of a multiplexer is</a:t>
            </a:r>
            <a:r>
              <a:rPr kumimoji="0" lang="en-US" sz="2000" b="0" i="0" u="none" strike="noStrike" cap="none" normalizeH="0" dirty="0" smtClean="0">
                <a:ln>
                  <a:noFill/>
                </a:ln>
                <a:effectLst/>
                <a:latin typeface="Times New Roman" pitchFamily="18" charset="0"/>
                <a:cs typeface="Times New Roman" pitchFamily="18" charset="0"/>
              </a:rPr>
              <a:t> demonstrated</a:t>
            </a:r>
            <a:r>
              <a:rPr kumimoji="0" lang="en-US" sz="2000" b="0" i="0" u="none" strike="noStrike" cap="none" normalizeH="0" baseline="0" dirty="0" smtClean="0">
                <a:ln>
                  <a:noFill/>
                </a:ln>
                <a:effectLst/>
                <a:latin typeface="Times New Roman" pitchFamily="18" charset="0"/>
                <a:cs typeface="Times New Roman" pitchFamily="18" charset="0"/>
              </a:rPr>
              <a:t>. The binary value '1010' is loaded in parallel, and by applying clock cycles, we obtained the serial output '1010' through the multiplexer.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effectLst/>
                <a:latin typeface="Times New Roman" pitchFamily="18" charset="0"/>
                <a:cs typeface="Times New Roman" pitchFamily="18" charset="0"/>
              </a:rPr>
              <a:t>The combination of a PISO shift register and a multiplexer enables the efficient conversion of parallel data into a sequential, serial output, facilitating various applications such as data transmission, sensor systems, and more.</a:t>
            </a: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280319" y="1219200"/>
            <a:ext cx="10048395" cy="1754326"/>
          </a:xfrm>
          <a:prstGeom prst="rect">
            <a:avLst/>
          </a:prstGeom>
        </p:spPr>
        <p:txBody>
          <a:bodyPr wrap="square">
            <a:spAutoFit/>
          </a:bodyPr>
          <a:lstStyle/>
          <a:p>
            <a:pPr algn="just"/>
            <a:r>
              <a:rPr lang="en-US" dirty="0">
                <a:latin typeface="Times New Roman" pitchFamily="18" charset="0"/>
                <a:cs typeface="Times New Roman" pitchFamily="18" charset="0"/>
              </a:rPr>
              <a:t>Today, there are many high speed bi-directional “universal” type </a:t>
            </a:r>
            <a:r>
              <a:rPr lang="en-US" b="1" dirty="0">
                <a:latin typeface="Times New Roman" pitchFamily="18" charset="0"/>
                <a:cs typeface="Times New Roman" pitchFamily="18" charset="0"/>
              </a:rPr>
              <a:t>Shift Registers</a:t>
            </a:r>
            <a:r>
              <a:rPr lang="en-US" dirty="0">
                <a:latin typeface="Times New Roman" pitchFamily="18" charset="0"/>
                <a:cs typeface="Times New Roman" pitchFamily="18" charset="0"/>
              </a:rPr>
              <a:t> available such as the TTL 74LS194, 74LS195 or the CMOS 4035 which are available as 4-bit multi-function devices that can be used in either serial-to-serial, left shifting, right shifting, serial-to-parallel, parallel-to-serial, or as a parallel-to-parallel multifunction data register, hence their name “Universal”.</a:t>
            </a:r>
          </a:p>
          <a:p>
            <a:pPr algn="just"/>
            <a:r>
              <a:rPr lang="en-US" dirty="0">
                <a:latin typeface="Times New Roman" pitchFamily="18" charset="0"/>
                <a:cs typeface="Times New Roman" pitchFamily="18" charset="0"/>
              </a:rPr>
              <a:t>These universal shift registers can perform any combination of parallel and serial input to output operations but require additional inputs to specify desired function and to pre-load and reset the device. </a:t>
            </a:r>
          </a:p>
        </p:txBody>
      </p:sp>
      <p:sp>
        <p:nvSpPr>
          <p:cNvPr id="7" name="Rectangle 6"/>
          <p:cNvSpPr/>
          <p:nvPr/>
        </p:nvSpPr>
        <p:spPr>
          <a:xfrm>
            <a:off x="2267703" y="398897"/>
            <a:ext cx="7860422" cy="584775"/>
          </a:xfrm>
          <a:prstGeom prst="rect">
            <a:avLst/>
          </a:prstGeom>
        </p:spPr>
        <p:txBody>
          <a:bodyPr wrap="none">
            <a:spAutoFit/>
          </a:bodyPr>
          <a:lstStyle/>
          <a:p>
            <a:r>
              <a:rPr lang="en-US" sz="3200" b="1" dirty="0">
                <a:latin typeface="Times New Roman" pitchFamily="18" charset="0"/>
                <a:cs typeface="Times New Roman" pitchFamily="18" charset="0"/>
              </a:rPr>
              <a:t>The </a:t>
            </a:r>
            <a:r>
              <a:rPr lang="en-US" sz="3200" b="1" dirty="0" smtClean="0">
                <a:latin typeface="Times New Roman" pitchFamily="18" charset="0"/>
                <a:cs typeface="Times New Roman" pitchFamily="18" charset="0"/>
              </a:rPr>
              <a:t>Universal/ Bi-Directional </a:t>
            </a:r>
            <a:r>
              <a:rPr lang="en-US" sz="3200" b="1" dirty="0">
                <a:latin typeface="Times New Roman" pitchFamily="18" charset="0"/>
                <a:cs typeface="Times New Roman" pitchFamily="18" charset="0"/>
              </a:rPr>
              <a:t>Shift Register</a:t>
            </a:r>
          </a:p>
        </p:txBody>
      </p:sp>
      <p:sp>
        <p:nvSpPr>
          <p:cNvPr id="8" name="AutoShape 2" descr="74ls194 universal i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9013" y="3493532"/>
            <a:ext cx="6165706" cy="322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4209709" y="3124200"/>
            <a:ext cx="3976410" cy="369332"/>
          </a:xfrm>
          <a:prstGeom prst="rect">
            <a:avLst/>
          </a:prstGeom>
        </p:spPr>
        <p:txBody>
          <a:bodyPr wrap="none">
            <a:spAutoFit/>
          </a:bodyPr>
          <a:lstStyle/>
          <a:p>
            <a:r>
              <a:rPr lang="en-US" b="1" dirty="0">
                <a:latin typeface="Times New Roman" pitchFamily="18" charset="0"/>
                <a:cs typeface="Times New Roman" pitchFamily="18" charset="0"/>
              </a:rPr>
              <a:t>4-bit Universal Shift Register 74LS194</a:t>
            </a: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7" name="Rectangle 6"/>
          <p:cNvSpPr/>
          <p:nvPr/>
        </p:nvSpPr>
        <p:spPr>
          <a:xfrm>
            <a:off x="3718719" y="197720"/>
            <a:ext cx="5168979" cy="584775"/>
          </a:xfrm>
          <a:prstGeom prst="rect">
            <a:avLst/>
          </a:prstGeom>
        </p:spPr>
        <p:txBody>
          <a:bodyPr wrap="none">
            <a:spAutoFit/>
          </a:bodyPr>
          <a:lstStyle/>
          <a:p>
            <a:r>
              <a:rPr lang="en-US" sz="3200" b="1" dirty="0" smtClean="0">
                <a:latin typeface="Times New Roman" pitchFamily="18" charset="0"/>
                <a:cs typeface="Times New Roman" pitchFamily="18" charset="0"/>
              </a:rPr>
              <a:t>Bi-Directional </a:t>
            </a:r>
            <a:r>
              <a:rPr lang="en-US" sz="3200" b="1" dirty="0">
                <a:latin typeface="Times New Roman" pitchFamily="18" charset="0"/>
                <a:cs typeface="Times New Roman" pitchFamily="18" charset="0"/>
              </a:rPr>
              <a:t>Shift Register</a:t>
            </a:r>
          </a:p>
        </p:txBody>
      </p:sp>
      <p:pic>
        <p:nvPicPr>
          <p:cNvPr id="2050" name="Picture 2" descr="Bidirectional Shift Register : Working, Verilog Code &amp; Its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8763" y="1143000"/>
            <a:ext cx="9636367" cy="5067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6517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27919" y="2906892"/>
            <a:ext cx="10481662" cy="523220"/>
          </a:xfrm>
          <a:prstGeom prst="rect">
            <a:avLst/>
          </a:prstGeom>
        </p:spPr>
        <p:txBody>
          <a:bodyPr wrap="square">
            <a:spAutoFit/>
          </a:bodyPr>
          <a:lstStyle/>
          <a:p>
            <a:pPr algn="ctr"/>
            <a:r>
              <a:rPr lang="en-US" sz="2800" b="1" dirty="0">
                <a:solidFill>
                  <a:srgbClr val="C00000"/>
                </a:solidFill>
                <a:latin typeface="Times New Roman" pitchFamily="18" charset="0"/>
                <a:cs typeface="Times New Roman" pitchFamily="18" charset="0"/>
              </a:rPr>
              <a:t>Ring &amp; Johnson </a:t>
            </a:r>
            <a:r>
              <a:rPr lang="en-US" sz="2800" b="1" dirty="0" smtClean="0">
                <a:solidFill>
                  <a:srgbClr val="C00000"/>
                </a:solidFill>
                <a:latin typeface="Times New Roman" pitchFamily="18" charset="0"/>
                <a:cs typeface="Times New Roman" pitchFamily="18" charset="0"/>
              </a:rPr>
              <a:t>Counter using Shift Registers</a:t>
            </a:r>
            <a:endParaRPr lang="en-US" sz="28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280319" y="609600"/>
            <a:ext cx="10481662" cy="1354217"/>
          </a:xfrm>
          <a:prstGeom prst="rect">
            <a:avLst/>
          </a:prstGeom>
        </p:spPr>
        <p:txBody>
          <a:bodyPr wrap="square">
            <a:spAutoFit/>
          </a:bodyPr>
          <a:lstStyle/>
          <a:p>
            <a:pPr algn="ctr"/>
            <a:r>
              <a:rPr lang="en-US" sz="2800" b="1" dirty="0" smtClean="0">
                <a:solidFill>
                  <a:srgbClr val="C00000"/>
                </a:solidFill>
                <a:latin typeface="Times New Roman" pitchFamily="18" charset="0"/>
                <a:cs typeface="Times New Roman" pitchFamily="18" charset="0"/>
              </a:rPr>
              <a:t>Ring </a:t>
            </a:r>
            <a:r>
              <a:rPr lang="en-US" sz="2800" b="1" dirty="0">
                <a:solidFill>
                  <a:srgbClr val="C00000"/>
                </a:solidFill>
                <a:latin typeface="Times New Roman" pitchFamily="18" charset="0"/>
                <a:cs typeface="Times New Roman" pitchFamily="18" charset="0"/>
              </a:rPr>
              <a:t>Counter</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Johnson Ring Counter consists of a number of counters connected together with the output fed back to the </a:t>
            </a:r>
            <a:r>
              <a:rPr lang="en-US" dirty="0" smtClean="0">
                <a:latin typeface="Times New Roman" pitchFamily="18" charset="0"/>
                <a:cs typeface="Times New Roman" pitchFamily="18" charset="0"/>
              </a:rPr>
              <a:t>input.</a:t>
            </a:r>
            <a:endParaRPr lang="en-US" dirty="0">
              <a:latin typeface="Times New Roman" pitchFamily="18" charset="0"/>
              <a:cs typeface="Times New Roman" pitchFamily="18" charset="0"/>
            </a:endParaRPr>
          </a:p>
        </p:txBody>
      </p:sp>
      <p:sp>
        <p:nvSpPr>
          <p:cNvPr id="7" name="Rectangle 6"/>
          <p:cNvSpPr/>
          <p:nvPr/>
        </p:nvSpPr>
        <p:spPr>
          <a:xfrm>
            <a:off x="1280319" y="2133600"/>
            <a:ext cx="10481662" cy="3693319"/>
          </a:xfrm>
          <a:prstGeom prst="rect">
            <a:avLst/>
          </a:prstGeom>
        </p:spPr>
        <p:txBody>
          <a:bodyPr wrap="square">
            <a:spAutoFit/>
          </a:bodyPr>
          <a:lstStyle/>
          <a:p>
            <a:r>
              <a:rPr lang="en-US" dirty="0">
                <a:latin typeface="Times New Roman" pitchFamily="18" charset="0"/>
                <a:cs typeface="Times New Roman" pitchFamily="18" charset="0"/>
              </a:rPr>
              <a:t> If we apply </a:t>
            </a:r>
            <a:r>
              <a:rPr lang="en-US" dirty="0" smtClean="0">
                <a:latin typeface="Times New Roman" pitchFamily="18" charset="0"/>
                <a:cs typeface="Times New Roman" pitchFamily="18" charset="0"/>
              </a:rPr>
              <a:t>a serial data signal to the input of a Serial-in to Serial-out Shift Register, the same sequence of data will exit from the last flip </a:t>
            </a:r>
            <a:r>
              <a:rPr lang="en-US" dirty="0" err="1" smtClean="0">
                <a:latin typeface="Times New Roman" pitchFamily="18" charset="0"/>
                <a:cs typeface="Times New Roman" pitchFamily="18" charset="0"/>
              </a:rPr>
              <a:t>flip</a:t>
            </a:r>
            <a:r>
              <a:rPr lang="en-US" dirty="0" smtClean="0">
                <a:latin typeface="Times New Roman" pitchFamily="18" charset="0"/>
                <a:cs typeface="Times New Roman" pitchFamily="18" charset="0"/>
              </a:rPr>
              <a:t> in the register chain.</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serial</a:t>
            </a:r>
            <a:r>
              <a:rPr lang="en-US" dirty="0" smtClean="0">
                <a:latin typeface="Times New Roman" pitchFamily="18" charset="0"/>
                <a:cs typeface="Times New Roman" pitchFamily="18" charset="0"/>
              </a:rPr>
              <a:t> movement of data through the resister occurs after a preset number of clock cycles thereby allowing the SISO register to act as a sort of time delay circuit to the original input data signal.</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But what if we were to connect the output of this shift register back to its input so that the output from the last flip-flop, QD becomes the input of the first flip-flop, QA. We would then have a closed loop circuit that “recirculates” the same bit of DATA around a continuous loop for every state of its sequence, and this is the principal operation of a Ring Counter.</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Then by looping the output back to the input, (feedback) we can convert a standard shift register circuit into a ring counter. Consider the circuit next</a:t>
            </a:r>
            <a:r>
              <a:rPr lang="en-US" dirty="0" smtClean="0"/>
              <a:t>.</a:t>
            </a:r>
            <a:endParaRPr lang="en-US" dirty="0"/>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pic>
        <p:nvPicPr>
          <p:cNvPr id="133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6719" y="1066800"/>
            <a:ext cx="62484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937919" y="271790"/>
            <a:ext cx="3100529" cy="523220"/>
          </a:xfrm>
          <a:prstGeom prst="rect">
            <a:avLst/>
          </a:prstGeom>
        </p:spPr>
        <p:txBody>
          <a:bodyPr wrap="none">
            <a:spAutoFit/>
          </a:bodyPr>
          <a:lstStyle/>
          <a:p>
            <a:r>
              <a:rPr lang="en-US" sz="2800" b="1" dirty="0">
                <a:solidFill>
                  <a:srgbClr val="C00000"/>
                </a:solidFill>
                <a:latin typeface="Times New Roman" pitchFamily="18" charset="0"/>
                <a:cs typeface="Times New Roman" pitchFamily="18" charset="0"/>
              </a:rPr>
              <a:t>4-bit Ring Counter</a:t>
            </a:r>
          </a:p>
        </p:txBody>
      </p:sp>
      <p:pic>
        <p:nvPicPr>
          <p:cNvPr id="1331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2475" y="4411807"/>
            <a:ext cx="3038475" cy="239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356519" y="1305342"/>
            <a:ext cx="9972195" cy="3416320"/>
          </a:xfrm>
          <a:prstGeom prst="rect">
            <a:avLst/>
          </a:prstGeom>
        </p:spPr>
        <p:txBody>
          <a:bodyPr wrap="square">
            <a:spAutoFit/>
          </a:bodyPr>
          <a:lstStyle/>
          <a:p>
            <a:pPr algn="just"/>
            <a:r>
              <a:rPr lang="en-US" dirty="0">
                <a:latin typeface="Times New Roman" pitchFamily="18" charset="0"/>
                <a:cs typeface="Times New Roman" pitchFamily="18" charset="0"/>
              </a:rPr>
              <a:t>The synchronous </a:t>
            </a:r>
            <a:r>
              <a:rPr lang="en-US" b="1" dirty="0">
                <a:latin typeface="Times New Roman" pitchFamily="18" charset="0"/>
                <a:cs typeface="Times New Roman" pitchFamily="18" charset="0"/>
              </a:rPr>
              <a:t>Ring Counter</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example, </a:t>
            </a:r>
            <a:r>
              <a:rPr lang="en-US" dirty="0">
                <a:latin typeface="Times New Roman" pitchFamily="18" charset="0"/>
                <a:cs typeface="Times New Roman" pitchFamily="18" charset="0"/>
              </a:rPr>
              <a:t>is preset so that exactly one data bit in the register is set to logic “1” with all the other bits reset to “0”. </a:t>
            </a:r>
            <a:endParaRPr lang="en-US"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To </a:t>
            </a:r>
            <a:r>
              <a:rPr lang="en-US" dirty="0">
                <a:latin typeface="Times New Roman" pitchFamily="18" charset="0"/>
                <a:cs typeface="Times New Roman" pitchFamily="18" charset="0"/>
              </a:rPr>
              <a:t>achieve this, a “CLEAR” signal is firstly applied to all the flip-flops together in order to “RESET” their outputs to a logic “0” level and then a “PRESET” pulse is applied to the input of the first flip-flop ( FFA ) before the clock pulses are applied. This then places a single logic “1” value into the circuit of the ring counter</a:t>
            </a:r>
            <a:r>
              <a:rPr lang="en-US" dirty="0" smtClean="0">
                <a:latin typeface="Times New Roman" pitchFamily="18" charset="0"/>
                <a:cs typeface="Times New Roman" pitchFamily="18" charset="0"/>
              </a:rPr>
              <a:t>.</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So on each successive clock pulse, the counter circulates the same data bit between the four flip-flops over and over again around the “ring” every fourth clock cycle. But in order to cycle the data correctly around the counter we must first “load” the counter with a suitable data pattern as all logic “0’s” or all logic “1’s” outputted at each clock cycle would make the ring counter invalid.</a:t>
            </a:r>
          </a:p>
        </p:txBody>
      </p:sp>
      <p:sp>
        <p:nvSpPr>
          <p:cNvPr id="7" name="Rectangle 6"/>
          <p:cNvSpPr/>
          <p:nvPr/>
        </p:nvSpPr>
        <p:spPr>
          <a:xfrm>
            <a:off x="1356519" y="4840515"/>
            <a:ext cx="9972195" cy="923330"/>
          </a:xfrm>
          <a:prstGeom prst="rect">
            <a:avLst/>
          </a:prstGeom>
        </p:spPr>
        <p:txBody>
          <a:bodyPr wrap="square">
            <a:spAutoFit/>
          </a:bodyPr>
          <a:lstStyle/>
          <a:p>
            <a:pPr algn="just"/>
            <a:r>
              <a:rPr lang="en-US" dirty="0">
                <a:latin typeface="Times New Roman" pitchFamily="18" charset="0"/>
                <a:cs typeface="Times New Roman" pitchFamily="18" charset="0"/>
              </a:rPr>
              <a:t>Since the ring counter example shown above has four distinct states, it is also known as a “modulo-4” or “mod-4” counter with each flip-flop output having a frequency value equal to one-fourth or a quarter (1/4) that of the main clock frequency</a:t>
            </a:r>
            <a:r>
              <a:rPr lang="en-US" dirty="0"/>
              <a:t>.</a:t>
            </a:r>
          </a:p>
        </p:txBody>
      </p:sp>
      <p:sp>
        <p:nvSpPr>
          <p:cNvPr id="8" name="Rectangle 7"/>
          <p:cNvSpPr/>
          <p:nvPr/>
        </p:nvSpPr>
        <p:spPr>
          <a:xfrm>
            <a:off x="4937919" y="271790"/>
            <a:ext cx="3100529" cy="523220"/>
          </a:xfrm>
          <a:prstGeom prst="rect">
            <a:avLst/>
          </a:prstGeom>
        </p:spPr>
        <p:txBody>
          <a:bodyPr wrap="none">
            <a:spAutoFit/>
          </a:bodyPr>
          <a:lstStyle/>
          <a:p>
            <a:r>
              <a:rPr lang="en-US" sz="2800" b="1" dirty="0">
                <a:solidFill>
                  <a:srgbClr val="C00000"/>
                </a:solidFill>
                <a:latin typeface="Times New Roman" pitchFamily="18" charset="0"/>
                <a:cs typeface="Times New Roman" pitchFamily="18" charset="0"/>
              </a:rPr>
              <a:t>4-bit Ring Counter</a:t>
            </a: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7" name="Rectangle 6"/>
          <p:cNvSpPr/>
          <p:nvPr/>
        </p:nvSpPr>
        <p:spPr>
          <a:xfrm>
            <a:off x="4633119" y="304800"/>
            <a:ext cx="3659976" cy="523220"/>
          </a:xfrm>
          <a:prstGeom prst="rect">
            <a:avLst/>
          </a:prstGeom>
        </p:spPr>
        <p:txBody>
          <a:bodyPr wrap="none">
            <a:spAutoFit/>
          </a:bodyPr>
          <a:lstStyle/>
          <a:p>
            <a:r>
              <a:rPr lang="en-US" sz="2800" b="1" dirty="0" smtClean="0">
                <a:solidFill>
                  <a:srgbClr val="C00000"/>
                </a:solidFill>
                <a:latin typeface="Times New Roman" pitchFamily="18" charset="0"/>
                <a:cs typeface="Times New Roman" pitchFamily="18" charset="0"/>
              </a:rPr>
              <a:t>Johnson Ring Counter</a:t>
            </a:r>
            <a:endParaRPr lang="en-US" sz="2800" b="1" dirty="0">
              <a:solidFill>
                <a:srgbClr val="C00000"/>
              </a:solidFill>
              <a:latin typeface="Times New Roman" pitchFamily="18" charset="0"/>
              <a:cs typeface="Times New Roman" pitchFamily="18" charset="0"/>
            </a:endParaRPr>
          </a:p>
        </p:txBody>
      </p:sp>
      <p:pic>
        <p:nvPicPr>
          <p:cNvPr id="4100" name="Picture 4" descr="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67907" y="3076684"/>
            <a:ext cx="4720865" cy="3095516"/>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0319" y="3211037"/>
            <a:ext cx="4999074" cy="296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423044" y="954760"/>
            <a:ext cx="6080125" cy="1754326"/>
          </a:xfrm>
          <a:prstGeom prst="rect">
            <a:avLst/>
          </a:prstGeom>
        </p:spPr>
        <p:txBody>
          <a:bodyPr>
            <a:spAutoFit/>
          </a:bodyPr>
          <a:lstStyle/>
          <a:p>
            <a:pPr algn="just"/>
            <a:r>
              <a:rPr lang="en-US" dirty="0">
                <a:latin typeface="Times New Roman" pitchFamily="18" charset="0"/>
                <a:cs typeface="Times New Roman" pitchFamily="18" charset="0"/>
              </a:rPr>
              <a:t>A Johnson counter is a type of a synchronous counter with a special counting pattern in this case being Johnson counter. It operates by the complemented output of the last flip flop feed back into the input of the first</a:t>
            </a:r>
            <a:r>
              <a:rPr lang="en-US" u="sng" dirty="0">
                <a:latin typeface="Times New Roman" pitchFamily="18" charset="0"/>
                <a:cs typeface="Times New Roman" pitchFamily="18" charset="0"/>
                <a:hlinkClick r:id="rId8"/>
              </a:rPr>
              <a:t> flip flop</a:t>
            </a:r>
            <a:r>
              <a:rPr lang="en-US" dirty="0">
                <a:latin typeface="Times New Roman" pitchFamily="18" charset="0"/>
                <a:cs typeface="Times New Roman" pitchFamily="18" charset="0"/>
              </a:rPr>
              <a:t>. What results from this setup is a series of states which forms a sequence that is not characteristic of normal ring </a:t>
            </a:r>
            <a:r>
              <a:rPr lang="en-US" u="sng" dirty="0">
                <a:latin typeface="Times New Roman" pitchFamily="18" charset="0"/>
                <a:cs typeface="Times New Roman" pitchFamily="18" charset="0"/>
                <a:hlinkClick r:id="rId9"/>
              </a:rPr>
              <a:t>counters</a:t>
            </a:r>
            <a:r>
              <a:rPr lang="en-US"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404218255"/>
              </p:ext>
            </p:extLst>
          </p:nvPr>
        </p:nvGraphicFramePr>
        <p:xfrm>
          <a:off x="1787487" y="1085910"/>
          <a:ext cx="9526146" cy="5447180"/>
        </p:xfrm>
        <a:graphic>
          <a:graphicData uri="http://schemas.openxmlformats.org/drawingml/2006/table">
            <a:tbl>
              <a:tblPr/>
              <a:tblGrid>
                <a:gridCol w="1814504"/>
                <a:gridCol w="3855821"/>
                <a:gridCol w="3855821"/>
              </a:tblGrid>
              <a:tr h="351480">
                <a:tc>
                  <a:txBody>
                    <a:bodyPr/>
                    <a:lstStyle/>
                    <a:p>
                      <a:pPr algn="ctr" rtl="0" fontAlgn="base"/>
                      <a:r>
                        <a:rPr lang="en-US" sz="1600" b="1" dirty="0">
                          <a:effectLst/>
                          <a:latin typeface="Times New Roman" pitchFamily="18" charset="0"/>
                          <a:cs typeface="Times New Roman" pitchFamily="18" charset="0"/>
                        </a:rPr>
                        <a:t>Parameters</a:t>
                      </a:r>
                      <a:endParaRPr lang="en-US" sz="1600" b="0" dirty="0">
                        <a:effectLst/>
                        <a:latin typeface="Times New Roman" pitchFamily="18" charset="0"/>
                        <a:cs typeface="Times New Roman" pitchFamily="18" charset="0"/>
                      </a:endParaRPr>
                    </a:p>
                  </a:txBody>
                  <a:tcPr marL="33158" marR="33158" marT="82896" marB="8289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1">
                          <a:effectLst/>
                          <a:latin typeface="Times New Roman" pitchFamily="18" charset="0"/>
                          <a:cs typeface="Times New Roman" pitchFamily="18" charset="0"/>
                        </a:rPr>
                        <a:t>Ring Counter</a:t>
                      </a:r>
                      <a:endParaRPr lang="en-US" sz="1600" b="0">
                        <a:effectLst/>
                        <a:latin typeface="Times New Roman" pitchFamily="18" charset="0"/>
                        <a:cs typeface="Times New Roman" pitchFamily="18" charset="0"/>
                      </a:endParaRPr>
                    </a:p>
                  </a:txBody>
                  <a:tcPr marL="82896" marR="82896" marT="82896" marB="8289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1">
                          <a:effectLst/>
                          <a:latin typeface="Times New Roman" pitchFamily="18" charset="0"/>
                          <a:cs typeface="Times New Roman" pitchFamily="18" charset="0"/>
                        </a:rPr>
                        <a:t>Johnson Counter</a:t>
                      </a:r>
                      <a:endParaRPr lang="en-US" sz="1600" b="0">
                        <a:effectLst/>
                        <a:latin typeface="Times New Roman" pitchFamily="18" charset="0"/>
                        <a:cs typeface="Times New Roman" pitchFamily="18" charset="0"/>
                      </a:endParaRPr>
                    </a:p>
                  </a:txBody>
                  <a:tcPr marL="82896" marR="82896" marT="82896" marB="8289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563694">
                <a:tc>
                  <a:txBody>
                    <a:bodyPr/>
                    <a:lstStyle/>
                    <a:p>
                      <a:pPr algn="ctr" rtl="0" fontAlgn="base"/>
                      <a:r>
                        <a:rPr lang="en-US" sz="1600" b="1">
                          <a:effectLst/>
                          <a:latin typeface="Times New Roman" pitchFamily="18" charset="0"/>
                          <a:cs typeface="Times New Roman" pitchFamily="18" charset="0"/>
                        </a:rPr>
                        <a:t>Configuration</a:t>
                      </a:r>
                      <a:endParaRPr lang="en-US" sz="1600" b="0">
                        <a:effectLst/>
                        <a:latin typeface="Times New Roman" pitchFamily="18" charset="0"/>
                        <a:cs typeface="Times New Roman" pitchFamily="18" charset="0"/>
                      </a:endParaRPr>
                    </a:p>
                  </a:txBody>
                  <a:tcPr marL="33158" marR="33158" marT="58674" marB="5867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0" dirty="0">
                          <a:effectLst/>
                          <a:latin typeface="Times New Roman" pitchFamily="18" charset="0"/>
                          <a:cs typeface="Times New Roman" pitchFamily="18" charset="0"/>
                        </a:rPr>
                        <a:t>A ring counter employs the carry-in of the last flip-flop into the input of the first flip-flop without any manipulation.</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600" b="0">
                          <a:effectLst/>
                          <a:latin typeface="Times New Roman" pitchFamily="18" charset="0"/>
                          <a:cs typeface="Times New Roman" pitchFamily="18" charset="0"/>
                        </a:rPr>
                        <a:t>In Johnson counter, the complement of output of the last flip-flop is applied to the input of the first flip-flop.</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94829">
                <a:tc>
                  <a:txBody>
                    <a:bodyPr/>
                    <a:lstStyle/>
                    <a:p>
                      <a:pPr algn="ctr" rtl="0" fontAlgn="base"/>
                      <a:r>
                        <a:rPr lang="en-US" sz="1600" b="1">
                          <a:effectLst/>
                          <a:latin typeface="Times New Roman" pitchFamily="18" charset="0"/>
                          <a:cs typeface="Times New Roman" pitchFamily="18" charset="0"/>
                        </a:rPr>
                        <a:t>Number of Flip- Flops</a:t>
                      </a:r>
                      <a:endParaRPr lang="en-US" sz="1600" b="0">
                        <a:effectLst/>
                        <a:latin typeface="Times New Roman" pitchFamily="18" charset="0"/>
                        <a:cs typeface="Times New Roman" pitchFamily="18" charset="0"/>
                      </a:endParaRPr>
                    </a:p>
                  </a:txBody>
                  <a:tcPr marL="33158" marR="33158" marT="58674" marB="5867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0">
                          <a:effectLst/>
                          <a:latin typeface="Times New Roman" pitchFamily="18" charset="0"/>
                          <a:cs typeface="Times New Roman" pitchFamily="18" charset="0"/>
                        </a:rPr>
                        <a:t>'n' flip-flops are required to count 'n' states.</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600" b="0">
                          <a:effectLst/>
                          <a:latin typeface="Times New Roman" pitchFamily="18" charset="0"/>
                          <a:cs typeface="Times New Roman" pitchFamily="18" charset="0"/>
                        </a:rPr>
                        <a:t>'n' flip-flops are required to count '2n' states.</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94829">
                <a:tc>
                  <a:txBody>
                    <a:bodyPr/>
                    <a:lstStyle/>
                    <a:p>
                      <a:pPr algn="ctr" rtl="0" fontAlgn="base"/>
                      <a:r>
                        <a:rPr lang="en-US" sz="1600" b="1">
                          <a:effectLst/>
                          <a:latin typeface="Times New Roman" pitchFamily="18" charset="0"/>
                          <a:cs typeface="Times New Roman" pitchFamily="18" charset="0"/>
                        </a:rPr>
                        <a:t>Counting Sequence</a:t>
                      </a:r>
                      <a:endParaRPr lang="en-US" sz="1600" b="0">
                        <a:effectLst/>
                        <a:latin typeface="Times New Roman" pitchFamily="18" charset="0"/>
                        <a:cs typeface="Times New Roman" pitchFamily="18" charset="0"/>
                      </a:endParaRPr>
                    </a:p>
                  </a:txBody>
                  <a:tcPr marL="33158" marR="33158" marT="58674" marB="5867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0">
                          <a:effectLst/>
                          <a:latin typeface="Times New Roman" pitchFamily="18" charset="0"/>
                          <a:cs typeface="Times New Roman" pitchFamily="18" charset="0"/>
                        </a:rPr>
                        <a:t>It counts in a simple binary sequence often having one '1' and the rest '0's in each state.</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600" b="0">
                          <a:effectLst/>
                          <a:latin typeface="Times New Roman" pitchFamily="18" charset="0"/>
                          <a:cs typeface="Times New Roman" pitchFamily="18" charset="0"/>
                        </a:rPr>
                        <a:t>It counts in a twisted sequence, where the output is a mixture of binary 1s and 0s.</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97901">
                <a:tc>
                  <a:txBody>
                    <a:bodyPr/>
                    <a:lstStyle/>
                    <a:p>
                      <a:pPr algn="ctr" rtl="0" fontAlgn="base"/>
                      <a:r>
                        <a:rPr lang="en-US" sz="1600" b="1">
                          <a:effectLst/>
                          <a:latin typeface="Times New Roman" pitchFamily="18" charset="0"/>
                          <a:cs typeface="Times New Roman" pitchFamily="18" charset="0"/>
                        </a:rPr>
                        <a:t>Number of States</a:t>
                      </a:r>
                      <a:endParaRPr lang="en-US" sz="1600" b="0">
                        <a:effectLst/>
                        <a:latin typeface="Times New Roman" pitchFamily="18" charset="0"/>
                        <a:cs typeface="Times New Roman" pitchFamily="18" charset="0"/>
                      </a:endParaRPr>
                    </a:p>
                  </a:txBody>
                  <a:tcPr marL="33158" marR="33158" marT="58674" marB="5867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0">
                          <a:effectLst/>
                          <a:latin typeface="Times New Roman" pitchFamily="18" charset="0"/>
                          <a:cs typeface="Times New Roman" pitchFamily="18" charset="0"/>
                        </a:rPr>
                        <a:t>It can Generate 'n' unique states</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600" b="0">
                          <a:effectLst/>
                          <a:latin typeface="Times New Roman" pitchFamily="18" charset="0"/>
                          <a:cs typeface="Times New Roman" pitchFamily="18" charset="0"/>
                        </a:rPr>
                        <a:t>It can Generate '2n' unique states</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94829">
                <a:tc>
                  <a:txBody>
                    <a:bodyPr/>
                    <a:lstStyle/>
                    <a:p>
                      <a:pPr algn="ctr" rtl="0" fontAlgn="base"/>
                      <a:r>
                        <a:rPr lang="en-US" sz="1600" b="1">
                          <a:effectLst/>
                          <a:latin typeface="Times New Roman" pitchFamily="18" charset="0"/>
                          <a:cs typeface="Times New Roman" pitchFamily="18" charset="0"/>
                        </a:rPr>
                        <a:t>Unused states</a:t>
                      </a:r>
                      <a:r>
                        <a:rPr lang="en-US" sz="1600" b="0">
                          <a:effectLst/>
                          <a:latin typeface="Times New Roman" pitchFamily="18" charset="0"/>
                          <a:cs typeface="Times New Roman" pitchFamily="18" charset="0"/>
                        </a:rPr>
                        <a:t/>
                      </a:r>
                      <a:br>
                        <a:rPr lang="en-US" sz="1600" b="0">
                          <a:effectLst/>
                          <a:latin typeface="Times New Roman" pitchFamily="18" charset="0"/>
                          <a:cs typeface="Times New Roman" pitchFamily="18" charset="0"/>
                        </a:rPr>
                      </a:br>
                      <a:endParaRPr lang="en-US" sz="1600" b="0">
                        <a:effectLst/>
                        <a:latin typeface="Times New Roman" pitchFamily="18" charset="0"/>
                        <a:cs typeface="Times New Roman" pitchFamily="18" charset="0"/>
                      </a:endParaRPr>
                    </a:p>
                  </a:txBody>
                  <a:tcPr marL="33158" marR="33158" marT="58674" marB="5867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0">
                          <a:effectLst/>
                          <a:latin typeface="Times New Roman" pitchFamily="18" charset="0"/>
                          <a:cs typeface="Times New Roman" pitchFamily="18" charset="0"/>
                        </a:rPr>
                        <a:t>None, because all the states are utilized</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600" b="0">
                          <a:effectLst/>
                          <a:latin typeface="Times New Roman" pitchFamily="18" charset="0"/>
                          <a:cs typeface="Times New Roman" pitchFamily="18" charset="0"/>
                        </a:rPr>
                        <a:t>'2n-2n' states are unused</a:t>
                      </a:r>
                      <a:br>
                        <a:rPr lang="en-US" sz="1600" b="0">
                          <a:effectLst/>
                          <a:latin typeface="Times New Roman" pitchFamily="18" charset="0"/>
                          <a:cs typeface="Times New Roman" pitchFamily="18" charset="0"/>
                        </a:rPr>
                      </a:br>
                      <a:endParaRPr lang="en-US" sz="1600" b="0">
                        <a:effectLst/>
                        <a:latin typeface="Times New Roman" pitchFamily="18" charset="0"/>
                        <a:cs typeface="Times New Roman" pitchFamily="18" charset="0"/>
                      </a:endParaRP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94829">
                <a:tc>
                  <a:txBody>
                    <a:bodyPr/>
                    <a:lstStyle/>
                    <a:p>
                      <a:pPr algn="ctr" rtl="0" fontAlgn="base"/>
                      <a:r>
                        <a:rPr lang="en-US" sz="1600" b="1">
                          <a:effectLst/>
                          <a:latin typeface="Times New Roman" pitchFamily="18" charset="0"/>
                          <a:cs typeface="Times New Roman" pitchFamily="18" charset="0"/>
                        </a:rPr>
                        <a:t>Self-Decoding Capability</a:t>
                      </a:r>
                      <a:endParaRPr lang="en-US" sz="1600" b="0">
                        <a:effectLst/>
                        <a:latin typeface="Times New Roman" pitchFamily="18" charset="0"/>
                        <a:cs typeface="Times New Roman" pitchFamily="18" charset="0"/>
                      </a:endParaRPr>
                    </a:p>
                  </a:txBody>
                  <a:tcPr marL="33158" marR="33158" marT="58674" marB="5867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0">
                          <a:effectLst/>
                          <a:latin typeface="Times New Roman" pitchFamily="18" charset="0"/>
                          <a:cs typeface="Times New Roman" pitchFamily="18" charset="0"/>
                        </a:rPr>
                        <a:t>Its not self-decoding since additional circuitry is needed</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600" b="0">
                          <a:effectLst/>
                          <a:latin typeface="Times New Roman" pitchFamily="18" charset="0"/>
                          <a:cs typeface="Times New Roman" pitchFamily="18" charset="0"/>
                        </a:rPr>
                        <a:t>Its self-decoding makes it simpler for certain applications</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833570">
                <a:tc>
                  <a:txBody>
                    <a:bodyPr/>
                    <a:lstStyle/>
                    <a:p>
                      <a:pPr algn="ctr" rtl="0" fontAlgn="base"/>
                      <a:r>
                        <a:rPr lang="en-US" sz="1600" b="1">
                          <a:effectLst/>
                          <a:latin typeface="Times New Roman" pitchFamily="18" charset="0"/>
                          <a:cs typeface="Times New Roman" pitchFamily="18" charset="0"/>
                        </a:rPr>
                        <a:t>Circuit Complexity</a:t>
                      </a:r>
                      <a:r>
                        <a:rPr lang="en-US" sz="1600" b="0">
                          <a:effectLst/>
                          <a:latin typeface="Times New Roman" pitchFamily="18" charset="0"/>
                          <a:cs typeface="Times New Roman" pitchFamily="18" charset="0"/>
                        </a:rPr>
                        <a:t/>
                      </a:r>
                      <a:br>
                        <a:rPr lang="en-US" sz="1600" b="0">
                          <a:effectLst/>
                          <a:latin typeface="Times New Roman" pitchFamily="18" charset="0"/>
                          <a:cs typeface="Times New Roman" pitchFamily="18" charset="0"/>
                        </a:rPr>
                      </a:br>
                      <a:endParaRPr lang="en-US" sz="1600" b="0">
                        <a:effectLst/>
                        <a:latin typeface="Times New Roman" pitchFamily="18" charset="0"/>
                        <a:cs typeface="Times New Roman" pitchFamily="18" charset="0"/>
                      </a:endParaRPr>
                    </a:p>
                  </a:txBody>
                  <a:tcPr marL="33158" marR="33158" marT="58674" marB="5867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600" b="0">
                          <a:effectLst/>
                          <a:latin typeface="Times New Roman" pitchFamily="18" charset="0"/>
                          <a:cs typeface="Times New Roman" pitchFamily="18" charset="0"/>
                        </a:rPr>
                        <a:t>Since it does not require inversion feedback, thus the circuit is simple</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600" b="0" dirty="0">
                          <a:effectLst/>
                          <a:latin typeface="Times New Roman" pitchFamily="18" charset="0"/>
                          <a:cs typeface="Times New Roman" pitchFamily="18" charset="0"/>
                        </a:rPr>
                        <a:t>Due to inversion, the circuit is slightly more complex</a:t>
                      </a:r>
                    </a:p>
                  </a:txBody>
                  <a:tcPr marL="82896" marR="82896" marT="116055" marB="11605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
        <p:nvSpPr>
          <p:cNvPr id="7" name="Rectangle 1"/>
          <p:cNvSpPr>
            <a:spLocks noChangeArrowheads="1"/>
          </p:cNvSpPr>
          <p:nvPr/>
        </p:nvSpPr>
        <p:spPr bwMode="auto">
          <a:xfrm>
            <a:off x="1966119" y="162580"/>
            <a:ext cx="8752589" cy="52322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sz="2800" b="1" dirty="0">
                <a:solidFill>
                  <a:srgbClr val="C00000"/>
                </a:solidFill>
                <a:latin typeface="Times New Roman" pitchFamily="18" charset="0"/>
                <a:cs typeface="Times New Roman" pitchFamily="18" charset="0"/>
              </a:rPr>
              <a:t>Difference Between Ring Counter and Johnson </a:t>
            </a:r>
            <a:r>
              <a:rPr lang="en-US" sz="2800" b="1" dirty="0" smtClean="0">
                <a:solidFill>
                  <a:srgbClr val="C00000"/>
                </a:solidFill>
                <a:latin typeface="Times New Roman" pitchFamily="18" charset="0"/>
                <a:cs typeface="Times New Roman" pitchFamily="18" charset="0"/>
              </a:rPr>
              <a:t>Counter</a:t>
            </a:r>
            <a:endParaRPr lang="en-US" sz="28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7;p1"/>
          <p:cNvPicPr preferRelativeResize="0"/>
          <p:nvPr/>
        </p:nvPicPr>
        <p:blipFill rotWithShape="1">
          <a:blip r:embed="rId2">
            <a:alphaModFix/>
          </a:blip>
          <a:srcRect/>
          <a:stretch/>
        </p:blipFill>
        <p:spPr>
          <a:xfrm>
            <a:off x="605" y="2221"/>
            <a:ext cx="565557" cy="6855783"/>
          </a:xfrm>
          <a:prstGeom prst="rect">
            <a:avLst/>
          </a:prstGeom>
          <a:noFill/>
          <a:ln>
            <a:noFill/>
          </a:ln>
        </p:spPr>
      </p:pic>
      <p:pic>
        <p:nvPicPr>
          <p:cNvPr id="3" name="Google Shape;28;p1"/>
          <p:cNvPicPr preferRelativeResize="0"/>
          <p:nvPr/>
        </p:nvPicPr>
        <p:blipFill rotWithShape="1">
          <a:blip r:embed="rId3">
            <a:alphaModFix/>
          </a:blip>
          <a:srcRect/>
          <a:stretch/>
        </p:blipFill>
        <p:spPr>
          <a:xfrm>
            <a:off x="566160" y="0"/>
            <a:ext cx="209159" cy="5440680"/>
          </a:xfrm>
          <a:prstGeom prst="rect">
            <a:avLst/>
          </a:prstGeom>
          <a:noFill/>
          <a:ln>
            <a:noFill/>
          </a:ln>
        </p:spPr>
      </p:pic>
      <p:pic>
        <p:nvPicPr>
          <p:cNvPr id="4" name="Google Shape;29;p1" descr="A close up of a sign&#10;&#10;Description automatically generated"/>
          <p:cNvPicPr preferRelativeResize="0"/>
          <p:nvPr/>
        </p:nvPicPr>
        <p:blipFill rotWithShape="1">
          <a:blip r:embed="rId4">
            <a:alphaModFix/>
          </a:blip>
          <a:srcRect/>
          <a:stretch/>
        </p:blipFill>
        <p:spPr>
          <a:xfrm>
            <a:off x="11328714" y="6210516"/>
            <a:ext cx="866534" cy="647488"/>
          </a:xfrm>
          <a:prstGeom prst="rect">
            <a:avLst/>
          </a:prstGeom>
          <a:noFill/>
          <a:ln>
            <a:noFill/>
          </a:ln>
        </p:spPr>
      </p:pic>
      <p:pic>
        <p:nvPicPr>
          <p:cNvPr id="5" name="Picture 4">
            <a:extLst>
              <a:ext uri="{FF2B5EF4-FFF2-40B4-BE49-F238E27FC236}">
                <a16:creationId xmlns:lc="http://schemas.openxmlformats.org/drawingml/2006/lockedCanvas" xmlns:w15="http://schemas.microsoft.com/office/word/2012/wordml"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oel="http://schemas.microsoft.com/office/2019/extlst" xmlns:v="urn:schemas-microsoft-com:vml" xmlns:w10="urn:schemas-microsoft-com:office:word" xmlns:w="http://schemas.openxmlformats.org/wordprocessingml/2006/main"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a16="http://schemas.microsoft.com/office/drawing/2014/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wpc="http://schemas.microsoft.com/office/word/2010/wordprocessingCanvas" id="{DA3B82F8-7F36-4AE6-A785-76BCA479C67E}"/>
              </a:ext>
            </a:extLst>
          </p:cNvPr>
          <p:cNvPicPr/>
          <p:nvPr/>
        </p:nvPicPr>
        <p:blipFill>
          <a:blip r:embed="rId5">
            <a:extLst>
              <a:ext uri="{28A0092B-C50C-407E-A947-70E740481C1C}">
                <a14:useLocalDpi xmlns:a14="http://schemas.microsoft.com/office/drawing/2010/main" val="0"/>
              </a:ext>
            </a:extLst>
          </a:blip>
          <a:stretch>
            <a:fillRect/>
          </a:stretch>
        </p:blipFill>
        <p:spPr>
          <a:xfrm>
            <a:off x="564934" y="6210516"/>
            <a:ext cx="1796578" cy="647488"/>
          </a:xfrm>
          <a:prstGeom prst="rect">
            <a:avLst/>
          </a:prstGeom>
        </p:spPr>
      </p:pic>
      <p:sp>
        <p:nvSpPr>
          <p:cNvPr id="6" name="Rectangle 5"/>
          <p:cNvSpPr/>
          <p:nvPr/>
        </p:nvSpPr>
        <p:spPr>
          <a:xfrm>
            <a:off x="1160103" y="340578"/>
            <a:ext cx="10200795" cy="5755422"/>
          </a:xfrm>
          <a:prstGeom prst="rect">
            <a:avLst/>
          </a:prstGeom>
        </p:spPr>
        <p:txBody>
          <a:bodyPr wrap="square">
            <a:spAutoFit/>
          </a:bodyPr>
          <a:lstStyle/>
          <a:p>
            <a:pPr algn="ctr" fontAlgn="base"/>
            <a:r>
              <a:rPr lang="en-US" sz="1600" b="1" dirty="0">
                <a:latin typeface="Times New Roman" pitchFamily="18" charset="0"/>
                <a:cs typeface="Times New Roman" pitchFamily="18" charset="0"/>
              </a:rPr>
              <a:t>Some Key Terminologies For PISO Shift </a:t>
            </a:r>
            <a:r>
              <a:rPr lang="en-US" sz="1600" b="1" dirty="0" smtClean="0">
                <a:latin typeface="Times New Roman" pitchFamily="18" charset="0"/>
                <a:cs typeface="Times New Roman" pitchFamily="18" charset="0"/>
              </a:rPr>
              <a:t>Registers</a:t>
            </a:r>
          </a:p>
          <a:p>
            <a:pPr algn="ctr" fontAlgn="base"/>
            <a:endParaRPr lang="en-US" sz="1600" b="1" dirty="0">
              <a:latin typeface="Times New Roman" pitchFamily="18" charset="0"/>
              <a:cs typeface="Times New Roman" pitchFamily="18" charset="0"/>
            </a:endParaRPr>
          </a:p>
          <a:p>
            <a:pPr marL="342900" indent="-342900" algn="just" fontAlgn="base">
              <a:buFont typeface="+mj-lt"/>
              <a:buAutoNum type="arabicPeriod"/>
            </a:pPr>
            <a:r>
              <a:rPr lang="en-US" sz="1600" b="1" dirty="0">
                <a:latin typeface="Times New Roman" pitchFamily="18" charset="0"/>
                <a:cs typeface="Times New Roman" pitchFamily="18" charset="0"/>
              </a:rPr>
              <a:t>Shift Register</a:t>
            </a:r>
            <a:r>
              <a:rPr lang="en-US" sz="1600" dirty="0">
                <a:latin typeface="Times New Roman" pitchFamily="18" charset="0"/>
                <a:cs typeface="Times New Roman" pitchFamily="18" charset="0"/>
              </a:rPr>
              <a:t>: A digital circuit that allows sequential shifting of data bits. It consists of a chain of flip-flops where data moves from one </a:t>
            </a:r>
            <a:r>
              <a:rPr lang="en-US" sz="1600" u="sng" dirty="0">
                <a:latin typeface="Times New Roman" pitchFamily="18" charset="0"/>
                <a:cs typeface="Times New Roman" pitchFamily="18" charset="0"/>
                <a:hlinkClick r:id="rId6"/>
              </a:rPr>
              <a:t>flip-flop</a:t>
            </a:r>
            <a:r>
              <a:rPr lang="en-US" sz="1600" dirty="0">
                <a:latin typeface="Times New Roman" pitchFamily="18" charset="0"/>
                <a:cs typeface="Times New Roman" pitchFamily="18" charset="0"/>
              </a:rPr>
              <a:t> to the next during each clock cycle.</a:t>
            </a:r>
          </a:p>
          <a:p>
            <a:pPr marL="342900" indent="-342900" algn="just" fontAlgn="base">
              <a:buFont typeface="+mj-lt"/>
              <a:buAutoNum type="arabicPeriod"/>
            </a:pPr>
            <a:r>
              <a:rPr lang="en-US" sz="1600" b="1" dirty="0">
                <a:latin typeface="Times New Roman" pitchFamily="18" charset="0"/>
                <a:cs typeface="Times New Roman" pitchFamily="18" charset="0"/>
              </a:rPr>
              <a:t>Parallel-In Serial-Out </a:t>
            </a:r>
            <a:r>
              <a:rPr lang="en-US" sz="1600" dirty="0">
                <a:latin typeface="Times New Roman" pitchFamily="18" charset="0"/>
                <a:cs typeface="Times New Roman" pitchFamily="18" charset="0"/>
              </a:rPr>
              <a:t>(PISO): A type of shift register that accepts parallel input data and produces a sequential output. It loads data in parallel and outputs it in a serial manner.</a:t>
            </a:r>
          </a:p>
          <a:p>
            <a:pPr marL="342900" indent="-342900" algn="just" fontAlgn="base">
              <a:buFont typeface="+mj-lt"/>
              <a:buAutoNum type="arabicPeriod"/>
            </a:pPr>
            <a:r>
              <a:rPr lang="en-US" sz="1600" b="1" dirty="0">
                <a:latin typeface="Times New Roman" pitchFamily="18" charset="0"/>
                <a:cs typeface="Times New Roman" pitchFamily="18" charset="0"/>
              </a:rPr>
              <a:t>Flip-Flops</a:t>
            </a:r>
            <a:r>
              <a:rPr lang="en-US" sz="1600" dirty="0">
                <a:latin typeface="Times New Roman" pitchFamily="18" charset="0"/>
                <a:cs typeface="Times New Roman" pitchFamily="18" charset="0"/>
              </a:rPr>
              <a:t>: Storage elements within a shift register that can store one bit of data. In a PISO </a:t>
            </a:r>
            <a:r>
              <a:rPr lang="en-US" sz="1600" u="sng" dirty="0">
                <a:latin typeface="Times New Roman" pitchFamily="18" charset="0"/>
                <a:cs typeface="Times New Roman" pitchFamily="18" charset="0"/>
                <a:hlinkClick r:id="rId7"/>
              </a:rPr>
              <a:t>shift register</a:t>
            </a:r>
            <a:r>
              <a:rPr lang="en-US" sz="1600" dirty="0">
                <a:latin typeface="Times New Roman" pitchFamily="18" charset="0"/>
                <a:cs typeface="Times New Roman" pitchFamily="18" charset="0"/>
              </a:rPr>
              <a:t>, each flip-flop represents a stage through which data passes during the shifting process.</a:t>
            </a:r>
          </a:p>
          <a:p>
            <a:pPr marL="342900" indent="-342900" algn="just" fontAlgn="base">
              <a:buFont typeface="+mj-lt"/>
              <a:buAutoNum type="arabicPeriod"/>
            </a:pPr>
            <a:r>
              <a:rPr lang="en-US" sz="1600" b="1" dirty="0">
                <a:latin typeface="Times New Roman" pitchFamily="18" charset="0"/>
                <a:cs typeface="Times New Roman" pitchFamily="18" charset="0"/>
              </a:rPr>
              <a:t>Parallel Input</a:t>
            </a:r>
            <a:r>
              <a:rPr lang="en-US" sz="1600" dirty="0">
                <a:latin typeface="Times New Roman" pitchFamily="18" charset="0"/>
                <a:cs typeface="Times New Roman" pitchFamily="18" charset="0"/>
              </a:rPr>
              <a:t>: The process of loading data into the shift register simultaneously through multiple input lines. Parallel input allows for fast and efficient data transfer into the shift register.</a:t>
            </a:r>
          </a:p>
          <a:p>
            <a:pPr marL="342900" indent="-342900" algn="just" fontAlgn="base">
              <a:buFont typeface="+mj-lt"/>
              <a:buAutoNum type="arabicPeriod"/>
            </a:pPr>
            <a:r>
              <a:rPr lang="en-US" sz="1600" b="1" dirty="0">
                <a:latin typeface="Times New Roman" pitchFamily="18" charset="0"/>
                <a:cs typeface="Times New Roman" pitchFamily="18" charset="0"/>
              </a:rPr>
              <a:t>Serial Output</a:t>
            </a:r>
            <a:r>
              <a:rPr lang="en-US" sz="1600" dirty="0">
                <a:latin typeface="Times New Roman" pitchFamily="18" charset="0"/>
                <a:cs typeface="Times New Roman" pitchFamily="18" charset="0"/>
              </a:rPr>
              <a:t>: The sequential output of data from the shift register, bit by bit, in a serial manner. The output represents the data that has been shifted through the register.</a:t>
            </a:r>
          </a:p>
          <a:p>
            <a:pPr marL="342900" indent="-342900" algn="just" fontAlgn="base">
              <a:buFont typeface="+mj-lt"/>
              <a:buAutoNum type="arabicPeriod"/>
            </a:pPr>
            <a:r>
              <a:rPr lang="en-US" sz="1600" b="1" dirty="0">
                <a:latin typeface="Times New Roman" pitchFamily="18" charset="0"/>
                <a:cs typeface="Times New Roman" pitchFamily="18" charset="0"/>
              </a:rPr>
              <a:t>Clock Signal</a:t>
            </a:r>
            <a:r>
              <a:rPr lang="en-US" sz="1600" dirty="0">
                <a:latin typeface="Times New Roman" pitchFamily="18" charset="0"/>
                <a:cs typeface="Times New Roman" pitchFamily="18" charset="0"/>
              </a:rPr>
              <a:t>: A timing signal that controls the shifting operation in the shift register. Each clock pulse triggers the movement of data from one flip-flop to the next, enabling the sequential shifting process.</a:t>
            </a:r>
          </a:p>
          <a:p>
            <a:pPr marL="342900" indent="-342900" algn="just" fontAlgn="base">
              <a:buFont typeface="+mj-lt"/>
              <a:buAutoNum type="arabicPeriod"/>
            </a:pPr>
            <a:r>
              <a:rPr lang="en-US" sz="1600" b="1" dirty="0">
                <a:latin typeface="Times New Roman" pitchFamily="18" charset="0"/>
                <a:cs typeface="Times New Roman" pitchFamily="18" charset="0"/>
              </a:rPr>
              <a:t>Most Significant Bit (MSB)</a:t>
            </a:r>
            <a:r>
              <a:rPr lang="en-US" sz="1600" dirty="0">
                <a:latin typeface="Times New Roman" pitchFamily="18" charset="0"/>
                <a:cs typeface="Times New Roman" pitchFamily="18" charset="0"/>
              </a:rPr>
              <a:t>: The leftmost bit of the parallel input or serial output in a binary representation. It represents the highest value or the most significant position within the data.</a:t>
            </a:r>
          </a:p>
          <a:p>
            <a:pPr marL="342900" indent="-342900" algn="just" fontAlgn="base">
              <a:buFont typeface="+mj-lt"/>
              <a:buAutoNum type="arabicPeriod"/>
            </a:pPr>
            <a:r>
              <a:rPr lang="en-US" sz="1600" b="1" dirty="0">
                <a:latin typeface="Times New Roman" pitchFamily="18" charset="0"/>
                <a:cs typeface="Times New Roman" pitchFamily="18" charset="0"/>
              </a:rPr>
              <a:t>Least Significant Bit (LSB)</a:t>
            </a:r>
            <a:r>
              <a:rPr lang="en-US" sz="1600" dirty="0">
                <a:latin typeface="Times New Roman" pitchFamily="18" charset="0"/>
                <a:cs typeface="Times New Roman" pitchFamily="18" charset="0"/>
              </a:rPr>
              <a:t>: The rightmost bit of the parallel input or serial output in a binary representation. It represents the lowest value or the least significant position within the data.</a:t>
            </a:r>
          </a:p>
          <a:p>
            <a:pPr marL="342900" indent="-342900" algn="just" fontAlgn="base">
              <a:buFont typeface="+mj-lt"/>
              <a:buAutoNum type="arabicPeriod"/>
            </a:pPr>
            <a:r>
              <a:rPr lang="en-US" sz="1600" b="1" dirty="0">
                <a:latin typeface="Times New Roman" pitchFamily="18" charset="0"/>
                <a:cs typeface="Times New Roman" pitchFamily="18" charset="0"/>
              </a:rPr>
              <a:t>Data Transmission</a:t>
            </a:r>
            <a:r>
              <a:rPr lang="en-US" sz="1600" dirty="0">
                <a:latin typeface="Times New Roman" pitchFamily="18" charset="0"/>
                <a:cs typeface="Times New Roman" pitchFamily="18" charset="0"/>
              </a:rPr>
              <a:t>: The process of sending data from one device to another. PISO shift registers are commonly used in data transmission applications, converting parallel data into a serial format for efficient transmission over serial communication channels.</a:t>
            </a:r>
          </a:p>
          <a:p>
            <a:pPr marL="342900" indent="-342900" algn="just" fontAlgn="base">
              <a:buFont typeface="+mj-lt"/>
              <a:buAutoNum type="arabicPeriod"/>
            </a:pPr>
            <a:r>
              <a:rPr lang="en-US" sz="1600" b="1" dirty="0">
                <a:latin typeface="Times New Roman" pitchFamily="18" charset="0"/>
                <a:cs typeface="Times New Roman" pitchFamily="18" charset="0"/>
              </a:rPr>
              <a:t>Serial-to-Parallel Conversion</a:t>
            </a:r>
            <a:r>
              <a:rPr lang="en-US" sz="1600" dirty="0">
                <a:latin typeface="Times New Roman" pitchFamily="18" charset="0"/>
                <a:cs typeface="Times New Roman" pitchFamily="18" charset="0"/>
              </a:rPr>
              <a:t>: The process of converting serial data into parallel format. PISO shift registers can be used to load serial data and then output it in parallel, enabling the interfacing between serial and parallel systems.</a:t>
            </a:r>
          </a:p>
        </p:txBody>
      </p:sp>
    </p:spTree>
    <p:extLst>
      <p:ext uri="{BB962C8B-B14F-4D97-AF65-F5344CB8AC3E}">
        <p14:creationId xmlns:p14="http://schemas.microsoft.com/office/powerpoint/2010/main" val="8062311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693</TotalTime>
  <Words>2646</Words>
  <Application>Microsoft Office PowerPoint</Application>
  <PresentationFormat>Custom</PresentationFormat>
  <Paragraphs>380</Paragraphs>
  <Slides>49</Slides>
  <Notes>0</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SNS</dc:creator>
  <cp:lastModifiedBy>SNS</cp:lastModifiedBy>
  <cp:revision>26</cp:revision>
  <dcterms:created xsi:type="dcterms:W3CDTF">2006-08-16T00:00:00Z</dcterms:created>
  <dcterms:modified xsi:type="dcterms:W3CDTF">2026-04-06T07:31:57Z</dcterms:modified>
</cp:coreProperties>
</file>