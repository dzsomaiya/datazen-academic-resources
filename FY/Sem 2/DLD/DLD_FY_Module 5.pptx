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0" r:id="rId5"/>
    <p:sldId id="311" r:id="rId6"/>
    <p:sldId id="312" r:id="rId7"/>
    <p:sldId id="325" r:id="rId8"/>
    <p:sldId id="326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7" r:id="rId17"/>
    <p:sldId id="328" r:id="rId18"/>
    <p:sldId id="331" r:id="rId19"/>
    <p:sldId id="329" r:id="rId20"/>
    <p:sldId id="330" r:id="rId21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62" y="-90"/>
      </p:cViewPr>
      <p:guideLst>
        <p:guide orient="horz" pos="2160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138" y="2130427"/>
            <a:ext cx="10337563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4277" y="3886200"/>
            <a:ext cx="85132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01" y="4406902"/>
            <a:ext cx="1033756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701" y="2906713"/>
            <a:ext cx="1033756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92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2268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535113"/>
            <a:ext cx="5373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092" y="2174875"/>
            <a:ext cx="5373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045" y="1535113"/>
            <a:ext cx="53757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8045" y="2174875"/>
            <a:ext cx="5375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3" y="273050"/>
            <a:ext cx="40011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941" y="273052"/>
            <a:ext cx="679880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93" y="1435102"/>
            <a:ext cx="40011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805" y="4800600"/>
            <a:ext cx="729710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3805" y="612775"/>
            <a:ext cx="729710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805" y="5367338"/>
            <a:ext cx="729710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7333" y="274640"/>
            <a:ext cx="273641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92" y="274640"/>
            <a:ext cx="800654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092" y="274638"/>
            <a:ext cx="1094565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2"/>
            <a:ext cx="1094565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092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5295" y="6356352"/>
            <a:ext cx="38512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984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eeksforgeeks.org/digital-logic/fpga-full-form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sp>
        <p:nvSpPr>
          <p:cNvPr id="6" name="Google Shape;25;p1"/>
          <p:cNvSpPr txBox="1">
            <a:spLocks/>
          </p:cNvSpPr>
          <p:nvPr/>
        </p:nvSpPr>
        <p:spPr>
          <a:xfrm>
            <a:off x="2346431" y="365125"/>
            <a:ext cx="7886625" cy="132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rgbClr val="C00000"/>
              </a:buClr>
              <a:buSzPts val="5300"/>
            </a:pPr>
            <a:r>
              <a:rPr lang="en-US" sz="32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Digital Logic Design</a:t>
            </a:r>
            <a:endParaRPr lang="en-US" sz="32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" name="Google Shape;26;p1"/>
          <p:cNvSpPr txBox="1">
            <a:spLocks/>
          </p:cNvSpPr>
          <p:nvPr/>
        </p:nvSpPr>
        <p:spPr>
          <a:xfrm>
            <a:off x="3061702" y="1995583"/>
            <a:ext cx="6853688" cy="400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buSzPts val="2200"/>
              <a:buFont typeface="Arial" pitchFamily="34" charset="0"/>
              <a:buNone/>
            </a:pPr>
            <a:r>
              <a:rPr lang="en-US" sz="2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II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SzPts val="2200"/>
              <a:buFont typeface="Arial" pitchFamily="34" charset="0"/>
              <a:buNone/>
            </a:pPr>
            <a:r>
              <a:rPr lang="en-US" sz="2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FY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SzPts val="2200"/>
              <a:buFont typeface="Arial" pitchFamily="34" charset="0"/>
              <a:buNone/>
            </a:pPr>
            <a:endParaRPr lang="en-US" sz="2500" dirty="0" smtClean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SzPts val="2200"/>
              <a:buFont typeface="Arial" pitchFamily="34" charset="0"/>
              <a:buNone/>
            </a:pPr>
            <a:r>
              <a:rPr lang="en-US" sz="2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Course Code</a:t>
            </a:r>
          </a:p>
          <a:p>
            <a:pPr marL="0" indent="0" algn="ctr">
              <a:spcBef>
                <a:spcPts val="0"/>
              </a:spcBef>
              <a:buClr>
                <a:srgbClr val="000000"/>
              </a:buClr>
              <a:buFont typeface="Arial" pitchFamily="34" charset="0"/>
              <a:buNone/>
            </a:pPr>
            <a:r>
              <a:rPr lang="en-US" sz="2500" b="1" dirty="0" smtClean="0"/>
              <a:t>316U06C203</a:t>
            </a:r>
          </a:p>
          <a:p>
            <a:pPr marL="0" indent="0" algn="ctr">
              <a:spcBef>
                <a:spcPts val="0"/>
              </a:spcBef>
              <a:buClr>
                <a:srgbClr val="000000"/>
              </a:buClr>
              <a:buFont typeface="Arial" pitchFamily="34" charset="0"/>
              <a:buNone/>
            </a:pPr>
            <a:r>
              <a:rPr lang="en-US" sz="2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 – May 2026</a:t>
            </a:r>
            <a:endParaRPr lang="en-US" sz="2500" dirty="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201730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21202" y="2720340"/>
            <a:ext cx="8077200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C00000"/>
              </a:buClr>
              <a:buSzPts val="5300"/>
            </a:pP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5</a:t>
            </a:r>
            <a:r>
              <a:rPr lang="en-US" sz="40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. </a:t>
            </a: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Foundations of Digital Design</a:t>
            </a:r>
          </a:p>
        </p:txBody>
      </p:sp>
    </p:spTree>
    <p:extLst>
      <p:ext uri="{BB962C8B-B14F-4D97-AF65-F5344CB8AC3E}">
        <p14:creationId xmlns:p14="http://schemas.microsoft.com/office/powerpoint/2010/main" val="214426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27257" y="1371600"/>
            <a:ext cx="9743595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t" anchorCtr="0">
            <a:noAutofit/>
          </a:bodyPr>
          <a:lstStyle/>
          <a:p>
            <a:pPr algn="just">
              <a:lnSpc>
                <a:spcPct val="90000"/>
              </a:lnSpc>
              <a:buSzPts val="2200"/>
              <a:buFont typeface="Arial" pitchFamily="34" charset="0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5.1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 to Synchronous Machine (Mealy and Moore): Block diagram level. And its representation as state diagram.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SzPts val="2200"/>
              <a:buFont typeface="Arial" pitchFamily="34" charset="0"/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SzPts val="2200"/>
              <a:buFont typeface="Arial" pitchFamily="34" charset="0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5.2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Introduction, realization of logic expressions with PROM, PLA and PAL and their implementation. </a:t>
            </a:r>
            <a:endParaRPr lang="en-US" sz="2500" dirty="0">
              <a:solidFill>
                <a:srgbClr val="262626"/>
              </a:solidFill>
              <a:latin typeface="Times New Roman" pitchFamily="18" charset="0"/>
              <a:ea typeface="Fira Sans"/>
              <a:cs typeface="Times New Roman" pitchFamily="18" charset="0"/>
            </a:endParaRPr>
          </a:p>
        </p:txBody>
      </p:sp>
      <p:sp>
        <p:nvSpPr>
          <p:cNvPr id="7" name="Google Shape;44;p3"/>
          <p:cNvSpPr txBox="1">
            <a:spLocks/>
          </p:cNvSpPr>
          <p:nvPr/>
        </p:nvSpPr>
        <p:spPr>
          <a:xfrm>
            <a:off x="2131685" y="274185"/>
            <a:ext cx="8546813" cy="72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2270"/>
            <a:r>
              <a:rPr lang="en-US" sz="3000" b="1" smtClean="0">
                <a:solidFill>
                  <a:srgbClr val="C00000"/>
                </a:solidFill>
                <a:latin typeface="Marcellus" charset="0"/>
              </a:rPr>
              <a:t>Contents</a:t>
            </a:r>
            <a:endParaRPr lang="en-US" sz="3000" b="1" dirty="0">
              <a:solidFill>
                <a:srgbClr val="C00000"/>
              </a:solidFill>
              <a:latin typeface="Marcellu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6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40757" y="1828800"/>
            <a:ext cx="8077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C00000"/>
              </a:buClr>
              <a:buSzPts val="5300"/>
            </a:pPr>
            <a:r>
              <a:rPr lang="en-US" sz="40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5.1 Introduction </a:t>
            </a: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to Synchronous Machine (Mealy and Moore): Block diagram level. And its representation as state diagram. </a:t>
            </a:r>
          </a:p>
        </p:txBody>
      </p:sp>
    </p:spTree>
    <p:extLst>
      <p:ext uri="{BB962C8B-B14F-4D97-AF65-F5344CB8AC3E}">
        <p14:creationId xmlns:p14="http://schemas.microsoft.com/office/powerpoint/2010/main" val="41514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423" y="457200"/>
            <a:ext cx="8884896" cy="5753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Google Shape;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5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119" y="381000"/>
            <a:ext cx="83058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4395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tiate between Mealy Machine and Moore Machin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719" y="670734"/>
            <a:ext cx="9166022" cy="535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8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fference Between Mealy And Moore Machine (Comparison Tabl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19" y="0"/>
            <a:ext cx="10363200" cy="690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184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919" y="228600"/>
            <a:ext cx="85344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38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119" y="686752"/>
            <a:ext cx="7924800" cy="5523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380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512" y="152400"/>
            <a:ext cx="8153400" cy="6058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380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19" y="475700"/>
            <a:ext cx="7300807" cy="5908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380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719" y="335479"/>
            <a:ext cx="7543800" cy="6198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38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768" y="381000"/>
            <a:ext cx="5832126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768" y="3726873"/>
            <a:ext cx="5832126" cy="2483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380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512" y="381000"/>
            <a:ext cx="7520076" cy="5829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380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4719" y="2598003"/>
            <a:ext cx="83305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C00000"/>
              </a:buClr>
              <a:buSzPts val="5300"/>
            </a:pP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Programmable Logic Array </a:t>
            </a:r>
            <a:r>
              <a:rPr lang="en-US" sz="4000" dirty="0" err="1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vs</a:t>
            </a: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 Programming Array Logic</a:t>
            </a:r>
          </a:p>
        </p:txBody>
      </p:sp>
      <p:pic>
        <p:nvPicPr>
          <p:cNvPr id="3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2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04119" y="304800"/>
            <a:ext cx="105578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Programmable Logic Array (PLA) and Programmable Array Logic (PAL) are both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programmable logic devices (PLDs)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used to implement combinational logic circuits, but they differ mainly in flexibility, speed, and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5119" y="1443841"/>
            <a:ext cx="974359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Programmable Logic Array (PLA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AND array and OR array are programmable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flexible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(can implement any SOP expression)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Allows sharing of product terms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complex design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Slower compared to PAL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More expensive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Programmable AND gates → Programmable OR gates → Output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efficient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when many outputs share common terms</a:t>
            </a:r>
          </a:p>
        </p:txBody>
      </p:sp>
    </p:spTree>
    <p:extLst>
      <p:ext uri="{BB962C8B-B14F-4D97-AF65-F5344CB8AC3E}">
        <p14:creationId xmlns:p14="http://schemas.microsoft.com/office/powerpoint/2010/main" val="2838527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61319" y="1166843"/>
            <a:ext cx="90678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Applications 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PLA</a:t>
            </a:r>
          </a:p>
          <a:p>
            <a:pPr algn="ctr" fontAlgn="base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Custom Reasoning Arrangement: PLAs are used to make exceptionally mechanized reasoning circuits for unequivocal capacities, habitually in embedded structures and purchaser devices.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Prototyping: Draftsmen use PLAs to demonstrate and test reasoning plans before zeroing in on ASIC or 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6"/>
              </a:rPr>
              <a:t>FPGA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plans.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Estimation Execution: They can complete complex computations in hardware, such as encoding/unraveling plans or custom data dealing with computations.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Modernized Circuit Unraveling: PLAs develop the arrangement of puzzling high-level circuits by allowing fashioners to design Boolean capacities directly into gear.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Control Structures: Used in control systems for programmable state machines and to complete unambiguous control reasoning.</a:t>
            </a:r>
          </a:p>
        </p:txBody>
      </p:sp>
    </p:spTree>
    <p:extLst>
      <p:ext uri="{BB962C8B-B14F-4D97-AF65-F5344CB8AC3E}">
        <p14:creationId xmlns:p14="http://schemas.microsoft.com/office/powerpoint/2010/main" val="101529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5119" y="609600"/>
            <a:ext cx="1017686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Programmable Array Logic (PAL)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array is programmable, OR array is fixed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Less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flexible than PLA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Faster operation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Simpler design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Cheaper and widely used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Programmable AND gates → Fixed OR gates → Output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Limited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number of product terms per output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530456" y="4643735"/>
            <a:ext cx="5610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PLA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→ Like a 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fully customizable kitchen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(you can design everything)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PAL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→ Like a 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modular kitchen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(some parts are fixed) </a:t>
            </a:r>
          </a:p>
        </p:txBody>
      </p:sp>
    </p:spTree>
    <p:extLst>
      <p:ext uri="{BB962C8B-B14F-4D97-AF65-F5344CB8AC3E}">
        <p14:creationId xmlns:p14="http://schemas.microsoft.com/office/powerpoint/2010/main" val="101529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" y="2221"/>
            <a:ext cx="565557" cy="685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60" y="0"/>
            <a:ext cx="209159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9;p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714" y="6210516"/>
            <a:ext cx="866534" cy="64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4" y="6210516"/>
            <a:ext cx="1796578" cy="64748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597514"/>
              </p:ext>
            </p:extLst>
          </p:nvPr>
        </p:nvGraphicFramePr>
        <p:xfrm>
          <a:off x="1737519" y="2148840"/>
          <a:ext cx="8901906" cy="3291840"/>
        </p:xfrm>
        <a:graphic>
          <a:graphicData uri="http://schemas.openxmlformats.org/drawingml/2006/table">
            <a:tbl>
              <a:tblPr/>
              <a:tblGrid>
                <a:gridCol w="2967302"/>
                <a:gridCol w="2967302"/>
                <a:gridCol w="296730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PLA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AND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Programmable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Programmable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OR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Programmable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Cheaper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Product Terms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Shared among outputs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Fixed per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Design 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194719" y="533400"/>
            <a:ext cx="83305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90" tIns="38395" rIns="76790" bIns="38395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C00000"/>
              </a:buClr>
              <a:buSzPts val="5300"/>
            </a:pP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Programmable Logic Array </a:t>
            </a:r>
            <a:r>
              <a:rPr lang="en-US" sz="4000" dirty="0" err="1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vs</a:t>
            </a: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 Programming Array Logic</a:t>
            </a:r>
          </a:p>
        </p:txBody>
      </p:sp>
    </p:spTree>
    <p:extLst>
      <p:ext uri="{BB962C8B-B14F-4D97-AF65-F5344CB8AC3E}">
        <p14:creationId xmlns:p14="http://schemas.microsoft.com/office/powerpoint/2010/main" val="101529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304</Words>
  <Application>Microsoft Office PowerPoint</Application>
  <PresentationFormat>Custom</PresentationFormat>
  <Paragraphs>77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SNS</dc:creator>
  <cp:lastModifiedBy>SNS</cp:lastModifiedBy>
  <cp:revision>37</cp:revision>
  <dcterms:created xsi:type="dcterms:W3CDTF">2006-08-16T00:00:00Z</dcterms:created>
  <dcterms:modified xsi:type="dcterms:W3CDTF">2026-04-16T08:32:41Z</dcterms:modified>
</cp:coreProperties>
</file>