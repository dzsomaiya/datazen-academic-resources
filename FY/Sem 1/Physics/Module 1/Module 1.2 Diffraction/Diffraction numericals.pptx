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99" r:id="rId2"/>
    <p:sldId id="300" r:id="rId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gbWDH9BgynZPotlxacZXWgy2wV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-884" y="-1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presProps" Target="presProps.xml" /><Relationship Id="rId3" Type="http://schemas.openxmlformats.org/officeDocument/2006/relationships/slide" Target="slides/slide2.xml" /><Relationship Id="rId42" Type="http://schemas.openxmlformats.org/officeDocument/2006/relationships/tableStyles" Target="tableStyles.xml" /><Relationship Id="rId38" Type="http://customschemas.google.com/relationships/presentationmetadata" Target="metadata" /><Relationship Id="rId2" Type="http://schemas.openxmlformats.org/officeDocument/2006/relationships/slide" Target="slides/slide1.xml" /><Relationship Id="rId41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0" Type="http://schemas.openxmlformats.org/officeDocument/2006/relationships/viewProps" Target="viewProps.xml" /><Relationship Id="rId4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59485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:a16="http://schemas.microsoft.com/office/drawing/2014/main" id="{6F93FA11-668E-5D27-6486-F2A3F91F37D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:a16="http://schemas.microsoft.com/office/drawing/2014/main" id="{A7B1C99D-C4D1-45FD-111D-769C26834B4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:a16="http://schemas.microsoft.com/office/drawing/2014/main" id="{2994A560-18DD-F7FA-6DD2-C8249904228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5680472"/>
            <a:ext cx="838200" cy="1190779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6"/>
          <p:cNvSpPr/>
          <p:nvPr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8" name="Google Shape;28;p6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29" name="Google Shape;29;p6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:a16="http://schemas.microsoft.com/office/drawing/2014/main" id="{3BE4EE66-95F2-11F6-05EA-E5792929E64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:a16="http://schemas.microsoft.com/office/drawing/2014/main" id="{CD790172-54B1-1878-459A-282E99A7FB4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:a16="http://schemas.microsoft.com/office/drawing/2014/main" id="{04871C75-B572-7CC7-1B53-358A4FEE24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:a16="http://schemas.microsoft.com/office/drawing/2014/main" id="{5D40BE01-A796-ADDE-1067-A85126FB981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:a16="http://schemas.microsoft.com/office/drawing/2014/main" id="{C5F09E59-F1FA-4758-8DEB-A7EB3912E75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:a16="http://schemas.microsoft.com/office/drawing/2014/main" id="{6FC11D24-EC12-A80C-ADB8-D5E74CECE3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 txBox="1"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6" name="Google Shape;86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8" name="Google Shape;88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:a16="http://schemas.microsoft.com/office/drawing/2014/main" id="{213AF292-09D4-0240-9F52-B3CE283D196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:a16="http://schemas.microsoft.com/office/drawing/2014/main" id="{20A4B550-7FFA-C52B-9952-E28A393DD04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:a16="http://schemas.microsoft.com/office/drawing/2014/main" id="{2BC36ECE-C3D1-09DD-489B-CE38B06573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8" name="Google Shape;118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:a16="http://schemas.microsoft.com/office/drawing/2014/main" id="{92DB2441-62E7-3832-5EE5-42D43B0B914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:a16="http://schemas.microsoft.com/office/drawing/2014/main" id="{D868530D-AFB3-4C01-7548-464E74FEE2D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:a16="http://schemas.microsoft.com/office/drawing/2014/main" id="{A663D57F-09FB-1768-75C6-36B36B9856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 /><Relationship Id="rId3" Type="http://schemas.openxmlformats.org/officeDocument/2006/relationships/slideLayout" Target="../slideLayouts/slideLayout3.xml" /><Relationship Id="rId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Relationship Id="rId9" Type="http://schemas.openxmlformats.org/officeDocument/2006/relationships/image" Target="../media/image2.jpg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;p5">
            <a:extLst>
              <a:ext uri="{FF2B5EF4-FFF2-40B4-BE49-F238E27FC236}">
                <a16:creationId xmlns:a16="http://schemas.microsoft.com/office/drawing/2014/main" id="{44909106-E9FD-B340-07F3-E7E43E0C87E5}"/>
              </a:ext>
            </a:extLst>
          </p:cNvPr>
          <p:cNvSpPr/>
          <p:nvPr userDrawn="1"/>
        </p:nvSpPr>
        <p:spPr>
          <a:xfrm>
            <a:off x="0" y="6080760"/>
            <a:ext cx="838200" cy="79049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3;p5">
            <a:extLst>
              <a:ext uri="{FF2B5EF4-FFF2-40B4-BE49-F238E27FC236}">
                <a16:creationId xmlns:a16="http://schemas.microsoft.com/office/drawing/2014/main" id="{EAAF044C-1D0D-0CFE-1234-30E94B876495}"/>
              </a:ext>
            </a:extLst>
          </p:cNvPr>
          <p:cNvSpPr/>
          <p:nvPr userDrawn="1"/>
        </p:nvSpPr>
        <p:spPr>
          <a:xfrm>
            <a:off x="10169610" y="6356350"/>
            <a:ext cx="2022390" cy="514900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4;p5">
            <a:extLst>
              <a:ext uri="{FF2B5EF4-FFF2-40B4-BE49-F238E27FC236}">
                <a16:creationId xmlns:a16="http://schemas.microsoft.com/office/drawing/2014/main" id="{5526ECCB-9585-9619-412C-AF7D491C3AAD}"/>
              </a:ext>
            </a:extLst>
          </p:cNvPr>
          <p:cNvSpPr/>
          <p:nvPr userDrawn="1"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5" name="Google Shape;21;p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3B2F81F-E84E-30FC-261A-95AAEEBA8CF0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11124596" y="226123"/>
            <a:ext cx="728472" cy="539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62" y="141576"/>
            <a:ext cx="2316256" cy="708705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8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2510" y="1198178"/>
            <a:ext cx="11130456" cy="4824249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3000" dirty="0"/>
              <a:t>1. In a Plane transmission grating the  angle of diffraction for second order principal maximum for the wavelength 5 x 10</a:t>
            </a:r>
            <a:r>
              <a:rPr lang="en-US" sz="3000" baseline="30000" dirty="0"/>
              <a:t>-5 </a:t>
            </a:r>
            <a:r>
              <a:rPr lang="en-US" sz="3000" dirty="0"/>
              <a:t>cm is 30</a:t>
            </a:r>
            <a:r>
              <a:rPr lang="en-US" sz="3000" baseline="30000" dirty="0"/>
              <a:t>0 </a:t>
            </a:r>
            <a:r>
              <a:rPr lang="en-US" sz="3000" dirty="0"/>
              <a:t>. Calculate the number of lines/cm on the grating surface.</a:t>
            </a:r>
            <a:br>
              <a:rPr lang="en-US" sz="3000" dirty="0"/>
            </a:br>
            <a:br>
              <a:rPr lang="en-US" sz="3000" dirty="0"/>
            </a:br>
            <a:r>
              <a:rPr lang="en-US" sz="3000" dirty="0"/>
              <a:t>2. Calculate the  highest order spectrum that can be obtained by monochromatic light of wavelength 6000 Å by a grating with 6000 lines/cm.</a:t>
            </a:r>
            <a:br>
              <a:rPr lang="en-US" sz="3000" dirty="0"/>
            </a:br>
            <a:br>
              <a:rPr lang="en-US" sz="3000" dirty="0"/>
            </a:br>
            <a:r>
              <a:rPr lang="en-US" sz="3000" dirty="0"/>
              <a:t>3. A diffraction grating used at normal incidence gives a line 5400 Å in a certain order superimposed on another line 4050 Å of the nest higher order. If the angle of diffraction is 30</a:t>
            </a:r>
            <a:r>
              <a:rPr lang="en-US" sz="3000" baseline="30000" dirty="0"/>
              <a:t>0</a:t>
            </a:r>
            <a:r>
              <a:rPr lang="en-US" sz="3000" dirty="0"/>
              <a:t>, how many lines/cm are there on grating?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3423435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867103"/>
            <a:ext cx="9144000" cy="5218387"/>
          </a:xfrm>
        </p:spPr>
        <p:txBody>
          <a:bodyPr/>
          <a:lstStyle/>
          <a:p>
            <a:pPr algn="l"/>
            <a:r>
              <a:rPr lang="en-US" dirty="0"/>
              <a:t>4. In an experiment with grating, third order wavelength coincides with the four order spectral line of wavelength 4992  Å. Calculate the value of the wavelength.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5. A grating has 620 rulings/mm and is 0.5mm wide. What is the smallest wavelength interval that  can resolved in the third order at 1 = 481 nm?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6. Find  the maximum resolving power of a grating 2 cm with 6000 lines/cm illuminated by a  light </a:t>
            </a:r>
            <a:r>
              <a:rPr lang="en-US"/>
              <a:t>of wavelength 5890 Å.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7519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omaiya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3441</TotalTime>
  <Words>121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1. In a Plane transmission grating the  angle of diffraction for second order principal maximum for the wavelength 5 x 10-5 cm is 300 . Calculate the number of lines/cm on the grating surface.  2. Calculate the  highest order spectrum that can be obtained by monochromatic light of wavelength 6000 Å by a grating with 6000 lines/cm.  3. A diffraction grating used at normal incidence gives a line 5400 Å in a certain order superimposed on another line 4050 Å of the nest higher order. If the angle of diffraction is 300, how many lines/cm are there on grating?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Pushpendra Kumar Dhansoia</dc:creator>
  <cp:lastModifiedBy>Ranjit Yadav</cp:lastModifiedBy>
  <cp:revision>89</cp:revision>
  <dcterms:created xsi:type="dcterms:W3CDTF">2022-02-21T05:08:08Z</dcterms:created>
  <dcterms:modified xsi:type="dcterms:W3CDTF">2025-09-27T10:07:17Z</dcterms:modified>
</cp:coreProperties>
</file>