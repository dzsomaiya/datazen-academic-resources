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ink/ink2.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sldIdLst>
    <p:sldId id="285" r:id="rId2"/>
    <p:sldId id="258" r:id="rId3"/>
    <p:sldId id="259" r:id="rId4"/>
    <p:sldId id="286" r:id="rId5"/>
    <p:sldId id="260" r:id="rId6"/>
    <p:sldId id="261" r:id="rId7"/>
    <p:sldId id="301" r:id="rId8"/>
    <p:sldId id="269" r:id="rId9"/>
    <p:sldId id="287" r:id="rId10"/>
    <p:sldId id="289" r:id="rId11"/>
    <p:sldId id="288" r:id="rId12"/>
    <p:sldId id="302" r:id="rId13"/>
    <p:sldId id="262" r:id="rId14"/>
    <p:sldId id="299" r:id="rId15"/>
    <p:sldId id="290" r:id="rId16"/>
    <p:sldId id="264" r:id="rId17"/>
    <p:sldId id="265" r:id="rId18"/>
    <p:sldId id="291" r:id="rId19"/>
    <p:sldId id="293" r:id="rId20"/>
    <p:sldId id="266" r:id="rId21"/>
    <p:sldId id="267" r:id="rId22"/>
    <p:sldId id="296" r:id="rId23"/>
    <p:sldId id="300" r:id="rId24"/>
    <p:sldId id="270" r:id="rId25"/>
    <p:sldId id="271" r:id="rId26"/>
    <p:sldId id="281" r:id="rId27"/>
    <p:sldId id="294" r:id="rId28"/>
    <p:sldId id="272" r:id="rId29"/>
    <p:sldId id="297" r:id="rId30"/>
    <p:sldId id="273" r:id="rId31"/>
    <p:sldId id="274" r:id="rId32"/>
    <p:sldId id="275" r:id="rId33"/>
    <p:sldId id="276" r:id="rId34"/>
    <p:sldId id="277" r:id="rId35"/>
    <p:sldId id="279" r:id="rId36"/>
    <p:sldId id="284" r:id="rId37"/>
    <p:sldId id="280" r:id="rId38"/>
    <p:sldId id="295" r:id="rId39"/>
    <p:sldId id="282" r:id="rId40"/>
    <p:sldId id="283" r:id="rId41"/>
    <p:sldId id="303" r:id="rId42"/>
    <p:sldId id="305" r:id="rId43"/>
    <p:sldId id="306" r:id="rId44"/>
    <p:sldId id="307" r:id="rId45"/>
    <p:sldId id="308" r:id="rId46"/>
    <p:sldId id="304" r:id="rId47"/>
    <p:sldId id="310" r:id="rId48"/>
    <p:sldId id="311" r:id="rId49"/>
    <p:sldId id="312" r:id="rId50"/>
    <p:sldId id="309" r:id="rId51"/>
    <p:sldId id="313" r:id="rId52"/>
    <p:sldId id="314" r:id="rId53"/>
    <p:sldId id="317" r:id="rId54"/>
    <p:sldId id="319" r:id="rId55"/>
    <p:sldId id="318" r:id="rId56"/>
    <p:sldId id="320" r:id="rId57"/>
    <p:sldId id="327" r:id="rId58"/>
    <p:sldId id="321" r:id="rId59"/>
    <p:sldId id="328" r:id="rId60"/>
    <p:sldId id="322" r:id="rId61"/>
    <p:sldId id="323" r:id="rId62"/>
    <p:sldId id="329" r:id="rId63"/>
    <p:sldId id="330" r:id="rId64"/>
    <p:sldId id="331" r:id="rId65"/>
    <p:sldId id="332" r:id="rId66"/>
    <p:sldId id="333" r:id="rId67"/>
    <p:sldId id="334" r:id="rId68"/>
    <p:sldId id="335" r:id="rId69"/>
    <p:sldId id="337" r:id="rId70"/>
    <p:sldId id="336" r:id="rId71"/>
    <p:sldId id="324" r:id="rId72"/>
    <p:sldId id="325" r:id="rId7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6" d="100"/>
          <a:sy n="76" d="100"/>
        </p:scale>
        <p:origin x="-1206" y="-72"/>
      </p:cViewPr>
      <p:guideLst>
        <p:guide orient="horz" pos="2160"/>
        <p:guide pos="2880"/>
      </p:guideLst>
    </p:cSldViewPr>
  </p:slideViewPr>
  <p:notesTextViewPr>
    <p:cViewPr>
      <p:scale>
        <a:sx n="1" d="1"/>
        <a:sy n="1" d="1"/>
      </p:scale>
      <p:origin x="0" y="0"/>
    </p:cViewPr>
  </p:notesTextViewPr>
  <p:sorterViewPr>
    <p:cViewPr>
      <p:scale>
        <a:sx n="100" d="100"/>
        <a:sy n="100" d="100"/>
      </p:scale>
      <p:origin x="0" y="248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25-12-01T07:06:08.396"/>
    </inkml:context>
    <inkml:brush xml:id="br0">
      <inkml:brushProperty name="width" value="0.05292" units="cm"/>
      <inkml:brushProperty name="height" value="0.05292" units="cm"/>
      <inkml:brushProperty name="color" value="#FF0000"/>
    </inkml:brush>
  </inkml:definitions>
  <inkml:trace contextRef="#ctx0" brushRef="#br0">7462 8343,'-36'0,"19"0,-1 0,0 0,1 0,-1 0,0 0,-17 0,18 0,-1 0,-17 0,17 0,0 0,-35 35,18 1,0-1,17 0,-17 1,-18-1,35-17,1 34,17-34,0 17,-18-17,1 53,-1-19,18-16,-18-1,18 36,0-54,0 18,0 1,0 17,0-18,0 18,0-18,0 0,0 18,0 18,0-36,0 36,0-18,0-18,0 18,0 0,0-18,0 0,0 1,0-19,18 19,-18-1,18 0,-18 0,17 18,-17-17,18 16,-18-34,0 17,17 36,1-36,17-17,-17 17,17 0,1 54,34-19,-17 1,18-36,17 0,-35 1,-18-1,36 18,-36-36,0-17,-17 0,17 0,0 0,-17 0,0 0,-1 0,1 0,-1 0,19 0,-19 0,36 0,-17 0,-19 0,1 0,-1-17,36-36,-17 18,-19-1,19-17,-19 36,1-19,0-16,-18-1,35 0,-35 35,0-17,0-1,0 1,0 0,17 17,-17-17,0 17,18-17,-18-18,18-17,-18-36,0 35,0 36,0-18,0 0,-18 0,0 18,-17-53,0 35,17-18,18 36,0 0,-17-1,17 19,-18-36,0 35,-17-35,17 18,-17-18,35 18,-18-36,1 18,-1 0,18 36,-17-54,17 36,-18 17,18 1,0-1,-18 0,1 1,-19-1,19-17,17 17,-18 1,0-1,-17-17,18 17,-1-17,-35 17,18 0,-1 1,-16-1,16 18,19-17,-1 17,0-18,1 18,-19 0,36-35,-35 35,17 0,1 0,-1 0,1 0,-1 0,0 0,1 0,-19 0</inkml:trace>
  <inkml:trace contextRef="#ctx0" brushRef="#br0" timeOffset="3717.1063">7038 9684,'18'0,"0"0,17-18,18-35,123 18,106-36,-52 18,-1 1,-123 52,-36 0,1-53,52 53,-17-36,53 19,-18 17,-35 0,17-18,-52 18,-18 0,17 0,-34 0,34 0,-17 0,-35 0,17 0,36 0,-36 0,0 0,-17 0,52 35,-52-17,0-18,35 53,-36-35,1-1,-18 1,17-18,1 17,0 19,-1 17,-17-36,36 19,-19-1,-17-18,0 19,0-1,0 0,0-17,0 17,0-17,0 17,0-17,0 17,0-17,0 52,0-52,0 17,0-17,0 17,0 0,0-17,0 0,-17 17,-1-17,-17-1,-1 54,-34-18,17-18,18 36,-36-36,18-18,18 19,0 17,-71-18,0 0,0 0,0 18,36-35,-36 0,18 17,0-35,17 18,36-18,-1 17,-34-17,-1 0,-17 18,53-18,-36 0,-17 0,0 0,0 0,17 0,1 0,17 0,35 0,-17 0,0 0,-1 0,1 0,0 0,17-18,18 1,-18-1,1 0,-36-17,18 0,35 17,-36-35,36 36,-35-19,17 19,18-19,-17 19,-1-19,-17 19,0-18,35-1,-53 1,35 0,-17-1,17 1,18 17,-18-17,1 18,-1-1,-17-17,35 17,-18 18,18-18,-17 1,17-19,-18 19,18-1,0 1,-18-36,18 35,0 0,0 1,0-1,0 0,0 1,0-18,0 17,0 0,0 1,18 17,-18-18,18 18,-1-18,19 1,-36-1</inkml:trace>
  <inkml:trace contextRef="#ctx0" brushRef="#br0" timeOffset="8017.3899">6315 10654,'0'18,"18"-1,70 1,18 35,35-18,-35 0,17-17,-35-18,18 18,0-18,-18 0,-35 0,18 0,17 0,53 0,-18-18,-34 0,-1-17,35 0,-34-1,-54 36,-18 0,19 0,-19-17,19 17,-36-18,35-35,0-17,0-71,1 52,-36 36,17-17,-17 52,0-17,0 0,0 17,0-17,0-36,0 1,-17-18,-36-1,0 19,-88-89,70 88,1 19,34 34,-52-35,53 18,0 17,-1 0,1 18,0 0,0 0,-18 0,35 0,-53 0,-17-17,53 17,0 0,-1 0,-52 0,18 0,-19 0,37 0,16 0,1 0,0 0,-1 0,1 0,0 0,0 0,-36 17,0 1,1 0,-1-1,36 19,-88-1,17-17,35 17,-17-18,17 19,36-19,0 1,0-18,-1 18,1-18,17 17,-52 19,-1-19,-17 1,53-18,0 17,17-17,-17 0,-18 0,35 36,0-36,-52 17,-1-17,18 18,18-18,-18 18,18-18,0 17,17-17,0 0,1 0,17 18,-18-18,-17 18,35-1,0 1,0 0,0 17,0-18,0 19,0-1,0 18,0-18,0-17,18-1,-1 19,1 34,-1-34,1-19,0 18,-1 18,19 0,17 0,-18 18,0-18,18 0,0-18,-18-17,18 17,-35-18,-1 19,54-1,-18 0,-18-17,18 0,0 17,-18-35,1 17,52 19,-35-36,17 17,18-17,-17 18,17-18,-17 0,-1 0,36 0,-53 0,35 0,-17 0,-1 0,1-18,-53 18,34 0,-16 0,34-17,-34 17,16 0,1 0,0-18,-17 0,-1 18,35-17,-34 17,-19 0,1 0,0 0,-1 0,-17-18,18 18,0 0,-18-17,17 17,-17-18</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25-12-01T07:07:47.485"/>
    </inkml:context>
    <inkml:brush xml:id="br0">
      <inkml:brushProperty name="width" value="0.1" units="cm"/>
      <inkml:brushProperty name="height" value="0.1" units="cm"/>
      <inkml:brushProperty name="fitToCurve" value="1"/>
    </inkml:brush>
  </inkml:definitions>
  <inkml:traceGroup>
    <inkml:annotationXML>
      <emma:emma xmlns:emma="http://www.w3.org/2003/04/emma" version="1.0">
        <emma:interpretation id="{F55FF119-B16F-4EDF-9940-CEB3809BB4CE}" emma:medium="tactile" emma:mode="ink">
          <msink:context xmlns:msink="http://schemas.microsoft.com/ink/2010/main" type="writingRegion" rotatedBoundingBox="14897,4081 14954,4081 14954,4138 14897,4138"/>
        </emma:interpretation>
      </emma:emma>
    </inkml:annotationXML>
    <inkml:traceGroup>
      <inkml:annotationXML>
        <emma:emma xmlns:emma="http://www.w3.org/2003/04/emma" version="1.0">
          <emma:interpretation id="{87BD80D9-2521-4866-AC90-51C98532E8E1}" emma:medium="tactile" emma:mode="ink">
            <msink:context xmlns:msink="http://schemas.microsoft.com/ink/2010/main" type="paragraph" rotatedBoundingBox="14897,4081 14954,4081 14954,4138 14897,4138" alignmentLevel="1"/>
          </emma:interpretation>
        </emma:emma>
      </inkml:annotationXML>
      <inkml:traceGroup>
        <inkml:annotationXML>
          <emma:emma xmlns:emma="http://www.w3.org/2003/04/emma" version="1.0">
            <emma:interpretation id="{96EE1CC3-587A-4291-9B10-85253A1F1B37}" emma:medium="tactile" emma:mode="ink">
              <msink:context xmlns:msink="http://schemas.microsoft.com/ink/2010/main" type="line" rotatedBoundingBox="14897,4081 14954,4081 14954,4138 14897,4138"/>
            </emma:interpretation>
          </emma:emma>
        </inkml:annotationXML>
        <inkml:traceGroup>
          <inkml:annotationXML>
            <emma:emma xmlns:emma="http://www.w3.org/2003/04/emma" version="1.0">
              <emma:interpretation id="{8C90E464-4F7B-4805-A7B9-454BBD646574}" emma:medium="tactile" emma:mode="ink">
                <msink:context xmlns:msink="http://schemas.microsoft.com/ink/2010/main" type="inkWord" rotatedBoundingBox="14897,4081 14954,4081 14954,4138 14897,4138"/>
              </emma:interpretation>
              <emma:one-of disjunction-type="recognition" id="oneOf0">
                <emma:interpretation id="interp0" emma:lang="en-US" emma:confidence="0.5">
                  <emma:literal>.</emma:literal>
                </emma:interpretation>
                <emma:interpretation id="interp1" emma:lang="en-US" emma:confidence="0">
                  <emma:literal>,</emma:literal>
                </emma:interpretation>
                <emma:interpretation id="interp2" emma:lang="en-US" emma:confidence="0">
                  <emma:literal>:</emma:literal>
                </emma:interpretation>
                <emma:interpretation id="interp3" emma:lang="en-US" emma:confidence="0">
                  <emma:literal>?</emma:literal>
                </emma:interpretation>
                <emma:interpretation id="interp4" emma:lang="en-US" emma:confidence="0">
                  <emma:literal>-</emma:literal>
                </emma:interpretation>
              </emma:one-of>
            </emma:emma>
          </inkml:annotationXML>
          <inkml:trace contextRef="#ctx0" brushRef="#br0">57 57,'-28'0,"28"-29,0 1,-29 28</inkml:trace>
        </inkml:traceGroup>
      </inkml:traceGroup>
    </inkml:traceGroup>
  </inkml:traceGroup>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F228C4C-8F96-43BC-8797-ADFA826449FA}" type="datetimeFigureOut">
              <a:rPr lang="en-IN" smtClean="0"/>
              <a:t>02-03-2026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23096F1-7ECB-407D-8154-9FEEE7DB002F}" type="slidenum">
              <a:rPr lang="en-IN" smtClean="0"/>
              <a:t>‹#›</a:t>
            </a:fld>
            <a:endParaRPr lang="en-IN"/>
          </a:p>
        </p:txBody>
      </p:sp>
    </p:spTree>
    <p:extLst>
      <p:ext uri="{BB962C8B-B14F-4D97-AF65-F5344CB8AC3E}">
        <p14:creationId xmlns:p14="http://schemas.microsoft.com/office/powerpoint/2010/main" val="3843858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p1: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23" name="Google Shape;23;p1:notes"/>
          <p:cNvSpPr>
            <a:spLocks noGrp="1" noRot="1" noChangeAspect="1"/>
          </p:cNvSpPr>
          <p:nvPr>
            <p:ph type="sldImg" idx="2"/>
          </p:nvPr>
        </p:nvSpPr>
        <p:spPr>
          <a:xfrm>
            <a:off x="-635000" y="685602"/>
            <a:ext cx="8128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2: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33" name="Google Shape;33;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42" name="Google Shape;4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b06e3c580a_0_0: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53" name="Google Shape;53;g2b06e3c580a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b06e3c580a_0_0: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53" name="Google Shape;53;g2b06e3c580a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42" name="Google Shape;4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42" name="Google Shape;4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42" name="Google Shape;4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42" name="Google Shape;4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42" name="Google Shape;4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42" name="Google Shape;4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42" name="Google Shape;4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42" name="Google Shape;4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42" name="Google Shape;4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42" name="Google Shape;4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42" name="Google Shape;4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42" name="Google Shape;4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42" name="Google Shape;4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42" name="Google Shape;4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42" name="Google Shape;4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42" name="Google Shape;4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972c5e1e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g972c5e1e3a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97079022d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g97079022d6_1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972c5e1e3a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g972c5e1e3a_0_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972c5e1e3a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g972c5e1e3a_0_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9568553f5a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g9568553f5a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42" name="Google Shape;4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9568553f5a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g9568553f5a_0_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9568553f5a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g9568553f5a_0_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9568553f5a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g9568553f5a_0_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971d29fc00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6" name="Google Shape;286;g971d29fc00_1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972c5e1e3a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8" name="Google Shape;298;g972c5e1e3a_0_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972c5e1e3a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0" name="Google Shape;320;g972c5e1e3a_0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42" name="Google Shape;4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42" name="Google Shape;4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42" name="Google Shape;4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42" name="Google Shape;4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txBox="1">
            <a:spLocks noGrp="1"/>
          </p:cNvSpPr>
          <p:nvPr>
            <p:ph type="body" idx="1"/>
          </p:nvPr>
        </p:nvSpPr>
        <p:spPr>
          <a:xfrm>
            <a:off x="685800" y="4343400"/>
            <a:ext cx="5486500" cy="4114875"/>
          </a:xfrm>
          <a:prstGeom prst="rect">
            <a:avLst/>
          </a:prstGeom>
          <a:noFill/>
          <a:ln>
            <a:noFill/>
          </a:ln>
        </p:spPr>
        <p:txBody>
          <a:bodyPr spcFirstLastPara="1" wrap="square" lIns="85330" tIns="85330" rIns="85330" bIns="85330" anchor="t" anchorCtr="0">
            <a:noAutofit/>
          </a:bodyPr>
          <a:lstStyle/>
          <a:p>
            <a:pPr>
              <a:buSzPts val="1500"/>
            </a:pPr>
            <a:endParaRPr/>
          </a:p>
        </p:txBody>
      </p:sp>
      <p:sp>
        <p:nvSpPr>
          <p:cNvPr id="42" name="Google Shape;4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6ED6F1F-461B-46F4-A027-86537425BF3A}"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2D5F04-770F-43CB-BE63-CF0113597AB8}" type="slidenum">
              <a:rPr lang="en-IN" smtClean="0"/>
              <a:t>‹#›</a:t>
            </a:fld>
            <a:endParaRPr lang="en-IN"/>
          </a:p>
        </p:txBody>
      </p:sp>
    </p:spTree>
    <p:extLst>
      <p:ext uri="{BB962C8B-B14F-4D97-AF65-F5344CB8AC3E}">
        <p14:creationId xmlns:p14="http://schemas.microsoft.com/office/powerpoint/2010/main" val="3107358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6ED6F1F-461B-46F4-A027-86537425BF3A}"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2D5F04-770F-43CB-BE63-CF0113597AB8}" type="slidenum">
              <a:rPr lang="en-IN" smtClean="0"/>
              <a:t>‹#›</a:t>
            </a:fld>
            <a:endParaRPr lang="en-IN"/>
          </a:p>
        </p:txBody>
      </p:sp>
    </p:spTree>
    <p:extLst>
      <p:ext uri="{BB962C8B-B14F-4D97-AF65-F5344CB8AC3E}">
        <p14:creationId xmlns:p14="http://schemas.microsoft.com/office/powerpoint/2010/main" val="2167462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6ED6F1F-461B-46F4-A027-86537425BF3A}"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2D5F04-770F-43CB-BE63-CF0113597AB8}" type="slidenum">
              <a:rPr lang="en-IN" smtClean="0"/>
              <a:t>‹#›</a:t>
            </a:fld>
            <a:endParaRPr lang="en-IN"/>
          </a:p>
        </p:txBody>
      </p:sp>
    </p:spTree>
    <p:extLst>
      <p:ext uri="{BB962C8B-B14F-4D97-AF65-F5344CB8AC3E}">
        <p14:creationId xmlns:p14="http://schemas.microsoft.com/office/powerpoint/2010/main" val="1915629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6ED6F1F-461B-46F4-A027-86537425BF3A}"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92D5F04-770F-43CB-BE63-CF0113597AB8}" type="slidenum">
              <a:rPr lang="en-IN" smtClean="0"/>
              <a:t>‹#›</a:t>
            </a:fld>
            <a:endParaRPr lang="en-IN"/>
          </a:p>
        </p:txBody>
      </p:sp>
    </p:spTree>
    <p:extLst>
      <p:ext uri="{BB962C8B-B14F-4D97-AF65-F5344CB8AC3E}">
        <p14:creationId xmlns:p14="http://schemas.microsoft.com/office/powerpoint/2010/main" val="2933667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6ED6F1F-461B-46F4-A027-86537425BF3A}" type="datetimeFigureOut">
              <a:rPr lang="en-IN" smtClean="0"/>
              <a:t>02-03-2026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92D5F04-770F-43CB-BE63-CF0113597AB8}" type="slidenum">
              <a:rPr lang="en-IN" smtClean="0"/>
              <a:t>‹#›</a:t>
            </a:fld>
            <a:endParaRPr lang="en-IN"/>
          </a:p>
        </p:txBody>
      </p:sp>
    </p:spTree>
    <p:extLst>
      <p:ext uri="{BB962C8B-B14F-4D97-AF65-F5344CB8AC3E}">
        <p14:creationId xmlns:p14="http://schemas.microsoft.com/office/powerpoint/2010/main" val="2135831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6ED6F1F-461B-46F4-A027-86537425BF3A}" type="datetimeFigureOut">
              <a:rPr lang="en-IN" smtClean="0"/>
              <a:t>02-03-2026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92D5F04-770F-43CB-BE63-CF0113597AB8}" type="slidenum">
              <a:rPr lang="en-IN" smtClean="0"/>
              <a:t>‹#›</a:t>
            </a:fld>
            <a:endParaRPr lang="en-IN"/>
          </a:p>
        </p:txBody>
      </p:sp>
    </p:spTree>
    <p:extLst>
      <p:ext uri="{BB962C8B-B14F-4D97-AF65-F5344CB8AC3E}">
        <p14:creationId xmlns:p14="http://schemas.microsoft.com/office/powerpoint/2010/main" val="928784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ED6F1F-461B-46F4-A027-86537425BF3A}" type="datetimeFigureOut">
              <a:rPr lang="en-IN" smtClean="0"/>
              <a:t>02-03-2026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92D5F04-770F-43CB-BE63-CF0113597AB8}" type="slidenum">
              <a:rPr lang="en-IN" smtClean="0"/>
              <a:t>‹#›</a:t>
            </a:fld>
            <a:endParaRPr lang="en-IN"/>
          </a:p>
        </p:txBody>
      </p:sp>
    </p:spTree>
    <p:extLst>
      <p:ext uri="{BB962C8B-B14F-4D97-AF65-F5344CB8AC3E}">
        <p14:creationId xmlns:p14="http://schemas.microsoft.com/office/powerpoint/2010/main" val="1880340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6ED6F1F-461B-46F4-A027-86537425BF3A}"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92D5F04-770F-43CB-BE63-CF0113597AB8}" type="slidenum">
              <a:rPr lang="en-IN" smtClean="0"/>
              <a:t>‹#›</a:t>
            </a:fld>
            <a:endParaRPr lang="en-IN"/>
          </a:p>
        </p:txBody>
      </p:sp>
    </p:spTree>
    <p:extLst>
      <p:ext uri="{BB962C8B-B14F-4D97-AF65-F5344CB8AC3E}">
        <p14:creationId xmlns:p14="http://schemas.microsoft.com/office/powerpoint/2010/main" val="525893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6ED6F1F-461B-46F4-A027-86537425BF3A}"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92D5F04-770F-43CB-BE63-CF0113597AB8}" type="slidenum">
              <a:rPr lang="en-IN" smtClean="0"/>
              <a:t>‹#›</a:t>
            </a:fld>
            <a:endParaRPr lang="en-IN"/>
          </a:p>
        </p:txBody>
      </p:sp>
    </p:spTree>
    <p:extLst>
      <p:ext uri="{BB962C8B-B14F-4D97-AF65-F5344CB8AC3E}">
        <p14:creationId xmlns:p14="http://schemas.microsoft.com/office/powerpoint/2010/main" val="3244668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6ED6F1F-461B-46F4-A027-86537425BF3A}"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2D5F04-770F-43CB-BE63-CF0113597AB8}" type="slidenum">
              <a:rPr lang="en-IN" smtClean="0"/>
              <a:t>‹#›</a:t>
            </a:fld>
            <a:endParaRPr lang="en-IN"/>
          </a:p>
        </p:txBody>
      </p:sp>
    </p:spTree>
    <p:extLst>
      <p:ext uri="{BB962C8B-B14F-4D97-AF65-F5344CB8AC3E}">
        <p14:creationId xmlns:p14="http://schemas.microsoft.com/office/powerpoint/2010/main" val="3106243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6ED6F1F-461B-46F4-A027-86537425BF3A}"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2D5F04-770F-43CB-BE63-CF0113597AB8}" type="slidenum">
              <a:rPr lang="en-IN" smtClean="0"/>
              <a:t>‹#›</a:t>
            </a:fld>
            <a:endParaRPr lang="en-IN"/>
          </a:p>
        </p:txBody>
      </p:sp>
    </p:spTree>
    <p:extLst>
      <p:ext uri="{BB962C8B-B14F-4D97-AF65-F5344CB8AC3E}">
        <p14:creationId xmlns:p14="http://schemas.microsoft.com/office/powerpoint/2010/main" val="3764453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ED6F1F-461B-46F4-A027-86537425BF3A}" type="datetimeFigureOut">
              <a:rPr lang="en-IN" smtClean="0"/>
              <a:t>02-03-2026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2D5F04-770F-43CB-BE63-CF0113597AB8}" type="slidenum">
              <a:rPr lang="en-IN" smtClean="0"/>
              <a:t>‹#›</a:t>
            </a:fld>
            <a:endParaRPr lang="en-IN"/>
          </a:p>
        </p:txBody>
      </p:sp>
    </p:spTree>
    <p:extLst>
      <p:ext uri="{BB962C8B-B14F-4D97-AF65-F5344CB8AC3E}">
        <p14:creationId xmlns:p14="http://schemas.microsoft.com/office/powerpoint/2010/main" val="11087971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image" Target="../media/image1.png"/><Relationship Id="rId7" Type="http://schemas.openxmlformats.org/officeDocument/2006/relationships/customXml" Target="../ink/ink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image" Target="../media/image1.png"/><Relationship Id="rId7" Type="http://schemas.openxmlformats.org/officeDocument/2006/relationships/customXml" Target="../ink/ink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jp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5.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7.jpe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8.jpe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jp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5.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png"/><Relationship Id="rId7"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2.jpe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jp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5.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4.jpe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5.jpe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8" Type="http://schemas.openxmlformats.org/officeDocument/2006/relationships/image" Target="../media/image37.jpeg"/><Relationship Id="rId3" Type="http://schemas.openxmlformats.org/officeDocument/2006/relationships/image" Target="../media/image1.png"/><Relationship Id="rId7" Type="http://schemas.openxmlformats.org/officeDocument/2006/relationships/image" Target="../media/image36.jpe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1.png"/><Relationship Id="rId7"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jpg"/><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6.jpg"/><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6.jpg"/><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6.jpg"/><Relationship Id="rId4" Type="http://schemas.openxmlformats.org/officeDocument/2006/relationships/image" Target="../media/image5.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jpg"/><Relationship Id="rId4" Type="http://schemas.openxmlformats.org/officeDocument/2006/relationships/image" Target="../media/image5.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6.jpg"/><Relationship Id="rId4" Type="http://schemas.openxmlformats.org/officeDocument/2006/relationships/image" Target="../media/image5.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6.jpg"/><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jpg"/><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6.jpg"/><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jpg"/><Relationship Id="rId4" Type="http://schemas.openxmlformats.org/officeDocument/2006/relationships/image" Target="../media/image5.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jpg"/><Relationship Id="rId4" Type="http://schemas.openxmlformats.org/officeDocument/2006/relationships/image" Target="../media/image5.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6.jpg"/><Relationship Id="rId4" Type="http://schemas.openxmlformats.org/officeDocument/2006/relationships/image" Target="../media/image5.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6.jpg"/><Relationship Id="rId4" Type="http://schemas.openxmlformats.org/officeDocument/2006/relationships/image" Target="../media/image5.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jpg"/><Relationship Id="rId4" Type="http://schemas.openxmlformats.org/officeDocument/2006/relationships/image" Target="../media/image5.pn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9.png"/><Relationship Id="rId2" Type="http://schemas.openxmlformats.org/officeDocument/2006/relationships/hyperlink" Target="https://www.geeksforgeeks.org/gate/difference-between-multiplexer-and-demultiplexer/" TargetMode="External"/><Relationship Id="rId1" Type="http://schemas.openxmlformats.org/officeDocument/2006/relationships/slideLayout" Target="../slideLayouts/slideLayout7.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6.jpg"/><Relationship Id="rId4" Type="http://schemas.openxmlformats.org/officeDocument/2006/relationships/image" Target="../media/image5.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6.jpg"/><Relationship Id="rId4" Type="http://schemas.openxmlformats.org/officeDocument/2006/relationships/image" Target="../media/image5.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jpg"/><Relationship Id="rId4" Type="http://schemas.openxmlformats.org/officeDocument/2006/relationships/image" Target="../media/image5.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6.jpg"/><Relationship Id="rId4" Type="http://schemas.openxmlformats.org/officeDocument/2006/relationships/image" Target="../media/image5.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image" Target="../media/image6.jpg"/><Relationship Id="rId4" Type="http://schemas.openxmlformats.org/officeDocument/2006/relationships/image" Target="../media/image5.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jpg"/><Relationship Id="rId4" Type="http://schemas.openxmlformats.org/officeDocument/2006/relationships/image" Target="../media/image5.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jpg"/><Relationship Id="rId4" Type="http://schemas.openxmlformats.org/officeDocument/2006/relationships/image" Target="../media/image5.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jpg"/><Relationship Id="rId4" Type="http://schemas.openxmlformats.org/officeDocument/2006/relationships/image" Target="../media/image5.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6.jpg"/><Relationship Id="rId4" Type="http://schemas.openxmlformats.org/officeDocument/2006/relationships/image" Target="../media/image5.png"/></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jpg"/><Relationship Id="rId4" Type="http://schemas.openxmlformats.org/officeDocument/2006/relationships/image" Target="../media/image5.pn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5.png"/><Relationship Id="rId5" Type="http://schemas.openxmlformats.org/officeDocument/2006/relationships/image" Target="../media/image6.jpg"/><Relationship Id="rId4" Type="http://schemas.openxmlformats.org/officeDocument/2006/relationships/image" Target="../media/image5.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6.jpg"/><Relationship Id="rId4" Type="http://schemas.openxmlformats.org/officeDocument/2006/relationships/image" Target="../media/image5.png"/></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6.jpg"/><Relationship Id="rId4" Type="http://schemas.openxmlformats.org/officeDocument/2006/relationships/image" Target="../media/image5.png"/></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6.jpg"/><Relationship Id="rId4" Type="http://schemas.openxmlformats.org/officeDocument/2006/relationships/image" Target="../media/image5.pn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jpg"/><Relationship Id="rId4" Type="http://schemas.openxmlformats.org/officeDocument/2006/relationships/image" Target="../media/image5.png"/></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ww.geeksforgeeks.org/digital-logic/multiplexers-in-digital-logic/" TargetMode="External"/><Relationship Id="rId5" Type="http://schemas.openxmlformats.org/officeDocument/2006/relationships/image" Target="../media/image6.jpg"/><Relationship Id="rId4" Type="http://schemas.openxmlformats.org/officeDocument/2006/relationships/image" Target="../media/image5.png"/></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
        <p:cNvGrpSpPr/>
        <p:nvPr/>
      </p:nvGrpSpPr>
      <p:grpSpPr>
        <a:xfrm>
          <a:off x="0" y="0"/>
          <a:ext cx="0" cy="0"/>
          <a:chOff x="0" y="0"/>
          <a:chExt cx="0" cy="0"/>
        </a:xfrm>
      </p:grpSpPr>
      <p:sp>
        <p:nvSpPr>
          <p:cNvPr id="25" name="Google Shape;25;p1"/>
          <p:cNvSpPr txBox="1">
            <a:spLocks noGrp="1"/>
          </p:cNvSpPr>
          <p:nvPr>
            <p:ph type="title"/>
          </p:nvPr>
        </p:nvSpPr>
        <p:spPr>
          <a:xfrm>
            <a:off x="628650" y="365125"/>
            <a:ext cx="7886625" cy="1325750"/>
          </a:xfrm>
          <a:prstGeom prst="rect">
            <a:avLst/>
          </a:prstGeom>
          <a:noFill/>
          <a:ln>
            <a:noFill/>
          </a:ln>
        </p:spPr>
        <p:txBody>
          <a:bodyPr spcFirstLastPara="1" wrap="square" lIns="76790" tIns="38395" rIns="76790" bIns="38395" anchor="ctr" anchorCtr="0">
            <a:noAutofit/>
          </a:bodyPr>
          <a:lstStyle/>
          <a:p>
            <a:pPr>
              <a:lnSpc>
                <a:spcPct val="90000"/>
              </a:lnSpc>
              <a:spcBef>
                <a:spcPts val="0"/>
              </a:spcBef>
              <a:buClr>
                <a:srgbClr val="C00000"/>
              </a:buClr>
              <a:buSzPts val="5300"/>
            </a:pPr>
            <a:r>
              <a:rPr lang="en-US" sz="3200" dirty="0">
                <a:solidFill>
                  <a:srgbClr val="C00000"/>
                </a:solidFill>
                <a:latin typeface="Marcellus"/>
                <a:ea typeface="Marcellus"/>
                <a:cs typeface="Marcellus"/>
                <a:sym typeface="Marcellus"/>
              </a:rPr>
              <a:t>Digital Logic Design</a:t>
            </a:r>
            <a:endParaRPr sz="3200" dirty="0">
              <a:solidFill>
                <a:srgbClr val="C00000"/>
              </a:solidFill>
              <a:latin typeface="Marcellus"/>
              <a:ea typeface="Marcellus"/>
              <a:cs typeface="Marcellus"/>
              <a:sym typeface="Marcellus"/>
            </a:endParaRPr>
          </a:p>
        </p:txBody>
      </p:sp>
      <p:sp>
        <p:nvSpPr>
          <p:cNvPr id="26" name="Google Shape;26;p1"/>
          <p:cNvSpPr txBox="1">
            <a:spLocks noGrp="1"/>
          </p:cNvSpPr>
          <p:nvPr>
            <p:ph type="body" idx="1"/>
          </p:nvPr>
        </p:nvSpPr>
        <p:spPr>
          <a:xfrm>
            <a:off x="1343921" y="1995583"/>
            <a:ext cx="6853688" cy="4005250"/>
          </a:xfrm>
          <a:prstGeom prst="rect">
            <a:avLst/>
          </a:prstGeom>
          <a:noFill/>
          <a:ln>
            <a:noFill/>
          </a:ln>
        </p:spPr>
        <p:txBody>
          <a:bodyPr spcFirstLastPara="1" wrap="square" lIns="76790" tIns="38395" rIns="76790" bIns="38395" anchor="t" anchorCtr="0">
            <a:noAutofit/>
          </a:bodyPr>
          <a:lstStyle/>
          <a:p>
            <a:pPr marL="0" indent="0" algn="ctr">
              <a:lnSpc>
                <a:spcPct val="90000"/>
              </a:lnSpc>
              <a:spcBef>
                <a:spcPts val="0"/>
              </a:spcBef>
              <a:buSzPts val="2200"/>
              <a:buNone/>
            </a:pPr>
            <a:r>
              <a:rPr lang="en-US" sz="2500" dirty="0">
                <a:solidFill>
                  <a:srgbClr val="262626"/>
                </a:solidFill>
                <a:latin typeface="Fira Sans"/>
                <a:ea typeface="Fira Sans"/>
                <a:cs typeface="Fira Sans"/>
                <a:sym typeface="Fira Sans"/>
              </a:rPr>
              <a:t>Semester II</a:t>
            </a:r>
          </a:p>
          <a:p>
            <a:pPr marL="0" indent="0" algn="ctr">
              <a:lnSpc>
                <a:spcPct val="90000"/>
              </a:lnSpc>
              <a:spcBef>
                <a:spcPts val="0"/>
              </a:spcBef>
              <a:buSzPts val="2200"/>
              <a:buNone/>
            </a:pPr>
            <a:r>
              <a:rPr lang="en-US" sz="2500" dirty="0">
                <a:solidFill>
                  <a:srgbClr val="262626"/>
                </a:solidFill>
                <a:latin typeface="Fira Sans"/>
                <a:ea typeface="Fira Sans"/>
                <a:cs typeface="Fira Sans"/>
                <a:sym typeface="Fira Sans"/>
              </a:rPr>
              <a:t>FY</a:t>
            </a:r>
            <a:endParaRPr sz="2500" dirty="0">
              <a:solidFill>
                <a:srgbClr val="262626"/>
              </a:solidFill>
              <a:latin typeface="Fira Sans"/>
              <a:ea typeface="Fira Sans"/>
              <a:cs typeface="Fira Sans"/>
              <a:sym typeface="Fira Sans"/>
            </a:endParaRPr>
          </a:p>
          <a:p>
            <a:pPr marL="0" indent="0" algn="ctr">
              <a:lnSpc>
                <a:spcPct val="90000"/>
              </a:lnSpc>
              <a:spcBef>
                <a:spcPts val="0"/>
              </a:spcBef>
              <a:buSzPts val="2200"/>
              <a:buNone/>
            </a:pPr>
            <a:endParaRPr sz="2500" dirty="0">
              <a:solidFill>
                <a:srgbClr val="262626"/>
              </a:solidFill>
              <a:latin typeface="Fira Sans"/>
              <a:ea typeface="Fira Sans"/>
              <a:cs typeface="Fira Sans"/>
              <a:sym typeface="Fira Sans"/>
            </a:endParaRPr>
          </a:p>
          <a:p>
            <a:pPr marL="0" indent="0" algn="ctr">
              <a:lnSpc>
                <a:spcPct val="90000"/>
              </a:lnSpc>
              <a:spcBef>
                <a:spcPts val="0"/>
              </a:spcBef>
              <a:buSzPts val="2200"/>
              <a:buNone/>
            </a:pPr>
            <a:r>
              <a:rPr lang="en-US" sz="2500" dirty="0">
                <a:solidFill>
                  <a:srgbClr val="262626"/>
                </a:solidFill>
                <a:latin typeface="Fira Sans"/>
                <a:ea typeface="Fira Sans"/>
                <a:cs typeface="Fira Sans"/>
                <a:sym typeface="Fira Sans"/>
              </a:rPr>
              <a:t>Course Code</a:t>
            </a:r>
            <a:endParaRPr sz="2500" dirty="0">
              <a:solidFill>
                <a:srgbClr val="262626"/>
              </a:solidFill>
              <a:latin typeface="Fira Sans"/>
              <a:ea typeface="Fira Sans"/>
              <a:cs typeface="Fira Sans"/>
              <a:sym typeface="Fira Sans"/>
            </a:endParaRPr>
          </a:p>
          <a:p>
            <a:pPr marL="0" indent="0" algn="ctr">
              <a:spcBef>
                <a:spcPts val="0"/>
              </a:spcBef>
              <a:buClr>
                <a:srgbClr val="000000"/>
              </a:buClr>
              <a:buNone/>
            </a:pPr>
            <a:r>
              <a:rPr lang="en-US" sz="2500" b="1" dirty="0"/>
              <a:t>316U06C203</a:t>
            </a:r>
          </a:p>
          <a:p>
            <a:pPr marL="0" indent="0" algn="ctr">
              <a:spcBef>
                <a:spcPts val="0"/>
              </a:spcBef>
              <a:buClr>
                <a:srgbClr val="000000"/>
              </a:buClr>
              <a:buNone/>
            </a:pPr>
            <a:r>
              <a:rPr lang="en-US" sz="2500" dirty="0">
                <a:solidFill>
                  <a:srgbClr val="262626"/>
                </a:solidFill>
                <a:latin typeface="Fira Sans"/>
                <a:ea typeface="Fira Sans"/>
                <a:cs typeface="Fira Sans"/>
                <a:sym typeface="Fira Sans"/>
              </a:rPr>
              <a:t>Jan – May 2026</a:t>
            </a:r>
            <a:endParaRPr sz="2500" dirty="0">
              <a:solidFill>
                <a:srgbClr val="262626"/>
              </a:solidFill>
              <a:latin typeface="Fira Sans"/>
              <a:ea typeface="Fira Sans"/>
              <a:cs typeface="Fira Sans"/>
              <a:sym typeface="Fira Sans"/>
            </a:endParaRPr>
          </a:p>
          <a:p>
            <a:pPr marL="0" indent="0" algn="ctr">
              <a:lnSpc>
                <a:spcPct val="90000"/>
              </a:lnSpc>
              <a:spcBef>
                <a:spcPts val="0"/>
              </a:spcBef>
              <a:buSzPts val="2200"/>
              <a:buNone/>
            </a:pPr>
            <a:endParaRPr sz="2500" dirty="0">
              <a:solidFill>
                <a:srgbClr val="262626"/>
              </a:solidFill>
              <a:latin typeface="Fira Sans"/>
              <a:ea typeface="Fira Sans"/>
              <a:cs typeface="Fira Sans"/>
              <a:sym typeface="Fira Sans"/>
            </a:endParaRPr>
          </a:p>
          <a:p>
            <a:pPr marL="0" indent="0" algn="ctr">
              <a:lnSpc>
                <a:spcPct val="90000"/>
              </a:lnSpc>
              <a:spcBef>
                <a:spcPts val="0"/>
              </a:spcBef>
              <a:buSzPts val="2200"/>
              <a:buNone/>
            </a:pPr>
            <a:endParaRPr sz="2500" dirty="0">
              <a:solidFill>
                <a:srgbClr val="262626"/>
              </a:solidFill>
              <a:latin typeface="Marcellus"/>
              <a:ea typeface="Marcellus"/>
              <a:cs typeface="Marcellus"/>
              <a:sym typeface="Marcellus"/>
            </a:endParaRPr>
          </a:p>
        </p:txBody>
      </p:sp>
      <p:pic>
        <p:nvPicPr>
          <p:cNvPr id="27" name="Google Shape;27;p1"/>
          <p:cNvPicPr preferRelativeResize="0"/>
          <p:nvPr/>
        </p:nvPicPr>
        <p:blipFill rotWithShape="1">
          <a:blip r:embed="rId3">
            <a:alphaModFix/>
          </a:blip>
          <a:srcRect/>
          <a:stretch/>
        </p:blipFill>
        <p:spPr>
          <a:xfrm>
            <a:off x="454" y="2219"/>
            <a:ext cx="425219" cy="6855783"/>
          </a:xfrm>
          <a:prstGeom prst="rect">
            <a:avLst/>
          </a:prstGeom>
          <a:noFill/>
          <a:ln>
            <a:noFill/>
          </a:ln>
        </p:spPr>
      </p:pic>
      <p:pic>
        <p:nvPicPr>
          <p:cNvPr id="28" name="Google Shape;28;p1"/>
          <p:cNvPicPr preferRelativeResize="0"/>
          <p:nvPr/>
        </p:nvPicPr>
        <p:blipFill rotWithShape="1">
          <a:blip r:embed="rId4">
            <a:alphaModFix/>
          </a:blip>
          <a:srcRect/>
          <a:stretch/>
        </p:blipFill>
        <p:spPr>
          <a:xfrm>
            <a:off x="425673" y="0"/>
            <a:ext cx="157258" cy="5440680"/>
          </a:xfrm>
          <a:prstGeom prst="rect">
            <a:avLst/>
          </a:prstGeom>
          <a:noFill/>
          <a:ln>
            <a:noFill/>
          </a:ln>
        </p:spPr>
      </p:pic>
      <p:pic>
        <p:nvPicPr>
          <p:cNvPr id="29" name="Google Shape;29;p1" descr="A close up of a sign&#10;&#10;Description automatically generated"/>
          <p:cNvPicPr preferRelativeResize="0"/>
          <p:nvPr/>
        </p:nvPicPr>
        <p:blipFill rotWithShape="1">
          <a:blip r:embed="rId5">
            <a:alphaModFix/>
          </a:blip>
          <a:srcRect/>
          <a:stretch/>
        </p:blipFill>
        <p:spPr>
          <a:xfrm>
            <a:off x="8126430" y="5830821"/>
            <a:ext cx="651512" cy="647488"/>
          </a:xfrm>
          <a:prstGeom prst="rect">
            <a:avLst/>
          </a:prstGeom>
          <a:noFill/>
          <a:ln>
            <a:noFill/>
          </a:ln>
        </p:spPr>
      </p:pic>
      <p:pic>
        <p:nvPicPr>
          <p:cNvPr id="8" name="Picture 7">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6">
            <a:extLst>
              <a:ext uri="{28A0092B-C50C-407E-A947-70E740481C1C}">
                <a14:useLocalDpi xmlns:a14="http://schemas.microsoft.com/office/drawing/2010/main" val="0"/>
              </a:ext>
            </a:extLst>
          </a:blip>
          <a:stretch>
            <a:fillRect/>
          </a:stretch>
        </p:blipFill>
        <p:spPr>
          <a:xfrm>
            <a:off x="582931" y="5830821"/>
            <a:ext cx="1350775" cy="647488"/>
          </a:xfrm>
          <a:prstGeom prst="rect">
            <a:avLst/>
          </a:prstGeom>
        </p:spPr>
      </p:pic>
    </p:spTree>
    <p:extLst>
      <p:ext uri="{BB962C8B-B14F-4D97-AF65-F5344CB8AC3E}">
        <p14:creationId xmlns:p14="http://schemas.microsoft.com/office/powerpoint/2010/main" val="3096340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
        <p:cNvGrpSpPr/>
        <p:nvPr/>
      </p:nvGrpSpPr>
      <p:grpSpPr>
        <a:xfrm>
          <a:off x="0" y="0"/>
          <a:ext cx="0" cy="0"/>
          <a:chOff x="0" y="0"/>
          <a:chExt cx="0" cy="0"/>
        </a:xfrm>
      </p:grpSpPr>
      <p:sp>
        <p:nvSpPr>
          <p:cNvPr id="35" name="Google Shape;35;p2"/>
          <p:cNvSpPr txBox="1">
            <a:spLocks noGrp="1"/>
          </p:cNvSpPr>
          <p:nvPr>
            <p:ph type="title"/>
          </p:nvPr>
        </p:nvSpPr>
        <p:spPr>
          <a:xfrm>
            <a:off x="281843" y="2588907"/>
            <a:ext cx="8546813" cy="1020113"/>
          </a:xfrm>
          <a:prstGeom prst="rect">
            <a:avLst/>
          </a:prstGeom>
          <a:noFill/>
          <a:ln>
            <a:noFill/>
          </a:ln>
        </p:spPr>
        <p:txBody>
          <a:bodyPr spcFirstLastPara="1" wrap="square" lIns="76790" tIns="38395" rIns="76790" bIns="38395" anchor="ctr" anchorCtr="0">
            <a:noAutofit/>
          </a:bodyPr>
          <a:lstStyle/>
          <a:p>
            <a:pPr lvl="0"/>
            <a:r>
              <a:rPr lang="en-IN" sz="3000" b="1" dirty="0" smtClean="0">
                <a:solidFill>
                  <a:srgbClr val="C00000"/>
                </a:solidFill>
                <a:latin typeface="Marcellus"/>
                <a:ea typeface="Marcellus"/>
                <a:cs typeface="Marcellus"/>
                <a:sym typeface="Marcellus"/>
              </a:rPr>
              <a:t>Combinational Circuits</a:t>
            </a:r>
            <a:endParaRPr sz="3000" b="1" dirty="0">
              <a:solidFill>
                <a:srgbClr val="C00000"/>
              </a:solidFill>
              <a:latin typeface="Marcellus"/>
              <a:ea typeface="Marcellus"/>
              <a:cs typeface="Marcellus"/>
              <a:sym typeface="Marcellus"/>
            </a:endParaRPr>
          </a:p>
        </p:txBody>
      </p:sp>
      <p:pic>
        <p:nvPicPr>
          <p:cNvPr id="36" name="Google Shape;36;p2"/>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37" name="Google Shape;37;p2"/>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38" name="Google Shape;38;p2"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pic>
        <p:nvPicPr>
          <p:cNvPr id="8" name="Google Shape;37;p2"/>
          <p:cNvPicPr preferRelativeResize="0"/>
          <p:nvPr/>
        </p:nvPicPr>
        <p:blipFill rotWithShape="1">
          <a:blip r:embed="rId4">
            <a:alphaModFix/>
          </a:blip>
          <a:srcRect/>
          <a:stretch/>
        </p:blipFill>
        <p:spPr>
          <a:xfrm rot="5400000">
            <a:off x="3378188" y="2920766"/>
            <a:ext cx="176409" cy="6999786"/>
          </a:xfrm>
          <a:prstGeom prst="rect">
            <a:avLst/>
          </a:prstGeom>
          <a:noFill/>
          <a:ln>
            <a:noFill/>
          </a:ln>
        </p:spPr>
      </p:pic>
      <p:pic>
        <p:nvPicPr>
          <p:cNvPr id="9" name="Google Shape;38;p2" descr="A close up of a sign&#10;&#10;Description automatically generated"/>
          <p:cNvPicPr preferRelativeResize="0">
            <a:picLocks/>
          </p:cNvPicPr>
          <p:nvPr/>
        </p:nvPicPr>
        <p:blipFill rotWithShape="1">
          <a:blip r:embed="rId5">
            <a:alphaModFix/>
          </a:blip>
          <a:srcRect/>
          <a:stretch/>
        </p:blipFill>
        <p:spPr>
          <a:xfrm>
            <a:off x="8121315" y="5610533"/>
            <a:ext cx="726375" cy="721750"/>
          </a:xfrm>
          <a:prstGeom prst="rect">
            <a:avLst/>
          </a:prstGeom>
          <a:noFill/>
          <a:ln>
            <a:noFill/>
          </a:ln>
        </p:spPr>
      </p:pic>
      <p:pic>
        <p:nvPicPr>
          <p:cNvPr id="11" name="Picture 10"/>
          <p:cNvPicPr/>
          <p:nvPr/>
        </p:nvPicPr>
        <p:blipFill>
          <a:blip r:embed="rId6">
            <a:extLst>
              <a:ext uri="{28A0092B-C50C-407E-A947-70E740481C1C}">
                <a14:useLocalDpi xmlns:a14="http://schemas.microsoft.com/office/drawing/2010/main" val="0"/>
              </a:ext>
            </a:extLst>
          </a:blip>
          <a:stretch>
            <a:fillRect/>
          </a:stretch>
        </p:blipFill>
        <p:spPr>
          <a:xfrm>
            <a:off x="108381" y="5605573"/>
            <a:ext cx="1433886" cy="594811"/>
          </a:xfrm>
          <a:prstGeom prst="rect">
            <a:avLst/>
          </a:prstGeom>
        </p:spPr>
      </p:pic>
    </p:spTree>
    <p:extLst>
      <p:ext uri="{BB962C8B-B14F-4D97-AF65-F5344CB8AC3E}">
        <p14:creationId xmlns:p14="http://schemas.microsoft.com/office/powerpoint/2010/main" val="2836276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281843" y="191854"/>
            <a:ext cx="8546813" cy="721750"/>
          </a:xfrm>
          <a:prstGeom prst="rect">
            <a:avLst/>
          </a:prstGeom>
          <a:noFill/>
          <a:ln>
            <a:noFill/>
          </a:ln>
        </p:spPr>
        <p:txBody>
          <a:bodyPr spcFirstLastPara="1" wrap="square" lIns="76790" tIns="38395" rIns="76790" bIns="38395" anchor="ctr" anchorCtr="0">
            <a:noAutofit/>
          </a:bodyPr>
          <a:lstStyle/>
          <a:p>
            <a:pPr marL="382270"/>
            <a:r>
              <a:rPr lang="en-US" sz="3000" b="1" dirty="0">
                <a:solidFill>
                  <a:srgbClr val="C00000"/>
                </a:solidFill>
                <a:latin typeface="Marcellus" charset="0"/>
              </a:rPr>
              <a:t>Contents</a:t>
            </a:r>
            <a:endParaRPr sz="3000" b="1" dirty="0">
              <a:solidFill>
                <a:srgbClr val="C00000"/>
              </a:solidFill>
              <a:latin typeface="Marcellus" charset="0"/>
            </a:endParaRPr>
          </a:p>
        </p:txBody>
      </p:sp>
      <p:pic>
        <p:nvPicPr>
          <p:cNvPr id="45" name="Google Shape;45;p3"/>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46" name="Google Shape;46;p3"/>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47" name="Google Shape;47;p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sp>
        <p:nvSpPr>
          <p:cNvPr id="49" name="Google Shape;49;p3"/>
          <p:cNvSpPr txBox="1"/>
          <p:nvPr/>
        </p:nvSpPr>
        <p:spPr>
          <a:xfrm>
            <a:off x="668094" y="814938"/>
            <a:ext cx="2997188" cy="2839500"/>
          </a:xfrm>
          <a:prstGeom prst="rect">
            <a:avLst/>
          </a:prstGeom>
          <a:noFill/>
          <a:ln>
            <a:noFill/>
          </a:ln>
        </p:spPr>
        <p:txBody>
          <a:bodyPr spcFirstLastPara="1" wrap="square" lIns="76790" tIns="76790" rIns="76790" bIns="76790" anchor="t" anchorCtr="0">
            <a:noAutofit/>
          </a:bodyPr>
          <a:lstStyle/>
          <a:p>
            <a:pPr marL="320040" indent="320040" algn="just">
              <a:buClr>
                <a:srgbClr val="000000"/>
              </a:buClr>
              <a:buSzPts val="2900"/>
            </a:pPr>
            <a:endParaRPr sz="2000" b="1" dirty="0">
              <a:solidFill>
                <a:schemeClr val="dk1"/>
              </a:solidFill>
              <a:latin typeface="Fira Sans"/>
              <a:ea typeface="Fira Sans"/>
              <a:cs typeface="Fira Sans"/>
              <a:sym typeface="Fira Sans"/>
            </a:endParaRPr>
          </a:p>
          <a:p>
            <a:pPr marL="320040" indent="320040" algn="just">
              <a:buClr>
                <a:srgbClr val="000000"/>
              </a:buClr>
              <a:buSzPts val="2900"/>
            </a:pPr>
            <a:endParaRPr sz="2000" b="1" dirty="0">
              <a:solidFill>
                <a:schemeClr val="dk1"/>
              </a:solidFill>
              <a:latin typeface="Fira Sans"/>
              <a:ea typeface="Fira Sans"/>
              <a:cs typeface="Fira Sans"/>
              <a:sym typeface="Fira Sans"/>
            </a:endParaRPr>
          </a:p>
        </p:txBody>
      </p:sp>
      <p:sp>
        <p:nvSpPr>
          <p:cNvPr id="50" name="Google Shape;50;p3"/>
          <p:cNvSpPr txBox="1"/>
          <p:nvPr/>
        </p:nvSpPr>
        <p:spPr>
          <a:xfrm>
            <a:off x="955110" y="913604"/>
            <a:ext cx="7572484" cy="4602500"/>
          </a:xfrm>
          <a:prstGeom prst="rect">
            <a:avLst/>
          </a:prstGeom>
          <a:noFill/>
          <a:ln>
            <a:noFill/>
          </a:ln>
        </p:spPr>
        <p:txBody>
          <a:bodyPr spcFirstLastPara="1" wrap="square" lIns="76790" tIns="76790" rIns="76790" bIns="76790" anchor="t" anchorCtr="0">
            <a:noAutofit/>
          </a:bodyPr>
          <a:lstStyle/>
          <a:p>
            <a:pPr marL="640080" indent="-320040" algn="just">
              <a:buClr>
                <a:srgbClr val="000000"/>
              </a:buClr>
              <a:buSzPts val="2900"/>
              <a:buFont typeface="Arial" pitchFamily="34" charset="0"/>
              <a:buChar char="•"/>
            </a:pPr>
            <a:r>
              <a:rPr lang="en-US" sz="2400" b="1" dirty="0" smtClean="0">
                <a:latin typeface="Fira Sans" charset="0"/>
              </a:rPr>
              <a:t>Half and Full Adder, </a:t>
            </a:r>
          </a:p>
          <a:p>
            <a:pPr marL="640080" indent="-320040" algn="just">
              <a:buClr>
                <a:srgbClr val="000000"/>
              </a:buClr>
              <a:buSzPts val="2900"/>
              <a:buFont typeface="Arial" pitchFamily="34" charset="0"/>
              <a:buChar char="•"/>
            </a:pPr>
            <a:r>
              <a:rPr lang="en-US" sz="2400" b="1" dirty="0" smtClean="0">
                <a:latin typeface="Fira Sans" charset="0"/>
              </a:rPr>
              <a:t>Half and Full Subtractor, </a:t>
            </a:r>
          </a:p>
          <a:p>
            <a:pPr marL="640080" indent="-320040" algn="just">
              <a:buClr>
                <a:srgbClr val="000000"/>
              </a:buClr>
              <a:buSzPts val="2900"/>
              <a:buFont typeface="Arial" pitchFamily="34" charset="0"/>
              <a:buChar char="•"/>
            </a:pPr>
            <a:r>
              <a:rPr lang="en-US" sz="2400" b="1" dirty="0" smtClean="0">
                <a:latin typeface="Fira Sans" charset="0"/>
              </a:rPr>
              <a:t>Four Bit Binary Adder, </a:t>
            </a:r>
          </a:p>
          <a:p>
            <a:pPr marL="640080" indent="-320040" algn="just">
              <a:buClr>
                <a:srgbClr val="000000"/>
              </a:buClr>
              <a:buSzPts val="2900"/>
              <a:buFont typeface="Arial" pitchFamily="34" charset="0"/>
              <a:buChar char="•"/>
            </a:pPr>
            <a:r>
              <a:rPr lang="en-US" sz="2400" b="1" dirty="0" smtClean="0">
                <a:latin typeface="Fira Sans" charset="0"/>
              </a:rPr>
              <a:t>Four Bit Binary Subtractor (1’s and 2’s complement method) </a:t>
            </a:r>
          </a:p>
          <a:p>
            <a:pPr marL="640080" indent="-320040" algn="just">
              <a:buClr>
                <a:srgbClr val="000000"/>
              </a:buClr>
              <a:buSzPts val="2900"/>
              <a:buFont typeface="Arial" pitchFamily="34" charset="0"/>
              <a:buChar char="•"/>
            </a:pPr>
            <a:r>
              <a:rPr lang="en-US" sz="2400" b="1" dirty="0" smtClean="0">
                <a:latin typeface="Fira Sans" charset="0"/>
              </a:rPr>
              <a:t>Controller Adder / Subtractor</a:t>
            </a:r>
          </a:p>
          <a:p>
            <a:pPr marL="640080" indent="-320040" algn="just">
              <a:buClr>
                <a:srgbClr val="000000"/>
              </a:buClr>
              <a:buSzPts val="2900"/>
              <a:buFont typeface="Arial" pitchFamily="34" charset="0"/>
              <a:buChar char="•"/>
            </a:pPr>
            <a:r>
              <a:rPr lang="en-US" sz="2400" b="1" dirty="0" smtClean="0">
                <a:latin typeface="Fira Sans" charset="0"/>
              </a:rPr>
              <a:t>Multiplexers and multiplexer trees, </a:t>
            </a:r>
          </a:p>
          <a:p>
            <a:pPr marL="640080" indent="-320040" algn="just">
              <a:buClr>
                <a:srgbClr val="000000"/>
              </a:buClr>
              <a:buSzPts val="2900"/>
              <a:buFont typeface="Arial" pitchFamily="34" charset="0"/>
              <a:buChar char="•"/>
            </a:pPr>
            <a:r>
              <a:rPr lang="en-US" sz="2400" b="1" dirty="0" smtClean="0">
                <a:latin typeface="Fira Sans" charset="0"/>
              </a:rPr>
              <a:t>Decoders</a:t>
            </a:r>
          </a:p>
          <a:p>
            <a:pPr marL="640080" indent="-320040" algn="just">
              <a:buClr>
                <a:srgbClr val="000000"/>
              </a:buClr>
              <a:buSzPts val="2900"/>
              <a:buFont typeface="Arial" pitchFamily="34" charset="0"/>
              <a:buChar char="•"/>
            </a:pPr>
            <a:r>
              <a:rPr lang="en-US" sz="2400" b="1" dirty="0" smtClean="0">
                <a:latin typeface="Fira Sans" charset="0"/>
              </a:rPr>
              <a:t>Encoders</a:t>
            </a:r>
          </a:p>
          <a:p>
            <a:pPr marL="640080" indent="-320040" algn="just">
              <a:buClr>
                <a:srgbClr val="000000"/>
              </a:buClr>
              <a:buSzPts val="2900"/>
              <a:buFont typeface="Arial" pitchFamily="34" charset="0"/>
              <a:buChar char="•"/>
            </a:pPr>
            <a:r>
              <a:rPr lang="en-US" sz="2400" b="1" dirty="0" smtClean="0">
                <a:latin typeface="Fira Sans" charset="0"/>
              </a:rPr>
              <a:t>One bit, Two-bit ,4-bit Magnitude Comparator </a:t>
            </a:r>
            <a:endParaRPr lang="en-US" sz="2400" b="1" dirty="0">
              <a:solidFill>
                <a:schemeClr val="dk1"/>
              </a:solidFill>
              <a:latin typeface="Fira Sans" charset="0"/>
              <a:ea typeface="Fira Sans"/>
              <a:cs typeface="Fira Sans"/>
              <a:sym typeface="Fira Sans"/>
            </a:endParaRPr>
          </a:p>
          <a:p>
            <a:pPr marL="320040" algn="just">
              <a:buClr>
                <a:srgbClr val="000000"/>
              </a:buClr>
              <a:buSzPts val="2900"/>
            </a:pPr>
            <a:endParaRPr lang="en-US" sz="2000" b="1" dirty="0">
              <a:solidFill>
                <a:schemeClr val="dk1"/>
              </a:solidFill>
              <a:latin typeface="Fira Sans"/>
              <a:ea typeface="Fira Sans"/>
              <a:cs typeface="Fira Sans"/>
              <a:sym typeface="Fira Sans"/>
            </a:endParaRPr>
          </a:p>
          <a:p>
            <a:pPr marL="320040" algn="just">
              <a:buClr>
                <a:srgbClr val="000000"/>
              </a:buClr>
              <a:buSzPts val="2900"/>
            </a:pPr>
            <a:endParaRPr sz="2000" b="1" dirty="0">
              <a:solidFill>
                <a:schemeClr val="dk1"/>
              </a:solidFill>
              <a:latin typeface="Fira Sans"/>
              <a:ea typeface="Fira Sans"/>
              <a:cs typeface="Fira Sans"/>
              <a:sym typeface="Fira Sans"/>
            </a:endParaRPr>
          </a:p>
        </p:txBody>
      </p:sp>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1" y="5605573"/>
            <a:ext cx="1433886" cy="594811"/>
          </a:xfrm>
          <a:prstGeom prst="rect">
            <a:avLst/>
          </a:prstGeom>
        </p:spPr>
      </p:pic>
    </p:spTree>
    <p:extLst>
      <p:ext uri="{BB962C8B-B14F-4D97-AF65-F5344CB8AC3E}">
        <p14:creationId xmlns:p14="http://schemas.microsoft.com/office/powerpoint/2010/main" val="30526094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g2b06e3c580a_0_0"/>
          <p:cNvSpPr txBox="1">
            <a:spLocks noGrp="1"/>
          </p:cNvSpPr>
          <p:nvPr>
            <p:ph type="title"/>
          </p:nvPr>
        </p:nvSpPr>
        <p:spPr>
          <a:xfrm>
            <a:off x="300790" y="191861"/>
            <a:ext cx="8546813" cy="721750"/>
          </a:xfrm>
          <a:prstGeom prst="rect">
            <a:avLst/>
          </a:prstGeom>
          <a:noFill/>
          <a:ln>
            <a:noFill/>
          </a:ln>
        </p:spPr>
        <p:txBody>
          <a:bodyPr spcFirstLastPara="1" wrap="square" lIns="76790" tIns="38395" rIns="76790" bIns="38395" anchor="ctr" anchorCtr="0">
            <a:noAutofit/>
          </a:bodyPr>
          <a:lstStyle/>
          <a:p>
            <a:pPr marL="382270"/>
            <a:r>
              <a:rPr lang="en-US" sz="3100" b="1" dirty="0" smtClean="0">
                <a:solidFill>
                  <a:srgbClr val="C00000"/>
                </a:solidFill>
                <a:latin typeface="Marcellus"/>
                <a:ea typeface="Marcellus"/>
                <a:cs typeface="Marcellus"/>
                <a:sym typeface="Marcellus"/>
              </a:rPr>
              <a:t>Half Adder</a:t>
            </a:r>
            <a:endParaRPr lang="en-US" sz="3100" b="1" dirty="0">
              <a:solidFill>
                <a:srgbClr val="C00000"/>
              </a:solidFill>
              <a:latin typeface="Marcellus"/>
              <a:ea typeface="Marcellus"/>
              <a:cs typeface="Marcellus"/>
              <a:sym typeface="Marcellus"/>
            </a:endParaRPr>
          </a:p>
        </p:txBody>
      </p:sp>
      <p:pic>
        <p:nvPicPr>
          <p:cNvPr id="56" name="Google Shape;56;g2b06e3c580a_0_0"/>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57" name="Google Shape;57;g2b06e3c580a_0_0"/>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58" name="Google Shape;58;g2b06e3c580a_0_0"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pic>
        <p:nvPicPr>
          <p:cNvPr id="15" name="Picture 14"/>
          <p:cNvPicPr/>
          <p:nvPr/>
        </p:nvPicPr>
        <p:blipFill>
          <a:blip r:embed="rId6">
            <a:extLst>
              <a:ext uri="{28A0092B-C50C-407E-A947-70E740481C1C}">
                <a14:useLocalDpi xmlns:a14="http://schemas.microsoft.com/office/drawing/2010/main" val="0"/>
              </a:ext>
            </a:extLst>
          </a:blip>
          <a:stretch>
            <a:fillRect/>
          </a:stretch>
        </p:blipFill>
        <p:spPr>
          <a:xfrm>
            <a:off x="108381" y="5605573"/>
            <a:ext cx="1433886" cy="594811"/>
          </a:xfrm>
          <a:prstGeom prst="rect">
            <a:avLst/>
          </a:prstGeom>
        </p:spPr>
      </p:pic>
      <p:pic>
        <p:nvPicPr>
          <p:cNvPr id="19" name="Picture 7"/>
          <p:cNvPicPr>
            <a:picLocks noChangeAspect="1" noChangeArrowheads="1"/>
          </p:cNvPicPr>
          <p:nvPr/>
        </p:nvPicPr>
        <p:blipFill rotWithShape="1">
          <a:blip r:embed="rId7">
            <a:extLst>
              <a:ext uri="{28A0092B-C50C-407E-A947-70E740481C1C}">
                <a14:useLocalDpi xmlns:a14="http://schemas.microsoft.com/office/drawing/2010/main" val="0"/>
              </a:ext>
            </a:extLst>
          </a:blip>
          <a:srcRect t="14640" b="18075"/>
          <a:stretch/>
        </p:blipFill>
        <p:spPr bwMode="auto">
          <a:xfrm>
            <a:off x="2363004" y="3551401"/>
            <a:ext cx="4279656" cy="2160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4283968" y="1236822"/>
            <a:ext cx="4032448" cy="2154436"/>
          </a:xfrm>
          <a:prstGeom prst="rect">
            <a:avLst/>
          </a:prstGeom>
        </p:spPr>
        <p:txBody>
          <a:bodyPr wrap="square">
            <a:spAutoFit/>
          </a:bodyPr>
          <a:lstStyle/>
          <a:p>
            <a:r>
              <a:rPr lang="en-US" sz="2200" b="1" dirty="0" smtClean="0">
                <a:latin typeface="Fira Sans" charset="0"/>
              </a:rPr>
              <a:t>Half adder</a:t>
            </a:r>
          </a:p>
          <a:p>
            <a:r>
              <a:rPr lang="en-US" sz="2200" dirty="0" smtClean="0">
                <a:latin typeface="Fira Sans" charset="0"/>
              </a:rPr>
              <a:t> </a:t>
            </a:r>
          </a:p>
          <a:p>
            <a:r>
              <a:rPr lang="el-GR" sz="2200" dirty="0" smtClean="0">
                <a:latin typeface="Fira Sans" charset="0"/>
              </a:rPr>
              <a:t>Sum = Σ m (</a:t>
            </a:r>
            <a:r>
              <a:rPr lang="en-US" sz="2200" dirty="0" smtClean="0">
                <a:latin typeface="Fira Sans" charset="0"/>
              </a:rPr>
              <a:t>1,2</a:t>
            </a:r>
            <a:r>
              <a:rPr lang="el-GR" sz="2200" dirty="0" smtClean="0">
                <a:latin typeface="Fira Sans" charset="0"/>
              </a:rPr>
              <a:t>)</a:t>
            </a:r>
            <a:r>
              <a:rPr lang="en-US" sz="2200" dirty="0" smtClean="0">
                <a:latin typeface="Fira Sans" charset="0"/>
              </a:rPr>
              <a:t> = A </a:t>
            </a:r>
            <a:r>
              <a:rPr lang="en-US" sz="2200" dirty="0" err="1" smtClean="0">
                <a:latin typeface="Fira Sans" charset="0"/>
              </a:rPr>
              <a:t>xor</a:t>
            </a:r>
            <a:r>
              <a:rPr lang="en-US" sz="2200" dirty="0" smtClean="0">
                <a:latin typeface="Fira Sans" charset="0"/>
              </a:rPr>
              <a:t> B </a:t>
            </a:r>
            <a:endParaRPr lang="el-GR" sz="2200" dirty="0" smtClean="0">
              <a:latin typeface="Fira Sans" charset="0"/>
            </a:endParaRPr>
          </a:p>
          <a:p>
            <a:endParaRPr lang="en-US" sz="2200" dirty="0" smtClean="0">
              <a:latin typeface="Fira Sans" charset="0"/>
            </a:endParaRPr>
          </a:p>
          <a:p>
            <a:r>
              <a:rPr lang="el-GR" sz="2200" dirty="0" smtClean="0">
                <a:latin typeface="Fira Sans" charset="0"/>
              </a:rPr>
              <a:t>Carry  = Σ m (</a:t>
            </a:r>
            <a:r>
              <a:rPr lang="en-US" sz="2200" dirty="0" smtClean="0">
                <a:latin typeface="Fira Sans" charset="0"/>
              </a:rPr>
              <a:t>3</a:t>
            </a:r>
            <a:r>
              <a:rPr lang="el-GR" sz="2200" dirty="0" smtClean="0">
                <a:latin typeface="Fira Sans" charset="0"/>
              </a:rPr>
              <a:t>)</a:t>
            </a:r>
            <a:r>
              <a:rPr lang="en-US" sz="2200" dirty="0" smtClean="0">
                <a:latin typeface="Fira Sans" charset="0"/>
              </a:rPr>
              <a:t> =  A and B</a:t>
            </a:r>
            <a:endParaRPr lang="el-GR" sz="2200" dirty="0" smtClean="0">
              <a:latin typeface="Fira Sans" charset="0"/>
            </a:endParaRPr>
          </a:p>
          <a:p>
            <a:endParaRPr lang="el-GR" sz="2400" dirty="0" smtClean="0">
              <a:latin typeface="Fira Sans" charset="0"/>
            </a:endParaRPr>
          </a:p>
        </p:txBody>
      </p:sp>
      <p:graphicFrame>
        <p:nvGraphicFramePr>
          <p:cNvPr id="2" name="Table 1"/>
          <p:cNvGraphicFramePr>
            <a:graphicFrameLocks noGrp="1"/>
          </p:cNvGraphicFramePr>
          <p:nvPr>
            <p:extLst>
              <p:ext uri="{D42A27DB-BD31-4B8C-83A1-F6EECF244321}">
                <p14:modId xmlns:p14="http://schemas.microsoft.com/office/powerpoint/2010/main" val="3609545019"/>
              </p:ext>
            </p:extLst>
          </p:nvPr>
        </p:nvGraphicFramePr>
        <p:xfrm>
          <a:off x="971600" y="1406911"/>
          <a:ext cx="2615952" cy="2133600"/>
        </p:xfrm>
        <a:graphic>
          <a:graphicData uri="http://schemas.openxmlformats.org/drawingml/2006/table">
            <a:tbl>
              <a:tblPr firstRow="1" bandRow="1">
                <a:tableStyleId>{5C22544A-7EE6-4342-B048-85BDC9FD1C3A}</a:tableStyleId>
              </a:tblPr>
              <a:tblGrid>
                <a:gridCol w="653988"/>
                <a:gridCol w="521804"/>
                <a:gridCol w="864096"/>
                <a:gridCol w="576064"/>
              </a:tblGrid>
              <a:tr h="370840">
                <a:tc>
                  <a:txBody>
                    <a:bodyPr/>
                    <a:lstStyle/>
                    <a:p>
                      <a:pPr algn="ctr"/>
                      <a:r>
                        <a:rPr lang="en-US" sz="2200" dirty="0" smtClean="0">
                          <a:latin typeface="Fira Sans" charset="0"/>
                        </a:rPr>
                        <a:t>A</a:t>
                      </a:r>
                      <a:endParaRPr lang="en-IN" sz="2200" dirty="0">
                        <a:latin typeface="Fira Sans" charset="0"/>
                      </a:endParaRPr>
                    </a:p>
                  </a:txBody>
                  <a:tcPr/>
                </a:tc>
                <a:tc>
                  <a:txBody>
                    <a:bodyPr/>
                    <a:lstStyle/>
                    <a:p>
                      <a:pPr algn="ctr"/>
                      <a:r>
                        <a:rPr lang="en-US" sz="2200" dirty="0" smtClean="0">
                          <a:latin typeface="Fira Sans" charset="0"/>
                        </a:rPr>
                        <a:t>B</a:t>
                      </a:r>
                      <a:endParaRPr lang="en-IN" sz="2200" dirty="0">
                        <a:latin typeface="Fira Sans" charset="0"/>
                      </a:endParaRPr>
                    </a:p>
                  </a:txBody>
                  <a:tcPr/>
                </a:tc>
                <a:tc>
                  <a:txBody>
                    <a:bodyPr/>
                    <a:lstStyle/>
                    <a:p>
                      <a:pPr algn="ctr"/>
                      <a:r>
                        <a:rPr lang="en-US" sz="2200" dirty="0" smtClean="0">
                          <a:latin typeface="Fira Sans" charset="0"/>
                        </a:rPr>
                        <a:t>Sum</a:t>
                      </a:r>
                      <a:endParaRPr lang="en-IN" sz="2200" dirty="0">
                        <a:latin typeface="Fira Sans" charset="0"/>
                      </a:endParaRPr>
                    </a:p>
                  </a:txBody>
                  <a:tcPr/>
                </a:tc>
                <a:tc>
                  <a:txBody>
                    <a:bodyPr/>
                    <a:lstStyle/>
                    <a:p>
                      <a:pPr algn="ctr"/>
                      <a:r>
                        <a:rPr lang="en-US" sz="2200" dirty="0" smtClean="0">
                          <a:latin typeface="Fira Sans" charset="0"/>
                        </a:rPr>
                        <a:t>Cy</a:t>
                      </a:r>
                      <a:endParaRPr lang="en-IN" sz="2200" dirty="0">
                        <a:latin typeface="Fira Sans" charset="0"/>
                      </a:endParaRPr>
                    </a:p>
                  </a:txBody>
                  <a:tcPr/>
                </a:tc>
              </a:tr>
              <a:tr h="370840">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r>
              <a:tr h="370840">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r>
              <a:tr h="370840">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r>
              <a:tr h="370840">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r>
            </a:tbl>
          </a:graphicData>
        </a:graphic>
      </p:graphicFrame>
      <p:sp>
        <p:nvSpPr>
          <p:cNvPr id="3" name="Rectangle 2"/>
          <p:cNvSpPr/>
          <p:nvPr/>
        </p:nvSpPr>
        <p:spPr>
          <a:xfrm>
            <a:off x="885677" y="836712"/>
            <a:ext cx="2954655" cy="400110"/>
          </a:xfrm>
          <a:prstGeom prst="rect">
            <a:avLst/>
          </a:prstGeom>
        </p:spPr>
        <p:txBody>
          <a:bodyPr wrap="none">
            <a:spAutoFit/>
          </a:bodyPr>
          <a:lstStyle/>
          <a:p>
            <a:r>
              <a:rPr lang="en-US" sz="2000" b="1" dirty="0">
                <a:latin typeface="Fira Sans" charset="0"/>
              </a:rPr>
              <a:t>Half </a:t>
            </a:r>
            <a:r>
              <a:rPr lang="en-US" sz="2000" b="1" dirty="0" smtClean="0">
                <a:latin typeface="Fira Sans" charset="0"/>
              </a:rPr>
              <a:t>adder Truth Table	</a:t>
            </a:r>
            <a:endParaRPr lang="en-US" sz="2000" b="1" dirty="0">
              <a:latin typeface="Fira Sans" charset="0"/>
            </a:endParaRPr>
          </a:p>
        </p:txBody>
      </p:sp>
    </p:spTree>
    <p:extLst>
      <p:ext uri="{BB962C8B-B14F-4D97-AF65-F5344CB8AC3E}">
        <p14:creationId xmlns:p14="http://schemas.microsoft.com/office/powerpoint/2010/main" val="38598030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g2b06e3c580a_0_0"/>
          <p:cNvSpPr txBox="1">
            <a:spLocks noGrp="1"/>
          </p:cNvSpPr>
          <p:nvPr>
            <p:ph type="title"/>
          </p:nvPr>
        </p:nvSpPr>
        <p:spPr>
          <a:xfrm>
            <a:off x="300790" y="191861"/>
            <a:ext cx="8546813" cy="721750"/>
          </a:xfrm>
          <a:prstGeom prst="rect">
            <a:avLst/>
          </a:prstGeom>
          <a:noFill/>
          <a:ln>
            <a:noFill/>
          </a:ln>
        </p:spPr>
        <p:txBody>
          <a:bodyPr spcFirstLastPara="1" wrap="square" lIns="76790" tIns="38395" rIns="76790" bIns="38395" anchor="ctr" anchorCtr="0">
            <a:noAutofit/>
          </a:bodyPr>
          <a:lstStyle/>
          <a:p>
            <a:pPr marL="382270"/>
            <a:r>
              <a:rPr lang="en-US" sz="3100" b="1" dirty="0" smtClean="0">
                <a:solidFill>
                  <a:srgbClr val="C00000"/>
                </a:solidFill>
                <a:latin typeface="Marcellus"/>
                <a:ea typeface="Marcellus"/>
                <a:cs typeface="Marcellus"/>
                <a:sym typeface="Marcellus"/>
              </a:rPr>
              <a:t>Full Adders</a:t>
            </a:r>
            <a:endParaRPr lang="en-US" sz="3100" b="1" dirty="0">
              <a:solidFill>
                <a:srgbClr val="C00000"/>
              </a:solidFill>
              <a:latin typeface="Marcellus"/>
              <a:ea typeface="Marcellus"/>
              <a:cs typeface="Marcellus"/>
              <a:sym typeface="Marcellus"/>
            </a:endParaRPr>
          </a:p>
        </p:txBody>
      </p:sp>
      <p:pic>
        <p:nvPicPr>
          <p:cNvPr id="56" name="Google Shape;56;g2b06e3c580a_0_0"/>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57" name="Google Shape;57;g2b06e3c580a_0_0"/>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58" name="Google Shape;58;g2b06e3c580a_0_0"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pic>
        <p:nvPicPr>
          <p:cNvPr id="15" name="Picture 14"/>
          <p:cNvPicPr/>
          <p:nvPr/>
        </p:nvPicPr>
        <p:blipFill>
          <a:blip r:embed="rId6">
            <a:extLst>
              <a:ext uri="{28A0092B-C50C-407E-A947-70E740481C1C}">
                <a14:useLocalDpi xmlns:a14="http://schemas.microsoft.com/office/drawing/2010/main" val="0"/>
              </a:ext>
            </a:extLst>
          </a:blip>
          <a:stretch>
            <a:fillRect/>
          </a:stretch>
        </p:blipFill>
        <p:spPr>
          <a:xfrm>
            <a:off x="108381" y="5605573"/>
            <a:ext cx="1433886" cy="594811"/>
          </a:xfrm>
          <a:prstGeom prst="rect">
            <a:avLst/>
          </a:prstGeom>
        </p:spPr>
      </p:pic>
      <p:pic>
        <p:nvPicPr>
          <p:cNvPr id="21" name="Picture 2"/>
          <p:cNvPicPr>
            <a:picLocks noChangeAspect="1" noChangeArrowheads="1"/>
          </p:cNvPicPr>
          <p:nvPr/>
        </p:nvPicPr>
        <p:blipFill rotWithShape="1">
          <a:blip r:embed="rId7">
            <a:extLst>
              <a:ext uri="{28A0092B-C50C-407E-A947-70E740481C1C}">
                <a14:useLocalDpi xmlns:a14="http://schemas.microsoft.com/office/drawing/2010/main" val="0"/>
              </a:ext>
            </a:extLst>
          </a:blip>
          <a:srcRect l="5656" t="4635" r="5555" b="7983"/>
          <a:stretch/>
        </p:blipFill>
        <p:spPr bwMode="auto">
          <a:xfrm>
            <a:off x="683568" y="2492896"/>
            <a:ext cx="4322740" cy="3192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683568" y="980728"/>
            <a:ext cx="3871682" cy="1785104"/>
          </a:xfrm>
          <a:prstGeom prst="rect">
            <a:avLst/>
          </a:prstGeom>
        </p:spPr>
        <p:txBody>
          <a:bodyPr wrap="square">
            <a:spAutoFit/>
          </a:bodyPr>
          <a:lstStyle/>
          <a:p>
            <a:r>
              <a:rPr lang="en-US" sz="2200" b="1" dirty="0" smtClean="0">
                <a:latin typeface="Fira Sans" charset="0"/>
              </a:rPr>
              <a:t>Full adder</a:t>
            </a:r>
          </a:p>
          <a:p>
            <a:r>
              <a:rPr lang="en-US" sz="2200" dirty="0" smtClean="0">
                <a:latin typeface="Fira Sans" charset="0"/>
              </a:rPr>
              <a:t> </a:t>
            </a:r>
            <a:r>
              <a:rPr lang="el-GR" sz="2200" dirty="0" smtClean="0">
                <a:latin typeface="Fira Sans" charset="0"/>
              </a:rPr>
              <a:t>Carry  = Σ m (</a:t>
            </a:r>
            <a:r>
              <a:rPr lang="en-US" sz="2200" dirty="0" smtClean="0">
                <a:latin typeface="Fira Sans" charset="0"/>
              </a:rPr>
              <a:t>3,5,6,7</a:t>
            </a:r>
            <a:r>
              <a:rPr lang="el-GR" sz="2200" dirty="0" smtClean="0">
                <a:latin typeface="Fira Sans" charset="0"/>
              </a:rPr>
              <a:t>)</a:t>
            </a:r>
            <a:endParaRPr lang="en-US" sz="2200" dirty="0" smtClean="0">
              <a:latin typeface="Fira Sans" charset="0"/>
            </a:endParaRPr>
          </a:p>
          <a:p>
            <a:r>
              <a:rPr lang="en-US" sz="2200" dirty="0">
                <a:latin typeface="Fira Sans" charset="0"/>
              </a:rPr>
              <a:t> </a:t>
            </a:r>
            <a:r>
              <a:rPr lang="en-US" sz="2200" dirty="0" smtClean="0">
                <a:latin typeface="Fira Sans" charset="0"/>
              </a:rPr>
              <a:t>           =  A.B + </a:t>
            </a:r>
            <a:r>
              <a:rPr lang="en-US" sz="2200" dirty="0" err="1" smtClean="0">
                <a:latin typeface="Fira Sans" charset="0"/>
              </a:rPr>
              <a:t>A.Cin</a:t>
            </a:r>
            <a:r>
              <a:rPr lang="en-US" sz="2200" dirty="0" smtClean="0">
                <a:latin typeface="Fira Sans" charset="0"/>
              </a:rPr>
              <a:t>+ </a:t>
            </a:r>
            <a:r>
              <a:rPr lang="en-US" sz="2200" dirty="0" err="1" smtClean="0">
                <a:latin typeface="Fira Sans" charset="0"/>
              </a:rPr>
              <a:t>B.Cin</a:t>
            </a:r>
            <a:endParaRPr lang="el-GR" sz="2200" dirty="0" smtClean="0">
              <a:latin typeface="Fira Sans" charset="0"/>
            </a:endParaRPr>
          </a:p>
          <a:p>
            <a:r>
              <a:rPr lang="el-GR" sz="2200" dirty="0" smtClean="0">
                <a:latin typeface="Fira Sans" charset="0"/>
              </a:rPr>
              <a:t>Sum = Σ m (</a:t>
            </a:r>
            <a:r>
              <a:rPr lang="en-US" sz="2200" dirty="0" smtClean="0">
                <a:latin typeface="Fira Sans" charset="0"/>
              </a:rPr>
              <a:t>1,2,4,7</a:t>
            </a:r>
            <a:r>
              <a:rPr lang="el-GR" sz="2200" dirty="0" smtClean="0">
                <a:latin typeface="Fira Sans" charset="0"/>
              </a:rPr>
              <a:t>)</a:t>
            </a:r>
            <a:endParaRPr lang="en-US" sz="2200" dirty="0" smtClean="0">
              <a:latin typeface="Fira Sans" charset="0"/>
            </a:endParaRPr>
          </a:p>
          <a:p>
            <a:r>
              <a:rPr lang="en-US" sz="2200" dirty="0">
                <a:latin typeface="Fira Sans" charset="0"/>
              </a:rPr>
              <a:t>	</a:t>
            </a:r>
            <a:r>
              <a:rPr lang="en-US" sz="2200" dirty="0" smtClean="0">
                <a:latin typeface="Fira Sans" charset="0"/>
              </a:rPr>
              <a:t>= A </a:t>
            </a:r>
            <a:r>
              <a:rPr lang="en-US" sz="2200" dirty="0" err="1" smtClean="0">
                <a:latin typeface="Fira Sans" charset="0"/>
              </a:rPr>
              <a:t>xor</a:t>
            </a:r>
            <a:r>
              <a:rPr lang="en-US" sz="2200" dirty="0" smtClean="0">
                <a:latin typeface="Fira Sans" charset="0"/>
              </a:rPr>
              <a:t> B </a:t>
            </a:r>
            <a:r>
              <a:rPr lang="en-US" sz="2200" dirty="0" err="1" smtClean="0">
                <a:latin typeface="Fira Sans" charset="0"/>
              </a:rPr>
              <a:t>xor</a:t>
            </a:r>
            <a:r>
              <a:rPr lang="en-US" sz="2200" dirty="0" smtClean="0">
                <a:latin typeface="Fira Sans" charset="0"/>
              </a:rPr>
              <a:t> </a:t>
            </a:r>
            <a:r>
              <a:rPr lang="en-US" sz="2200" dirty="0" err="1" smtClean="0">
                <a:latin typeface="Fira Sans" charset="0"/>
              </a:rPr>
              <a:t>Cin</a:t>
            </a:r>
            <a:endParaRPr lang="el-GR" sz="2200" dirty="0" smtClean="0">
              <a:latin typeface="Fira Sans"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3375808752"/>
              </p:ext>
            </p:extLst>
          </p:nvPr>
        </p:nvGraphicFramePr>
        <p:xfrm>
          <a:off x="5097227" y="1483042"/>
          <a:ext cx="3240361" cy="3840480"/>
        </p:xfrm>
        <a:graphic>
          <a:graphicData uri="http://schemas.openxmlformats.org/drawingml/2006/table">
            <a:tbl>
              <a:tblPr firstRow="1" bandRow="1">
                <a:tableStyleId>{5C22544A-7EE6-4342-B048-85BDC9FD1C3A}</a:tableStyleId>
              </a:tblPr>
              <a:tblGrid>
                <a:gridCol w="504056"/>
                <a:gridCol w="576064"/>
                <a:gridCol w="672988"/>
                <a:gridCol w="892352"/>
                <a:gridCol w="594901"/>
              </a:tblGrid>
              <a:tr h="370840">
                <a:tc>
                  <a:txBody>
                    <a:bodyPr/>
                    <a:lstStyle/>
                    <a:p>
                      <a:pPr algn="ctr"/>
                      <a:r>
                        <a:rPr lang="en-US" sz="2200" dirty="0" smtClean="0">
                          <a:latin typeface="Fira Sans" charset="0"/>
                        </a:rPr>
                        <a:t>A</a:t>
                      </a:r>
                      <a:endParaRPr lang="en-IN" sz="2200" dirty="0">
                        <a:latin typeface="Fira Sans" charset="0"/>
                      </a:endParaRPr>
                    </a:p>
                  </a:txBody>
                  <a:tcPr/>
                </a:tc>
                <a:tc>
                  <a:txBody>
                    <a:bodyPr/>
                    <a:lstStyle/>
                    <a:p>
                      <a:pPr algn="ctr"/>
                      <a:r>
                        <a:rPr lang="en-US" sz="2200" dirty="0" smtClean="0">
                          <a:latin typeface="Fira Sans" charset="0"/>
                        </a:rPr>
                        <a:t>B</a:t>
                      </a:r>
                      <a:endParaRPr lang="en-IN" sz="2200" dirty="0">
                        <a:latin typeface="Fira Sans" charset="0"/>
                      </a:endParaRPr>
                    </a:p>
                  </a:txBody>
                  <a:tcPr/>
                </a:tc>
                <a:tc>
                  <a:txBody>
                    <a:bodyPr/>
                    <a:lstStyle/>
                    <a:p>
                      <a:pPr algn="ctr"/>
                      <a:r>
                        <a:rPr lang="en-US" sz="2200" dirty="0" err="1" smtClean="0">
                          <a:latin typeface="Fira Sans" charset="0"/>
                        </a:rPr>
                        <a:t>Cin</a:t>
                      </a:r>
                      <a:endParaRPr lang="en-IN" sz="2200" dirty="0">
                        <a:latin typeface="Fira Sans" charset="0"/>
                      </a:endParaRPr>
                    </a:p>
                  </a:txBody>
                  <a:tcPr/>
                </a:tc>
                <a:tc>
                  <a:txBody>
                    <a:bodyPr/>
                    <a:lstStyle/>
                    <a:p>
                      <a:pPr algn="ctr"/>
                      <a:r>
                        <a:rPr lang="en-US" sz="2200" dirty="0" smtClean="0">
                          <a:latin typeface="Fira Sans" charset="0"/>
                        </a:rPr>
                        <a:t>Sum</a:t>
                      </a:r>
                      <a:endParaRPr lang="en-IN" sz="2200" dirty="0">
                        <a:latin typeface="Fira Sans" charset="0"/>
                      </a:endParaRPr>
                    </a:p>
                  </a:txBody>
                  <a:tcPr/>
                </a:tc>
                <a:tc>
                  <a:txBody>
                    <a:bodyPr/>
                    <a:lstStyle/>
                    <a:p>
                      <a:pPr algn="ctr"/>
                      <a:r>
                        <a:rPr lang="en-US" sz="2200" dirty="0" smtClean="0">
                          <a:latin typeface="Fira Sans" charset="0"/>
                        </a:rPr>
                        <a:t>Cy</a:t>
                      </a:r>
                      <a:endParaRPr lang="en-IN" sz="2200" dirty="0">
                        <a:latin typeface="Fira Sans" charset="0"/>
                      </a:endParaRPr>
                    </a:p>
                  </a:txBody>
                  <a:tcPr/>
                </a:tc>
              </a:tr>
              <a:tr h="370840">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r>
              <a:tr h="370840">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r>
              <a:tr h="370840">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r>
              <a:tr h="370840">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r>
              <a:tr h="370840">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r>
              <a:tr h="370840">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r>
              <a:tr h="370840">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r>
              <a:tr h="370840">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r>
            </a:tbl>
          </a:graphicData>
        </a:graphic>
      </p:graphicFrame>
      <p:sp>
        <p:nvSpPr>
          <p:cNvPr id="2" name="Rectangle 1"/>
          <p:cNvSpPr/>
          <p:nvPr/>
        </p:nvSpPr>
        <p:spPr>
          <a:xfrm>
            <a:off x="4788024" y="908720"/>
            <a:ext cx="3877985" cy="430887"/>
          </a:xfrm>
          <a:prstGeom prst="rect">
            <a:avLst/>
          </a:prstGeom>
        </p:spPr>
        <p:txBody>
          <a:bodyPr wrap="none">
            <a:spAutoFit/>
          </a:bodyPr>
          <a:lstStyle/>
          <a:p>
            <a:r>
              <a:rPr lang="en-US" sz="2200" b="1" dirty="0" smtClean="0">
                <a:latin typeface="Fira Sans" charset="0"/>
              </a:rPr>
              <a:t>Full adder </a:t>
            </a:r>
            <a:r>
              <a:rPr lang="en-US" sz="2200" b="1" dirty="0">
                <a:latin typeface="Fira Sans" charset="0"/>
              </a:rPr>
              <a:t>Truth Table</a:t>
            </a:r>
            <a:r>
              <a:rPr lang="en-US" b="1" dirty="0">
                <a:latin typeface="Fira Sans" charset="0"/>
              </a:rPr>
              <a:t>	</a:t>
            </a:r>
          </a:p>
        </p:txBody>
      </p:sp>
    </p:spTree>
    <p:extLst>
      <p:ext uri="{BB962C8B-B14F-4D97-AF65-F5344CB8AC3E}">
        <p14:creationId xmlns:p14="http://schemas.microsoft.com/office/powerpoint/2010/main" val="4716250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281843" y="191854"/>
            <a:ext cx="8546813" cy="721750"/>
          </a:xfrm>
          <a:prstGeom prst="rect">
            <a:avLst/>
          </a:prstGeom>
          <a:noFill/>
          <a:ln>
            <a:noFill/>
          </a:ln>
        </p:spPr>
        <p:txBody>
          <a:bodyPr spcFirstLastPara="1" wrap="square" lIns="76790" tIns="38395" rIns="76790" bIns="38395" anchor="ctr" anchorCtr="0">
            <a:noAutofit/>
          </a:bodyPr>
          <a:lstStyle/>
          <a:p>
            <a:pPr marL="382270"/>
            <a:r>
              <a:rPr lang="en-US" sz="3000" b="1" dirty="0" smtClean="0">
                <a:solidFill>
                  <a:srgbClr val="C00000"/>
                </a:solidFill>
                <a:latin typeface="Marcellus" charset="0"/>
              </a:rPr>
              <a:t>Full Adder using 2 half Adders</a:t>
            </a:r>
            <a:endParaRPr sz="3000" b="1" dirty="0">
              <a:solidFill>
                <a:srgbClr val="C00000"/>
              </a:solidFill>
              <a:latin typeface="Marcellus" charset="0"/>
            </a:endParaRPr>
          </a:p>
        </p:txBody>
      </p:sp>
      <p:pic>
        <p:nvPicPr>
          <p:cNvPr id="45" name="Google Shape;45;p3"/>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46" name="Google Shape;46;p3"/>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47" name="Google Shape;47;p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sp>
        <p:nvSpPr>
          <p:cNvPr id="49" name="Google Shape;49;p3"/>
          <p:cNvSpPr txBox="1"/>
          <p:nvPr/>
        </p:nvSpPr>
        <p:spPr>
          <a:xfrm>
            <a:off x="668094" y="814938"/>
            <a:ext cx="2997188" cy="2839500"/>
          </a:xfrm>
          <a:prstGeom prst="rect">
            <a:avLst/>
          </a:prstGeom>
          <a:noFill/>
          <a:ln>
            <a:noFill/>
          </a:ln>
        </p:spPr>
        <p:txBody>
          <a:bodyPr spcFirstLastPara="1" wrap="square" lIns="76790" tIns="76790" rIns="76790" bIns="76790" anchor="t" anchorCtr="0">
            <a:noAutofit/>
          </a:bodyPr>
          <a:lstStyle/>
          <a:p>
            <a:pPr marL="320040" indent="320040" algn="just">
              <a:buClr>
                <a:srgbClr val="000000"/>
              </a:buClr>
              <a:buSzPts val="2900"/>
            </a:pPr>
            <a:endParaRPr sz="2000" b="1" dirty="0">
              <a:solidFill>
                <a:schemeClr val="dk1"/>
              </a:solidFill>
              <a:latin typeface="Fira Sans"/>
              <a:ea typeface="Fira Sans"/>
              <a:cs typeface="Fira Sans"/>
              <a:sym typeface="Fira Sans"/>
            </a:endParaRPr>
          </a:p>
          <a:p>
            <a:pPr marL="320040" indent="320040" algn="just">
              <a:buClr>
                <a:srgbClr val="000000"/>
              </a:buClr>
              <a:buSzPts val="2900"/>
            </a:pPr>
            <a:endParaRPr sz="2000" b="1" dirty="0">
              <a:solidFill>
                <a:schemeClr val="dk1"/>
              </a:solidFill>
              <a:latin typeface="Fira Sans"/>
              <a:ea typeface="Fira Sans"/>
              <a:cs typeface="Fira Sans"/>
              <a:sym typeface="Fira Sans"/>
            </a:endParaRPr>
          </a:p>
        </p:txBody>
      </p:sp>
      <p:sp>
        <p:nvSpPr>
          <p:cNvPr id="50" name="Google Shape;50;p3"/>
          <p:cNvSpPr txBox="1"/>
          <p:nvPr/>
        </p:nvSpPr>
        <p:spPr>
          <a:xfrm>
            <a:off x="467544" y="913604"/>
            <a:ext cx="7632848" cy="2111780"/>
          </a:xfrm>
          <a:prstGeom prst="rect">
            <a:avLst/>
          </a:prstGeom>
          <a:noFill/>
          <a:ln>
            <a:noFill/>
          </a:ln>
        </p:spPr>
        <p:txBody>
          <a:bodyPr spcFirstLastPara="1" wrap="square" lIns="76790" tIns="76790" rIns="76790" bIns="76790" anchor="t" anchorCtr="0">
            <a:noAutofit/>
          </a:bodyPr>
          <a:lstStyle/>
          <a:p>
            <a:pPr lvl="0" algn="just">
              <a:lnSpc>
                <a:spcPct val="90000"/>
              </a:lnSpc>
            </a:pPr>
            <a:r>
              <a:rPr lang="en-US" sz="2000" b="1" dirty="0" smtClean="0">
                <a:solidFill>
                  <a:srgbClr val="262626"/>
                </a:solidFill>
                <a:latin typeface="Fira Sans"/>
                <a:ea typeface="Fira Sans"/>
                <a:cs typeface="Fira Sans"/>
                <a:sym typeface="Fira Sans"/>
              </a:rPr>
              <a:t>Half Adder:   </a:t>
            </a:r>
            <a:r>
              <a:rPr lang="en-US" sz="2000" dirty="0" smtClean="0">
                <a:solidFill>
                  <a:srgbClr val="262626"/>
                </a:solidFill>
                <a:latin typeface="Fira Sans"/>
                <a:ea typeface="Fira Sans"/>
                <a:cs typeface="Fira Sans"/>
                <a:sym typeface="Fira Sans"/>
              </a:rPr>
              <a:t>	Sum = A </a:t>
            </a:r>
            <a:r>
              <a:rPr lang="en-US" sz="2000" dirty="0" err="1" smtClean="0">
                <a:solidFill>
                  <a:srgbClr val="262626"/>
                </a:solidFill>
                <a:latin typeface="Fira Sans"/>
                <a:ea typeface="Fira Sans"/>
                <a:cs typeface="Fira Sans"/>
                <a:sym typeface="Fira Sans"/>
              </a:rPr>
              <a:t>xor</a:t>
            </a:r>
            <a:r>
              <a:rPr lang="en-US" sz="2000" dirty="0" smtClean="0">
                <a:solidFill>
                  <a:srgbClr val="262626"/>
                </a:solidFill>
                <a:latin typeface="Fira Sans"/>
                <a:ea typeface="Fira Sans"/>
                <a:cs typeface="Fira Sans"/>
                <a:sym typeface="Fira Sans"/>
              </a:rPr>
              <a:t> B , 		Carry = A . B </a:t>
            </a:r>
          </a:p>
          <a:p>
            <a:pPr lvl="0" algn="just">
              <a:lnSpc>
                <a:spcPct val="90000"/>
              </a:lnSpc>
            </a:pPr>
            <a:endParaRPr lang="en-US" sz="2000" dirty="0" smtClean="0">
              <a:solidFill>
                <a:srgbClr val="262626"/>
              </a:solidFill>
              <a:latin typeface="Fira Sans"/>
              <a:ea typeface="Fira Sans"/>
              <a:cs typeface="Fira Sans"/>
              <a:sym typeface="Fira Sans"/>
            </a:endParaRPr>
          </a:p>
          <a:p>
            <a:pPr lvl="0" algn="just">
              <a:lnSpc>
                <a:spcPct val="90000"/>
              </a:lnSpc>
            </a:pPr>
            <a:r>
              <a:rPr lang="en-US" sz="2000" b="1" dirty="0" smtClean="0">
                <a:solidFill>
                  <a:srgbClr val="262626"/>
                </a:solidFill>
                <a:latin typeface="Fira Sans"/>
                <a:ea typeface="Fira Sans"/>
                <a:cs typeface="Fira Sans"/>
                <a:sym typeface="Fira Sans"/>
              </a:rPr>
              <a:t>Full Adder: </a:t>
            </a:r>
            <a:r>
              <a:rPr lang="en-US" sz="2000" dirty="0" smtClean="0">
                <a:solidFill>
                  <a:srgbClr val="262626"/>
                </a:solidFill>
                <a:latin typeface="Fira Sans"/>
                <a:ea typeface="Fira Sans"/>
                <a:cs typeface="Fira Sans"/>
                <a:sym typeface="Fira Sans"/>
              </a:rPr>
              <a:t>Sum = A </a:t>
            </a:r>
            <a:r>
              <a:rPr lang="en-US" sz="2000" dirty="0" err="1" smtClean="0">
                <a:solidFill>
                  <a:srgbClr val="262626"/>
                </a:solidFill>
                <a:latin typeface="Fira Sans"/>
                <a:ea typeface="Fira Sans"/>
                <a:cs typeface="Fira Sans"/>
                <a:sym typeface="Fira Sans"/>
              </a:rPr>
              <a:t>xor</a:t>
            </a:r>
            <a:r>
              <a:rPr lang="en-US" sz="2000" dirty="0" smtClean="0">
                <a:solidFill>
                  <a:srgbClr val="262626"/>
                </a:solidFill>
                <a:latin typeface="Fira Sans"/>
                <a:ea typeface="Fira Sans"/>
                <a:cs typeface="Fira Sans"/>
                <a:sym typeface="Fira Sans"/>
              </a:rPr>
              <a:t> B </a:t>
            </a:r>
            <a:r>
              <a:rPr lang="en-US" sz="2000" dirty="0" err="1" smtClean="0">
                <a:solidFill>
                  <a:srgbClr val="262626"/>
                </a:solidFill>
                <a:latin typeface="Fira Sans"/>
                <a:ea typeface="Fira Sans"/>
                <a:cs typeface="Fira Sans"/>
                <a:sym typeface="Fira Sans"/>
              </a:rPr>
              <a:t>xor</a:t>
            </a:r>
            <a:r>
              <a:rPr lang="en-US" sz="2000" dirty="0" smtClean="0">
                <a:solidFill>
                  <a:srgbClr val="262626"/>
                </a:solidFill>
                <a:latin typeface="Fira Sans"/>
                <a:ea typeface="Fira Sans"/>
                <a:cs typeface="Fira Sans"/>
                <a:sym typeface="Fira Sans"/>
              </a:rPr>
              <a:t> </a:t>
            </a:r>
            <a:r>
              <a:rPr lang="en-US" sz="2000" dirty="0" err="1" smtClean="0">
                <a:solidFill>
                  <a:srgbClr val="262626"/>
                </a:solidFill>
                <a:latin typeface="Fira Sans"/>
                <a:ea typeface="Fira Sans"/>
                <a:cs typeface="Fira Sans"/>
                <a:sym typeface="Fira Sans"/>
              </a:rPr>
              <a:t>Cin</a:t>
            </a:r>
            <a:r>
              <a:rPr lang="en-US" sz="2000" dirty="0" smtClean="0">
                <a:solidFill>
                  <a:srgbClr val="262626"/>
                </a:solidFill>
                <a:latin typeface="Fira Sans"/>
                <a:ea typeface="Fira Sans"/>
                <a:cs typeface="Fira Sans"/>
                <a:sym typeface="Fira Sans"/>
              </a:rPr>
              <a:t>, 	Carry = AB +</a:t>
            </a:r>
            <a:r>
              <a:rPr lang="en-US" sz="2000" dirty="0" err="1" smtClean="0">
                <a:solidFill>
                  <a:srgbClr val="262626"/>
                </a:solidFill>
                <a:latin typeface="Fira Sans"/>
                <a:ea typeface="Fira Sans"/>
                <a:cs typeface="Fira Sans"/>
                <a:sym typeface="Fira Sans"/>
              </a:rPr>
              <a:t>BCin</a:t>
            </a:r>
            <a:r>
              <a:rPr lang="en-US" sz="2000" dirty="0" smtClean="0">
                <a:solidFill>
                  <a:srgbClr val="262626"/>
                </a:solidFill>
                <a:latin typeface="Fira Sans"/>
                <a:ea typeface="Fira Sans"/>
                <a:cs typeface="Fira Sans"/>
                <a:sym typeface="Fira Sans"/>
              </a:rPr>
              <a:t>+ A </a:t>
            </a:r>
            <a:r>
              <a:rPr lang="en-US" sz="2000" dirty="0" err="1" smtClean="0">
                <a:solidFill>
                  <a:srgbClr val="262626"/>
                </a:solidFill>
                <a:latin typeface="Fira Sans"/>
                <a:ea typeface="Fira Sans"/>
                <a:cs typeface="Fira Sans"/>
                <a:sym typeface="Fira Sans"/>
              </a:rPr>
              <a:t>Cin</a:t>
            </a:r>
            <a:endParaRPr lang="en-US" sz="2000" dirty="0" smtClean="0">
              <a:solidFill>
                <a:srgbClr val="262626"/>
              </a:solidFill>
              <a:latin typeface="Fira Sans"/>
              <a:ea typeface="Fira Sans"/>
              <a:cs typeface="Fira Sans"/>
              <a:sym typeface="Fira Sans"/>
            </a:endParaRPr>
          </a:p>
          <a:p>
            <a:pPr lvl="0" algn="just">
              <a:lnSpc>
                <a:spcPct val="90000"/>
              </a:lnSpc>
            </a:pPr>
            <a:endParaRPr lang="en-US" sz="2000" dirty="0" smtClean="0">
              <a:solidFill>
                <a:srgbClr val="262626"/>
              </a:solidFill>
              <a:latin typeface="Fira Sans"/>
              <a:ea typeface="Fira Sans"/>
              <a:cs typeface="Fira Sans"/>
              <a:sym typeface="Fira Sans"/>
            </a:endParaRPr>
          </a:p>
          <a:p>
            <a:pPr lvl="0" algn="just">
              <a:lnSpc>
                <a:spcPct val="90000"/>
              </a:lnSpc>
            </a:pPr>
            <a:r>
              <a:rPr lang="en-US" sz="2000" b="1" dirty="0" smtClean="0">
                <a:solidFill>
                  <a:srgbClr val="262626"/>
                </a:solidFill>
                <a:latin typeface="Fira Sans"/>
                <a:ea typeface="Fira Sans"/>
                <a:cs typeface="Fira Sans"/>
                <a:sym typeface="Fira Sans"/>
              </a:rPr>
              <a:t>Full adder using 2 half adders </a:t>
            </a:r>
          </a:p>
          <a:p>
            <a:pPr lvl="0" algn="just">
              <a:lnSpc>
                <a:spcPct val="90000"/>
              </a:lnSpc>
            </a:pPr>
            <a:r>
              <a:rPr lang="en-US" sz="2000" dirty="0" smtClean="0">
                <a:solidFill>
                  <a:srgbClr val="262626"/>
                </a:solidFill>
                <a:latin typeface="Fira Sans"/>
                <a:ea typeface="Fira Sans"/>
                <a:cs typeface="Fira Sans"/>
                <a:sym typeface="Fira Sans"/>
              </a:rPr>
              <a:t>Carry = A.B + (A </a:t>
            </a:r>
            <a:r>
              <a:rPr lang="en-US" sz="2000" dirty="0" err="1" smtClean="0">
                <a:solidFill>
                  <a:srgbClr val="262626"/>
                </a:solidFill>
                <a:latin typeface="Fira Sans"/>
                <a:ea typeface="Fira Sans"/>
                <a:cs typeface="Fira Sans"/>
                <a:sym typeface="Fira Sans"/>
              </a:rPr>
              <a:t>xor</a:t>
            </a:r>
            <a:r>
              <a:rPr lang="en-US" sz="2000" dirty="0" smtClean="0">
                <a:solidFill>
                  <a:srgbClr val="262626"/>
                </a:solidFill>
                <a:latin typeface="Fira Sans"/>
                <a:ea typeface="Fira Sans"/>
                <a:cs typeface="Fira Sans"/>
                <a:sym typeface="Fira Sans"/>
              </a:rPr>
              <a:t> B) .</a:t>
            </a:r>
            <a:r>
              <a:rPr lang="en-US" sz="2000" dirty="0" err="1" smtClean="0">
                <a:solidFill>
                  <a:srgbClr val="262626"/>
                </a:solidFill>
                <a:latin typeface="Fira Sans"/>
                <a:ea typeface="Fira Sans"/>
                <a:cs typeface="Fira Sans"/>
                <a:sym typeface="Fira Sans"/>
              </a:rPr>
              <a:t>Cin</a:t>
            </a:r>
            <a:r>
              <a:rPr lang="en-US" sz="2000" dirty="0" smtClean="0">
                <a:solidFill>
                  <a:srgbClr val="262626"/>
                </a:solidFill>
                <a:latin typeface="Fira Sans"/>
                <a:ea typeface="Fira Sans"/>
                <a:cs typeface="Fira Sans"/>
                <a:sym typeface="Fira Sans"/>
              </a:rPr>
              <a:t> </a:t>
            </a:r>
          </a:p>
          <a:p>
            <a:pPr lvl="0" algn="just">
              <a:lnSpc>
                <a:spcPct val="90000"/>
              </a:lnSpc>
            </a:pPr>
            <a:r>
              <a:rPr lang="en-US" sz="2000" dirty="0" smtClean="0">
                <a:solidFill>
                  <a:srgbClr val="262626"/>
                </a:solidFill>
                <a:latin typeface="Fira Sans"/>
                <a:ea typeface="Fira Sans"/>
                <a:cs typeface="Fira Sans"/>
                <a:sym typeface="Fira Sans"/>
              </a:rPr>
              <a:t>Prove that it is same as AB +</a:t>
            </a:r>
            <a:r>
              <a:rPr lang="en-US" sz="2000" dirty="0" err="1" smtClean="0">
                <a:solidFill>
                  <a:srgbClr val="262626"/>
                </a:solidFill>
                <a:latin typeface="Fira Sans"/>
                <a:ea typeface="Fira Sans"/>
                <a:cs typeface="Fira Sans"/>
                <a:sym typeface="Fira Sans"/>
              </a:rPr>
              <a:t>BCin</a:t>
            </a:r>
            <a:r>
              <a:rPr lang="en-US" sz="2000" dirty="0" smtClean="0">
                <a:solidFill>
                  <a:srgbClr val="262626"/>
                </a:solidFill>
                <a:latin typeface="Fira Sans"/>
                <a:ea typeface="Fira Sans"/>
                <a:cs typeface="Fira Sans"/>
                <a:sym typeface="Fira Sans"/>
              </a:rPr>
              <a:t>+ A </a:t>
            </a:r>
            <a:r>
              <a:rPr lang="en-US" sz="2000" dirty="0" err="1" smtClean="0">
                <a:solidFill>
                  <a:srgbClr val="262626"/>
                </a:solidFill>
                <a:latin typeface="Fira Sans"/>
                <a:ea typeface="Fira Sans"/>
                <a:cs typeface="Fira Sans"/>
                <a:sym typeface="Fira Sans"/>
              </a:rPr>
              <a:t>Cin</a:t>
            </a:r>
            <a:endParaRPr lang="en-US" sz="2000" dirty="0" smtClean="0">
              <a:solidFill>
                <a:srgbClr val="262626"/>
              </a:solidFill>
              <a:latin typeface="Fira Sans"/>
              <a:ea typeface="Fira Sans"/>
              <a:cs typeface="Fira Sans"/>
              <a:sym typeface="Fira Sans"/>
            </a:endParaRPr>
          </a:p>
        </p:txBody>
      </p:sp>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1" y="5605573"/>
            <a:ext cx="1433886" cy="594811"/>
          </a:xfrm>
          <a:prstGeom prst="rect">
            <a:avLst/>
          </a:prstGeom>
        </p:spPr>
      </p:pic>
      <p:pic>
        <p:nvPicPr>
          <p:cNvPr id="12" name="Picture 11"/>
          <p:cNvPicPr>
            <a:picLocks noChangeAspect="1"/>
          </p:cNvPicPr>
          <p:nvPr/>
        </p:nvPicPr>
        <p:blipFill rotWithShape="1">
          <a:blip r:embed="rId7" cstate="print">
            <a:extLst>
              <a:ext uri="{28A0092B-C50C-407E-A947-70E740481C1C}">
                <a14:useLocalDpi xmlns:a14="http://schemas.microsoft.com/office/drawing/2010/main" val="0"/>
              </a:ext>
            </a:extLst>
          </a:blip>
          <a:srcRect l="35618" t="4290" r="28989" b="53206"/>
          <a:stretch/>
        </p:blipFill>
        <p:spPr>
          <a:xfrm>
            <a:off x="1331640" y="3034690"/>
            <a:ext cx="5505120" cy="2953540"/>
          </a:xfrm>
          <a:prstGeom prst="rect">
            <a:avLst/>
          </a:prstGeom>
        </p:spPr>
      </p:pic>
    </p:spTree>
    <p:extLst>
      <p:ext uri="{BB962C8B-B14F-4D97-AF65-F5344CB8AC3E}">
        <p14:creationId xmlns:p14="http://schemas.microsoft.com/office/powerpoint/2010/main" val="8054945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839970"/>
            <a:ext cx="8802434" cy="3808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Google Shape;44;p3"/>
          <p:cNvSpPr txBox="1">
            <a:spLocks/>
          </p:cNvSpPr>
          <p:nvPr/>
        </p:nvSpPr>
        <p:spPr>
          <a:xfrm>
            <a:off x="281843" y="191854"/>
            <a:ext cx="8546813" cy="721750"/>
          </a:xfrm>
          <a:prstGeom prst="rect">
            <a:avLst/>
          </a:prstGeom>
          <a:noFill/>
          <a:ln>
            <a:noFill/>
          </a:ln>
        </p:spPr>
        <p:txBody>
          <a:bodyPr spcFirstLastPara="1" wrap="square" lIns="76790" tIns="38395" rIns="76790" bIns="3839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82270"/>
            <a:r>
              <a:rPr lang="en-US" sz="3000" b="1" smtClean="0">
                <a:solidFill>
                  <a:srgbClr val="C00000"/>
                </a:solidFill>
                <a:latin typeface="Marcellus" charset="0"/>
              </a:rPr>
              <a:t>Full Adder using 2 half Adders</a:t>
            </a:r>
            <a:endParaRPr lang="en-US" sz="3000" b="1" dirty="0">
              <a:solidFill>
                <a:srgbClr val="C00000"/>
              </a:solidFill>
              <a:latin typeface="Marcellus" charset="0"/>
            </a:endParaRPr>
          </a:p>
        </p:txBody>
      </p:sp>
    </p:spTree>
    <p:extLst>
      <p:ext uri="{BB962C8B-B14F-4D97-AF65-F5344CB8AC3E}">
        <p14:creationId xmlns:p14="http://schemas.microsoft.com/office/powerpoint/2010/main" val="3831787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281843" y="191854"/>
            <a:ext cx="8546813" cy="721750"/>
          </a:xfrm>
          <a:prstGeom prst="rect">
            <a:avLst/>
          </a:prstGeom>
          <a:noFill/>
          <a:ln>
            <a:noFill/>
          </a:ln>
        </p:spPr>
        <p:txBody>
          <a:bodyPr spcFirstLastPara="1" wrap="square" lIns="76790" tIns="38395" rIns="76790" bIns="38395" anchor="ctr" anchorCtr="0">
            <a:noAutofit/>
          </a:bodyPr>
          <a:lstStyle/>
          <a:p>
            <a:pPr marL="382270"/>
            <a:r>
              <a:rPr lang="en-US" sz="3000" b="1" dirty="0" smtClean="0">
                <a:solidFill>
                  <a:srgbClr val="C00000"/>
                </a:solidFill>
                <a:latin typeface="Marcellus" charset="0"/>
              </a:rPr>
              <a:t>Half Subtractor</a:t>
            </a:r>
            <a:endParaRPr sz="3000" b="1" dirty="0">
              <a:solidFill>
                <a:srgbClr val="C00000"/>
              </a:solidFill>
              <a:latin typeface="Marcellus" charset="0"/>
            </a:endParaRPr>
          </a:p>
        </p:txBody>
      </p:sp>
      <p:pic>
        <p:nvPicPr>
          <p:cNvPr id="45" name="Google Shape;45;p3"/>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46" name="Google Shape;46;p3"/>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47" name="Google Shape;47;p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sp>
        <p:nvSpPr>
          <p:cNvPr id="49" name="Google Shape;49;p3"/>
          <p:cNvSpPr txBox="1"/>
          <p:nvPr/>
        </p:nvSpPr>
        <p:spPr>
          <a:xfrm>
            <a:off x="668094" y="814938"/>
            <a:ext cx="2997188" cy="2839500"/>
          </a:xfrm>
          <a:prstGeom prst="rect">
            <a:avLst/>
          </a:prstGeom>
          <a:noFill/>
          <a:ln>
            <a:noFill/>
          </a:ln>
        </p:spPr>
        <p:txBody>
          <a:bodyPr spcFirstLastPara="1" wrap="square" lIns="76790" tIns="76790" rIns="76790" bIns="76790" anchor="t" anchorCtr="0">
            <a:noAutofit/>
          </a:bodyPr>
          <a:lstStyle/>
          <a:p>
            <a:pPr marL="320040" indent="320040" algn="just">
              <a:buClr>
                <a:srgbClr val="000000"/>
              </a:buClr>
              <a:buSzPts val="2900"/>
            </a:pPr>
            <a:endParaRPr sz="2000" b="1" dirty="0">
              <a:solidFill>
                <a:schemeClr val="dk1"/>
              </a:solidFill>
              <a:latin typeface="Fira Sans"/>
              <a:ea typeface="Fira Sans"/>
              <a:cs typeface="Fira Sans"/>
              <a:sym typeface="Fira Sans"/>
            </a:endParaRPr>
          </a:p>
          <a:p>
            <a:pPr marL="320040" indent="320040" algn="just">
              <a:buClr>
                <a:srgbClr val="000000"/>
              </a:buClr>
              <a:buSzPts val="2900"/>
            </a:pPr>
            <a:endParaRPr sz="2000" b="1" dirty="0">
              <a:solidFill>
                <a:schemeClr val="dk1"/>
              </a:solidFill>
              <a:latin typeface="Fira Sans"/>
              <a:ea typeface="Fira Sans"/>
              <a:cs typeface="Fira Sans"/>
              <a:sym typeface="Fira Sans"/>
            </a:endParaRPr>
          </a:p>
        </p:txBody>
      </p:sp>
      <p:sp>
        <p:nvSpPr>
          <p:cNvPr id="50" name="Google Shape;50;p3"/>
          <p:cNvSpPr txBox="1"/>
          <p:nvPr/>
        </p:nvSpPr>
        <p:spPr>
          <a:xfrm>
            <a:off x="955110" y="913604"/>
            <a:ext cx="7572484" cy="4602500"/>
          </a:xfrm>
          <a:prstGeom prst="rect">
            <a:avLst/>
          </a:prstGeom>
          <a:noFill/>
          <a:ln>
            <a:noFill/>
          </a:ln>
        </p:spPr>
        <p:txBody>
          <a:bodyPr spcFirstLastPara="1" wrap="square" lIns="76790" tIns="76790" rIns="76790" bIns="76790" anchor="t" anchorCtr="0">
            <a:noAutofit/>
          </a:bodyPr>
          <a:lstStyle/>
          <a:p>
            <a:pPr lvl="0" algn="just">
              <a:lnSpc>
                <a:spcPct val="90000"/>
              </a:lnSpc>
            </a:pPr>
            <a:r>
              <a:rPr lang="en-US" sz="2400" dirty="0" smtClean="0">
                <a:solidFill>
                  <a:srgbClr val="262626"/>
                </a:solidFill>
                <a:latin typeface="Fira Sans"/>
                <a:ea typeface="Fira Sans"/>
                <a:cs typeface="Fira Sans"/>
                <a:sym typeface="Fira Sans"/>
              </a:rPr>
              <a:t>Diff = A  XOR B , Bo = A’</a:t>
            </a:r>
            <a:r>
              <a:rPr lang="en-US" sz="2400" b="1" dirty="0" smtClean="0">
                <a:solidFill>
                  <a:srgbClr val="262626"/>
                </a:solidFill>
                <a:latin typeface="Fira Sans"/>
                <a:ea typeface="Fira Sans"/>
                <a:cs typeface="Fira Sans"/>
                <a:sym typeface="Fira Sans"/>
              </a:rPr>
              <a:t>.</a:t>
            </a:r>
            <a:r>
              <a:rPr lang="en-US" sz="2400" dirty="0" smtClean="0">
                <a:solidFill>
                  <a:srgbClr val="262626"/>
                </a:solidFill>
                <a:latin typeface="Fira Sans"/>
                <a:ea typeface="Fira Sans"/>
                <a:cs typeface="Fira Sans"/>
                <a:sym typeface="Fira Sans"/>
              </a:rPr>
              <a:t> B </a:t>
            </a:r>
          </a:p>
        </p:txBody>
      </p:sp>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1" y="5605573"/>
            <a:ext cx="1433886" cy="594811"/>
          </a:xfrm>
          <a:prstGeom prst="rect">
            <a:avLst/>
          </a:prstGeom>
        </p:spPr>
      </p:pic>
      <p:graphicFrame>
        <p:nvGraphicFramePr>
          <p:cNvPr id="10" name="Google Shape;174;p21"/>
          <p:cNvGraphicFramePr/>
          <p:nvPr>
            <p:extLst>
              <p:ext uri="{D42A27DB-BD31-4B8C-83A1-F6EECF244321}">
                <p14:modId xmlns:p14="http://schemas.microsoft.com/office/powerpoint/2010/main" val="3275941242"/>
              </p:ext>
            </p:extLst>
          </p:nvPr>
        </p:nvGraphicFramePr>
        <p:xfrm>
          <a:off x="5004048" y="1216593"/>
          <a:ext cx="2797548" cy="2438250"/>
        </p:xfrm>
        <a:graphic>
          <a:graphicData uri="http://schemas.openxmlformats.org/drawingml/2006/table">
            <a:tbl>
              <a:tblPr>
                <a:noFill/>
              </a:tblPr>
              <a:tblGrid>
                <a:gridCol w="699387"/>
                <a:gridCol w="699387"/>
                <a:gridCol w="699387"/>
                <a:gridCol w="699387"/>
              </a:tblGrid>
              <a:tr h="479825">
                <a:tc>
                  <a:txBody>
                    <a:bodyPr/>
                    <a:lstStyle/>
                    <a:p>
                      <a:pPr marL="0" lvl="0" indent="0" algn="ctr" rtl="0">
                        <a:spcBef>
                          <a:spcPts val="0"/>
                        </a:spcBef>
                        <a:spcAft>
                          <a:spcPts val="0"/>
                        </a:spcAft>
                        <a:buNone/>
                      </a:pPr>
                      <a:r>
                        <a:rPr lang="en-US" sz="2000" b="1" dirty="0" smtClean="0">
                          <a:solidFill>
                            <a:srgbClr val="CC0000"/>
                          </a:solidFill>
                          <a:latin typeface="Fira Sans"/>
                          <a:ea typeface="Fira Sans"/>
                          <a:cs typeface="Fira Sans"/>
                          <a:sym typeface="Fira Sans"/>
                        </a:rPr>
                        <a:t>A</a:t>
                      </a:r>
                      <a:endParaRPr sz="20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smtClean="0">
                          <a:solidFill>
                            <a:srgbClr val="CC0000"/>
                          </a:solidFill>
                          <a:latin typeface="Fira Sans"/>
                          <a:ea typeface="Fira Sans"/>
                          <a:cs typeface="Fira Sans"/>
                          <a:sym typeface="Fira Sans"/>
                        </a:rPr>
                        <a:t>B</a:t>
                      </a:r>
                      <a:endParaRPr sz="20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smtClean="0">
                          <a:solidFill>
                            <a:srgbClr val="CC0000"/>
                          </a:solidFill>
                          <a:latin typeface="Fira Sans"/>
                          <a:ea typeface="Fira Sans"/>
                          <a:cs typeface="Fira Sans"/>
                          <a:sym typeface="Fira Sans"/>
                        </a:rPr>
                        <a:t>Diff</a:t>
                      </a:r>
                      <a:endParaRPr sz="20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smtClean="0">
                          <a:solidFill>
                            <a:srgbClr val="CC0000"/>
                          </a:solidFill>
                          <a:latin typeface="Fira Sans"/>
                          <a:ea typeface="Fira Sans"/>
                          <a:cs typeface="Fira Sans"/>
                          <a:sym typeface="Fira Sans"/>
                        </a:rPr>
                        <a:t>Bo</a:t>
                      </a:r>
                      <a:endParaRPr sz="20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r>
              <a:tr h="448454">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r>
              <a:tr h="479825">
                <a:tc>
                  <a:txBody>
                    <a:bodyPr/>
                    <a:lstStyle/>
                    <a:p>
                      <a:pPr marL="0" lvl="0" indent="0" algn="ctr" rtl="0">
                        <a:spcBef>
                          <a:spcPts val="0"/>
                        </a:spcBef>
                        <a:spcAft>
                          <a:spcPts val="0"/>
                        </a:spcAft>
                        <a:buNone/>
                      </a:pPr>
                      <a:r>
                        <a:rPr lang="en-US" sz="2000" b="1" dirty="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1</a:t>
                      </a:r>
                      <a:endParaRPr sz="2000" b="1">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1</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1</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r>
              <a:tr h="479825">
                <a:tc>
                  <a:txBody>
                    <a:bodyPr/>
                    <a:lstStyle/>
                    <a:p>
                      <a:pPr marL="0" lvl="0" indent="0" algn="ctr" rtl="0">
                        <a:spcBef>
                          <a:spcPts val="0"/>
                        </a:spcBef>
                        <a:spcAft>
                          <a:spcPts val="0"/>
                        </a:spcAft>
                        <a:buNone/>
                      </a:pPr>
                      <a:r>
                        <a:rPr lang="en-US" sz="2000" b="1" dirty="0">
                          <a:latin typeface="Fira Sans"/>
                          <a:ea typeface="Fira Sans"/>
                          <a:cs typeface="Fira Sans"/>
                          <a:sym typeface="Fira Sans"/>
                        </a:rPr>
                        <a:t>1</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0</a:t>
                      </a:r>
                      <a:endParaRPr sz="2000" b="1">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1</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r>
              <a:tr h="479825">
                <a:tc>
                  <a:txBody>
                    <a:bodyPr/>
                    <a:lstStyle/>
                    <a:p>
                      <a:pPr marL="0" lvl="0" indent="0" algn="ctr" rtl="0">
                        <a:spcBef>
                          <a:spcPts val="0"/>
                        </a:spcBef>
                        <a:spcAft>
                          <a:spcPts val="0"/>
                        </a:spcAft>
                        <a:buNone/>
                      </a:pPr>
                      <a:r>
                        <a:rPr lang="en-US" sz="2000" b="1">
                          <a:latin typeface="Fira Sans"/>
                          <a:ea typeface="Fira Sans"/>
                          <a:cs typeface="Fira Sans"/>
                          <a:sym typeface="Fira Sans"/>
                        </a:rPr>
                        <a:t>1</a:t>
                      </a:r>
                      <a:endParaRPr sz="2000" b="1">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1</a:t>
                      </a:r>
                      <a:endParaRPr sz="2000" b="1">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pic>
        <p:nvPicPr>
          <p:cNvPr id="2" name="Picture 1"/>
          <p:cNvPicPr>
            <a:picLocks noChangeAspect="1"/>
          </p:cNvPicPr>
          <p:nvPr/>
        </p:nvPicPr>
        <p:blipFill rotWithShape="1">
          <a:blip r:embed="rId7">
            <a:extLst>
              <a:ext uri="{28A0092B-C50C-407E-A947-70E740481C1C}">
                <a14:useLocalDpi xmlns:a14="http://schemas.microsoft.com/office/drawing/2010/main" val="0"/>
              </a:ext>
            </a:extLst>
          </a:blip>
          <a:srcRect l="29396" t="17119" r="35302" b="28715"/>
          <a:stretch/>
        </p:blipFill>
        <p:spPr>
          <a:xfrm>
            <a:off x="849874" y="1268760"/>
            <a:ext cx="4198625" cy="2878899"/>
          </a:xfrm>
          <a:prstGeom prst="rect">
            <a:avLst/>
          </a:prstGeom>
        </p:spPr>
      </p:pic>
    </p:spTree>
    <p:extLst>
      <p:ext uri="{BB962C8B-B14F-4D97-AF65-F5344CB8AC3E}">
        <p14:creationId xmlns:p14="http://schemas.microsoft.com/office/powerpoint/2010/main" val="21693570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281843" y="191854"/>
            <a:ext cx="8546813" cy="721750"/>
          </a:xfrm>
          <a:prstGeom prst="rect">
            <a:avLst/>
          </a:prstGeom>
          <a:noFill/>
          <a:ln>
            <a:noFill/>
          </a:ln>
        </p:spPr>
        <p:txBody>
          <a:bodyPr spcFirstLastPara="1" wrap="square" lIns="76790" tIns="38395" rIns="76790" bIns="38395" anchor="ctr" anchorCtr="0">
            <a:noAutofit/>
          </a:bodyPr>
          <a:lstStyle/>
          <a:p>
            <a:pPr marL="382270"/>
            <a:r>
              <a:rPr lang="en-US" sz="3000" b="1" dirty="0" smtClean="0">
                <a:solidFill>
                  <a:srgbClr val="C00000"/>
                </a:solidFill>
                <a:latin typeface="Marcellus" charset="0"/>
              </a:rPr>
              <a:t>Full Subtractor</a:t>
            </a:r>
            <a:endParaRPr sz="3000" b="1" dirty="0">
              <a:solidFill>
                <a:srgbClr val="C00000"/>
              </a:solidFill>
              <a:latin typeface="Marcellus" charset="0"/>
            </a:endParaRPr>
          </a:p>
        </p:txBody>
      </p:sp>
      <p:pic>
        <p:nvPicPr>
          <p:cNvPr id="45" name="Google Shape;45;p3"/>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46" name="Google Shape;46;p3"/>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47" name="Google Shape;47;p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sp>
        <p:nvSpPr>
          <p:cNvPr id="49" name="Google Shape;49;p3"/>
          <p:cNvSpPr txBox="1"/>
          <p:nvPr/>
        </p:nvSpPr>
        <p:spPr>
          <a:xfrm>
            <a:off x="668094" y="814938"/>
            <a:ext cx="2997188" cy="2839500"/>
          </a:xfrm>
          <a:prstGeom prst="rect">
            <a:avLst/>
          </a:prstGeom>
          <a:noFill/>
          <a:ln>
            <a:noFill/>
          </a:ln>
        </p:spPr>
        <p:txBody>
          <a:bodyPr spcFirstLastPara="1" wrap="square" lIns="76790" tIns="76790" rIns="76790" bIns="76790" anchor="t" anchorCtr="0">
            <a:noAutofit/>
          </a:bodyPr>
          <a:lstStyle/>
          <a:p>
            <a:pPr marL="320040" indent="320040" algn="just">
              <a:buClr>
                <a:srgbClr val="000000"/>
              </a:buClr>
              <a:buSzPts val="2900"/>
            </a:pPr>
            <a:endParaRPr sz="2000" b="1" dirty="0">
              <a:solidFill>
                <a:schemeClr val="dk1"/>
              </a:solidFill>
              <a:latin typeface="Fira Sans"/>
              <a:ea typeface="Fira Sans"/>
              <a:cs typeface="Fira Sans"/>
              <a:sym typeface="Fira Sans"/>
            </a:endParaRPr>
          </a:p>
          <a:p>
            <a:pPr marL="320040" indent="320040" algn="just">
              <a:buClr>
                <a:srgbClr val="000000"/>
              </a:buClr>
              <a:buSzPts val="2900"/>
            </a:pPr>
            <a:endParaRPr sz="2000" b="1" dirty="0">
              <a:solidFill>
                <a:schemeClr val="dk1"/>
              </a:solidFill>
              <a:latin typeface="Fira Sans"/>
              <a:ea typeface="Fira Sans"/>
              <a:cs typeface="Fira Sans"/>
              <a:sym typeface="Fira Sans"/>
            </a:endParaRPr>
          </a:p>
        </p:txBody>
      </p:sp>
      <p:sp>
        <p:nvSpPr>
          <p:cNvPr id="50" name="Google Shape;50;p3"/>
          <p:cNvSpPr txBox="1"/>
          <p:nvPr/>
        </p:nvSpPr>
        <p:spPr>
          <a:xfrm>
            <a:off x="955110" y="913604"/>
            <a:ext cx="7572484" cy="4602500"/>
          </a:xfrm>
          <a:prstGeom prst="rect">
            <a:avLst/>
          </a:prstGeom>
          <a:noFill/>
          <a:ln>
            <a:noFill/>
          </a:ln>
        </p:spPr>
        <p:txBody>
          <a:bodyPr spcFirstLastPara="1" wrap="square" lIns="76790" tIns="76790" rIns="76790" bIns="76790" anchor="t" anchorCtr="0">
            <a:noAutofit/>
          </a:bodyPr>
          <a:lstStyle/>
          <a:p>
            <a:r>
              <a:rPr lang="en-US" sz="2400" b="1" dirty="0">
                <a:latin typeface="Fira Sans" charset="0"/>
              </a:rPr>
              <a:t>Full </a:t>
            </a:r>
            <a:r>
              <a:rPr lang="en-US" sz="2400" b="1" dirty="0" smtClean="0">
                <a:latin typeface="Fira Sans" charset="0"/>
              </a:rPr>
              <a:t>Subtractor</a:t>
            </a:r>
            <a:endParaRPr lang="en-US" sz="2400" b="1" dirty="0">
              <a:latin typeface="Fira Sans" charset="0"/>
            </a:endParaRPr>
          </a:p>
          <a:p>
            <a:r>
              <a:rPr lang="en-US" sz="2400" dirty="0">
                <a:latin typeface="Fira Sans" charset="0"/>
              </a:rPr>
              <a:t> </a:t>
            </a:r>
            <a:r>
              <a:rPr lang="en-US" sz="2400" dirty="0" smtClean="0">
                <a:latin typeface="Fira Sans" charset="0"/>
              </a:rPr>
              <a:t>Bout</a:t>
            </a:r>
            <a:r>
              <a:rPr lang="el-GR" sz="2400" dirty="0" smtClean="0">
                <a:latin typeface="Fira Sans" charset="0"/>
              </a:rPr>
              <a:t>  </a:t>
            </a:r>
            <a:r>
              <a:rPr lang="el-GR" sz="2400" dirty="0">
                <a:latin typeface="Fira Sans" charset="0"/>
              </a:rPr>
              <a:t>= Σ m </a:t>
            </a:r>
            <a:r>
              <a:rPr lang="el-GR" sz="2400" dirty="0" smtClean="0">
                <a:latin typeface="Fira Sans" charset="0"/>
              </a:rPr>
              <a:t>(</a:t>
            </a:r>
            <a:r>
              <a:rPr lang="en-US" sz="2400" dirty="0" smtClean="0">
                <a:latin typeface="Fira Sans" charset="0"/>
              </a:rPr>
              <a:t>1,2,3,7</a:t>
            </a:r>
            <a:r>
              <a:rPr lang="el-GR" sz="2400" dirty="0">
                <a:latin typeface="Fira Sans" charset="0"/>
              </a:rPr>
              <a:t>)</a:t>
            </a:r>
            <a:endParaRPr lang="en-US" sz="2400" dirty="0">
              <a:latin typeface="Fira Sans" charset="0"/>
            </a:endParaRPr>
          </a:p>
          <a:p>
            <a:r>
              <a:rPr lang="en-US" sz="2400" dirty="0">
                <a:latin typeface="Fira Sans" charset="0"/>
              </a:rPr>
              <a:t>          </a:t>
            </a:r>
            <a:endParaRPr lang="en-US" sz="2400" dirty="0" smtClean="0">
              <a:latin typeface="Fira Sans" charset="0"/>
            </a:endParaRPr>
          </a:p>
          <a:p>
            <a:endParaRPr lang="en-US" sz="2400" dirty="0">
              <a:latin typeface="Fira Sans" charset="0"/>
            </a:endParaRPr>
          </a:p>
          <a:p>
            <a:endParaRPr lang="en-US" sz="2400" dirty="0" smtClean="0">
              <a:latin typeface="Fira Sans" charset="0"/>
            </a:endParaRPr>
          </a:p>
          <a:p>
            <a:endParaRPr lang="en-US" sz="2400" dirty="0">
              <a:latin typeface="Fira Sans" charset="0"/>
            </a:endParaRPr>
          </a:p>
          <a:p>
            <a:endParaRPr lang="en-US" sz="2400" dirty="0" smtClean="0">
              <a:latin typeface="Fira Sans" charset="0"/>
            </a:endParaRPr>
          </a:p>
          <a:p>
            <a:endParaRPr lang="en-US" sz="2400" dirty="0">
              <a:latin typeface="Fira Sans" charset="0"/>
            </a:endParaRPr>
          </a:p>
          <a:p>
            <a:endParaRPr lang="en-US" sz="2400" dirty="0" smtClean="0">
              <a:latin typeface="Fira Sans" charset="0"/>
            </a:endParaRPr>
          </a:p>
          <a:p>
            <a:r>
              <a:rPr lang="en-US" sz="2400" dirty="0" smtClean="0">
                <a:latin typeface="Fira Sans" charset="0"/>
              </a:rPr>
              <a:t>Bout = </a:t>
            </a:r>
            <a:r>
              <a:rPr lang="en-US" sz="2400" dirty="0">
                <a:latin typeface="Fira Sans" charset="0"/>
              </a:rPr>
              <a:t>A’B+ </a:t>
            </a:r>
            <a:r>
              <a:rPr lang="en-US" sz="2400" dirty="0" err="1">
                <a:latin typeface="Fira Sans" charset="0"/>
              </a:rPr>
              <a:t>A’Bin</a:t>
            </a:r>
            <a:r>
              <a:rPr lang="en-US" sz="2400" dirty="0">
                <a:latin typeface="Fira Sans" charset="0"/>
              </a:rPr>
              <a:t> + B Bin</a:t>
            </a:r>
            <a:endParaRPr lang="el-GR" sz="2400" dirty="0">
              <a:latin typeface="Fira Sans" charset="0"/>
            </a:endParaRPr>
          </a:p>
          <a:p>
            <a:r>
              <a:rPr lang="el-GR" sz="2400" dirty="0">
                <a:latin typeface="Fira Sans" charset="0"/>
              </a:rPr>
              <a:t>Sum = Σ m (</a:t>
            </a:r>
            <a:r>
              <a:rPr lang="en-US" sz="2400" dirty="0">
                <a:latin typeface="Fira Sans" charset="0"/>
              </a:rPr>
              <a:t>1,2,4,7</a:t>
            </a:r>
            <a:r>
              <a:rPr lang="el-GR" sz="2400" dirty="0">
                <a:latin typeface="Fira Sans" charset="0"/>
              </a:rPr>
              <a:t>)</a:t>
            </a:r>
            <a:endParaRPr lang="en-US" sz="2400" dirty="0">
              <a:latin typeface="Fira Sans" charset="0"/>
            </a:endParaRPr>
          </a:p>
          <a:p>
            <a:r>
              <a:rPr lang="en-US" sz="2400" dirty="0">
                <a:latin typeface="Fira Sans" charset="0"/>
              </a:rPr>
              <a:t>	= A </a:t>
            </a:r>
            <a:r>
              <a:rPr lang="en-US" sz="2400" dirty="0" err="1">
                <a:latin typeface="Fira Sans" charset="0"/>
              </a:rPr>
              <a:t>xor</a:t>
            </a:r>
            <a:r>
              <a:rPr lang="en-US" sz="2400" dirty="0">
                <a:latin typeface="Fira Sans" charset="0"/>
              </a:rPr>
              <a:t> B </a:t>
            </a:r>
            <a:r>
              <a:rPr lang="en-US" sz="2400" dirty="0" err="1">
                <a:latin typeface="Fira Sans" charset="0"/>
              </a:rPr>
              <a:t>xor</a:t>
            </a:r>
            <a:r>
              <a:rPr lang="en-US" sz="2400" dirty="0">
                <a:latin typeface="Fira Sans" charset="0"/>
              </a:rPr>
              <a:t> B</a:t>
            </a:r>
            <a:r>
              <a:rPr lang="en-US" sz="2400" dirty="0" smtClean="0">
                <a:latin typeface="Fira Sans" charset="0"/>
              </a:rPr>
              <a:t>in</a:t>
            </a:r>
            <a:endParaRPr lang="el-GR" sz="2400" dirty="0">
              <a:latin typeface="Fira Sans" charset="0"/>
            </a:endParaRPr>
          </a:p>
        </p:txBody>
      </p:sp>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1" y="5605573"/>
            <a:ext cx="1433886" cy="594811"/>
          </a:xfrm>
          <a:prstGeom prst="rect">
            <a:avLst/>
          </a:prstGeom>
        </p:spPr>
      </p:pic>
      <p:sp>
        <p:nvSpPr>
          <p:cNvPr id="3" name="Rectangle 2"/>
          <p:cNvSpPr/>
          <p:nvPr/>
        </p:nvSpPr>
        <p:spPr>
          <a:xfrm>
            <a:off x="5220073" y="913604"/>
            <a:ext cx="3307522" cy="369332"/>
          </a:xfrm>
          <a:prstGeom prst="rect">
            <a:avLst/>
          </a:prstGeom>
        </p:spPr>
        <p:txBody>
          <a:bodyPr wrap="square">
            <a:spAutoFit/>
          </a:bodyPr>
          <a:lstStyle/>
          <a:p>
            <a:r>
              <a:rPr lang="en-US" b="1" dirty="0">
                <a:latin typeface="Fira Sans" charset="0"/>
              </a:rPr>
              <a:t>Full </a:t>
            </a:r>
            <a:r>
              <a:rPr lang="en-US" b="1" dirty="0" smtClean="0">
                <a:latin typeface="Fira Sans" charset="0"/>
              </a:rPr>
              <a:t>Subtractor </a:t>
            </a:r>
            <a:r>
              <a:rPr lang="en-US" b="1" dirty="0">
                <a:latin typeface="Fira Sans" charset="0"/>
              </a:rPr>
              <a:t>Truth </a:t>
            </a:r>
            <a:r>
              <a:rPr lang="en-US" b="1" dirty="0" smtClean="0">
                <a:latin typeface="Fira Sans" charset="0"/>
              </a:rPr>
              <a:t>Table</a:t>
            </a:r>
            <a:endParaRPr lang="en-US" b="1" dirty="0">
              <a:latin typeface="Fira Sans" charset="0"/>
            </a:endParaRPr>
          </a:p>
        </p:txBody>
      </p:sp>
      <p:graphicFrame>
        <p:nvGraphicFramePr>
          <p:cNvPr id="12" name="Table 11"/>
          <p:cNvGraphicFramePr>
            <a:graphicFrameLocks noGrp="1"/>
          </p:cNvGraphicFramePr>
          <p:nvPr>
            <p:extLst>
              <p:ext uri="{D42A27DB-BD31-4B8C-83A1-F6EECF244321}">
                <p14:modId xmlns:p14="http://schemas.microsoft.com/office/powerpoint/2010/main" val="782199940"/>
              </p:ext>
            </p:extLst>
          </p:nvPr>
        </p:nvGraphicFramePr>
        <p:xfrm>
          <a:off x="5097227" y="1483042"/>
          <a:ext cx="3240361" cy="3840480"/>
        </p:xfrm>
        <a:graphic>
          <a:graphicData uri="http://schemas.openxmlformats.org/drawingml/2006/table">
            <a:tbl>
              <a:tblPr firstRow="1" bandRow="1">
                <a:tableStyleId>{5C22544A-7EE6-4342-B048-85BDC9FD1C3A}</a:tableStyleId>
              </a:tblPr>
              <a:tblGrid>
                <a:gridCol w="504056"/>
                <a:gridCol w="576064"/>
                <a:gridCol w="672988"/>
                <a:gridCol w="892352"/>
                <a:gridCol w="594901"/>
              </a:tblGrid>
              <a:tr h="370840">
                <a:tc>
                  <a:txBody>
                    <a:bodyPr/>
                    <a:lstStyle/>
                    <a:p>
                      <a:pPr algn="ctr"/>
                      <a:r>
                        <a:rPr lang="en-US" sz="2200" dirty="0" smtClean="0">
                          <a:latin typeface="Fira Sans" charset="0"/>
                        </a:rPr>
                        <a:t>A</a:t>
                      </a:r>
                      <a:endParaRPr lang="en-IN" sz="2200" dirty="0">
                        <a:latin typeface="Fira Sans" charset="0"/>
                      </a:endParaRPr>
                    </a:p>
                  </a:txBody>
                  <a:tcPr/>
                </a:tc>
                <a:tc>
                  <a:txBody>
                    <a:bodyPr/>
                    <a:lstStyle/>
                    <a:p>
                      <a:pPr algn="ctr"/>
                      <a:r>
                        <a:rPr lang="en-US" sz="2200" dirty="0" smtClean="0">
                          <a:latin typeface="Fira Sans" charset="0"/>
                        </a:rPr>
                        <a:t>B</a:t>
                      </a:r>
                      <a:endParaRPr lang="en-IN" sz="2200" dirty="0">
                        <a:latin typeface="Fira Sans" charset="0"/>
                      </a:endParaRPr>
                    </a:p>
                  </a:txBody>
                  <a:tcPr/>
                </a:tc>
                <a:tc>
                  <a:txBody>
                    <a:bodyPr/>
                    <a:lstStyle/>
                    <a:p>
                      <a:pPr algn="ctr"/>
                      <a:r>
                        <a:rPr lang="en-US" sz="2200" dirty="0" smtClean="0">
                          <a:latin typeface="Fira Sans" charset="0"/>
                        </a:rPr>
                        <a:t>Bin</a:t>
                      </a:r>
                      <a:endParaRPr lang="en-IN" sz="2200" dirty="0">
                        <a:latin typeface="Fira Sans" charset="0"/>
                      </a:endParaRPr>
                    </a:p>
                  </a:txBody>
                  <a:tcPr/>
                </a:tc>
                <a:tc>
                  <a:txBody>
                    <a:bodyPr/>
                    <a:lstStyle/>
                    <a:p>
                      <a:pPr algn="ctr"/>
                      <a:r>
                        <a:rPr lang="en-US" sz="2200" dirty="0" smtClean="0">
                          <a:latin typeface="Fira Sans" charset="0"/>
                        </a:rPr>
                        <a:t>Diff</a:t>
                      </a:r>
                      <a:endParaRPr lang="en-IN" sz="2200" dirty="0">
                        <a:latin typeface="Fira Sans" charset="0"/>
                      </a:endParaRPr>
                    </a:p>
                  </a:txBody>
                  <a:tcPr/>
                </a:tc>
                <a:tc>
                  <a:txBody>
                    <a:bodyPr/>
                    <a:lstStyle/>
                    <a:p>
                      <a:pPr algn="ctr"/>
                      <a:r>
                        <a:rPr lang="en-US" sz="2200" dirty="0" smtClean="0">
                          <a:latin typeface="Fira Sans" charset="0"/>
                        </a:rPr>
                        <a:t>Bo</a:t>
                      </a:r>
                      <a:endParaRPr lang="en-IN" sz="2200" dirty="0">
                        <a:latin typeface="Fira Sans" charset="0"/>
                      </a:endParaRPr>
                    </a:p>
                  </a:txBody>
                  <a:tcPr/>
                </a:tc>
              </a:tr>
              <a:tr h="370840">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r>
              <a:tr h="370840">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r>
              <a:tr h="370840">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r>
              <a:tr h="370840">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r>
              <a:tr h="370840">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r>
              <a:tr h="370840">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r>
              <a:tr h="370840">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r>
              <a:tr h="370840">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1743852230"/>
              </p:ext>
            </p:extLst>
          </p:nvPr>
        </p:nvGraphicFramePr>
        <p:xfrm>
          <a:off x="1043608" y="2234688"/>
          <a:ext cx="3312370" cy="1542542"/>
        </p:xfrm>
        <a:graphic>
          <a:graphicData uri="http://schemas.openxmlformats.org/drawingml/2006/table">
            <a:tbl>
              <a:tblPr firstRow="1" bandRow="1">
                <a:tableStyleId>{5C22544A-7EE6-4342-B048-85BDC9FD1C3A}</a:tableStyleId>
              </a:tblPr>
              <a:tblGrid>
                <a:gridCol w="662474"/>
                <a:gridCol w="662474"/>
                <a:gridCol w="662474"/>
                <a:gridCol w="662474"/>
                <a:gridCol w="662474"/>
              </a:tblGrid>
              <a:tr h="750062">
                <a:tc>
                  <a:txBody>
                    <a:bodyPr/>
                    <a:lstStyle/>
                    <a:p>
                      <a:pPr algn="ctr"/>
                      <a:r>
                        <a:rPr lang="en-US" sz="2000" dirty="0" smtClean="0">
                          <a:latin typeface="Fira Sans" charset="0"/>
                        </a:rPr>
                        <a:t>AB/Bin</a:t>
                      </a:r>
                      <a:endParaRPr lang="en-IN" sz="2000" dirty="0">
                        <a:latin typeface="Fira Sans" charset="0"/>
                      </a:endParaRPr>
                    </a:p>
                  </a:txBody>
                  <a:tcPr/>
                </a:tc>
                <a:tc>
                  <a:txBody>
                    <a:bodyPr/>
                    <a:lstStyle/>
                    <a:p>
                      <a:pPr algn="ctr"/>
                      <a:r>
                        <a:rPr lang="en-US" sz="2000" dirty="0" smtClean="0">
                          <a:latin typeface="Fira Sans" charset="0"/>
                        </a:rPr>
                        <a:t>00</a:t>
                      </a:r>
                      <a:endParaRPr lang="en-IN" sz="2000" dirty="0">
                        <a:latin typeface="Fira Sans" charset="0"/>
                      </a:endParaRPr>
                    </a:p>
                  </a:txBody>
                  <a:tcPr/>
                </a:tc>
                <a:tc>
                  <a:txBody>
                    <a:bodyPr/>
                    <a:lstStyle/>
                    <a:p>
                      <a:pPr algn="ctr"/>
                      <a:r>
                        <a:rPr lang="en-US" sz="2000" dirty="0" smtClean="0">
                          <a:latin typeface="Fira Sans" charset="0"/>
                        </a:rPr>
                        <a:t>01</a:t>
                      </a:r>
                      <a:endParaRPr lang="en-IN" sz="2000" dirty="0">
                        <a:latin typeface="Fira Sans" charset="0"/>
                      </a:endParaRPr>
                    </a:p>
                  </a:txBody>
                  <a:tcPr/>
                </a:tc>
                <a:tc>
                  <a:txBody>
                    <a:bodyPr/>
                    <a:lstStyle/>
                    <a:p>
                      <a:pPr algn="ctr"/>
                      <a:r>
                        <a:rPr lang="en-US" sz="2000" dirty="0" smtClean="0">
                          <a:latin typeface="Fira Sans" charset="0"/>
                        </a:rPr>
                        <a:t>11</a:t>
                      </a:r>
                      <a:endParaRPr lang="en-IN" sz="2000" dirty="0">
                        <a:latin typeface="Fira Sans" charset="0"/>
                      </a:endParaRPr>
                    </a:p>
                  </a:txBody>
                  <a:tcPr/>
                </a:tc>
                <a:tc>
                  <a:txBody>
                    <a:bodyPr/>
                    <a:lstStyle/>
                    <a:p>
                      <a:pPr algn="ctr"/>
                      <a:r>
                        <a:rPr lang="en-US" sz="2000" dirty="0" smtClean="0">
                          <a:latin typeface="Fira Sans" charset="0"/>
                        </a:rPr>
                        <a:t>10</a:t>
                      </a:r>
                      <a:endParaRPr lang="en-IN" sz="2000" dirty="0">
                        <a:latin typeface="Fira Sans" charset="0"/>
                      </a:endParaRPr>
                    </a:p>
                  </a:txBody>
                  <a:tcPr/>
                </a:tc>
              </a:tr>
              <a:tr h="370840">
                <a:tc>
                  <a:txBody>
                    <a:bodyPr/>
                    <a:lstStyle/>
                    <a:p>
                      <a:pPr algn="ctr"/>
                      <a:r>
                        <a:rPr lang="en-US" sz="2000" dirty="0" smtClean="0">
                          <a:latin typeface="Fira Sans" charset="0"/>
                        </a:rPr>
                        <a:t>0</a:t>
                      </a:r>
                      <a:endParaRPr lang="en-IN" sz="2000" dirty="0">
                        <a:latin typeface="Fira Sans" charset="0"/>
                      </a:endParaRPr>
                    </a:p>
                  </a:txBody>
                  <a:tcPr/>
                </a:tc>
                <a:tc>
                  <a:txBody>
                    <a:bodyPr/>
                    <a:lstStyle/>
                    <a:p>
                      <a:pPr algn="ctr"/>
                      <a:r>
                        <a:rPr lang="en-US" sz="2000" dirty="0" smtClean="0">
                          <a:latin typeface="Fira Sans" charset="0"/>
                        </a:rPr>
                        <a:t>0</a:t>
                      </a:r>
                      <a:endParaRPr lang="en-IN" sz="2000" dirty="0">
                        <a:latin typeface="Fira Sans" charset="0"/>
                      </a:endParaRPr>
                    </a:p>
                  </a:txBody>
                  <a:tcPr/>
                </a:tc>
                <a:tc>
                  <a:txBody>
                    <a:bodyPr/>
                    <a:lstStyle/>
                    <a:p>
                      <a:pPr algn="ctr"/>
                      <a:r>
                        <a:rPr lang="en-US" sz="2000" dirty="0" smtClean="0">
                          <a:latin typeface="Fira Sans" charset="0"/>
                        </a:rPr>
                        <a:t>1</a:t>
                      </a:r>
                      <a:endParaRPr lang="en-IN" sz="2000" dirty="0">
                        <a:latin typeface="Fira Sans" charset="0"/>
                      </a:endParaRPr>
                    </a:p>
                  </a:txBody>
                  <a:tcPr/>
                </a:tc>
                <a:tc>
                  <a:txBody>
                    <a:bodyPr/>
                    <a:lstStyle/>
                    <a:p>
                      <a:pPr algn="ctr"/>
                      <a:r>
                        <a:rPr lang="en-US" sz="2000" dirty="0" smtClean="0">
                          <a:latin typeface="Fira Sans" charset="0"/>
                        </a:rPr>
                        <a:t>0</a:t>
                      </a:r>
                      <a:endParaRPr lang="en-IN" sz="2000" dirty="0">
                        <a:latin typeface="Fira Sans" charset="0"/>
                      </a:endParaRPr>
                    </a:p>
                  </a:txBody>
                  <a:tcPr/>
                </a:tc>
                <a:tc>
                  <a:txBody>
                    <a:bodyPr/>
                    <a:lstStyle/>
                    <a:p>
                      <a:pPr algn="ctr"/>
                      <a:r>
                        <a:rPr lang="en-US" sz="2000" dirty="0" smtClean="0">
                          <a:latin typeface="Fira Sans" charset="0"/>
                        </a:rPr>
                        <a:t>0</a:t>
                      </a:r>
                      <a:endParaRPr lang="en-IN" sz="2000" dirty="0">
                        <a:latin typeface="Fira Sans" charset="0"/>
                      </a:endParaRPr>
                    </a:p>
                  </a:txBody>
                  <a:tcPr/>
                </a:tc>
              </a:tr>
              <a:tr h="370840">
                <a:tc>
                  <a:txBody>
                    <a:bodyPr/>
                    <a:lstStyle/>
                    <a:p>
                      <a:pPr algn="ctr"/>
                      <a:r>
                        <a:rPr lang="en-US" sz="2000" dirty="0" smtClean="0">
                          <a:latin typeface="Fira Sans" charset="0"/>
                        </a:rPr>
                        <a:t>1</a:t>
                      </a:r>
                      <a:endParaRPr lang="en-IN" sz="2000" dirty="0">
                        <a:latin typeface="Fira Sans" charset="0"/>
                      </a:endParaRPr>
                    </a:p>
                  </a:txBody>
                  <a:tcPr/>
                </a:tc>
                <a:tc>
                  <a:txBody>
                    <a:bodyPr/>
                    <a:lstStyle/>
                    <a:p>
                      <a:pPr algn="ctr"/>
                      <a:r>
                        <a:rPr lang="en-US" sz="2000" dirty="0" smtClean="0">
                          <a:latin typeface="Fira Sans" charset="0"/>
                        </a:rPr>
                        <a:t>1</a:t>
                      </a:r>
                      <a:endParaRPr lang="en-IN" sz="2000" dirty="0">
                        <a:latin typeface="Fira Sans" charset="0"/>
                      </a:endParaRPr>
                    </a:p>
                  </a:txBody>
                  <a:tcPr/>
                </a:tc>
                <a:tc>
                  <a:txBody>
                    <a:bodyPr/>
                    <a:lstStyle/>
                    <a:p>
                      <a:pPr algn="ctr"/>
                      <a:r>
                        <a:rPr lang="en-US" sz="2000" dirty="0" smtClean="0">
                          <a:latin typeface="Fira Sans" charset="0"/>
                        </a:rPr>
                        <a:t>1</a:t>
                      </a:r>
                      <a:endParaRPr lang="en-IN" sz="2000" dirty="0">
                        <a:latin typeface="Fira Sans" charset="0"/>
                      </a:endParaRPr>
                    </a:p>
                  </a:txBody>
                  <a:tcPr/>
                </a:tc>
                <a:tc>
                  <a:txBody>
                    <a:bodyPr/>
                    <a:lstStyle/>
                    <a:p>
                      <a:pPr algn="ctr"/>
                      <a:r>
                        <a:rPr lang="en-US" sz="2000" dirty="0" smtClean="0">
                          <a:latin typeface="Fira Sans" charset="0"/>
                        </a:rPr>
                        <a:t>1</a:t>
                      </a:r>
                      <a:endParaRPr lang="en-IN" sz="2000" dirty="0">
                        <a:latin typeface="Fira Sans" charset="0"/>
                      </a:endParaRPr>
                    </a:p>
                  </a:txBody>
                  <a:tcPr/>
                </a:tc>
                <a:tc>
                  <a:txBody>
                    <a:bodyPr/>
                    <a:lstStyle/>
                    <a:p>
                      <a:pPr algn="ctr"/>
                      <a:r>
                        <a:rPr lang="en-US" sz="2000" dirty="0" smtClean="0">
                          <a:latin typeface="Fira Sans" charset="0"/>
                        </a:rPr>
                        <a:t>0</a:t>
                      </a:r>
                      <a:endParaRPr lang="en-IN" sz="2000" dirty="0">
                        <a:latin typeface="Fira Sans" charset="0"/>
                      </a:endParaRPr>
                    </a:p>
                  </a:txBody>
                  <a:tcPr/>
                </a:tc>
              </a:tr>
            </a:tbl>
          </a:graphicData>
        </a:graphic>
      </p:graphicFrame>
      <mc:AlternateContent xmlns:mc="http://schemas.openxmlformats.org/markup-compatibility/2006" xmlns:p14="http://schemas.microsoft.com/office/powerpoint/2010/main">
        <mc:Choice Requires="p14">
          <p:contentPart p14:bwMode="auto" r:id="rId7">
            <p14:nvContentPartPr>
              <p14:cNvPr id="5" name="Ink 4"/>
              <p14:cNvContentPartPr/>
              <p14:nvPr/>
            </p14:nvContentPartPr>
            <p14:xfrm>
              <a:off x="1784520" y="2978280"/>
              <a:ext cx="1803600" cy="978120"/>
            </p14:xfrm>
          </p:contentPart>
        </mc:Choice>
        <mc:Fallback xmlns="">
          <p:pic>
            <p:nvPicPr>
              <p:cNvPr id="5" name="Ink 4"/>
              <p:cNvPicPr/>
              <p:nvPr/>
            </p:nvPicPr>
            <p:blipFill>
              <a:blip r:embed="rId8"/>
              <a:stretch>
                <a:fillRect/>
              </a:stretch>
            </p:blipFill>
            <p:spPr>
              <a:xfrm>
                <a:off x="1775160" y="2968920"/>
                <a:ext cx="1822320" cy="996840"/>
              </a:xfrm>
              <a:prstGeom prst="rect">
                <a:avLst/>
              </a:prstGeom>
            </p:spPr>
          </p:pic>
        </mc:Fallback>
      </mc:AlternateContent>
    </p:spTree>
    <p:extLst>
      <p:ext uri="{BB962C8B-B14F-4D97-AF65-F5344CB8AC3E}">
        <p14:creationId xmlns:p14="http://schemas.microsoft.com/office/powerpoint/2010/main" val="42248636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281843" y="191854"/>
            <a:ext cx="8546813" cy="721750"/>
          </a:xfrm>
          <a:prstGeom prst="rect">
            <a:avLst/>
          </a:prstGeom>
          <a:noFill/>
          <a:ln>
            <a:noFill/>
          </a:ln>
        </p:spPr>
        <p:txBody>
          <a:bodyPr spcFirstLastPara="1" wrap="square" lIns="76790" tIns="38395" rIns="76790" bIns="38395" anchor="ctr" anchorCtr="0">
            <a:noAutofit/>
          </a:bodyPr>
          <a:lstStyle/>
          <a:p>
            <a:pPr marL="382270"/>
            <a:r>
              <a:rPr lang="en-US" sz="3000" b="1" dirty="0" smtClean="0">
                <a:solidFill>
                  <a:srgbClr val="C00000"/>
                </a:solidFill>
                <a:latin typeface="Marcellus" charset="0"/>
              </a:rPr>
              <a:t>Full Subtractor</a:t>
            </a:r>
            <a:endParaRPr sz="3000" b="1" dirty="0">
              <a:solidFill>
                <a:srgbClr val="C00000"/>
              </a:solidFill>
              <a:latin typeface="Marcellus" charset="0"/>
            </a:endParaRPr>
          </a:p>
        </p:txBody>
      </p:sp>
      <p:pic>
        <p:nvPicPr>
          <p:cNvPr id="45" name="Google Shape;45;p3"/>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46" name="Google Shape;46;p3"/>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47" name="Google Shape;47;p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sp>
        <p:nvSpPr>
          <p:cNvPr id="49" name="Google Shape;49;p3"/>
          <p:cNvSpPr txBox="1"/>
          <p:nvPr/>
        </p:nvSpPr>
        <p:spPr>
          <a:xfrm>
            <a:off x="668094" y="814938"/>
            <a:ext cx="2997188" cy="2839500"/>
          </a:xfrm>
          <a:prstGeom prst="rect">
            <a:avLst/>
          </a:prstGeom>
          <a:noFill/>
          <a:ln>
            <a:noFill/>
          </a:ln>
        </p:spPr>
        <p:txBody>
          <a:bodyPr spcFirstLastPara="1" wrap="square" lIns="76790" tIns="76790" rIns="76790" bIns="76790" anchor="t" anchorCtr="0">
            <a:noAutofit/>
          </a:bodyPr>
          <a:lstStyle/>
          <a:p>
            <a:pPr marL="320040" indent="320040" algn="just">
              <a:buClr>
                <a:srgbClr val="000000"/>
              </a:buClr>
              <a:buSzPts val="2900"/>
            </a:pPr>
            <a:endParaRPr sz="2000" b="1" dirty="0">
              <a:solidFill>
                <a:schemeClr val="dk1"/>
              </a:solidFill>
              <a:latin typeface="Fira Sans"/>
              <a:ea typeface="Fira Sans"/>
              <a:cs typeface="Fira Sans"/>
              <a:sym typeface="Fira Sans"/>
            </a:endParaRPr>
          </a:p>
          <a:p>
            <a:pPr marL="320040" indent="320040" algn="just">
              <a:buClr>
                <a:srgbClr val="000000"/>
              </a:buClr>
              <a:buSzPts val="2900"/>
            </a:pPr>
            <a:endParaRPr sz="2000" b="1" dirty="0">
              <a:solidFill>
                <a:schemeClr val="dk1"/>
              </a:solidFill>
              <a:latin typeface="Fira Sans"/>
              <a:ea typeface="Fira Sans"/>
              <a:cs typeface="Fira Sans"/>
              <a:sym typeface="Fira Sans"/>
            </a:endParaRPr>
          </a:p>
        </p:txBody>
      </p:sp>
      <p:sp>
        <p:nvSpPr>
          <p:cNvPr id="50" name="Google Shape;50;p3"/>
          <p:cNvSpPr txBox="1"/>
          <p:nvPr/>
        </p:nvSpPr>
        <p:spPr>
          <a:xfrm>
            <a:off x="539552" y="913604"/>
            <a:ext cx="7572484" cy="4602500"/>
          </a:xfrm>
          <a:prstGeom prst="rect">
            <a:avLst/>
          </a:prstGeom>
          <a:noFill/>
          <a:ln>
            <a:noFill/>
          </a:ln>
        </p:spPr>
        <p:txBody>
          <a:bodyPr spcFirstLastPara="1" wrap="square" lIns="76790" tIns="76790" rIns="76790" bIns="76790" anchor="t" anchorCtr="0">
            <a:noAutofit/>
          </a:bodyPr>
          <a:lstStyle/>
          <a:p>
            <a:r>
              <a:rPr lang="en-US" sz="2400" b="1" dirty="0">
                <a:latin typeface="Fira Sans" charset="0"/>
              </a:rPr>
              <a:t>Full </a:t>
            </a:r>
            <a:r>
              <a:rPr lang="en-US" sz="2400" b="1" dirty="0" smtClean="0">
                <a:latin typeface="Fira Sans" charset="0"/>
              </a:rPr>
              <a:t>Subtractor</a:t>
            </a:r>
            <a:endParaRPr lang="en-US" sz="2400" b="1" dirty="0">
              <a:latin typeface="Fira Sans" charset="0"/>
            </a:endParaRPr>
          </a:p>
          <a:p>
            <a:r>
              <a:rPr lang="en-US" sz="2400" dirty="0">
                <a:latin typeface="Fira Sans" charset="0"/>
              </a:rPr>
              <a:t> </a:t>
            </a:r>
            <a:r>
              <a:rPr lang="en-US" sz="2400" dirty="0" smtClean="0">
                <a:latin typeface="Fira Sans" charset="0"/>
              </a:rPr>
              <a:t>Bout</a:t>
            </a:r>
            <a:r>
              <a:rPr lang="el-GR" sz="2400" dirty="0" smtClean="0">
                <a:latin typeface="Fira Sans" charset="0"/>
              </a:rPr>
              <a:t>  </a:t>
            </a:r>
            <a:r>
              <a:rPr lang="el-GR" sz="2400" dirty="0">
                <a:latin typeface="Fira Sans" charset="0"/>
              </a:rPr>
              <a:t>= Σ m </a:t>
            </a:r>
            <a:r>
              <a:rPr lang="el-GR" sz="2400" dirty="0" smtClean="0">
                <a:latin typeface="Fira Sans" charset="0"/>
              </a:rPr>
              <a:t>(</a:t>
            </a:r>
            <a:r>
              <a:rPr lang="en-US" sz="2400" dirty="0" smtClean="0">
                <a:latin typeface="Fira Sans" charset="0"/>
              </a:rPr>
              <a:t>1,2,3,7</a:t>
            </a:r>
            <a:r>
              <a:rPr lang="el-GR" sz="2400" dirty="0" smtClean="0">
                <a:latin typeface="Fira Sans" charset="0"/>
              </a:rPr>
              <a:t>)</a:t>
            </a:r>
            <a:endParaRPr lang="en-US" sz="2400" dirty="0" smtClean="0">
              <a:latin typeface="Fira Sans" charset="0"/>
            </a:endParaRPr>
          </a:p>
          <a:p>
            <a:r>
              <a:rPr lang="en-US" sz="2400" dirty="0" smtClean="0">
                <a:latin typeface="Fira Sans" charset="0"/>
              </a:rPr>
              <a:t>Bout = </a:t>
            </a:r>
            <a:r>
              <a:rPr lang="en-US" sz="2400" dirty="0">
                <a:latin typeface="Fira Sans" charset="0"/>
              </a:rPr>
              <a:t>A’B+ </a:t>
            </a:r>
            <a:r>
              <a:rPr lang="en-US" sz="2400" dirty="0" err="1">
                <a:latin typeface="Fira Sans" charset="0"/>
              </a:rPr>
              <a:t>A’Bin</a:t>
            </a:r>
            <a:r>
              <a:rPr lang="en-US" sz="2400" dirty="0">
                <a:latin typeface="Fira Sans" charset="0"/>
              </a:rPr>
              <a:t> + B Bin</a:t>
            </a:r>
            <a:endParaRPr lang="el-GR" sz="2400" dirty="0">
              <a:latin typeface="Fira Sans" charset="0"/>
            </a:endParaRPr>
          </a:p>
          <a:p>
            <a:r>
              <a:rPr lang="el-GR" sz="2400" dirty="0">
                <a:latin typeface="Fira Sans" charset="0"/>
              </a:rPr>
              <a:t>Sum = Σ m (</a:t>
            </a:r>
            <a:r>
              <a:rPr lang="en-US" sz="2400" dirty="0">
                <a:latin typeface="Fira Sans" charset="0"/>
              </a:rPr>
              <a:t>1,2,4,7</a:t>
            </a:r>
            <a:r>
              <a:rPr lang="el-GR" sz="2400" dirty="0">
                <a:latin typeface="Fira Sans" charset="0"/>
              </a:rPr>
              <a:t>)</a:t>
            </a:r>
            <a:endParaRPr lang="en-US" sz="2400" dirty="0">
              <a:latin typeface="Fira Sans" charset="0"/>
            </a:endParaRPr>
          </a:p>
          <a:p>
            <a:r>
              <a:rPr lang="en-US" sz="2400" dirty="0">
                <a:latin typeface="Fira Sans" charset="0"/>
              </a:rPr>
              <a:t>	= A </a:t>
            </a:r>
            <a:r>
              <a:rPr lang="en-US" sz="2400" dirty="0" err="1">
                <a:latin typeface="Fira Sans" charset="0"/>
              </a:rPr>
              <a:t>xor</a:t>
            </a:r>
            <a:r>
              <a:rPr lang="en-US" sz="2400" dirty="0">
                <a:latin typeface="Fira Sans" charset="0"/>
              </a:rPr>
              <a:t> B </a:t>
            </a:r>
            <a:r>
              <a:rPr lang="en-US" sz="2400" dirty="0" err="1">
                <a:latin typeface="Fira Sans" charset="0"/>
              </a:rPr>
              <a:t>xor</a:t>
            </a:r>
            <a:r>
              <a:rPr lang="en-US" sz="2400" dirty="0">
                <a:latin typeface="Fira Sans" charset="0"/>
              </a:rPr>
              <a:t> B</a:t>
            </a:r>
            <a:r>
              <a:rPr lang="en-US" sz="2400" dirty="0" smtClean="0">
                <a:latin typeface="Fira Sans" charset="0"/>
              </a:rPr>
              <a:t>in</a:t>
            </a:r>
            <a:endParaRPr lang="el-GR" sz="2400" dirty="0">
              <a:latin typeface="Fira Sans" charset="0"/>
            </a:endParaRPr>
          </a:p>
        </p:txBody>
      </p:sp>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1" y="5605573"/>
            <a:ext cx="1433886" cy="594811"/>
          </a:xfrm>
          <a:prstGeom prst="rect">
            <a:avLst/>
          </a:prstGeom>
        </p:spPr>
      </p:pic>
      <mc:AlternateContent xmlns:mc="http://schemas.openxmlformats.org/markup-compatibility/2006" xmlns:p14="http://schemas.microsoft.com/office/powerpoint/2010/main">
        <mc:Choice Requires="p14">
          <p:contentPart p14:bwMode="auto" r:id="rId7">
            <p14:nvContentPartPr>
              <p14:cNvPr id="20" name="Ink 19"/>
              <p14:cNvContentPartPr/>
              <p14:nvPr/>
            </p14:nvContentPartPr>
            <p14:xfrm>
              <a:off x="5363094" y="1469293"/>
              <a:ext cx="20880" cy="20880"/>
            </p14:xfrm>
          </p:contentPart>
        </mc:Choice>
        <mc:Fallback xmlns="">
          <p:pic>
            <p:nvPicPr>
              <p:cNvPr id="20" name="Ink 19"/>
              <p:cNvPicPr/>
              <p:nvPr/>
            </p:nvPicPr>
            <p:blipFill>
              <a:blip r:embed="rId8"/>
              <a:stretch>
                <a:fillRect/>
              </a:stretch>
            </p:blipFill>
            <p:spPr>
              <a:xfrm>
                <a:off x="5345094" y="1451293"/>
                <a:ext cx="56880" cy="56880"/>
              </a:xfrm>
              <a:prstGeom prst="rect">
                <a:avLst/>
              </a:prstGeom>
            </p:spPr>
          </p:pic>
        </mc:Fallback>
      </mc:AlternateContent>
      <p:pic>
        <p:nvPicPr>
          <p:cNvPr id="21" name="Picture 20"/>
          <p:cNvPicPr>
            <a:picLocks noChangeAspect="1"/>
          </p:cNvPicPr>
          <p:nvPr/>
        </p:nvPicPr>
        <p:blipFill rotWithShape="1">
          <a:blip r:embed="rId9">
            <a:extLst>
              <a:ext uri="{28A0092B-C50C-407E-A947-70E740481C1C}">
                <a14:useLocalDpi xmlns:a14="http://schemas.microsoft.com/office/drawing/2010/main" val="0"/>
              </a:ext>
            </a:extLst>
          </a:blip>
          <a:srcRect l="32935" t="17118" r="28006" b="27301"/>
          <a:stretch/>
        </p:blipFill>
        <p:spPr>
          <a:xfrm>
            <a:off x="4067945" y="1268760"/>
            <a:ext cx="4752528" cy="3311240"/>
          </a:xfrm>
          <a:prstGeom prst="rect">
            <a:avLst/>
          </a:prstGeom>
        </p:spPr>
      </p:pic>
    </p:spTree>
    <p:extLst>
      <p:ext uri="{BB962C8B-B14F-4D97-AF65-F5344CB8AC3E}">
        <p14:creationId xmlns:p14="http://schemas.microsoft.com/office/powerpoint/2010/main" val="21070291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281843" y="191854"/>
            <a:ext cx="8546813" cy="721750"/>
          </a:xfrm>
          <a:prstGeom prst="rect">
            <a:avLst/>
          </a:prstGeom>
          <a:noFill/>
          <a:ln>
            <a:noFill/>
          </a:ln>
        </p:spPr>
        <p:txBody>
          <a:bodyPr spcFirstLastPara="1" wrap="square" lIns="76790" tIns="38395" rIns="76790" bIns="38395" anchor="ctr" anchorCtr="0">
            <a:noAutofit/>
          </a:bodyPr>
          <a:lstStyle/>
          <a:p>
            <a:pPr marL="382270"/>
            <a:r>
              <a:rPr lang="en-US" sz="3000" b="1" dirty="0" smtClean="0">
                <a:solidFill>
                  <a:srgbClr val="C00000"/>
                </a:solidFill>
                <a:latin typeface="Marcellus" charset="0"/>
              </a:rPr>
              <a:t>Full Subtractor using Half Subtractors</a:t>
            </a:r>
            <a:endParaRPr sz="3000" b="1" dirty="0">
              <a:solidFill>
                <a:srgbClr val="C00000"/>
              </a:solidFill>
              <a:latin typeface="Marcellus" charset="0"/>
            </a:endParaRPr>
          </a:p>
        </p:txBody>
      </p:sp>
      <p:pic>
        <p:nvPicPr>
          <p:cNvPr id="45" name="Google Shape;45;p3"/>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46" name="Google Shape;46;p3"/>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47" name="Google Shape;47;p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sp>
        <p:nvSpPr>
          <p:cNvPr id="49" name="Google Shape;49;p3"/>
          <p:cNvSpPr txBox="1"/>
          <p:nvPr/>
        </p:nvSpPr>
        <p:spPr>
          <a:xfrm>
            <a:off x="668094" y="814938"/>
            <a:ext cx="2997188" cy="2839500"/>
          </a:xfrm>
          <a:prstGeom prst="rect">
            <a:avLst/>
          </a:prstGeom>
          <a:noFill/>
          <a:ln>
            <a:noFill/>
          </a:ln>
        </p:spPr>
        <p:txBody>
          <a:bodyPr spcFirstLastPara="1" wrap="square" lIns="76790" tIns="76790" rIns="76790" bIns="76790" anchor="t" anchorCtr="0">
            <a:noAutofit/>
          </a:bodyPr>
          <a:lstStyle/>
          <a:p>
            <a:pPr marL="320040" indent="320040" algn="just">
              <a:buClr>
                <a:srgbClr val="000000"/>
              </a:buClr>
              <a:buSzPts val="2900"/>
            </a:pPr>
            <a:endParaRPr sz="2000" b="1" dirty="0">
              <a:solidFill>
                <a:schemeClr val="dk1"/>
              </a:solidFill>
              <a:latin typeface="Fira Sans"/>
              <a:ea typeface="Fira Sans"/>
              <a:cs typeface="Fira Sans"/>
              <a:sym typeface="Fira Sans"/>
            </a:endParaRPr>
          </a:p>
          <a:p>
            <a:pPr marL="320040" indent="320040" algn="just">
              <a:buClr>
                <a:srgbClr val="000000"/>
              </a:buClr>
              <a:buSzPts val="2900"/>
            </a:pPr>
            <a:endParaRPr sz="2000" b="1" dirty="0">
              <a:solidFill>
                <a:schemeClr val="dk1"/>
              </a:solidFill>
              <a:latin typeface="Fira Sans"/>
              <a:ea typeface="Fira Sans"/>
              <a:cs typeface="Fira Sans"/>
              <a:sym typeface="Fira Sans"/>
            </a:endParaRPr>
          </a:p>
        </p:txBody>
      </p:sp>
      <p:sp>
        <p:nvSpPr>
          <p:cNvPr id="50" name="Google Shape;50;p3"/>
          <p:cNvSpPr txBox="1"/>
          <p:nvPr/>
        </p:nvSpPr>
        <p:spPr>
          <a:xfrm>
            <a:off x="955110" y="913604"/>
            <a:ext cx="7572484" cy="4602500"/>
          </a:xfrm>
          <a:prstGeom prst="rect">
            <a:avLst/>
          </a:prstGeom>
          <a:noFill/>
          <a:ln>
            <a:noFill/>
          </a:ln>
        </p:spPr>
        <p:txBody>
          <a:bodyPr spcFirstLastPara="1" wrap="square" lIns="76790" tIns="76790" rIns="76790" bIns="76790" anchor="t" anchorCtr="0">
            <a:noAutofit/>
          </a:bodyPr>
          <a:lstStyle/>
          <a:p>
            <a:pPr lvl="0" algn="just">
              <a:lnSpc>
                <a:spcPct val="90000"/>
              </a:lnSpc>
            </a:pPr>
            <a:r>
              <a:rPr lang="en-US" sz="2400" dirty="0" smtClean="0">
                <a:solidFill>
                  <a:srgbClr val="262626"/>
                </a:solidFill>
                <a:latin typeface="Fira Sans"/>
                <a:ea typeface="Fira Sans"/>
                <a:cs typeface="Fira Sans"/>
                <a:sym typeface="Fira Sans"/>
              </a:rPr>
              <a:t>Diff = A  XOR B XOR Bin</a:t>
            </a:r>
          </a:p>
          <a:p>
            <a:pPr lvl="0" algn="just">
              <a:lnSpc>
                <a:spcPct val="90000"/>
              </a:lnSpc>
            </a:pPr>
            <a:r>
              <a:rPr lang="en-US" sz="2400" smtClean="0">
                <a:solidFill>
                  <a:srgbClr val="262626"/>
                </a:solidFill>
                <a:latin typeface="Fira Sans"/>
                <a:ea typeface="Fira Sans"/>
                <a:cs typeface="Fira Sans"/>
                <a:sym typeface="Fira Sans"/>
              </a:rPr>
              <a:t>Bout </a:t>
            </a:r>
            <a:r>
              <a:rPr lang="en-US" sz="2400" dirty="0" smtClean="0">
                <a:solidFill>
                  <a:srgbClr val="262626"/>
                </a:solidFill>
                <a:latin typeface="Fira Sans"/>
                <a:ea typeface="Fira Sans"/>
                <a:cs typeface="Fira Sans"/>
                <a:sym typeface="Fira Sans"/>
              </a:rPr>
              <a:t>=A’B + </a:t>
            </a:r>
            <a:r>
              <a:rPr lang="en-US" sz="2400" dirty="0" err="1" smtClean="0">
                <a:solidFill>
                  <a:srgbClr val="262626"/>
                </a:solidFill>
                <a:latin typeface="Fira Sans"/>
                <a:ea typeface="Fira Sans"/>
                <a:cs typeface="Fira Sans"/>
                <a:sym typeface="Fira Sans"/>
              </a:rPr>
              <a:t>A’Bin</a:t>
            </a:r>
            <a:r>
              <a:rPr lang="en-US" sz="2400" dirty="0" smtClean="0">
                <a:solidFill>
                  <a:srgbClr val="262626"/>
                </a:solidFill>
                <a:latin typeface="Fira Sans"/>
                <a:ea typeface="Fira Sans"/>
                <a:cs typeface="Fira Sans"/>
                <a:sym typeface="Fira Sans"/>
              </a:rPr>
              <a:t> + </a:t>
            </a:r>
            <a:r>
              <a:rPr lang="en-US" sz="2400" dirty="0" err="1" smtClean="0">
                <a:solidFill>
                  <a:srgbClr val="262626"/>
                </a:solidFill>
                <a:latin typeface="Fira Sans"/>
                <a:ea typeface="Fira Sans"/>
                <a:cs typeface="Fira Sans"/>
                <a:sym typeface="Fira Sans"/>
              </a:rPr>
              <a:t>BBin</a:t>
            </a:r>
            <a:endParaRPr lang="en-US" sz="2400" dirty="0" smtClean="0">
              <a:solidFill>
                <a:srgbClr val="262626"/>
              </a:solidFill>
              <a:latin typeface="Fira Sans"/>
              <a:ea typeface="Fira Sans"/>
              <a:cs typeface="Fira Sans"/>
              <a:sym typeface="Fira Sans"/>
            </a:endParaRPr>
          </a:p>
        </p:txBody>
      </p:sp>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1" y="5605573"/>
            <a:ext cx="1433886" cy="594811"/>
          </a:xfrm>
          <a:prstGeom prst="rect">
            <a:avLst/>
          </a:prstGeom>
        </p:spPr>
      </p:pic>
      <p:sp>
        <p:nvSpPr>
          <p:cNvPr id="3" name="Rectangle 2"/>
          <p:cNvSpPr/>
          <p:nvPr/>
        </p:nvSpPr>
        <p:spPr>
          <a:xfrm>
            <a:off x="5220073" y="913604"/>
            <a:ext cx="3307522" cy="369332"/>
          </a:xfrm>
          <a:prstGeom prst="rect">
            <a:avLst/>
          </a:prstGeom>
        </p:spPr>
        <p:txBody>
          <a:bodyPr wrap="square">
            <a:spAutoFit/>
          </a:bodyPr>
          <a:lstStyle/>
          <a:p>
            <a:r>
              <a:rPr lang="en-US" b="1" dirty="0">
                <a:latin typeface="Fira Sans" charset="0"/>
              </a:rPr>
              <a:t>Full </a:t>
            </a:r>
            <a:r>
              <a:rPr lang="en-US" b="1" dirty="0" smtClean="0">
                <a:latin typeface="Fira Sans" charset="0"/>
              </a:rPr>
              <a:t>Subtractor </a:t>
            </a:r>
            <a:r>
              <a:rPr lang="en-US" b="1" dirty="0">
                <a:latin typeface="Fira Sans" charset="0"/>
              </a:rPr>
              <a:t>Truth </a:t>
            </a:r>
            <a:r>
              <a:rPr lang="en-US" b="1" dirty="0" smtClean="0">
                <a:latin typeface="Fira Sans" charset="0"/>
              </a:rPr>
              <a:t>Table</a:t>
            </a:r>
            <a:endParaRPr lang="en-US" b="1" dirty="0">
              <a:latin typeface="Fira Sans" charset="0"/>
            </a:endParaRPr>
          </a:p>
        </p:txBody>
      </p:sp>
      <p:graphicFrame>
        <p:nvGraphicFramePr>
          <p:cNvPr id="12" name="Table 11"/>
          <p:cNvGraphicFramePr>
            <a:graphicFrameLocks noGrp="1"/>
          </p:cNvGraphicFramePr>
          <p:nvPr>
            <p:extLst>
              <p:ext uri="{D42A27DB-BD31-4B8C-83A1-F6EECF244321}">
                <p14:modId xmlns:p14="http://schemas.microsoft.com/office/powerpoint/2010/main" val="2283693960"/>
              </p:ext>
            </p:extLst>
          </p:nvPr>
        </p:nvGraphicFramePr>
        <p:xfrm>
          <a:off x="5097227" y="1483042"/>
          <a:ext cx="3240361" cy="3840480"/>
        </p:xfrm>
        <a:graphic>
          <a:graphicData uri="http://schemas.openxmlformats.org/drawingml/2006/table">
            <a:tbl>
              <a:tblPr firstRow="1" bandRow="1">
                <a:tableStyleId>{5C22544A-7EE6-4342-B048-85BDC9FD1C3A}</a:tableStyleId>
              </a:tblPr>
              <a:tblGrid>
                <a:gridCol w="504056"/>
                <a:gridCol w="576064"/>
                <a:gridCol w="672988"/>
                <a:gridCol w="892352"/>
                <a:gridCol w="594901"/>
              </a:tblGrid>
              <a:tr h="370840">
                <a:tc>
                  <a:txBody>
                    <a:bodyPr/>
                    <a:lstStyle/>
                    <a:p>
                      <a:pPr algn="ctr"/>
                      <a:r>
                        <a:rPr lang="en-US" sz="2200" dirty="0" smtClean="0">
                          <a:latin typeface="Fira Sans" charset="0"/>
                        </a:rPr>
                        <a:t>A</a:t>
                      </a:r>
                      <a:endParaRPr lang="en-IN" sz="2200" dirty="0">
                        <a:latin typeface="Fira Sans" charset="0"/>
                      </a:endParaRPr>
                    </a:p>
                  </a:txBody>
                  <a:tcPr/>
                </a:tc>
                <a:tc>
                  <a:txBody>
                    <a:bodyPr/>
                    <a:lstStyle/>
                    <a:p>
                      <a:pPr algn="ctr"/>
                      <a:r>
                        <a:rPr lang="en-US" sz="2200" dirty="0" smtClean="0">
                          <a:latin typeface="Fira Sans" charset="0"/>
                        </a:rPr>
                        <a:t>B</a:t>
                      </a:r>
                      <a:endParaRPr lang="en-IN" sz="2200" dirty="0">
                        <a:latin typeface="Fira Sans" charset="0"/>
                      </a:endParaRPr>
                    </a:p>
                  </a:txBody>
                  <a:tcPr/>
                </a:tc>
                <a:tc>
                  <a:txBody>
                    <a:bodyPr/>
                    <a:lstStyle/>
                    <a:p>
                      <a:pPr algn="ctr"/>
                      <a:r>
                        <a:rPr lang="en-US" sz="2200" dirty="0" smtClean="0">
                          <a:latin typeface="Fira Sans" charset="0"/>
                        </a:rPr>
                        <a:t>Bin</a:t>
                      </a:r>
                      <a:endParaRPr lang="en-IN" sz="2200" dirty="0">
                        <a:latin typeface="Fira Sans" charset="0"/>
                      </a:endParaRPr>
                    </a:p>
                  </a:txBody>
                  <a:tcPr/>
                </a:tc>
                <a:tc>
                  <a:txBody>
                    <a:bodyPr/>
                    <a:lstStyle/>
                    <a:p>
                      <a:pPr algn="ctr"/>
                      <a:r>
                        <a:rPr lang="en-US" sz="2200" dirty="0" smtClean="0">
                          <a:latin typeface="Fira Sans" charset="0"/>
                        </a:rPr>
                        <a:t>Diff</a:t>
                      </a:r>
                      <a:endParaRPr lang="en-IN" sz="2200" dirty="0">
                        <a:latin typeface="Fira Sans" charset="0"/>
                      </a:endParaRPr>
                    </a:p>
                  </a:txBody>
                  <a:tcPr/>
                </a:tc>
                <a:tc>
                  <a:txBody>
                    <a:bodyPr/>
                    <a:lstStyle/>
                    <a:p>
                      <a:pPr algn="ctr"/>
                      <a:r>
                        <a:rPr lang="en-US" sz="2200" dirty="0" smtClean="0">
                          <a:latin typeface="Fira Sans" charset="0"/>
                        </a:rPr>
                        <a:t>Bo</a:t>
                      </a:r>
                      <a:endParaRPr lang="en-IN" sz="2200" dirty="0">
                        <a:latin typeface="Fira Sans" charset="0"/>
                      </a:endParaRPr>
                    </a:p>
                  </a:txBody>
                  <a:tcPr/>
                </a:tc>
              </a:tr>
              <a:tr h="370840">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r>
              <a:tr h="370840">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r>
              <a:tr h="370840">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r>
              <a:tr h="370840">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r>
              <a:tr h="370840">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r>
              <a:tr h="370840">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r>
              <a:tr h="370840">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c>
                  <a:txBody>
                    <a:bodyPr/>
                    <a:lstStyle/>
                    <a:p>
                      <a:pPr algn="ctr"/>
                      <a:r>
                        <a:rPr lang="en-US" sz="2200" dirty="0" smtClean="0">
                          <a:latin typeface="Fira Sans" charset="0"/>
                        </a:rPr>
                        <a:t>0</a:t>
                      </a:r>
                      <a:endParaRPr lang="en-IN" sz="2200" dirty="0">
                        <a:latin typeface="Fira Sans" charset="0"/>
                      </a:endParaRPr>
                    </a:p>
                  </a:txBody>
                  <a:tcPr/>
                </a:tc>
              </a:tr>
              <a:tr h="370840">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c>
                  <a:txBody>
                    <a:bodyPr/>
                    <a:lstStyle/>
                    <a:p>
                      <a:pPr algn="ctr"/>
                      <a:r>
                        <a:rPr lang="en-US" sz="2200" dirty="0" smtClean="0">
                          <a:latin typeface="Fira Sans" charset="0"/>
                        </a:rPr>
                        <a:t>1</a:t>
                      </a:r>
                      <a:endParaRPr lang="en-IN" sz="2200" dirty="0">
                        <a:latin typeface="Fira Sans" charset="0"/>
                      </a:endParaRPr>
                    </a:p>
                  </a:txBody>
                  <a:tcPr/>
                </a:tc>
              </a:tr>
            </a:tbl>
          </a:graphicData>
        </a:graphic>
      </p:graphicFrame>
      <p:pic>
        <p:nvPicPr>
          <p:cNvPr id="2" name="Picture 1"/>
          <p:cNvPicPr>
            <a:picLocks noChangeAspect="1"/>
          </p:cNvPicPr>
          <p:nvPr/>
        </p:nvPicPr>
        <p:blipFill rotWithShape="1">
          <a:blip r:embed="rId7">
            <a:extLst>
              <a:ext uri="{28A0092B-C50C-407E-A947-70E740481C1C}">
                <a14:useLocalDpi xmlns:a14="http://schemas.microsoft.com/office/drawing/2010/main" val="0"/>
              </a:ext>
            </a:extLst>
          </a:blip>
          <a:srcRect l="28897" t="23909" r="26758" b="37549"/>
          <a:stretch/>
        </p:blipFill>
        <p:spPr>
          <a:xfrm>
            <a:off x="183595" y="1628776"/>
            <a:ext cx="4892461" cy="2069992"/>
          </a:xfrm>
          <a:prstGeom prst="rect">
            <a:avLst/>
          </a:prstGeom>
        </p:spPr>
      </p:pic>
    </p:spTree>
    <p:extLst>
      <p:ext uri="{BB962C8B-B14F-4D97-AF65-F5344CB8AC3E}">
        <p14:creationId xmlns:p14="http://schemas.microsoft.com/office/powerpoint/2010/main" val="22523267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Full-Subtractor-in-Digital-Logic-4"/>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406" y="1628800"/>
            <a:ext cx="8812090" cy="439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Google Shape;44;p3"/>
          <p:cNvSpPr txBox="1">
            <a:spLocks/>
          </p:cNvSpPr>
          <p:nvPr/>
        </p:nvSpPr>
        <p:spPr>
          <a:xfrm>
            <a:off x="281843" y="620688"/>
            <a:ext cx="8546813" cy="721750"/>
          </a:xfrm>
          <a:prstGeom prst="rect">
            <a:avLst/>
          </a:prstGeom>
          <a:noFill/>
          <a:ln>
            <a:noFill/>
          </a:ln>
        </p:spPr>
        <p:txBody>
          <a:bodyPr spcFirstLastPara="1" wrap="square" lIns="76790" tIns="38395" rIns="76790" bIns="3839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82270"/>
            <a:r>
              <a:rPr lang="en-US" sz="3000" b="1" dirty="0" smtClean="0">
                <a:solidFill>
                  <a:srgbClr val="C00000"/>
                </a:solidFill>
                <a:latin typeface="Marcellus" charset="0"/>
              </a:rPr>
              <a:t>Full </a:t>
            </a:r>
            <a:r>
              <a:rPr lang="en-US" sz="3000" b="1" dirty="0" err="1" smtClean="0">
                <a:solidFill>
                  <a:srgbClr val="C00000"/>
                </a:solidFill>
                <a:latin typeface="Marcellus" charset="0"/>
              </a:rPr>
              <a:t>Subtractor</a:t>
            </a:r>
            <a:r>
              <a:rPr lang="en-US" sz="3000" b="1" dirty="0" smtClean="0">
                <a:solidFill>
                  <a:srgbClr val="C00000"/>
                </a:solidFill>
                <a:latin typeface="Marcellus" charset="0"/>
              </a:rPr>
              <a:t> using Half </a:t>
            </a:r>
            <a:r>
              <a:rPr lang="en-US" sz="3000" b="1" dirty="0" err="1" smtClean="0">
                <a:solidFill>
                  <a:srgbClr val="C00000"/>
                </a:solidFill>
                <a:latin typeface="Marcellus" charset="0"/>
              </a:rPr>
              <a:t>Subtractors</a:t>
            </a:r>
            <a:endParaRPr lang="en-US" sz="3000" b="1" dirty="0">
              <a:solidFill>
                <a:srgbClr val="C00000"/>
              </a:solidFill>
              <a:latin typeface="Marcellus" charset="0"/>
            </a:endParaRPr>
          </a:p>
        </p:txBody>
      </p:sp>
    </p:spTree>
    <p:extLst>
      <p:ext uri="{BB962C8B-B14F-4D97-AF65-F5344CB8AC3E}">
        <p14:creationId xmlns:p14="http://schemas.microsoft.com/office/powerpoint/2010/main" val="25282444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281843" y="191854"/>
            <a:ext cx="8546813" cy="721750"/>
          </a:xfrm>
          <a:prstGeom prst="rect">
            <a:avLst/>
          </a:prstGeom>
          <a:noFill/>
          <a:ln>
            <a:noFill/>
          </a:ln>
        </p:spPr>
        <p:txBody>
          <a:bodyPr spcFirstLastPara="1" wrap="square" lIns="76790" tIns="38395" rIns="76790" bIns="38395" anchor="ctr" anchorCtr="0">
            <a:noAutofit/>
          </a:bodyPr>
          <a:lstStyle/>
          <a:p>
            <a:pPr marL="382270"/>
            <a:r>
              <a:rPr lang="en-US" sz="3000" b="1" dirty="0" smtClean="0">
                <a:solidFill>
                  <a:srgbClr val="C00000"/>
                </a:solidFill>
                <a:latin typeface="Marcellus" charset="0"/>
              </a:rPr>
              <a:t>4 </a:t>
            </a:r>
            <a:r>
              <a:rPr lang="en-US" sz="3000" b="1" dirty="0">
                <a:solidFill>
                  <a:srgbClr val="C00000"/>
                </a:solidFill>
                <a:latin typeface="Marcellus" charset="0"/>
              </a:rPr>
              <a:t>bit adder using full </a:t>
            </a:r>
            <a:r>
              <a:rPr lang="en-US" sz="3000" b="1" dirty="0" smtClean="0">
                <a:solidFill>
                  <a:srgbClr val="C00000"/>
                </a:solidFill>
                <a:latin typeface="Marcellus" charset="0"/>
              </a:rPr>
              <a:t>Adder</a:t>
            </a:r>
            <a:endParaRPr sz="3000" b="1" dirty="0">
              <a:solidFill>
                <a:srgbClr val="C00000"/>
              </a:solidFill>
              <a:latin typeface="Marcellus" charset="0"/>
            </a:endParaRPr>
          </a:p>
        </p:txBody>
      </p:sp>
      <p:pic>
        <p:nvPicPr>
          <p:cNvPr id="45" name="Google Shape;45;p3"/>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46" name="Google Shape;46;p3"/>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47" name="Google Shape;47;p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sp>
        <p:nvSpPr>
          <p:cNvPr id="49" name="Google Shape;49;p3"/>
          <p:cNvSpPr txBox="1"/>
          <p:nvPr/>
        </p:nvSpPr>
        <p:spPr>
          <a:xfrm>
            <a:off x="668094" y="814938"/>
            <a:ext cx="2997188" cy="2839500"/>
          </a:xfrm>
          <a:prstGeom prst="rect">
            <a:avLst/>
          </a:prstGeom>
          <a:noFill/>
          <a:ln>
            <a:noFill/>
          </a:ln>
        </p:spPr>
        <p:txBody>
          <a:bodyPr spcFirstLastPara="1" wrap="square" lIns="76790" tIns="76790" rIns="76790" bIns="76790" anchor="t" anchorCtr="0">
            <a:noAutofit/>
          </a:bodyPr>
          <a:lstStyle/>
          <a:p>
            <a:pPr marL="320040" indent="320040" algn="just">
              <a:buClr>
                <a:srgbClr val="000000"/>
              </a:buClr>
              <a:buSzPts val="2900"/>
            </a:pPr>
            <a:endParaRPr sz="2000" b="1" dirty="0">
              <a:solidFill>
                <a:schemeClr val="dk1"/>
              </a:solidFill>
              <a:latin typeface="Fira Sans"/>
              <a:ea typeface="Fira Sans"/>
              <a:cs typeface="Fira Sans"/>
              <a:sym typeface="Fira Sans"/>
            </a:endParaRPr>
          </a:p>
          <a:p>
            <a:pPr marL="320040" indent="320040" algn="just">
              <a:buClr>
                <a:srgbClr val="000000"/>
              </a:buClr>
              <a:buSzPts val="2900"/>
            </a:pPr>
            <a:endParaRPr sz="2000" b="1" dirty="0">
              <a:solidFill>
                <a:schemeClr val="dk1"/>
              </a:solidFill>
              <a:latin typeface="Fira Sans"/>
              <a:ea typeface="Fira Sans"/>
              <a:cs typeface="Fira Sans"/>
              <a:sym typeface="Fira Sans"/>
            </a:endParaRPr>
          </a:p>
        </p:txBody>
      </p:sp>
      <p:sp>
        <p:nvSpPr>
          <p:cNvPr id="50" name="Google Shape;50;p3"/>
          <p:cNvSpPr txBox="1"/>
          <p:nvPr/>
        </p:nvSpPr>
        <p:spPr>
          <a:xfrm>
            <a:off x="955110" y="913604"/>
            <a:ext cx="7572484" cy="4602500"/>
          </a:xfrm>
          <a:prstGeom prst="rect">
            <a:avLst/>
          </a:prstGeom>
          <a:noFill/>
          <a:ln>
            <a:noFill/>
          </a:ln>
        </p:spPr>
        <p:txBody>
          <a:bodyPr spcFirstLastPara="1" wrap="square" lIns="76790" tIns="76790" rIns="76790" bIns="76790" anchor="t" anchorCtr="0">
            <a:noAutofit/>
          </a:bodyPr>
          <a:lstStyle/>
          <a:p>
            <a:pPr marL="914400" lvl="0">
              <a:lnSpc>
                <a:spcPct val="90000"/>
              </a:lnSpc>
            </a:pPr>
            <a:endParaRPr lang="en-US" sz="2400" dirty="0" smtClean="0">
              <a:latin typeface="Fira Sans"/>
              <a:ea typeface="Fira Sans"/>
              <a:cs typeface="Fira Sans"/>
              <a:sym typeface="Fira Sans"/>
            </a:endParaRPr>
          </a:p>
        </p:txBody>
      </p:sp>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1" y="5605573"/>
            <a:ext cx="1433886" cy="594811"/>
          </a:xfrm>
          <a:prstGeom prst="rect">
            <a:avLst/>
          </a:prstGeom>
        </p:spPr>
      </p:pic>
      <p:pic>
        <p:nvPicPr>
          <p:cNvPr id="10" name="Picture 2"/>
          <p:cNvPicPr>
            <a:picLocks noChangeAspect="1" noChangeArrowheads="1"/>
          </p:cNvPicPr>
          <p:nvPr/>
        </p:nvPicPr>
        <p:blipFill rotWithShape="1">
          <a:blip r:embed="rId7">
            <a:extLst>
              <a:ext uri="{28A0092B-C50C-407E-A947-70E740481C1C}">
                <a14:useLocalDpi xmlns:a14="http://schemas.microsoft.com/office/drawing/2010/main" val="0"/>
              </a:ext>
            </a:extLst>
          </a:blip>
          <a:srcRect l="17772" t="15281" r="17921" b="9589"/>
          <a:stretch/>
        </p:blipFill>
        <p:spPr bwMode="auto">
          <a:xfrm>
            <a:off x="668094" y="814938"/>
            <a:ext cx="7359804" cy="4836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30979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281843" y="191854"/>
            <a:ext cx="8546813" cy="721750"/>
          </a:xfrm>
          <a:prstGeom prst="rect">
            <a:avLst/>
          </a:prstGeom>
          <a:noFill/>
          <a:ln>
            <a:noFill/>
          </a:ln>
        </p:spPr>
        <p:txBody>
          <a:bodyPr spcFirstLastPara="1" wrap="square" lIns="76790" tIns="38395" rIns="76790" bIns="38395" anchor="ctr" anchorCtr="0">
            <a:noAutofit/>
          </a:bodyPr>
          <a:lstStyle/>
          <a:p>
            <a:pPr marL="382270"/>
            <a:r>
              <a:rPr lang="en-US" sz="3000" b="1" dirty="0" smtClean="0">
                <a:solidFill>
                  <a:srgbClr val="C00000"/>
                </a:solidFill>
                <a:latin typeface="Marcellus" charset="0"/>
              </a:rPr>
              <a:t>4 </a:t>
            </a:r>
            <a:r>
              <a:rPr lang="en-US" sz="3000" b="1" dirty="0">
                <a:solidFill>
                  <a:srgbClr val="C00000"/>
                </a:solidFill>
                <a:latin typeface="Marcellus" charset="0"/>
              </a:rPr>
              <a:t>bit adder </a:t>
            </a:r>
            <a:r>
              <a:rPr lang="en-US" sz="3000" b="1" dirty="0" smtClean="0">
                <a:solidFill>
                  <a:srgbClr val="C00000"/>
                </a:solidFill>
                <a:latin typeface="Marcellus" charset="0"/>
              </a:rPr>
              <a:t>IC 7483</a:t>
            </a:r>
            <a:endParaRPr sz="3000" b="1" dirty="0">
              <a:solidFill>
                <a:srgbClr val="C00000"/>
              </a:solidFill>
              <a:latin typeface="Marcellus" charset="0"/>
            </a:endParaRPr>
          </a:p>
        </p:txBody>
      </p:sp>
      <p:pic>
        <p:nvPicPr>
          <p:cNvPr id="45" name="Google Shape;45;p3"/>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46" name="Google Shape;46;p3"/>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47" name="Google Shape;47;p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sp>
        <p:nvSpPr>
          <p:cNvPr id="49" name="Google Shape;49;p3"/>
          <p:cNvSpPr txBox="1"/>
          <p:nvPr/>
        </p:nvSpPr>
        <p:spPr>
          <a:xfrm>
            <a:off x="668094" y="814938"/>
            <a:ext cx="2997188" cy="2839500"/>
          </a:xfrm>
          <a:prstGeom prst="rect">
            <a:avLst/>
          </a:prstGeom>
          <a:noFill/>
          <a:ln>
            <a:noFill/>
          </a:ln>
        </p:spPr>
        <p:txBody>
          <a:bodyPr spcFirstLastPara="1" wrap="square" lIns="76790" tIns="76790" rIns="76790" bIns="76790" anchor="t" anchorCtr="0">
            <a:noAutofit/>
          </a:bodyPr>
          <a:lstStyle/>
          <a:p>
            <a:pPr marL="320040" indent="320040" algn="just">
              <a:buClr>
                <a:srgbClr val="000000"/>
              </a:buClr>
              <a:buSzPts val="2900"/>
            </a:pPr>
            <a:endParaRPr sz="2000" b="1" dirty="0">
              <a:solidFill>
                <a:schemeClr val="dk1"/>
              </a:solidFill>
              <a:latin typeface="Fira Sans"/>
              <a:ea typeface="Fira Sans"/>
              <a:cs typeface="Fira Sans"/>
              <a:sym typeface="Fira Sans"/>
            </a:endParaRPr>
          </a:p>
          <a:p>
            <a:pPr marL="320040" indent="320040" algn="just">
              <a:buClr>
                <a:srgbClr val="000000"/>
              </a:buClr>
              <a:buSzPts val="2900"/>
            </a:pPr>
            <a:endParaRPr sz="2000" b="1" dirty="0">
              <a:solidFill>
                <a:schemeClr val="dk1"/>
              </a:solidFill>
              <a:latin typeface="Fira Sans"/>
              <a:ea typeface="Fira Sans"/>
              <a:cs typeface="Fira Sans"/>
              <a:sym typeface="Fira Sans"/>
            </a:endParaRPr>
          </a:p>
        </p:txBody>
      </p:sp>
      <p:sp>
        <p:nvSpPr>
          <p:cNvPr id="50" name="Google Shape;50;p3"/>
          <p:cNvSpPr txBox="1"/>
          <p:nvPr/>
        </p:nvSpPr>
        <p:spPr>
          <a:xfrm>
            <a:off x="955110" y="913604"/>
            <a:ext cx="7572484" cy="4602500"/>
          </a:xfrm>
          <a:prstGeom prst="rect">
            <a:avLst/>
          </a:prstGeom>
          <a:noFill/>
          <a:ln>
            <a:noFill/>
          </a:ln>
        </p:spPr>
        <p:txBody>
          <a:bodyPr spcFirstLastPara="1" wrap="square" lIns="76790" tIns="76790" rIns="76790" bIns="76790" anchor="t" anchorCtr="0">
            <a:noAutofit/>
          </a:bodyPr>
          <a:lstStyle/>
          <a:p>
            <a:pPr marL="914400" lvl="0">
              <a:lnSpc>
                <a:spcPct val="90000"/>
              </a:lnSpc>
            </a:pPr>
            <a:endParaRPr lang="en-US" sz="2400" dirty="0" smtClean="0">
              <a:latin typeface="Fira Sans"/>
              <a:ea typeface="Fira Sans"/>
              <a:cs typeface="Fira Sans"/>
              <a:sym typeface="Fira Sans"/>
            </a:endParaRPr>
          </a:p>
        </p:txBody>
      </p:sp>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1" y="5605573"/>
            <a:ext cx="1433886" cy="594811"/>
          </a:xfrm>
          <a:prstGeom prst="rect">
            <a:avLst/>
          </a:prstGeom>
        </p:spPr>
      </p:pic>
      <p:pic>
        <p:nvPicPr>
          <p:cNvPr id="11" name="Picture 2"/>
          <p:cNvPicPr>
            <a:picLocks noChangeAspect="1" noChangeArrowheads="1"/>
          </p:cNvPicPr>
          <p:nvPr/>
        </p:nvPicPr>
        <p:blipFill rotWithShape="1">
          <a:blip r:embed="rId7">
            <a:extLst>
              <a:ext uri="{28A0092B-C50C-407E-A947-70E740481C1C}">
                <a14:useLocalDpi xmlns:a14="http://schemas.microsoft.com/office/drawing/2010/main" val="0"/>
              </a:ext>
            </a:extLst>
          </a:blip>
          <a:srcRect l="25112" t="15880" r="17163" b="25543"/>
          <a:stretch/>
        </p:blipFill>
        <p:spPr bwMode="auto">
          <a:xfrm>
            <a:off x="1115616" y="980728"/>
            <a:ext cx="7037798" cy="4017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37930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281843" y="191854"/>
            <a:ext cx="8546813" cy="721750"/>
          </a:xfrm>
          <a:prstGeom prst="rect">
            <a:avLst/>
          </a:prstGeom>
          <a:noFill/>
          <a:ln>
            <a:noFill/>
          </a:ln>
        </p:spPr>
        <p:txBody>
          <a:bodyPr spcFirstLastPara="1" wrap="square" lIns="76790" tIns="38395" rIns="76790" bIns="38395" anchor="ctr" anchorCtr="0">
            <a:noAutofit/>
          </a:bodyPr>
          <a:lstStyle/>
          <a:p>
            <a:pPr marL="382270"/>
            <a:r>
              <a:rPr lang="en-US" sz="3000" b="1" dirty="0" smtClean="0">
                <a:solidFill>
                  <a:srgbClr val="C00000"/>
                </a:solidFill>
                <a:latin typeface="Marcellus" charset="0"/>
              </a:rPr>
              <a:t>Controlled Adder Subtractor</a:t>
            </a:r>
            <a:endParaRPr sz="3000" b="1" dirty="0">
              <a:solidFill>
                <a:srgbClr val="C00000"/>
              </a:solidFill>
              <a:latin typeface="Marcellus" charset="0"/>
            </a:endParaRPr>
          </a:p>
        </p:txBody>
      </p:sp>
      <p:pic>
        <p:nvPicPr>
          <p:cNvPr id="45" name="Google Shape;45;p3"/>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46" name="Google Shape;46;p3"/>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47" name="Google Shape;47;p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sp>
        <p:nvSpPr>
          <p:cNvPr id="50" name="Google Shape;50;p3"/>
          <p:cNvSpPr txBox="1"/>
          <p:nvPr/>
        </p:nvSpPr>
        <p:spPr>
          <a:xfrm>
            <a:off x="955110" y="943191"/>
            <a:ext cx="7572484" cy="4602500"/>
          </a:xfrm>
          <a:prstGeom prst="rect">
            <a:avLst/>
          </a:prstGeom>
          <a:noFill/>
          <a:ln>
            <a:noFill/>
          </a:ln>
        </p:spPr>
        <p:txBody>
          <a:bodyPr spcFirstLastPara="1" wrap="square" lIns="76790" tIns="76790" rIns="76790" bIns="76790" anchor="t" anchorCtr="0">
            <a:noAutofit/>
          </a:bodyPr>
          <a:lstStyle/>
          <a:p>
            <a:pPr marL="320040" algn="just">
              <a:buClr>
                <a:srgbClr val="000000"/>
              </a:buClr>
              <a:buSzPts val="2900"/>
            </a:pPr>
            <a:r>
              <a:rPr lang="en-US" sz="2000" b="1" dirty="0" smtClean="0">
                <a:solidFill>
                  <a:schemeClr val="dk1"/>
                </a:solidFill>
                <a:latin typeface="Fira Sans"/>
                <a:ea typeface="Fira Sans"/>
                <a:cs typeface="Fira Sans"/>
                <a:sym typeface="Fira Sans"/>
              </a:rPr>
              <a:t>Circuit which can be Controlled as adder as well as subtractor</a:t>
            </a:r>
          </a:p>
          <a:p>
            <a:pPr marL="320040" algn="just">
              <a:buClr>
                <a:srgbClr val="000000"/>
              </a:buClr>
              <a:buSzPts val="2900"/>
            </a:pPr>
            <a:r>
              <a:rPr lang="en-US" sz="2000" b="1" dirty="0" smtClean="0">
                <a:solidFill>
                  <a:schemeClr val="dk1"/>
                </a:solidFill>
                <a:latin typeface="Fira Sans"/>
                <a:ea typeface="Fira Sans"/>
                <a:cs typeface="Fira Sans"/>
                <a:sym typeface="Fira Sans"/>
              </a:rPr>
              <a:t>If control input C = 0 …Adder</a:t>
            </a:r>
          </a:p>
          <a:p>
            <a:pPr marL="320040" algn="just">
              <a:buClr>
                <a:srgbClr val="000000"/>
              </a:buClr>
              <a:buSzPts val="2900"/>
            </a:pPr>
            <a:r>
              <a:rPr lang="en-US" sz="2000" b="1" dirty="0" smtClean="0">
                <a:solidFill>
                  <a:schemeClr val="dk1"/>
                </a:solidFill>
                <a:latin typeface="Fira Sans"/>
                <a:ea typeface="Fira Sans"/>
                <a:cs typeface="Fira Sans"/>
                <a:sym typeface="Fira Sans"/>
              </a:rPr>
              <a:t>If Control input C = 1 …Subtractor</a:t>
            </a:r>
          </a:p>
          <a:p>
            <a:pPr marL="320040" algn="just">
              <a:buClr>
                <a:srgbClr val="000000"/>
              </a:buClr>
              <a:buSzPts val="2900"/>
            </a:pPr>
            <a:r>
              <a:rPr lang="en-US" sz="2000" b="1" dirty="0" smtClean="0">
                <a:solidFill>
                  <a:schemeClr val="dk1"/>
                </a:solidFill>
                <a:latin typeface="Fira Sans"/>
                <a:ea typeface="Fira Sans"/>
                <a:cs typeface="Fira Sans"/>
                <a:sym typeface="Fira Sans"/>
              </a:rPr>
              <a:t>Addition		          Subtraction:  by 2’s complement</a:t>
            </a:r>
          </a:p>
          <a:p>
            <a:pPr marL="320040" algn="just">
              <a:buClr>
                <a:srgbClr val="000000"/>
              </a:buClr>
              <a:buSzPts val="2900"/>
            </a:pPr>
            <a:endParaRPr lang="en-US" sz="2000" b="1" dirty="0">
              <a:solidFill>
                <a:schemeClr val="dk1"/>
              </a:solidFill>
              <a:latin typeface="Fira Sans"/>
              <a:ea typeface="Fira Sans"/>
              <a:cs typeface="Fira Sans"/>
              <a:sym typeface="Fira Sans"/>
            </a:endParaRPr>
          </a:p>
          <a:p>
            <a:pPr marL="320040" algn="just">
              <a:buClr>
                <a:srgbClr val="000000"/>
              </a:buClr>
              <a:buSzPts val="2900"/>
            </a:pPr>
            <a:endParaRPr lang="en-US" sz="2000" b="1" dirty="0" smtClean="0">
              <a:solidFill>
                <a:schemeClr val="dk1"/>
              </a:solidFill>
              <a:latin typeface="Fira Sans"/>
              <a:ea typeface="Fira Sans"/>
              <a:cs typeface="Fira Sans"/>
              <a:sym typeface="Fira Sans"/>
            </a:endParaRPr>
          </a:p>
          <a:p>
            <a:pPr marL="320040" algn="just">
              <a:buClr>
                <a:srgbClr val="000000"/>
              </a:buClr>
              <a:buSzPts val="2900"/>
            </a:pPr>
            <a:endParaRPr lang="en-US" sz="2000" b="1" dirty="0">
              <a:solidFill>
                <a:schemeClr val="dk1"/>
              </a:solidFill>
              <a:latin typeface="Fira Sans"/>
              <a:ea typeface="Fira Sans"/>
              <a:cs typeface="Fira Sans"/>
              <a:sym typeface="Fira Sans"/>
            </a:endParaRPr>
          </a:p>
          <a:p>
            <a:pPr marL="320040" algn="just">
              <a:buClr>
                <a:srgbClr val="000000"/>
              </a:buClr>
              <a:buSzPts val="2900"/>
            </a:pPr>
            <a:endParaRPr lang="en-US" sz="2000" b="1" dirty="0" smtClean="0">
              <a:solidFill>
                <a:schemeClr val="dk1"/>
              </a:solidFill>
              <a:latin typeface="Fira Sans"/>
              <a:ea typeface="Fira Sans"/>
              <a:cs typeface="Fira Sans"/>
              <a:sym typeface="Fira Sans"/>
            </a:endParaRPr>
          </a:p>
          <a:p>
            <a:pPr marL="320040" algn="just">
              <a:buClr>
                <a:srgbClr val="000000"/>
              </a:buClr>
              <a:buSzPts val="2900"/>
            </a:pPr>
            <a:endParaRPr lang="en-US" sz="2000" b="1" dirty="0">
              <a:solidFill>
                <a:schemeClr val="dk1"/>
              </a:solidFill>
              <a:latin typeface="Fira Sans"/>
              <a:ea typeface="Fira Sans"/>
              <a:cs typeface="Fira Sans"/>
              <a:sym typeface="Fira Sans"/>
            </a:endParaRPr>
          </a:p>
          <a:p>
            <a:pPr marL="320040" algn="just">
              <a:buClr>
                <a:srgbClr val="000000"/>
              </a:buClr>
              <a:buSzPts val="2900"/>
            </a:pPr>
            <a:endParaRPr lang="en-US" sz="2000" b="1" dirty="0" smtClean="0">
              <a:solidFill>
                <a:schemeClr val="dk1"/>
              </a:solidFill>
              <a:latin typeface="Fira Sans"/>
              <a:ea typeface="Fira Sans"/>
              <a:cs typeface="Fira Sans"/>
              <a:sym typeface="Fira Sans"/>
            </a:endParaRPr>
          </a:p>
          <a:p>
            <a:pPr marL="320040" algn="just">
              <a:buClr>
                <a:srgbClr val="000000"/>
              </a:buClr>
              <a:buSzPts val="2900"/>
            </a:pPr>
            <a:r>
              <a:rPr lang="en-US" sz="2000" b="1" dirty="0" smtClean="0">
                <a:solidFill>
                  <a:schemeClr val="dk1"/>
                </a:solidFill>
                <a:latin typeface="Fira Sans"/>
                <a:ea typeface="Fira Sans"/>
                <a:cs typeface="Fira Sans"/>
                <a:sym typeface="Fira Sans"/>
              </a:rPr>
              <a:t>1’s complement of B can be obtained by 4 XOR gates as</a:t>
            </a:r>
          </a:p>
          <a:p>
            <a:pPr marL="320040" algn="just">
              <a:buClr>
                <a:srgbClr val="000000"/>
              </a:buClr>
              <a:buSzPts val="2900"/>
            </a:pPr>
            <a:r>
              <a:rPr lang="en-US" sz="2000" b="1" dirty="0" smtClean="0">
                <a:solidFill>
                  <a:srgbClr val="FF0000"/>
                </a:solidFill>
                <a:latin typeface="Fira Sans"/>
                <a:ea typeface="Fira Sans"/>
                <a:cs typeface="Fira Sans"/>
                <a:sym typeface="Fira Sans"/>
              </a:rPr>
              <a:t>1 </a:t>
            </a:r>
            <a:r>
              <a:rPr lang="en-US" sz="2000" b="1" dirty="0" err="1" smtClean="0">
                <a:solidFill>
                  <a:srgbClr val="FF0000"/>
                </a:solidFill>
                <a:latin typeface="Fira Sans"/>
                <a:ea typeface="Fira Sans"/>
                <a:cs typeface="Fira Sans"/>
                <a:sym typeface="Fira Sans"/>
              </a:rPr>
              <a:t>xor</a:t>
            </a:r>
            <a:r>
              <a:rPr lang="en-US" sz="2000" b="1" dirty="0" smtClean="0">
                <a:solidFill>
                  <a:srgbClr val="FF0000"/>
                </a:solidFill>
                <a:latin typeface="Fira Sans"/>
                <a:ea typeface="Fira Sans"/>
                <a:cs typeface="Fira Sans"/>
                <a:sym typeface="Fira Sans"/>
              </a:rPr>
              <a:t> A  = A’ , 0 </a:t>
            </a:r>
            <a:r>
              <a:rPr lang="en-US" sz="2000" b="1" dirty="0" err="1" smtClean="0">
                <a:solidFill>
                  <a:srgbClr val="FF0000"/>
                </a:solidFill>
                <a:latin typeface="Fira Sans"/>
                <a:ea typeface="Fira Sans"/>
                <a:cs typeface="Fira Sans"/>
                <a:sym typeface="Fira Sans"/>
              </a:rPr>
              <a:t>xor</a:t>
            </a:r>
            <a:r>
              <a:rPr lang="en-US" sz="2000" b="1" dirty="0" smtClean="0">
                <a:solidFill>
                  <a:srgbClr val="FF0000"/>
                </a:solidFill>
                <a:latin typeface="Fira Sans"/>
                <a:ea typeface="Fira Sans"/>
                <a:cs typeface="Fira Sans"/>
                <a:sym typeface="Fira Sans"/>
              </a:rPr>
              <a:t> A  = A </a:t>
            </a:r>
          </a:p>
        </p:txBody>
      </p:sp>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1" y="5605573"/>
            <a:ext cx="1433886" cy="594811"/>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1634679312"/>
              </p:ext>
            </p:extLst>
          </p:nvPr>
        </p:nvGraphicFramePr>
        <p:xfrm>
          <a:off x="683568" y="2636912"/>
          <a:ext cx="3424790" cy="1615440"/>
        </p:xfrm>
        <a:graphic>
          <a:graphicData uri="http://schemas.openxmlformats.org/drawingml/2006/table">
            <a:tbl>
              <a:tblPr firstRow="1" bandRow="1">
                <a:tableStyleId>{5C22544A-7EE6-4342-B048-85BDC9FD1C3A}</a:tableStyleId>
              </a:tblPr>
              <a:tblGrid>
                <a:gridCol w="936104"/>
                <a:gridCol w="648072"/>
                <a:gridCol w="648072"/>
                <a:gridCol w="576064"/>
                <a:gridCol w="616478"/>
              </a:tblGrid>
              <a:tr h="370840">
                <a:tc>
                  <a:txBody>
                    <a:bodyPr/>
                    <a:lstStyle/>
                    <a:p>
                      <a:endParaRPr lang="en-IN" sz="2000" dirty="0">
                        <a:latin typeface="Fira Sans" charset="0"/>
                      </a:endParaRPr>
                    </a:p>
                  </a:txBody>
                  <a:tcPr/>
                </a:tc>
                <a:tc>
                  <a:txBody>
                    <a:bodyPr/>
                    <a:lstStyle/>
                    <a:p>
                      <a:r>
                        <a:rPr lang="en-US" sz="2000" dirty="0" smtClean="0">
                          <a:latin typeface="Fira Sans" charset="0"/>
                        </a:rPr>
                        <a:t>A3</a:t>
                      </a:r>
                      <a:endParaRPr lang="en-IN" sz="2000" dirty="0">
                        <a:latin typeface="Fira Sans" charset="0"/>
                      </a:endParaRPr>
                    </a:p>
                  </a:txBody>
                  <a:tcPr/>
                </a:tc>
                <a:tc>
                  <a:txBody>
                    <a:bodyPr/>
                    <a:lstStyle/>
                    <a:p>
                      <a:r>
                        <a:rPr lang="en-US" sz="2000" dirty="0" smtClean="0">
                          <a:latin typeface="Fira Sans" charset="0"/>
                        </a:rPr>
                        <a:t>A2</a:t>
                      </a:r>
                      <a:endParaRPr lang="en-IN" sz="2000" dirty="0">
                        <a:latin typeface="Fira Sans" charset="0"/>
                      </a:endParaRPr>
                    </a:p>
                  </a:txBody>
                  <a:tcPr/>
                </a:tc>
                <a:tc>
                  <a:txBody>
                    <a:bodyPr/>
                    <a:lstStyle/>
                    <a:p>
                      <a:r>
                        <a:rPr lang="en-US" sz="2000" dirty="0" smtClean="0">
                          <a:latin typeface="Fira Sans" charset="0"/>
                        </a:rPr>
                        <a:t>A1</a:t>
                      </a:r>
                      <a:endParaRPr lang="en-IN" sz="2000" dirty="0">
                        <a:latin typeface="Fira Sans" charset="0"/>
                      </a:endParaRPr>
                    </a:p>
                  </a:txBody>
                  <a:tcPr/>
                </a:tc>
                <a:tc>
                  <a:txBody>
                    <a:bodyPr/>
                    <a:lstStyle/>
                    <a:p>
                      <a:r>
                        <a:rPr lang="en-US" sz="2000" dirty="0" smtClean="0">
                          <a:latin typeface="Fira Sans" charset="0"/>
                        </a:rPr>
                        <a:t>A0</a:t>
                      </a:r>
                      <a:endParaRPr lang="en-IN" sz="2000" dirty="0">
                        <a:latin typeface="Fira Sans" charset="0"/>
                      </a:endParaRPr>
                    </a:p>
                  </a:txBody>
                  <a:tcPr/>
                </a:tc>
              </a:tr>
              <a:tr h="370840">
                <a:tc>
                  <a:txBody>
                    <a:bodyPr/>
                    <a:lstStyle/>
                    <a:p>
                      <a:r>
                        <a:rPr lang="en-US" sz="2000" dirty="0" smtClean="0">
                          <a:latin typeface="Fira Sans" charset="0"/>
                        </a:rPr>
                        <a:t>+</a:t>
                      </a:r>
                      <a:endParaRPr lang="en-IN" sz="2000" dirty="0">
                        <a:latin typeface="Fira Sans" charset="0"/>
                      </a:endParaRPr>
                    </a:p>
                  </a:txBody>
                  <a:tcPr/>
                </a:tc>
                <a:tc>
                  <a:txBody>
                    <a:bodyPr/>
                    <a:lstStyle/>
                    <a:p>
                      <a:r>
                        <a:rPr lang="en-US" sz="2000" dirty="0" smtClean="0">
                          <a:latin typeface="Fira Sans" charset="0"/>
                        </a:rPr>
                        <a:t>B3</a:t>
                      </a:r>
                      <a:endParaRPr lang="en-IN" sz="2000" dirty="0">
                        <a:latin typeface="Fira Sans" charset="0"/>
                      </a:endParaRPr>
                    </a:p>
                  </a:txBody>
                  <a:tcPr/>
                </a:tc>
                <a:tc>
                  <a:txBody>
                    <a:bodyPr/>
                    <a:lstStyle/>
                    <a:p>
                      <a:r>
                        <a:rPr lang="en-US" sz="2000" dirty="0" smtClean="0">
                          <a:latin typeface="Fira Sans" charset="0"/>
                        </a:rPr>
                        <a:t>B2</a:t>
                      </a:r>
                      <a:endParaRPr lang="en-IN" sz="2000" dirty="0">
                        <a:latin typeface="Fira Sans" charset="0"/>
                      </a:endParaRPr>
                    </a:p>
                  </a:txBody>
                  <a:tcPr/>
                </a:tc>
                <a:tc>
                  <a:txBody>
                    <a:bodyPr/>
                    <a:lstStyle/>
                    <a:p>
                      <a:r>
                        <a:rPr lang="en-US" sz="2000" dirty="0" smtClean="0">
                          <a:latin typeface="Fira Sans" charset="0"/>
                        </a:rPr>
                        <a:t>B1</a:t>
                      </a:r>
                      <a:endParaRPr lang="en-IN" sz="2000" dirty="0">
                        <a:latin typeface="Fira Sans" charset="0"/>
                      </a:endParaRPr>
                    </a:p>
                  </a:txBody>
                  <a:tcPr/>
                </a:tc>
                <a:tc>
                  <a:txBody>
                    <a:bodyPr/>
                    <a:lstStyle/>
                    <a:p>
                      <a:r>
                        <a:rPr lang="en-US" sz="2000" dirty="0" smtClean="0">
                          <a:latin typeface="Fira Sans" charset="0"/>
                        </a:rPr>
                        <a:t>B0</a:t>
                      </a:r>
                      <a:endParaRPr lang="en-IN" sz="2000" dirty="0">
                        <a:latin typeface="Fira Sans" charset="0"/>
                      </a:endParaRPr>
                    </a:p>
                  </a:txBody>
                  <a:tcPr/>
                </a:tc>
              </a:tr>
              <a:tr h="370840">
                <a:tc>
                  <a:txBody>
                    <a:bodyPr/>
                    <a:lstStyle/>
                    <a:p>
                      <a:r>
                        <a:rPr lang="en-US" sz="2000" dirty="0" smtClean="0">
                          <a:latin typeface="Fira Sans" charset="0"/>
                        </a:rPr>
                        <a:t>C3</a:t>
                      </a:r>
                      <a:endParaRPr lang="en-IN" sz="2000" dirty="0">
                        <a:latin typeface="Fira Sans" charset="0"/>
                      </a:endParaRPr>
                    </a:p>
                  </a:txBody>
                  <a:tcPr/>
                </a:tc>
                <a:tc>
                  <a:txBody>
                    <a:bodyPr/>
                    <a:lstStyle/>
                    <a:p>
                      <a:r>
                        <a:rPr lang="en-US" sz="2000" dirty="0" smtClean="0">
                          <a:latin typeface="Fira Sans" charset="0"/>
                        </a:rPr>
                        <a:t>C2</a:t>
                      </a:r>
                      <a:endParaRPr lang="en-IN" sz="2000" dirty="0">
                        <a:latin typeface="Fira Sans" charset="0"/>
                      </a:endParaRPr>
                    </a:p>
                  </a:txBody>
                  <a:tcPr/>
                </a:tc>
                <a:tc>
                  <a:txBody>
                    <a:bodyPr/>
                    <a:lstStyle/>
                    <a:p>
                      <a:r>
                        <a:rPr lang="en-US" sz="2000" dirty="0" smtClean="0">
                          <a:latin typeface="Fira Sans" charset="0"/>
                        </a:rPr>
                        <a:t>C1</a:t>
                      </a:r>
                      <a:endParaRPr lang="en-IN" sz="2000" dirty="0">
                        <a:latin typeface="Fira Sans" charset="0"/>
                      </a:endParaRPr>
                    </a:p>
                  </a:txBody>
                  <a:tcPr/>
                </a:tc>
                <a:tc>
                  <a:txBody>
                    <a:bodyPr/>
                    <a:lstStyle/>
                    <a:p>
                      <a:r>
                        <a:rPr lang="en-US" sz="2000" dirty="0" smtClean="0">
                          <a:latin typeface="Fira Sans" charset="0"/>
                        </a:rPr>
                        <a:t>C0</a:t>
                      </a:r>
                      <a:endParaRPr lang="en-IN" sz="2000" dirty="0">
                        <a:latin typeface="Fira Sans" charset="0"/>
                      </a:endParaRPr>
                    </a:p>
                  </a:txBody>
                  <a:tcPr/>
                </a:tc>
                <a:tc>
                  <a:txBody>
                    <a:bodyPr/>
                    <a:lstStyle/>
                    <a:p>
                      <a:endParaRPr lang="en-IN" sz="2000" dirty="0">
                        <a:latin typeface="Fira Sans" charset="0"/>
                      </a:endParaRPr>
                    </a:p>
                  </a:txBody>
                  <a:tcPr/>
                </a:tc>
              </a:tr>
              <a:tr h="370840">
                <a:tc>
                  <a:txBody>
                    <a:bodyPr/>
                    <a:lstStyle/>
                    <a:p>
                      <a:r>
                        <a:rPr lang="en-US" sz="2200" dirty="0" err="1" smtClean="0">
                          <a:latin typeface="Fira Sans" charset="0"/>
                        </a:rPr>
                        <a:t>Cout</a:t>
                      </a:r>
                      <a:endParaRPr lang="en-IN" sz="2200" dirty="0">
                        <a:latin typeface="Fira Sans" charset="0"/>
                      </a:endParaRPr>
                    </a:p>
                  </a:txBody>
                  <a:tcPr/>
                </a:tc>
                <a:tc>
                  <a:txBody>
                    <a:bodyPr/>
                    <a:lstStyle/>
                    <a:p>
                      <a:r>
                        <a:rPr lang="en-US" sz="2200" dirty="0" smtClean="0">
                          <a:latin typeface="Fira Sans" charset="0"/>
                        </a:rPr>
                        <a:t>S3</a:t>
                      </a:r>
                      <a:endParaRPr lang="en-IN" sz="2200" dirty="0">
                        <a:latin typeface="Fira Sans" charset="0"/>
                      </a:endParaRPr>
                    </a:p>
                  </a:txBody>
                  <a:tcPr/>
                </a:tc>
                <a:tc>
                  <a:txBody>
                    <a:bodyPr/>
                    <a:lstStyle/>
                    <a:p>
                      <a:r>
                        <a:rPr lang="en-US" sz="2200" dirty="0" smtClean="0">
                          <a:latin typeface="Fira Sans" charset="0"/>
                        </a:rPr>
                        <a:t>S2</a:t>
                      </a:r>
                      <a:endParaRPr lang="en-IN" sz="2200" dirty="0">
                        <a:latin typeface="Fira Sans" charset="0"/>
                      </a:endParaRPr>
                    </a:p>
                  </a:txBody>
                  <a:tcPr/>
                </a:tc>
                <a:tc>
                  <a:txBody>
                    <a:bodyPr/>
                    <a:lstStyle/>
                    <a:p>
                      <a:r>
                        <a:rPr lang="en-US" sz="2200" dirty="0" smtClean="0">
                          <a:latin typeface="Fira Sans" charset="0"/>
                        </a:rPr>
                        <a:t>S1</a:t>
                      </a:r>
                      <a:endParaRPr lang="en-IN" sz="2200" dirty="0">
                        <a:latin typeface="Fira Sans" charset="0"/>
                      </a:endParaRPr>
                    </a:p>
                  </a:txBody>
                  <a:tcPr/>
                </a:tc>
                <a:tc>
                  <a:txBody>
                    <a:bodyPr/>
                    <a:lstStyle/>
                    <a:p>
                      <a:r>
                        <a:rPr lang="en-US" sz="2200" dirty="0" smtClean="0">
                          <a:latin typeface="Fira Sans" charset="0"/>
                        </a:rPr>
                        <a:t>S0</a:t>
                      </a:r>
                      <a:endParaRPr lang="en-IN" sz="2200" dirty="0">
                        <a:latin typeface="Fira Sans" charset="0"/>
                      </a:endParaRPr>
                    </a:p>
                  </a:txBody>
                  <a:tcPr/>
                </a:tc>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500346968"/>
              </p:ext>
            </p:extLst>
          </p:nvPr>
        </p:nvGraphicFramePr>
        <p:xfrm>
          <a:off x="4576598" y="2636912"/>
          <a:ext cx="3424790" cy="1615440"/>
        </p:xfrm>
        <a:graphic>
          <a:graphicData uri="http://schemas.openxmlformats.org/drawingml/2006/table">
            <a:tbl>
              <a:tblPr firstRow="1" bandRow="1">
                <a:tableStyleId>{5C22544A-7EE6-4342-B048-85BDC9FD1C3A}</a:tableStyleId>
              </a:tblPr>
              <a:tblGrid>
                <a:gridCol w="936104"/>
                <a:gridCol w="648072"/>
                <a:gridCol w="648072"/>
                <a:gridCol w="576064"/>
                <a:gridCol w="616478"/>
              </a:tblGrid>
              <a:tr h="370840">
                <a:tc>
                  <a:txBody>
                    <a:bodyPr/>
                    <a:lstStyle/>
                    <a:p>
                      <a:endParaRPr lang="en-IN" sz="2000" dirty="0">
                        <a:latin typeface="Fira Sans" charset="0"/>
                      </a:endParaRPr>
                    </a:p>
                  </a:txBody>
                  <a:tcPr/>
                </a:tc>
                <a:tc>
                  <a:txBody>
                    <a:bodyPr/>
                    <a:lstStyle/>
                    <a:p>
                      <a:r>
                        <a:rPr lang="en-US" sz="2000" dirty="0" smtClean="0">
                          <a:latin typeface="Fira Sans" charset="0"/>
                        </a:rPr>
                        <a:t>A3</a:t>
                      </a:r>
                      <a:endParaRPr lang="en-IN" sz="2000" dirty="0">
                        <a:latin typeface="Fira Sans" charset="0"/>
                      </a:endParaRPr>
                    </a:p>
                  </a:txBody>
                  <a:tcPr/>
                </a:tc>
                <a:tc>
                  <a:txBody>
                    <a:bodyPr/>
                    <a:lstStyle/>
                    <a:p>
                      <a:r>
                        <a:rPr lang="en-US" sz="2000" dirty="0" smtClean="0">
                          <a:latin typeface="Fira Sans" charset="0"/>
                        </a:rPr>
                        <a:t>A2</a:t>
                      </a:r>
                      <a:endParaRPr lang="en-IN" sz="2000" dirty="0">
                        <a:latin typeface="Fira Sans" charset="0"/>
                      </a:endParaRPr>
                    </a:p>
                  </a:txBody>
                  <a:tcPr/>
                </a:tc>
                <a:tc>
                  <a:txBody>
                    <a:bodyPr/>
                    <a:lstStyle/>
                    <a:p>
                      <a:r>
                        <a:rPr lang="en-US" sz="2000" dirty="0" smtClean="0">
                          <a:latin typeface="Fira Sans" charset="0"/>
                        </a:rPr>
                        <a:t>A1</a:t>
                      </a:r>
                      <a:endParaRPr lang="en-IN" sz="2000" dirty="0">
                        <a:latin typeface="Fira Sans" charset="0"/>
                      </a:endParaRPr>
                    </a:p>
                  </a:txBody>
                  <a:tcPr/>
                </a:tc>
                <a:tc>
                  <a:txBody>
                    <a:bodyPr/>
                    <a:lstStyle/>
                    <a:p>
                      <a:r>
                        <a:rPr lang="en-US" sz="2000" dirty="0" smtClean="0">
                          <a:latin typeface="Fira Sans" charset="0"/>
                        </a:rPr>
                        <a:t>A0</a:t>
                      </a:r>
                      <a:endParaRPr lang="en-IN" sz="2000" dirty="0">
                        <a:latin typeface="Fira Sans" charset="0"/>
                      </a:endParaRPr>
                    </a:p>
                  </a:txBody>
                  <a:tcPr/>
                </a:tc>
              </a:tr>
              <a:tr h="370840">
                <a:tc>
                  <a:txBody>
                    <a:bodyPr/>
                    <a:lstStyle/>
                    <a:p>
                      <a:r>
                        <a:rPr lang="en-US" sz="2000" dirty="0" smtClean="0">
                          <a:latin typeface="Fira Sans" charset="0"/>
                        </a:rPr>
                        <a:t>+</a:t>
                      </a:r>
                      <a:endParaRPr lang="en-IN" sz="2000" dirty="0">
                        <a:latin typeface="Fira Sans" charset="0"/>
                      </a:endParaRPr>
                    </a:p>
                  </a:txBody>
                  <a:tcPr/>
                </a:tc>
                <a:tc>
                  <a:txBody>
                    <a:bodyPr/>
                    <a:lstStyle/>
                    <a:p>
                      <a:r>
                        <a:rPr lang="en-US" sz="2000" dirty="0" smtClean="0">
                          <a:latin typeface="Fira Sans" charset="0"/>
                        </a:rPr>
                        <a:t>B3’</a:t>
                      </a:r>
                      <a:endParaRPr lang="en-IN" sz="2000" dirty="0">
                        <a:latin typeface="Fira Sans" charset="0"/>
                      </a:endParaRPr>
                    </a:p>
                  </a:txBody>
                  <a:tcPr/>
                </a:tc>
                <a:tc>
                  <a:txBody>
                    <a:bodyPr/>
                    <a:lstStyle/>
                    <a:p>
                      <a:r>
                        <a:rPr lang="en-US" sz="2000" dirty="0" smtClean="0">
                          <a:latin typeface="Fira Sans" charset="0"/>
                        </a:rPr>
                        <a:t>B2’</a:t>
                      </a:r>
                      <a:endParaRPr lang="en-IN" sz="2000" dirty="0">
                        <a:latin typeface="Fira Sans" charset="0"/>
                      </a:endParaRPr>
                    </a:p>
                  </a:txBody>
                  <a:tcPr/>
                </a:tc>
                <a:tc>
                  <a:txBody>
                    <a:bodyPr/>
                    <a:lstStyle/>
                    <a:p>
                      <a:r>
                        <a:rPr lang="en-US" sz="2000" dirty="0" smtClean="0">
                          <a:latin typeface="Fira Sans" charset="0"/>
                        </a:rPr>
                        <a:t>B1’</a:t>
                      </a:r>
                      <a:endParaRPr lang="en-IN" sz="2000" dirty="0">
                        <a:latin typeface="Fira Sans" charset="0"/>
                      </a:endParaRPr>
                    </a:p>
                  </a:txBody>
                  <a:tcPr/>
                </a:tc>
                <a:tc>
                  <a:txBody>
                    <a:bodyPr/>
                    <a:lstStyle/>
                    <a:p>
                      <a:r>
                        <a:rPr lang="en-US" sz="2000" dirty="0" smtClean="0">
                          <a:latin typeface="Fira Sans" charset="0"/>
                        </a:rPr>
                        <a:t>B0’</a:t>
                      </a:r>
                      <a:endParaRPr lang="en-IN" sz="2000" dirty="0">
                        <a:latin typeface="Fira Sans" charset="0"/>
                      </a:endParaRPr>
                    </a:p>
                  </a:txBody>
                  <a:tcPr/>
                </a:tc>
              </a:tr>
              <a:tr h="370840">
                <a:tc>
                  <a:txBody>
                    <a:bodyPr/>
                    <a:lstStyle/>
                    <a:p>
                      <a:r>
                        <a:rPr lang="en-US" sz="2000" dirty="0" smtClean="0">
                          <a:latin typeface="Fira Sans" charset="0"/>
                        </a:rPr>
                        <a:t>C3</a:t>
                      </a:r>
                      <a:endParaRPr lang="en-IN" sz="2000" dirty="0">
                        <a:latin typeface="Fira Sans" charset="0"/>
                      </a:endParaRPr>
                    </a:p>
                  </a:txBody>
                  <a:tcPr/>
                </a:tc>
                <a:tc>
                  <a:txBody>
                    <a:bodyPr/>
                    <a:lstStyle/>
                    <a:p>
                      <a:r>
                        <a:rPr lang="en-US" sz="2000" dirty="0" smtClean="0">
                          <a:latin typeface="Fira Sans" charset="0"/>
                        </a:rPr>
                        <a:t>C2</a:t>
                      </a:r>
                      <a:endParaRPr lang="en-IN" sz="2000" dirty="0">
                        <a:latin typeface="Fira Sans" charset="0"/>
                      </a:endParaRPr>
                    </a:p>
                  </a:txBody>
                  <a:tcPr/>
                </a:tc>
                <a:tc>
                  <a:txBody>
                    <a:bodyPr/>
                    <a:lstStyle/>
                    <a:p>
                      <a:r>
                        <a:rPr lang="en-US" sz="2000" dirty="0" smtClean="0">
                          <a:latin typeface="Fira Sans" charset="0"/>
                        </a:rPr>
                        <a:t>C1</a:t>
                      </a:r>
                      <a:endParaRPr lang="en-IN" sz="2000" dirty="0">
                        <a:latin typeface="Fira Sans" charset="0"/>
                      </a:endParaRPr>
                    </a:p>
                  </a:txBody>
                  <a:tcPr/>
                </a:tc>
                <a:tc>
                  <a:txBody>
                    <a:bodyPr/>
                    <a:lstStyle/>
                    <a:p>
                      <a:r>
                        <a:rPr lang="en-US" sz="2000" dirty="0" smtClean="0">
                          <a:latin typeface="Fira Sans" charset="0"/>
                        </a:rPr>
                        <a:t>C0</a:t>
                      </a:r>
                      <a:endParaRPr lang="en-IN" sz="2000" dirty="0">
                        <a:latin typeface="Fira Sans" charset="0"/>
                      </a:endParaRPr>
                    </a:p>
                  </a:txBody>
                  <a:tcPr/>
                </a:tc>
                <a:tc>
                  <a:txBody>
                    <a:bodyPr/>
                    <a:lstStyle/>
                    <a:p>
                      <a:r>
                        <a:rPr lang="en-US" sz="2000" dirty="0" smtClean="0">
                          <a:latin typeface="Fira Sans" charset="0"/>
                        </a:rPr>
                        <a:t>1</a:t>
                      </a:r>
                      <a:endParaRPr lang="en-IN" sz="2000" dirty="0">
                        <a:latin typeface="Fira Sans" charset="0"/>
                      </a:endParaRPr>
                    </a:p>
                  </a:txBody>
                  <a:tcPr/>
                </a:tc>
              </a:tr>
              <a:tr h="370840">
                <a:tc>
                  <a:txBody>
                    <a:bodyPr/>
                    <a:lstStyle/>
                    <a:p>
                      <a:r>
                        <a:rPr lang="en-US" sz="2200" dirty="0" err="1" smtClean="0">
                          <a:latin typeface="Fira Sans" charset="0"/>
                        </a:rPr>
                        <a:t>Cout</a:t>
                      </a:r>
                      <a:endParaRPr lang="en-IN" sz="2200" dirty="0">
                        <a:latin typeface="Fira Sans" charset="0"/>
                      </a:endParaRPr>
                    </a:p>
                  </a:txBody>
                  <a:tcPr/>
                </a:tc>
                <a:tc>
                  <a:txBody>
                    <a:bodyPr/>
                    <a:lstStyle/>
                    <a:p>
                      <a:r>
                        <a:rPr lang="en-US" sz="2200" dirty="0" smtClean="0">
                          <a:latin typeface="Fira Sans" charset="0"/>
                        </a:rPr>
                        <a:t>S3</a:t>
                      </a:r>
                      <a:endParaRPr lang="en-IN" sz="2200" dirty="0">
                        <a:latin typeface="Fira Sans" charset="0"/>
                      </a:endParaRPr>
                    </a:p>
                  </a:txBody>
                  <a:tcPr/>
                </a:tc>
                <a:tc>
                  <a:txBody>
                    <a:bodyPr/>
                    <a:lstStyle/>
                    <a:p>
                      <a:r>
                        <a:rPr lang="en-US" sz="2200" dirty="0" smtClean="0">
                          <a:latin typeface="Fira Sans" charset="0"/>
                        </a:rPr>
                        <a:t>S2</a:t>
                      </a:r>
                      <a:endParaRPr lang="en-IN" sz="2200" dirty="0">
                        <a:latin typeface="Fira Sans" charset="0"/>
                      </a:endParaRPr>
                    </a:p>
                  </a:txBody>
                  <a:tcPr/>
                </a:tc>
                <a:tc>
                  <a:txBody>
                    <a:bodyPr/>
                    <a:lstStyle/>
                    <a:p>
                      <a:r>
                        <a:rPr lang="en-US" sz="2200" dirty="0" smtClean="0">
                          <a:latin typeface="Fira Sans" charset="0"/>
                        </a:rPr>
                        <a:t>S1</a:t>
                      </a:r>
                      <a:endParaRPr lang="en-IN" sz="2200" dirty="0">
                        <a:latin typeface="Fira Sans" charset="0"/>
                      </a:endParaRPr>
                    </a:p>
                  </a:txBody>
                  <a:tcPr/>
                </a:tc>
                <a:tc>
                  <a:txBody>
                    <a:bodyPr/>
                    <a:lstStyle/>
                    <a:p>
                      <a:r>
                        <a:rPr lang="en-US" sz="2200" dirty="0" smtClean="0">
                          <a:latin typeface="Fira Sans" charset="0"/>
                        </a:rPr>
                        <a:t>S0</a:t>
                      </a:r>
                      <a:endParaRPr lang="en-IN" sz="2200" dirty="0">
                        <a:latin typeface="Fira Sans" charset="0"/>
                      </a:endParaRPr>
                    </a:p>
                  </a:txBody>
                  <a:tcPr/>
                </a:tc>
              </a:tr>
            </a:tbl>
          </a:graphicData>
        </a:graphic>
      </p:graphicFrame>
    </p:spTree>
    <p:extLst>
      <p:ext uri="{BB962C8B-B14F-4D97-AF65-F5344CB8AC3E}">
        <p14:creationId xmlns:p14="http://schemas.microsoft.com/office/powerpoint/2010/main" val="14849238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281843" y="191854"/>
            <a:ext cx="8546813" cy="721750"/>
          </a:xfrm>
          <a:prstGeom prst="rect">
            <a:avLst/>
          </a:prstGeom>
          <a:noFill/>
          <a:ln>
            <a:noFill/>
          </a:ln>
        </p:spPr>
        <p:txBody>
          <a:bodyPr spcFirstLastPara="1" wrap="square" lIns="76790" tIns="38395" rIns="76790" bIns="38395" anchor="ctr" anchorCtr="0">
            <a:noAutofit/>
          </a:bodyPr>
          <a:lstStyle/>
          <a:p>
            <a:pPr marL="382270"/>
            <a:r>
              <a:rPr lang="en-US" sz="3000" b="1" dirty="0" smtClean="0">
                <a:solidFill>
                  <a:srgbClr val="C00000"/>
                </a:solidFill>
                <a:latin typeface="Marcellus" charset="0"/>
              </a:rPr>
              <a:t>Controlled Adder Subtractor</a:t>
            </a:r>
            <a:endParaRPr sz="3000" b="1" dirty="0">
              <a:solidFill>
                <a:srgbClr val="C00000"/>
              </a:solidFill>
              <a:latin typeface="Marcellus" charset="0"/>
            </a:endParaRPr>
          </a:p>
        </p:txBody>
      </p:sp>
      <p:pic>
        <p:nvPicPr>
          <p:cNvPr id="45" name="Google Shape;45;p3"/>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46" name="Google Shape;46;p3"/>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47" name="Google Shape;47;p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sp>
        <p:nvSpPr>
          <p:cNvPr id="50" name="Google Shape;50;p3"/>
          <p:cNvSpPr txBox="1"/>
          <p:nvPr/>
        </p:nvSpPr>
        <p:spPr>
          <a:xfrm>
            <a:off x="955110" y="913604"/>
            <a:ext cx="7572484" cy="4602500"/>
          </a:xfrm>
          <a:prstGeom prst="rect">
            <a:avLst/>
          </a:prstGeom>
          <a:noFill/>
          <a:ln>
            <a:noFill/>
          </a:ln>
        </p:spPr>
        <p:txBody>
          <a:bodyPr spcFirstLastPara="1" wrap="square" lIns="76790" tIns="76790" rIns="76790" bIns="76790" anchor="t" anchorCtr="0">
            <a:noAutofit/>
          </a:bodyPr>
          <a:lstStyle/>
          <a:p>
            <a:pPr marL="320040" algn="just">
              <a:buClr>
                <a:srgbClr val="000000"/>
              </a:buClr>
              <a:buSzPts val="2900"/>
            </a:pPr>
            <a:endParaRPr sz="2000" b="1" dirty="0">
              <a:solidFill>
                <a:schemeClr val="dk1"/>
              </a:solidFill>
              <a:latin typeface="Fira Sans"/>
              <a:ea typeface="Fira Sans"/>
              <a:cs typeface="Fira Sans"/>
              <a:sym typeface="Fira Sans"/>
            </a:endParaRPr>
          </a:p>
        </p:txBody>
      </p:sp>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1" y="5605573"/>
            <a:ext cx="1433886" cy="594811"/>
          </a:xfrm>
          <a:prstGeom prst="rect">
            <a:avLst/>
          </a:prstGeom>
        </p:spPr>
      </p:pic>
      <p:pic>
        <p:nvPicPr>
          <p:cNvPr id="3" name="Picture 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8062" y="913604"/>
            <a:ext cx="7488037" cy="4278878"/>
          </a:xfrm>
          <a:prstGeom prst="rect">
            <a:avLst/>
          </a:prstGeom>
        </p:spPr>
      </p:pic>
    </p:spTree>
    <p:extLst>
      <p:ext uri="{BB962C8B-B14F-4D97-AF65-F5344CB8AC3E}">
        <p14:creationId xmlns:p14="http://schemas.microsoft.com/office/powerpoint/2010/main" val="12830979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281843" y="191854"/>
            <a:ext cx="8546813" cy="721750"/>
          </a:xfrm>
          <a:prstGeom prst="rect">
            <a:avLst/>
          </a:prstGeom>
          <a:noFill/>
          <a:ln>
            <a:noFill/>
          </a:ln>
        </p:spPr>
        <p:txBody>
          <a:bodyPr spcFirstLastPara="1" wrap="square" lIns="76790" tIns="38395" rIns="76790" bIns="38395" anchor="ctr" anchorCtr="0">
            <a:noAutofit/>
          </a:bodyPr>
          <a:lstStyle/>
          <a:p>
            <a:pPr marL="382270"/>
            <a:r>
              <a:rPr lang="en-US" sz="3000" b="1" dirty="0" smtClean="0">
                <a:solidFill>
                  <a:srgbClr val="C00000"/>
                </a:solidFill>
                <a:latin typeface="Marcellus" charset="0"/>
              </a:rPr>
              <a:t>2:1 Multiplexers</a:t>
            </a:r>
            <a:endParaRPr sz="3000" b="1" dirty="0">
              <a:solidFill>
                <a:srgbClr val="C00000"/>
              </a:solidFill>
              <a:latin typeface="Marcellus" charset="0"/>
            </a:endParaRPr>
          </a:p>
        </p:txBody>
      </p:sp>
      <p:pic>
        <p:nvPicPr>
          <p:cNvPr id="45" name="Google Shape;45;p3"/>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46" name="Google Shape;46;p3"/>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47" name="Google Shape;47;p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sp>
        <p:nvSpPr>
          <p:cNvPr id="49" name="Google Shape;49;p3"/>
          <p:cNvSpPr txBox="1"/>
          <p:nvPr/>
        </p:nvSpPr>
        <p:spPr>
          <a:xfrm>
            <a:off x="668094" y="814938"/>
            <a:ext cx="2997188" cy="2839500"/>
          </a:xfrm>
          <a:prstGeom prst="rect">
            <a:avLst/>
          </a:prstGeom>
          <a:noFill/>
          <a:ln>
            <a:noFill/>
          </a:ln>
        </p:spPr>
        <p:txBody>
          <a:bodyPr spcFirstLastPara="1" wrap="square" lIns="76790" tIns="76790" rIns="76790" bIns="76790" anchor="t" anchorCtr="0">
            <a:noAutofit/>
          </a:bodyPr>
          <a:lstStyle/>
          <a:p>
            <a:pPr marL="320040" indent="320040" algn="just">
              <a:buClr>
                <a:srgbClr val="000000"/>
              </a:buClr>
              <a:buSzPts val="2900"/>
            </a:pPr>
            <a:endParaRPr sz="2000" b="1" dirty="0">
              <a:solidFill>
                <a:schemeClr val="dk1"/>
              </a:solidFill>
              <a:latin typeface="Fira Sans"/>
              <a:ea typeface="Fira Sans"/>
              <a:cs typeface="Fira Sans"/>
              <a:sym typeface="Fira Sans"/>
            </a:endParaRPr>
          </a:p>
          <a:p>
            <a:pPr marL="320040" indent="320040" algn="just">
              <a:buClr>
                <a:srgbClr val="000000"/>
              </a:buClr>
              <a:buSzPts val="2900"/>
            </a:pPr>
            <a:endParaRPr sz="2000" b="1" dirty="0">
              <a:solidFill>
                <a:schemeClr val="dk1"/>
              </a:solidFill>
              <a:latin typeface="Fira Sans"/>
              <a:ea typeface="Fira Sans"/>
              <a:cs typeface="Fira Sans"/>
              <a:sym typeface="Fira Sans"/>
            </a:endParaRPr>
          </a:p>
        </p:txBody>
      </p:sp>
      <p:sp>
        <p:nvSpPr>
          <p:cNvPr id="50" name="Google Shape;50;p3"/>
          <p:cNvSpPr txBox="1"/>
          <p:nvPr/>
        </p:nvSpPr>
        <p:spPr>
          <a:xfrm>
            <a:off x="967340" y="958326"/>
            <a:ext cx="4108716" cy="1276362"/>
          </a:xfrm>
          <a:prstGeom prst="rect">
            <a:avLst/>
          </a:prstGeom>
          <a:noFill/>
          <a:ln>
            <a:noFill/>
          </a:ln>
        </p:spPr>
        <p:txBody>
          <a:bodyPr spcFirstLastPara="1" wrap="square" lIns="76790" tIns="76790" rIns="76790" bIns="76790" anchor="t" anchorCtr="0">
            <a:noAutofit/>
          </a:bodyPr>
          <a:lstStyle/>
          <a:p>
            <a:pPr lvl="0"/>
            <a:r>
              <a:rPr lang="en-US" sz="2200" dirty="0" smtClean="0">
                <a:latin typeface="Fira Sans"/>
                <a:ea typeface="Fira Sans"/>
                <a:cs typeface="Fira Sans"/>
                <a:sym typeface="Fira Sans"/>
              </a:rPr>
              <a:t>Y = S0’.I0 + S0. I1</a:t>
            </a:r>
          </a:p>
          <a:p>
            <a:pPr lvl="0"/>
            <a:endParaRPr lang="en-US" sz="2200" dirty="0">
              <a:latin typeface="Fira Sans"/>
              <a:ea typeface="Fira Sans"/>
              <a:cs typeface="Fira Sans"/>
              <a:sym typeface="Fira Sans"/>
            </a:endParaRPr>
          </a:p>
          <a:p>
            <a:pPr lvl="0"/>
            <a:endParaRPr lang="en-US" sz="2200" dirty="0" smtClean="0">
              <a:latin typeface="Fira Sans"/>
              <a:ea typeface="Fira Sans"/>
              <a:cs typeface="Fira Sans"/>
              <a:sym typeface="Fira Sans"/>
            </a:endParaRPr>
          </a:p>
          <a:p>
            <a:pPr lvl="0"/>
            <a:endParaRPr lang="en-US" sz="2200" dirty="0">
              <a:latin typeface="Fira Sans"/>
              <a:ea typeface="Fira Sans"/>
              <a:cs typeface="Fira Sans"/>
              <a:sym typeface="Fira Sans"/>
            </a:endParaRPr>
          </a:p>
          <a:p>
            <a:pPr lvl="0"/>
            <a:endParaRPr lang="en-US" sz="2200" dirty="0" smtClean="0">
              <a:latin typeface="Fira Sans"/>
              <a:ea typeface="Fira Sans"/>
              <a:cs typeface="Fira Sans"/>
              <a:sym typeface="Fira Sans"/>
            </a:endParaRPr>
          </a:p>
          <a:p>
            <a:pPr lvl="0"/>
            <a:endParaRPr lang="en-US" sz="2200" dirty="0">
              <a:latin typeface="Fira Sans"/>
              <a:ea typeface="Fira Sans"/>
              <a:cs typeface="Fira Sans"/>
              <a:sym typeface="Fira Sans"/>
            </a:endParaRPr>
          </a:p>
          <a:p>
            <a:pPr lvl="0"/>
            <a:endParaRPr lang="en-US" sz="2200" dirty="0" smtClean="0">
              <a:latin typeface="Fira Sans"/>
              <a:ea typeface="Fira Sans"/>
              <a:cs typeface="Fira Sans"/>
              <a:sym typeface="Fira Sans"/>
            </a:endParaRPr>
          </a:p>
          <a:p>
            <a:pPr lvl="0"/>
            <a:endParaRPr lang="en-US" sz="2200" dirty="0">
              <a:latin typeface="Fira Sans"/>
              <a:ea typeface="Fira Sans"/>
              <a:cs typeface="Fira Sans"/>
              <a:sym typeface="Fira Sans"/>
            </a:endParaRPr>
          </a:p>
          <a:p>
            <a:pPr lvl="0"/>
            <a:endParaRPr lang="en-US" sz="2200" dirty="0" smtClean="0">
              <a:latin typeface="Fira Sans"/>
              <a:ea typeface="Fira Sans"/>
              <a:cs typeface="Fira Sans"/>
              <a:sym typeface="Fira Sans"/>
            </a:endParaRPr>
          </a:p>
          <a:p>
            <a:pPr lvl="0"/>
            <a:endParaRPr lang="en-US" sz="2200" dirty="0">
              <a:latin typeface="Fira Sans"/>
              <a:ea typeface="Fira Sans"/>
              <a:cs typeface="Fira Sans"/>
              <a:sym typeface="Fira Sans"/>
            </a:endParaRPr>
          </a:p>
          <a:p>
            <a:pPr lvl="0"/>
            <a:endParaRPr lang="en-US" sz="2200" dirty="0" smtClean="0">
              <a:latin typeface="Fira Sans"/>
              <a:ea typeface="Fira Sans"/>
              <a:cs typeface="Fira Sans"/>
              <a:sym typeface="Fira Sans"/>
            </a:endParaRPr>
          </a:p>
          <a:p>
            <a:pPr lvl="0"/>
            <a:r>
              <a:rPr lang="en-US" sz="2200" dirty="0" smtClean="0">
                <a:latin typeface="Fira Sans"/>
                <a:ea typeface="Fira Sans"/>
                <a:cs typeface="Fira Sans"/>
                <a:sym typeface="Fira Sans"/>
              </a:rPr>
              <a:t>	</a:t>
            </a:r>
          </a:p>
        </p:txBody>
      </p:sp>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1" y="5605573"/>
            <a:ext cx="1433886" cy="594811"/>
          </a:xfrm>
          <a:prstGeom prst="rect">
            <a:avLst/>
          </a:prstGeom>
        </p:spPr>
      </p:pic>
      <p:graphicFrame>
        <p:nvGraphicFramePr>
          <p:cNvPr id="11" name="Google Shape;174;p21"/>
          <p:cNvGraphicFramePr/>
          <p:nvPr>
            <p:extLst>
              <p:ext uri="{D42A27DB-BD31-4B8C-83A1-F6EECF244321}">
                <p14:modId xmlns:p14="http://schemas.microsoft.com/office/powerpoint/2010/main" val="3218793950"/>
              </p:ext>
            </p:extLst>
          </p:nvPr>
        </p:nvGraphicFramePr>
        <p:xfrm>
          <a:off x="5796136" y="961155"/>
          <a:ext cx="1728192" cy="1462950"/>
        </p:xfrm>
        <a:graphic>
          <a:graphicData uri="http://schemas.openxmlformats.org/drawingml/2006/table">
            <a:tbl>
              <a:tblPr>
                <a:noFill/>
              </a:tblPr>
              <a:tblGrid>
                <a:gridCol w="864096"/>
                <a:gridCol w="864096"/>
              </a:tblGrid>
              <a:tr h="479825">
                <a:tc>
                  <a:txBody>
                    <a:bodyPr/>
                    <a:lstStyle/>
                    <a:p>
                      <a:pPr marL="0" lvl="0" indent="0" algn="ctr" rtl="0">
                        <a:spcBef>
                          <a:spcPts val="0"/>
                        </a:spcBef>
                        <a:spcAft>
                          <a:spcPts val="0"/>
                        </a:spcAft>
                        <a:buNone/>
                      </a:pPr>
                      <a:r>
                        <a:rPr lang="en-US" sz="2000" b="1" dirty="0">
                          <a:solidFill>
                            <a:srgbClr val="CC0000"/>
                          </a:solidFill>
                          <a:latin typeface="Fira Sans"/>
                          <a:ea typeface="Fira Sans"/>
                          <a:cs typeface="Fira Sans"/>
                          <a:sym typeface="Fira Sans"/>
                        </a:rPr>
                        <a:t>S0</a:t>
                      </a:r>
                      <a:endParaRPr sz="20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solidFill>
                            <a:srgbClr val="CC0000"/>
                          </a:solidFill>
                          <a:latin typeface="Fira Sans"/>
                          <a:ea typeface="Fira Sans"/>
                          <a:cs typeface="Fira Sans"/>
                          <a:sym typeface="Fira Sans"/>
                        </a:rPr>
                        <a:t>Y</a:t>
                      </a:r>
                      <a:endParaRPr sz="2000" b="1">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448454">
                <a:tc>
                  <a:txBody>
                    <a:bodyPr/>
                    <a:lstStyle/>
                    <a:p>
                      <a:pPr marL="0" lvl="0" indent="0" algn="ctr" rtl="0">
                        <a:spcBef>
                          <a:spcPts val="0"/>
                        </a:spcBef>
                        <a:spcAft>
                          <a:spcPts val="0"/>
                        </a:spcAft>
                        <a:buNone/>
                      </a:pPr>
                      <a:r>
                        <a:rPr lang="en-US" sz="2000" b="1" dirty="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latin typeface="Fira Sans"/>
                          <a:ea typeface="Fira Sans"/>
                          <a:cs typeface="Fira Sans"/>
                          <a:sym typeface="Fira Sans"/>
                        </a:rPr>
                        <a:t>I0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479825">
                <a:tc>
                  <a:txBody>
                    <a:bodyPr/>
                    <a:lstStyle/>
                    <a:p>
                      <a:pPr marL="0" lvl="0" indent="0" algn="ctr" rtl="0">
                        <a:spcBef>
                          <a:spcPts val="0"/>
                        </a:spcBef>
                        <a:spcAft>
                          <a:spcPts val="0"/>
                        </a:spcAft>
                        <a:buNone/>
                      </a:pPr>
                      <a:r>
                        <a:rPr lang="en-US" sz="2000" b="1">
                          <a:latin typeface="Fira Sans"/>
                          <a:ea typeface="Fira Sans"/>
                          <a:cs typeface="Fira Sans"/>
                          <a:sym typeface="Fira Sans"/>
                        </a:rPr>
                        <a:t>1</a:t>
                      </a:r>
                      <a:endParaRPr sz="2000" b="1">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latin typeface="Fira Sans"/>
                          <a:ea typeface="Fira Sans"/>
                          <a:cs typeface="Fira Sans"/>
                          <a:sym typeface="Fira Sans"/>
                        </a:rPr>
                        <a:t>I1</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pic>
        <p:nvPicPr>
          <p:cNvPr id="2" name="Picture 1"/>
          <p:cNvPicPr>
            <a:picLocks noChangeAspect="1"/>
          </p:cNvPicPr>
          <p:nvPr/>
        </p:nvPicPr>
        <p:blipFill rotWithShape="1">
          <a:blip r:embed="rId7">
            <a:extLst>
              <a:ext uri="{28A0092B-C50C-407E-A947-70E740481C1C}">
                <a14:useLocalDpi xmlns:a14="http://schemas.microsoft.com/office/drawing/2010/main" val="0"/>
              </a:ext>
            </a:extLst>
          </a:blip>
          <a:srcRect l="32303" t="24896" r="33188" b="28432"/>
          <a:stretch/>
        </p:blipFill>
        <p:spPr>
          <a:xfrm>
            <a:off x="467544" y="2251690"/>
            <a:ext cx="4725460" cy="2856047"/>
          </a:xfrm>
          <a:prstGeom prst="rect">
            <a:avLst/>
          </a:prstGeom>
        </p:spPr>
      </p:pic>
    </p:spTree>
    <p:extLst>
      <p:ext uri="{BB962C8B-B14F-4D97-AF65-F5344CB8AC3E}">
        <p14:creationId xmlns:p14="http://schemas.microsoft.com/office/powerpoint/2010/main" val="128309791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281843" y="191854"/>
            <a:ext cx="8546813" cy="721750"/>
          </a:xfrm>
          <a:prstGeom prst="rect">
            <a:avLst/>
          </a:prstGeom>
          <a:noFill/>
          <a:ln>
            <a:noFill/>
          </a:ln>
        </p:spPr>
        <p:txBody>
          <a:bodyPr spcFirstLastPara="1" wrap="square" lIns="76790" tIns="38395" rIns="76790" bIns="38395" anchor="ctr" anchorCtr="0">
            <a:noAutofit/>
          </a:bodyPr>
          <a:lstStyle/>
          <a:p>
            <a:pPr marL="382270"/>
            <a:r>
              <a:rPr lang="en-US" sz="3000" b="1" dirty="0" smtClean="0">
                <a:solidFill>
                  <a:srgbClr val="C00000"/>
                </a:solidFill>
                <a:latin typeface="Marcellus" charset="0"/>
              </a:rPr>
              <a:t>4:1 Multiplexers</a:t>
            </a:r>
            <a:endParaRPr sz="3000" b="1" dirty="0">
              <a:solidFill>
                <a:srgbClr val="C00000"/>
              </a:solidFill>
              <a:latin typeface="Marcellus" charset="0"/>
            </a:endParaRPr>
          </a:p>
        </p:txBody>
      </p:sp>
      <p:pic>
        <p:nvPicPr>
          <p:cNvPr id="45" name="Google Shape;45;p3"/>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46" name="Google Shape;46;p3"/>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47" name="Google Shape;47;p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sp>
        <p:nvSpPr>
          <p:cNvPr id="49" name="Google Shape;49;p3"/>
          <p:cNvSpPr txBox="1"/>
          <p:nvPr/>
        </p:nvSpPr>
        <p:spPr>
          <a:xfrm>
            <a:off x="668094" y="814938"/>
            <a:ext cx="2997188" cy="2839500"/>
          </a:xfrm>
          <a:prstGeom prst="rect">
            <a:avLst/>
          </a:prstGeom>
          <a:noFill/>
          <a:ln>
            <a:noFill/>
          </a:ln>
        </p:spPr>
        <p:txBody>
          <a:bodyPr spcFirstLastPara="1" wrap="square" lIns="76790" tIns="76790" rIns="76790" bIns="76790" anchor="t" anchorCtr="0">
            <a:noAutofit/>
          </a:bodyPr>
          <a:lstStyle/>
          <a:p>
            <a:pPr marL="320040" indent="320040" algn="just">
              <a:buClr>
                <a:srgbClr val="000000"/>
              </a:buClr>
              <a:buSzPts val="2900"/>
            </a:pPr>
            <a:endParaRPr sz="2000" b="1" dirty="0">
              <a:solidFill>
                <a:schemeClr val="dk1"/>
              </a:solidFill>
              <a:latin typeface="Fira Sans"/>
              <a:ea typeface="Fira Sans"/>
              <a:cs typeface="Fira Sans"/>
              <a:sym typeface="Fira Sans"/>
            </a:endParaRPr>
          </a:p>
          <a:p>
            <a:pPr marL="320040" indent="320040" algn="just">
              <a:buClr>
                <a:srgbClr val="000000"/>
              </a:buClr>
              <a:buSzPts val="2900"/>
            </a:pPr>
            <a:endParaRPr sz="2000" b="1" dirty="0">
              <a:solidFill>
                <a:schemeClr val="dk1"/>
              </a:solidFill>
              <a:latin typeface="Fira Sans"/>
              <a:ea typeface="Fira Sans"/>
              <a:cs typeface="Fira Sans"/>
              <a:sym typeface="Fira Sans"/>
            </a:endParaRPr>
          </a:p>
        </p:txBody>
      </p:sp>
      <p:sp>
        <p:nvSpPr>
          <p:cNvPr id="50" name="Google Shape;50;p3"/>
          <p:cNvSpPr txBox="1"/>
          <p:nvPr/>
        </p:nvSpPr>
        <p:spPr>
          <a:xfrm>
            <a:off x="323528" y="840016"/>
            <a:ext cx="5869597" cy="5062962"/>
          </a:xfrm>
          <a:prstGeom prst="rect">
            <a:avLst/>
          </a:prstGeom>
          <a:noFill/>
          <a:ln>
            <a:noFill/>
          </a:ln>
        </p:spPr>
        <p:txBody>
          <a:bodyPr spcFirstLastPara="1" wrap="square" lIns="76790" tIns="76790" rIns="76790" bIns="76790" anchor="t" anchorCtr="0">
            <a:noAutofit/>
          </a:bodyPr>
          <a:lstStyle/>
          <a:p>
            <a:pPr lvl="0"/>
            <a:r>
              <a:rPr lang="en-US" sz="2200" b="1" dirty="0" smtClean="0">
                <a:latin typeface="Fira Sans"/>
                <a:ea typeface="Fira Sans"/>
                <a:cs typeface="Fira Sans"/>
                <a:sym typeface="Fira Sans"/>
              </a:rPr>
              <a:t>4:1 Multiplexer</a:t>
            </a:r>
            <a:r>
              <a:rPr lang="en-US" sz="2200" dirty="0" smtClean="0">
                <a:latin typeface="Fira Sans"/>
                <a:ea typeface="Fira Sans"/>
                <a:cs typeface="Fira Sans"/>
                <a:sym typeface="Fira Sans"/>
              </a:rPr>
              <a:t> </a:t>
            </a:r>
          </a:p>
          <a:p>
            <a:pPr lvl="0"/>
            <a:r>
              <a:rPr lang="en-US" sz="2200" dirty="0" smtClean="0">
                <a:latin typeface="Fira Sans"/>
                <a:ea typeface="Fira Sans"/>
                <a:cs typeface="Fira Sans"/>
                <a:sym typeface="Fira Sans"/>
              </a:rPr>
              <a:t>Y = S1’.S0’.I0 + S1’.S0.I1+S1.S0’.I2+S1.S0.I3</a:t>
            </a:r>
          </a:p>
          <a:p>
            <a:pPr lvl="0"/>
            <a:endParaRPr lang="en-US" sz="2200" dirty="0">
              <a:latin typeface="Fira Sans"/>
              <a:ea typeface="Fira Sans"/>
              <a:cs typeface="Fira Sans"/>
              <a:sym typeface="Fira Sans"/>
            </a:endParaRPr>
          </a:p>
          <a:p>
            <a:pPr lvl="0"/>
            <a:endParaRPr lang="en-US" sz="2200" dirty="0" smtClean="0">
              <a:latin typeface="Fira Sans"/>
              <a:ea typeface="Fira Sans"/>
              <a:cs typeface="Fira Sans"/>
              <a:sym typeface="Fira Sans"/>
            </a:endParaRPr>
          </a:p>
          <a:p>
            <a:pPr lvl="0"/>
            <a:endParaRPr lang="en-US" sz="2200" dirty="0">
              <a:latin typeface="Fira Sans"/>
              <a:ea typeface="Fira Sans"/>
              <a:cs typeface="Fira Sans"/>
              <a:sym typeface="Fira Sans"/>
            </a:endParaRPr>
          </a:p>
          <a:p>
            <a:pPr lvl="0"/>
            <a:endParaRPr lang="en-US" sz="2200" dirty="0" smtClean="0">
              <a:latin typeface="Fira Sans"/>
              <a:ea typeface="Fira Sans"/>
              <a:cs typeface="Fira Sans"/>
              <a:sym typeface="Fira Sans"/>
            </a:endParaRPr>
          </a:p>
          <a:p>
            <a:pPr lvl="0"/>
            <a:endParaRPr lang="en-US" sz="2200" dirty="0">
              <a:latin typeface="Fira Sans"/>
              <a:ea typeface="Fira Sans"/>
              <a:cs typeface="Fira Sans"/>
              <a:sym typeface="Fira Sans"/>
            </a:endParaRPr>
          </a:p>
          <a:p>
            <a:pPr lvl="0"/>
            <a:endParaRPr lang="en-US" sz="2200" dirty="0" smtClean="0">
              <a:latin typeface="Fira Sans"/>
              <a:ea typeface="Fira Sans"/>
              <a:cs typeface="Fira Sans"/>
              <a:sym typeface="Fira Sans"/>
            </a:endParaRPr>
          </a:p>
          <a:p>
            <a:pPr lvl="0"/>
            <a:endParaRPr lang="en-US" sz="2200" dirty="0">
              <a:latin typeface="Fira Sans"/>
              <a:ea typeface="Fira Sans"/>
              <a:cs typeface="Fira Sans"/>
              <a:sym typeface="Fira Sans"/>
            </a:endParaRPr>
          </a:p>
          <a:p>
            <a:pPr lvl="0"/>
            <a:endParaRPr lang="en-US" sz="2200" dirty="0" smtClean="0">
              <a:latin typeface="Fira Sans"/>
              <a:ea typeface="Fira Sans"/>
              <a:cs typeface="Fira Sans"/>
              <a:sym typeface="Fira Sans"/>
            </a:endParaRPr>
          </a:p>
          <a:p>
            <a:pPr lvl="0"/>
            <a:endParaRPr lang="en-US" sz="2200" dirty="0">
              <a:latin typeface="Fira Sans"/>
              <a:ea typeface="Fira Sans"/>
              <a:cs typeface="Fira Sans"/>
              <a:sym typeface="Fira Sans"/>
            </a:endParaRPr>
          </a:p>
          <a:p>
            <a:pPr lvl="0"/>
            <a:endParaRPr lang="en-US" sz="2200" dirty="0" smtClean="0">
              <a:latin typeface="Fira Sans"/>
              <a:ea typeface="Fira Sans"/>
              <a:cs typeface="Fira Sans"/>
              <a:sym typeface="Fira Sans"/>
            </a:endParaRPr>
          </a:p>
          <a:p>
            <a:pPr lvl="0"/>
            <a:r>
              <a:rPr lang="en-US" sz="2200" dirty="0" smtClean="0">
                <a:latin typeface="Fira Sans"/>
                <a:ea typeface="Fira Sans"/>
                <a:cs typeface="Fira Sans"/>
                <a:sym typeface="Fira Sans"/>
              </a:rPr>
              <a:t>	</a:t>
            </a:r>
          </a:p>
        </p:txBody>
      </p:sp>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1" y="5605573"/>
            <a:ext cx="1433886" cy="594811"/>
          </a:xfrm>
          <a:prstGeom prst="rect">
            <a:avLst/>
          </a:prstGeom>
        </p:spPr>
      </p:pic>
      <p:pic>
        <p:nvPicPr>
          <p:cNvPr id="10" name="Google Shape;185;p22"/>
          <p:cNvPicPr preferRelativeResize="0"/>
          <p:nvPr/>
        </p:nvPicPr>
        <p:blipFill rotWithShape="1">
          <a:blip r:embed="rId7">
            <a:alphaModFix/>
          </a:blip>
          <a:srcRect l="28513" t="21961" r="11834" b="11651"/>
          <a:stretch/>
        </p:blipFill>
        <p:spPr>
          <a:xfrm>
            <a:off x="395536" y="1628800"/>
            <a:ext cx="5326668" cy="3122949"/>
          </a:xfrm>
          <a:prstGeom prst="rect">
            <a:avLst/>
          </a:prstGeom>
          <a:noFill/>
          <a:ln>
            <a:noFill/>
          </a:ln>
        </p:spPr>
      </p:pic>
      <p:graphicFrame>
        <p:nvGraphicFramePr>
          <p:cNvPr id="12" name="Google Shape;174;p21"/>
          <p:cNvGraphicFramePr/>
          <p:nvPr>
            <p:extLst>
              <p:ext uri="{D42A27DB-BD31-4B8C-83A1-F6EECF244321}">
                <p14:modId xmlns:p14="http://schemas.microsoft.com/office/powerpoint/2010/main" val="2150177445"/>
              </p:ext>
            </p:extLst>
          </p:nvPr>
        </p:nvGraphicFramePr>
        <p:xfrm>
          <a:off x="6300192" y="933247"/>
          <a:ext cx="2592288" cy="2438250"/>
        </p:xfrm>
        <a:graphic>
          <a:graphicData uri="http://schemas.openxmlformats.org/drawingml/2006/table">
            <a:tbl>
              <a:tblPr>
                <a:noFill/>
              </a:tblPr>
              <a:tblGrid>
                <a:gridCol w="864096"/>
                <a:gridCol w="864096"/>
                <a:gridCol w="864096"/>
              </a:tblGrid>
              <a:tr h="479825">
                <a:tc>
                  <a:txBody>
                    <a:bodyPr/>
                    <a:lstStyle/>
                    <a:p>
                      <a:pPr marL="0" lvl="0" indent="0" algn="ctr" rtl="0">
                        <a:spcBef>
                          <a:spcPts val="0"/>
                        </a:spcBef>
                        <a:spcAft>
                          <a:spcPts val="0"/>
                        </a:spcAft>
                        <a:buNone/>
                      </a:pPr>
                      <a:r>
                        <a:rPr lang="en-US" sz="2000" b="1" dirty="0">
                          <a:solidFill>
                            <a:srgbClr val="CC0000"/>
                          </a:solidFill>
                          <a:latin typeface="Fira Sans"/>
                          <a:ea typeface="Fira Sans"/>
                          <a:cs typeface="Fira Sans"/>
                          <a:sym typeface="Fira Sans"/>
                        </a:rPr>
                        <a:t>S1</a:t>
                      </a:r>
                      <a:endParaRPr sz="20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solidFill>
                            <a:srgbClr val="CC0000"/>
                          </a:solidFill>
                          <a:latin typeface="Fira Sans"/>
                          <a:ea typeface="Fira Sans"/>
                          <a:cs typeface="Fira Sans"/>
                          <a:sym typeface="Fira Sans"/>
                        </a:rPr>
                        <a:t>S0</a:t>
                      </a:r>
                      <a:endParaRPr sz="20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solidFill>
                            <a:srgbClr val="CC0000"/>
                          </a:solidFill>
                          <a:latin typeface="Fira Sans"/>
                          <a:ea typeface="Fira Sans"/>
                          <a:cs typeface="Fira Sans"/>
                          <a:sym typeface="Fira Sans"/>
                        </a:rPr>
                        <a:t>Y</a:t>
                      </a:r>
                      <a:endParaRPr sz="2000" b="1">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448454">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latin typeface="Fira Sans"/>
                          <a:ea typeface="Fira Sans"/>
                          <a:cs typeface="Fira Sans"/>
                          <a:sym typeface="Fira Sans"/>
                        </a:rPr>
                        <a:t>I0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479825">
                <a:tc>
                  <a:txBody>
                    <a:bodyPr/>
                    <a:lstStyle/>
                    <a:p>
                      <a:pPr marL="0" lvl="0" indent="0" algn="ctr" rtl="0">
                        <a:spcBef>
                          <a:spcPts val="0"/>
                        </a:spcBef>
                        <a:spcAft>
                          <a:spcPts val="0"/>
                        </a:spcAft>
                        <a:buNone/>
                      </a:pPr>
                      <a:r>
                        <a:rPr lang="en-US" sz="2000" b="1" dirty="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1</a:t>
                      </a:r>
                      <a:endParaRPr sz="2000" b="1">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latin typeface="Fira Sans"/>
                          <a:ea typeface="Fira Sans"/>
                          <a:cs typeface="Fira Sans"/>
                          <a:sym typeface="Fira Sans"/>
                        </a:rPr>
                        <a:t>I1</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479825">
                <a:tc>
                  <a:txBody>
                    <a:bodyPr/>
                    <a:lstStyle/>
                    <a:p>
                      <a:pPr marL="0" lvl="0" indent="0" algn="ctr" rtl="0">
                        <a:spcBef>
                          <a:spcPts val="0"/>
                        </a:spcBef>
                        <a:spcAft>
                          <a:spcPts val="0"/>
                        </a:spcAft>
                        <a:buNone/>
                      </a:pPr>
                      <a:r>
                        <a:rPr lang="en-US" sz="2000" b="1" dirty="0">
                          <a:latin typeface="Fira Sans"/>
                          <a:ea typeface="Fira Sans"/>
                          <a:cs typeface="Fira Sans"/>
                          <a:sym typeface="Fira Sans"/>
                        </a:rPr>
                        <a:t>1</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0</a:t>
                      </a:r>
                      <a:endParaRPr sz="2000" b="1">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latin typeface="Fira Sans"/>
                          <a:ea typeface="Fira Sans"/>
                          <a:cs typeface="Fira Sans"/>
                          <a:sym typeface="Fira Sans"/>
                        </a:rPr>
                        <a:t>I2</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479825">
                <a:tc>
                  <a:txBody>
                    <a:bodyPr/>
                    <a:lstStyle/>
                    <a:p>
                      <a:pPr marL="0" lvl="0" indent="0" algn="ctr" rtl="0">
                        <a:spcBef>
                          <a:spcPts val="0"/>
                        </a:spcBef>
                        <a:spcAft>
                          <a:spcPts val="0"/>
                        </a:spcAft>
                        <a:buNone/>
                      </a:pPr>
                      <a:r>
                        <a:rPr lang="en-US" sz="2000" b="1" dirty="0">
                          <a:latin typeface="Fira Sans"/>
                          <a:ea typeface="Fira Sans"/>
                          <a:cs typeface="Fira Sans"/>
                          <a:sym typeface="Fira Sans"/>
                        </a:rPr>
                        <a:t>1</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1</a:t>
                      </a:r>
                      <a:endParaRPr sz="2000" b="1">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latin typeface="Fira Sans"/>
                          <a:ea typeface="Fira Sans"/>
                          <a:cs typeface="Fira Sans"/>
                          <a:sym typeface="Fira Sans"/>
                        </a:rPr>
                        <a:t>I3</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288355693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281843" y="191854"/>
            <a:ext cx="8546813" cy="721750"/>
          </a:xfrm>
          <a:prstGeom prst="rect">
            <a:avLst/>
          </a:prstGeom>
          <a:noFill/>
          <a:ln>
            <a:noFill/>
          </a:ln>
        </p:spPr>
        <p:txBody>
          <a:bodyPr spcFirstLastPara="1" wrap="square" lIns="76790" tIns="38395" rIns="76790" bIns="38395" anchor="ctr" anchorCtr="0">
            <a:noAutofit/>
          </a:bodyPr>
          <a:lstStyle/>
          <a:p>
            <a:pPr marL="382270"/>
            <a:r>
              <a:rPr lang="en-US" sz="3000" b="1" dirty="0" smtClean="0">
                <a:solidFill>
                  <a:srgbClr val="C00000"/>
                </a:solidFill>
                <a:latin typeface="Marcellus" charset="0"/>
              </a:rPr>
              <a:t>4:1 Multiplexers using 2:1 Mux</a:t>
            </a:r>
            <a:endParaRPr sz="3000" b="1" dirty="0">
              <a:solidFill>
                <a:srgbClr val="C00000"/>
              </a:solidFill>
              <a:latin typeface="Marcellus" charset="0"/>
            </a:endParaRPr>
          </a:p>
        </p:txBody>
      </p:sp>
      <p:pic>
        <p:nvPicPr>
          <p:cNvPr id="45" name="Google Shape;45;p3"/>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46" name="Google Shape;46;p3"/>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47" name="Google Shape;47;p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sp>
        <p:nvSpPr>
          <p:cNvPr id="49" name="Google Shape;49;p3"/>
          <p:cNvSpPr txBox="1"/>
          <p:nvPr/>
        </p:nvSpPr>
        <p:spPr>
          <a:xfrm>
            <a:off x="668094" y="814938"/>
            <a:ext cx="2997188" cy="2839500"/>
          </a:xfrm>
          <a:prstGeom prst="rect">
            <a:avLst/>
          </a:prstGeom>
          <a:noFill/>
          <a:ln>
            <a:noFill/>
          </a:ln>
        </p:spPr>
        <p:txBody>
          <a:bodyPr spcFirstLastPara="1" wrap="square" lIns="76790" tIns="76790" rIns="76790" bIns="76790" anchor="t" anchorCtr="0">
            <a:noAutofit/>
          </a:bodyPr>
          <a:lstStyle/>
          <a:p>
            <a:pPr marL="320040" indent="320040" algn="just">
              <a:buClr>
                <a:srgbClr val="000000"/>
              </a:buClr>
              <a:buSzPts val="2900"/>
            </a:pPr>
            <a:endParaRPr sz="2000" b="1" dirty="0">
              <a:solidFill>
                <a:schemeClr val="dk1"/>
              </a:solidFill>
              <a:latin typeface="Fira Sans"/>
              <a:ea typeface="Fira Sans"/>
              <a:cs typeface="Fira Sans"/>
              <a:sym typeface="Fira Sans"/>
            </a:endParaRPr>
          </a:p>
          <a:p>
            <a:pPr marL="320040" indent="320040" algn="just">
              <a:buClr>
                <a:srgbClr val="000000"/>
              </a:buClr>
              <a:buSzPts val="2900"/>
            </a:pPr>
            <a:endParaRPr sz="2000" b="1" dirty="0">
              <a:solidFill>
                <a:schemeClr val="dk1"/>
              </a:solidFill>
              <a:latin typeface="Fira Sans"/>
              <a:ea typeface="Fira Sans"/>
              <a:cs typeface="Fira Sans"/>
              <a:sym typeface="Fira Sans"/>
            </a:endParaRPr>
          </a:p>
        </p:txBody>
      </p:sp>
      <p:sp>
        <p:nvSpPr>
          <p:cNvPr id="50" name="Google Shape;50;p3"/>
          <p:cNvSpPr txBox="1"/>
          <p:nvPr/>
        </p:nvSpPr>
        <p:spPr>
          <a:xfrm>
            <a:off x="323528" y="840016"/>
            <a:ext cx="5869597" cy="5062962"/>
          </a:xfrm>
          <a:prstGeom prst="rect">
            <a:avLst/>
          </a:prstGeom>
          <a:noFill/>
          <a:ln>
            <a:noFill/>
          </a:ln>
        </p:spPr>
        <p:txBody>
          <a:bodyPr spcFirstLastPara="1" wrap="square" lIns="76790" tIns="76790" rIns="76790" bIns="76790" anchor="t" anchorCtr="0">
            <a:noAutofit/>
          </a:bodyPr>
          <a:lstStyle/>
          <a:p>
            <a:pPr lvl="0"/>
            <a:r>
              <a:rPr lang="en-US" sz="2200" b="1" dirty="0" smtClean="0">
                <a:latin typeface="Fira Sans"/>
                <a:ea typeface="Fira Sans"/>
                <a:cs typeface="Fira Sans"/>
                <a:sym typeface="Fira Sans"/>
              </a:rPr>
              <a:t>4:1 Multiplexer</a:t>
            </a:r>
            <a:r>
              <a:rPr lang="en-US" sz="2200" dirty="0" smtClean="0">
                <a:latin typeface="Fira Sans"/>
                <a:ea typeface="Fira Sans"/>
                <a:cs typeface="Fira Sans"/>
                <a:sym typeface="Fira Sans"/>
              </a:rPr>
              <a:t> </a:t>
            </a:r>
          </a:p>
          <a:p>
            <a:pPr lvl="0"/>
            <a:r>
              <a:rPr lang="en-US" sz="2200" dirty="0" smtClean="0">
                <a:latin typeface="Fira Sans"/>
                <a:ea typeface="Fira Sans"/>
                <a:cs typeface="Fira Sans"/>
                <a:sym typeface="Fira Sans"/>
              </a:rPr>
              <a:t>Y = S1’.S0’.I0 + S1’.S0.I1+S1.S0’.I2+S1.S0.I3</a:t>
            </a:r>
          </a:p>
          <a:p>
            <a:pPr lvl="0"/>
            <a:endParaRPr lang="en-US" sz="2200" dirty="0">
              <a:latin typeface="Fira Sans"/>
              <a:ea typeface="Fira Sans"/>
              <a:cs typeface="Fira Sans"/>
              <a:sym typeface="Fira Sans"/>
            </a:endParaRPr>
          </a:p>
          <a:p>
            <a:pPr lvl="0"/>
            <a:endParaRPr lang="en-US" sz="2200" dirty="0" smtClean="0">
              <a:latin typeface="Fira Sans"/>
              <a:ea typeface="Fira Sans"/>
              <a:cs typeface="Fira Sans"/>
              <a:sym typeface="Fira Sans"/>
            </a:endParaRPr>
          </a:p>
          <a:p>
            <a:pPr lvl="0"/>
            <a:endParaRPr lang="en-US" sz="2200" dirty="0">
              <a:latin typeface="Fira Sans"/>
              <a:ea typeface="Fira Sans"/>
              <a:cs typeface="Fira Sans"/>
              <a:sym typeface="Fira Sans"/>
            </a:endParaRPr>
          </a:p>
          <a:p>
            <a:pPr lvl="0"/>
            <a:endParaRPr lang="en-US" sz="2200" dirty="0" smtClean="0">
              <a:latin typeface="Fira Sans"/>
              <a:ea typeface="Fira Sans"/>
              <a:cs typeface="Fira Sans"/>
              <a:sym typeface="Fira Sans"/>
            </a:endParaRPr>
          </a:p>
          <a:p>
            <a:pPr lvl="0"/>
            <a:endParaRPr lang="en-US" sz="2200" dirty="0">
              <a:latin typeface="Fira Sans"/>
              <a:ea typeface="Fira Sans"/>
              <a:cs typeface="Fira Sans"/>
              <a:sym typeface="Fira Sans"/>
            </a:endParaRPr>
          </a:p>
          <a:p>
            <a:pPr lvl="0"/>
            <a:endParaRPr lang="en-US" sz="2200" dirty="0" smtClean="0">
              <a:latin typeface="Fira Sans"/>
              <a:ea typeface="Fira Sans"/>
              <a:cs typeface="Fira Sans"/>
              <a:sym typeface="Fira Sans"/>
            </a:endParaRPr>
          </a:p>
          <a:p>
            <a:pPr lvl="0"/>
            <a:endParaRPr lang="en-US" sz="2200" dirty="0">
              <a:latin typeface="Fira Sans"/>
              <a:ea typeface="Fira Sans"/>
              <a:cs typeface="Fira Sans"/>
              <a:sym typeface="Fira Sans"/>
            </a:endParaRPr>
          </a:p>
          <a:p>
            <a:pPr lvl="0"/>
            <a:endParaRPr lang="en-US" sz="2200" dirty="0" smtClean="0">
              <a:latin typeface="Fira Sans"/>
              <a:ea typeface="Fira Sans"/>
              <a:cs typeface="Fira Sans"/>
              <a:sym typeface="Fira Sans"/>
            </a:endParaRPr>
          </a:p>
          <a:p>
            <a:pPr lvl="0"/>
            <a:endParaRPr lang="en-US" sz="2200" dirty="0">
              <a:latin typeface="Fira Sans"/>
              <a:ea typeface="Fira Sans"/>
              <a:cs typeface="Fira Sans"/>
              <a:sym typeface="Fira Sans"/>
            </a:endParaRPr>
          </a:p>
          <a:p>
            <a:pPr lvl="0"/>
            <a:endParaRPr lang="en-US" sz="2200" dirty="0" smtClean="0">
              <a:latin typeface="Fira Sans"/>
              <a:ea typeface="Fira Sans"/>
              <a:cs typeface="Fira Sans"/>
              <a:sym typeface="Fira Sans"/>
            </a:endParaRPr>
          </a:p>
          <a:p>
            <a:pPr lvl="0"/>
            <a:r>
              <a:rPr lang="en-US" sz="2200" dirty="0" smtClean="0">
                <a:latin typeface="Fira Sans"/>
                <a:ea typeface="Fira Sans"/>
                <a:cs typeface="Fira Sans"/>
                <a:sym typeface="Fira Sans"/>
              </a:rPr>
              <a:t>	</a:t>
            </a:r>
          </a:p>
        </p:txBody>
      </p:sp>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1" y="5605573"/>
            <a:ext cx="1433886" cy="594811"/>
          </a:xfrm>
          <a:prstGeom prst="rect">
            <a:avLst/>
          </a:prstGeom>
        </p:spPr>
      </p:pic>
      <p:graphicFrame>
        <p:nvGraphicFramePr>
          <p:cNvPr id="12" name="Google Shape;174;p21"/>
          <p:cNvGraphicFramePr/>
          <p:nvPr>
            <p:extLst>
              <p:ext uri="{D42A27DB-BD31-4B8C-83A1-F6EECF244321}">
                <p14:modId xmlns:p14="http://schemas.microsoft.com/office/powerpoint/2010/main" val="1030038604"/>
              </p:ext>
            </p:extLst>
          </p:nvPr>
        </p:nvGraphicFramePr>
        <p:xfrm>
          <a:off x="6227148" y="1628800"/>
          <a:ext cx="2592288" cy="2438250"/>
        </p:xfrm>
        <a:graphic>
          <a:graphicData uri="http://schemas.openxmlformats.org/drawingml/2006/table">
            <a:tbl>
              <a:tblPr>
                <a:noFill/>
              </a:tblPr>
              <a:tblGrid>
                <a:gridCol w="864096"/>
                <a:gridCol w="864096"/>
                <a:gridCol w="864096"/>
              </a:tblGrid>
              <a:tr h="479825">
                <a:tc>
                  <a:txBody>
                    <a:bodyPr/>
                    <a:lstStyle/>
                    <a:p>
                      <a:pPr marL="0" lvl="0" indent="0" algn="ctr" rtl="0">
                        <a:spcBef>
                          <a:spcPts val="0"/>
                        </a:spcBef>
                        <a:spcAft>
                          <a:spcPts val="0"/>
                        </a:spcAft>
                        <a:buNone/>
                      </a:pPr>
                      <a:r>
                        <a:rPr lang="en-US" sz="2000" b="1" dirty="0">
                          <a:solidFill>
                            <a:srgbClr val="CC0000"/>
                          </a:solidFill>
                          <a:latin typeface="Fira Sans"/>
                          <a:ea typeface="Fira Sans"/>
                          <a:cs typeface="Fira Sans"/>
                          <a:sym typeface="Fira Sans"/>
                        </a:rPr>
                        <a:t>S1</a:t>
                      </a:r>
                      <a:endParaRPr sz="20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solidFill>
                            <a:srgbClr val="CC0000"/>
                          </a:solidFill>
                          <a:latin typeface="Fira Sans"/>
                          <a:ea typeface="Fira Sans"/>
                          <a:cs typeface="Fira Sans"/>
                          <a:sym typeface="Fira Sans"/>
                        </a:rPr>
                        <a:t>S0</a:t>
                      </a:r>
                      <a:endParaRPr sz="20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solidFill>
                            <a:srgbClr val="CC0000"/>
                          </a:solidFill>
                          <a:latin typeface="Fira Sans"/>
                          <a:ea typeface="Fira Sans"/>
                          <a:cs typeface="Fira Sans"/>
                          <a:sym typeface="Fira Sans"/>
                        </a:rPr>
                        <a:t>Y</a:t>
                      </a:r>
                      <a:endParaRPr sz="2000" b="1">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448454">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latin typeface="Fira Sans"/>
                          <a:ea typeface="Fira Sans"/>
                          <a:cs typeface="Fira Sans"/>
                          <a:sym typeface="Fira Sans"/>
                        </a:rPr>
                        <a:t>I0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479825">
                <a:tc>
                  <a:txBody>
                    <a:bodyPr/>
                    <a:lstStyle/>
                    <a:p>
                      <a:pPr marL="0" lvl="0" indent="0" algn="ctr" rtl="0">
                        <a:spcBef>
                          <a:spcPts val="0"/>
                        </a:spcBef>
                        <a:spcAft>
                          <a:spcPts val="0"/>
                        </a:spcAft>
                        <a:buNone/>
                      </a:pPr>
                      <a:r>
                        <a:rPr lang="en-US" sz="2000" b="1" dirty="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1</a:t>
                      </a:r>
                      <a:endParaRPr sz="2000" b="1">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latin typeface="Fira Sans"/>
                          <a:ea typeface="Fira Sans"/>
                          <a:cs typeface="Fira Sans"/>
                          <a:sym typeface="Fira Sans"/>
                        </a:rPr>
                        <a:t>I1</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479825">
                <a:tc>
                  <a:txBody>
                    <a:bodyPr/>
                    <a:lstStyle/>
                    <a:p>
                      <a:pPr marL="0" lvl="0" indent="0" algn="ctr" rtl="0">
                        <a:spcBef>
                          <a:spcPts val="0"/>
                        </a:spcBef>
                        <a:spcAft>
                          <a:spcPts val="0"/>
                        </a:spcAft>
                        <a:buNone/>
                      </a:pPr>
                      <a:r>
                        <a:rPr lang="en-US" sz="2000" b="1" dirty="0">
                          <a:latin typeface="Fira Sans"/>
                          <a:ea typeface="Fira Sans"/>
                          <a:cs typeface="Fira Sans"/>
                          <a:sym typeface="Fira Sans"/>
                        </a:rPr>
                        <a:t>1</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latin typeface="Fira Sans"/>
                          <a:ea typeface="Fira Sans"/>
                          <a:cs typeface="Fira Sans"/>
                          <a:sym typeface="Fira Sans"/>
                        </a:rPr>
                        <a:t>I2</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479825">
                <a:tc>
                  <a:txBody>
                    <a:bodyPr/>
                    <a:lstStyle/>
                    <a:p>
                      <a:pPr marL="0" lvl="0" indent="0" algn="ctr" rtl="0">
                        <a:spcBef>
                          <a:spcPts val="0"/>
                        </a:spcBef>
                        <a:spcAft>
                          <a:spcPts val="0"/>
                        </a:spcAft>
                        <a:buNone/>
                      </a:pPr>
                      <a:r>
                        <a:rPr lang="en-US" sz="2000" b="1" dirty="0">
                          <a:latin typeface="Fira Sans"/>
                          <a:ea typeface="Fira Sans"/>
                          <a:cs typeface="Fira Sans"/>
                          <a:sym typeface="Fira Sans"/>
                        </a:rPr>
                        <a:t>1</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1</a:t>
                      </a:r>
                      <a:endParaRPr sz="2000" b="1">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latin typeface="Fira Sans"/>
                          <a:ea typeface="Fira Sans"/>
                          <a:cs typeface="Fira Sans"/>
                          <a:sym typeface="Fira Sans"/>
                        </a:rPr>
                        <a:t>I3</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pic>
        <p:nvPicPr>
          <p:cNvPr id="2" name="Picture 1"/>
          <p:cNvPicPr>
            <a:picLocks noChangeAspect="1"/>
          </p:cNvPicPr>
          <p:nvPr/>
        </p:nvPicPr>
        <p:blipFill rotWithShape="1">
          <a:blip r:embed="rId7">
            <a:extLst>
              <a:ext uri="{28A0092B-C50C-407E-A947-70E740481C1C}">
                <a14:useLocalDpi xmlns:a14="http://schemas.microsoft.com/office/drawing/2010/main" val="0"/>
              </a:ext>
            </a:extLst>
          </a:blip>
          <a:srcRect l="29017" t="17118" r="25478" b="23906"/>
          <a:stretch/>
        </p:blipFill>
        <p:spPr>
          <a:xfrm>
            <a:off x="741608" y="1916832"/>
            <a:ext cx="5449570" cy="3156122"/>
          </a:xfrm>
          <a:prstGeom prst="rect">
            <a:avLst/>
          </a:prstGeom>
        </p:spPr>
      </p:pic>
    </p:spTree>
    <p:extLst>
      <p:ext uri="{BB962C8B-B14F-4D97-AF65-F5344CB8AC3E}">
        <p14:creationId xmlns:p14="http://schemas.microsoft.com/office/powerpoint/2010/main" val="4680435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281843" y="191854"/>
            <a:ext cx="8546813" cy="721750"/>
          </a:xfrm>
          <a:prstGeom prst="rect">
            <a:avLst/>
          </a:prstGeom>
          <a:noFill/>
          <a:ln>
            <a:noFill/>
          </a:ln>
        </p:spPr>
        <p:txBody>
          <a:bodyPr spcFirstLastPara="1" wrap="square" lIns="76790" tIns="38395" rIns="76790" bIns="38395" anchor="ctr" anchorCtr="0">
            <a:noAutofit/>
          </a:bodyPr>
          <a:lstStyle/>
          <a:p>
            <a:pPr marL="382270"/>
            <a:r>
              <a:rPr lang="en-US" sz="3000" b="1" dirty="0" smtClean="0">
                <a:solidFill>
                  <a:srgbClr val="C00000"/>
                </a:solidFill>
                <a:latin typeface="Marcellus" charset="0"/>
              </a:rPr>
              <a:t>Multiplexer Tree : 8:1 using 4:1 Mux</a:t>
            </a:r>
            <a:endParaRPr sz="3000" b="1" dirty="0">
              <a:solidFill>
                <a:srgbClr val="C00000"/>
              </a:solidFill>
              <a:latin typeface="Marcellus" charset="0"/>
            </a:endParaRPr>
          </a:p>
        </p:txBody>
      </p:sp>
      <p:pic>
        <p:nvPicPr>
          <p:cNvPr id="45" name="Google Shape;45;p3"/>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46" name="Google Shape;46;p3"/>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47" name="Google Shape;47;p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sp>
        <p:nvSpPr>
          <p:cNvPr id="49" name="Google Shape;49;p3"/>
          <p:cNvSpPr txBox="1"/>
          <p:nvPr/>
        </p:nvSpPr>
        <p:spPr>
          <a:xfrm>
            <a:off x="668094" y="814938"/>
            <a:ext cx="2997188" cy="2839500"/>
          </a:xfrm>
          <a:prstGeom prst="rect">
            <a:avLst/>
          </a:prstGeom>
          <a:noFill/>
          <a:ln>
            <a:noFill/>
          </a:ln>
        </p:spPr>
        <p:txBody>
          <a:bodyPr spcFirstLastPara="1" wrap="square" lIns="76790" tIns="76790" rIns="76790" bIns="76790" anchor="t" anchorCtr="0">
            <a:noAutofit/>
          </a:bodyPr>
          <a:lstStyle/>
          <a:p>
            <a:pPr marL="320040" indent="320040" algn="just">
              <a:buClr>
                <a:srgbClr val="000000"/>
              </a:buClr>
              <a:buSzPts val="2900"/>
            </a:pPr>
            <a:endParaRPr sz="2000" b="1" dirty="0">
              <a:solidFill>
                <a:schemeClr val="dk1"/>
              </a:solidFill>
              <a:latin typeface="Fira Sans"/>
              <a:ea typeface="Fira Sans"/>
              <a:cs typeface="Fira Sans"/>
              <a:sym typeface="Fira Sans"/>
            </a:endParaRPr>
          </a:p>
          <a:p>
            <a:pPr marL="320040" indent="320040" algn="just">
              <a:buClr>
                <a:srgbClr val="000000"/>
              </a:buClr>
              <a:buSzPts val="2900"/>
            </a:pPr>
            <a:endParaRPr sz="2000" b="1" dirty="0">
              <a:solidFill>
                <a:schemeClr val="dk1"/>
              </a:solidFill>
              <a:latin typeface="Fira Sans"/>
              <a:ea typeface="Fira Sans"/>
              <a:cs typeface="Fira Sans"/>
              <a:sym typeface="Fira Sans"/>
            </a:endParaRPr>
          </a:p>
        </p:txBody>
      </p:sp>
      <p:sp>
        <p:nvSpPr>
          <p:cNvPr id="50" name="Google Shape;50;p3"/>
          <p:cNvSpPr txBox="1"/>
          <p:nvPr/>
        </p:nvSpPr>
        <p:spPr>
          <a:xfrm>
            <a:off x="955110" y="913604"/>
            <a:ext cx="7572484" cy="4602500"/>
          </a:xfrm>
          <a:prstGeom prst="rect">
            <a:avLst/>
          </a:prstGeom>
          <a:noFill/>
          <a:ln>
            <a:noFill/>
          </a:ln>
        </p:spPr>
        <p:txBody>
          <a:bodyPr spcFirstLastPara="1" wrap="square" lIns="76790" tIns="76790" rIns="76790" bIns="76790" anchor="t" anchorCtr="0">
            <a:noAutofit/>
          </a:bodyPr>
          <a:lstStyle/>
          <a:p>
            <a:pPr marL="320040" algn="just">
              <a:buClr>
                <a:srgbClr val="000000"/>
              </a:buClr>
              <a:buSzPts val="2900"/>
            </a:pPr>
            <a:endParaRPr sz="2000" b="1" dirty="0">
              <a:solidFill>
                <a:schemeClr val="dk1"/>
              </a:solidFill>
              <a:latin typeface="Fira Sans"/>
              <a:ea typeface="Fira Sans"/>
              <a:cs typeface="Fira Sans"/>
              <a:sym typeface="Fira Sans"/>
            </a:endParaRPr>
          </a:p>
        </p:txBody>
      </p:sp>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1" y="5605573"/>
            <a:ext cx="1433886" cy="594811"/>
          </a:xfrm>
          <a:prstGeom prst="rect">
            <a:avLst/>
          </a:prstGeom>
        </p:spPr>
      </p:pic>
      <p:pic>
        <p:nvPicPr>
          <p:cNvPr id="2" name="Picture 1"/>
          <p:cNvPicPr>
            <a:picLocks noChangeAspect="1"/>
          </p:cNvPicPr>
          <p:nvPr/>
        </p:nvPicPr>
        <p:blipFill rotWithShape="1">
          <a:blip r:embed="rId7">
            <a:extLst>
              <a:ext uri="{28A0092B-C50C-407E-A947-70E740481C1C}">
                <a14:useLocalDpi xmlns:a14="http://schemas.microsoft.com/office/drawing/2010/main" val="0"/>
              </a:ext>
            </a:extLst>
          </a:blip>
          <a:srcRect l="23708" t="3682" r="20543" b="12874"/>
          <a:stretch/>
        </p:blipFill>
        <p:spPr>
          <a:xfrm>
            <a:off x="1691680" y="993782"/>
            <a:ext cx="6641226" cy="4442144"/>
          </a:xfrm>
          <a:prstGeom prst="rect">
            <a:avLst/>
          </a:prstGeom>
        </p:spPr>
      </p:pic>
    </p:spTree>
    <p:extLst>
      <p:ext uri="{BB962C8B-B14F-4D97-AF65-F5344CB8AC3E}">
        <p14:creationId xmlns:p14="http://schemas.microsoft.com/office/powerpoint/2010/main" val="128309791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281843" y="191854"/>
            <a:ext cx="8546813" cy="721750"/>
          </a:xfrm>
          <a:prstGeom prst="rect">
            <a:avLst/>
          </a:prstGeom>
          <a:noFill/>
          <a:ln>
            <a:noFill/>
          </a:ln>
        </p:spPr>
        <p:txBody>
          <a:bodyPr spcFirstLastPara="1" wrap="square" lIns="76790" tIns="38395" rIns="76790" bIns="38395" anchor="ctr" anchorCtr="0">
            <a:noAutofit/>
          </a:bodyPr>
          <a:lstStyle/>
          <a:p>
            <a:pPr marL="382270"/>
            <a:r>
              <a:rPr lang="en-US" sz="3000" b="1" dirty="0" smtClean="0">
                <a:solidFill>
                  <a:srgbClr val="C00000"/>
                </a:solidFill>
                <a:latin typeface="Marcellus" charset="0"/>
              </a:rPr>
              <a:t>Multiplexer Tree …16:1 using 4:1 Mux</a:t>
            </a:r>
            <a:endParaRPr sz="3000" b="1" dirty="0">
              <a:solidFill>
                <a:srgbClr val="C00000"/>
              </a:solidFill>
              <a:latin typeface="Marcellus" charset="0"/>
            </a:endParaRPr>
          </a:p>
        </p:txBody>
      </p:sp>
      <p:pic>
        <p:nvPicPr>
          <p:cNvPr id="45" name="Google Shape;45;p3"/>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46" name="Google Shape;46;p3"/>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47" name="Google Shape;47;p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sp>
        <p:nvSpPr>
          <p:cNvPr id="49" name="Google Shape;49;p3"/>
          <p:cNvSpPr txBox="1"/>
          <p:nvPr/>
        </p:nvSpPr>
        <p:spPr>
          <a:xfrm>
            <a:off x="668094" y="814938"/>
            <a:ext cx="2997188" cy="2839500"/>
          </a:xfrm>
          <a:prstGeom prst="rect">
            <a:avLst/>
          </a:prstGeom>
          <a:noFill/>
          <a:ln>
            <a:noFill/>
          </a:ln>
        </p:spPr>
        <p:txBody>
          <a:bodyPr spcFirstLastPara="1" wrap="square" lIns="76790" tIns="76790" rIns="76790" bIns="76790" anchor="t" anchorCtr="0">
            <a:noAutofit/>
          </a:bodyPr>
          <a:lstStyle/>
          <a:p>
            <a:pPr marL="320040" indent="320040" algn="just">
              <a:buClr>
                <a:srgbClr val="000000"/>
              </a:buClr>
              <a:buSzPts val="2900"/>
            </a:pPr>
            <a:endParaRPr sz="2000" b="1" dirty="0">
              <a:solidFill>
                <a:schemeClr val="dk1"/>
              </a:solidFill>
              <a:latin typeface="Fira Sans"/>
              <a:ea typeface="Fira Sans"/>
              <a:cs typeface="Fira Sans"/>
              <a:sym typeface="Fira Sans"/>
            </a:endParaRPr>
          </a:p>
          <a:p>
            <a:pPr marL="320040" indent="320040" algn="just">
              <a:buClr>
                <a:srgbClr val="000000"/>
              </a:buClr>
              <a:buSzPts val="2900"/>
            </a:pPr>
            <a:endParaRPr sz="2000" b="1" dirty="0">
              <a:solidFill>
                <a:schemeClr val="dk1"/>
              </a:solidFill>
              <a:latin typeface="Fira Sans"/>
              <a:ea typeface="Fira Sans"/>
              <a:cs typeface="Fira Sans"/>
              <a:sym typeface="Fira Sans"/>
            </a:endParaRPr>
          </a:p>
        </p:txBody>
      </p:sp>
      <p:sp>
        <p:nvSpPr>
          <p:cNvPr id="50" name="Google Shape;50;p3"/>
          <p:cNvSpPr txBox="1"/>
          <p:nvPr/>
        </p:nvSpPr>
        <p:spPr>
          <a:xfrm>
            <a:off x="955110" y="913604"/>
            <a:ext cx="7572484" cy="4602500"/>
          </a:xfrm>
          <a:prstGeom prst="rect">
            <a:avLst/>
          </a:prstGeom>
          <a:noFill/>
          <a:ln>
            <a:noFill/>
          </a:ln>
        </p:spPr>
        <p:txBody>
          <a:bodyPr spcFirstLastPara="1" wrap="square" lIns="76790" tIns="76790" rIns="76790" bIns="76790" anchor="t" anchorCtr="0">
            <a:noAutofit/>
          </a:bodyPr>
          <a:lstStyle/>
          <a:p>
            <a:pPr marL="320040" algn="just">
              <a:buClr>
                <a:srgbClr val="000000"/>
              </a:buClr>
              <a:buSzPts val="2900"/>
            </a:pPr>
            <a:endParaRPr sz="2000" b="1" dirty="0">
              <a:solidFill>
                <a:schemeClr val="dk1"/>
              </a:solidFill>
              <a:latin typeface="Fira Sans"/>
              <a:ea typeface="Fira Sans"/>
              <a:cs typeface="Fira Sans"/>
              <a:sym typeface="Fira Sans"/>
            </a:endParaRPr>
          </a:p>
        </p:txBody>
      </p:sp>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1" y="5605573"/>
            <a:ext cx="1433886" cy="594811"/>
          </a:xfrm>
          <a:prstGeom prst="rect">
            <a:avLst/>
          </a:prstGeom>
        </p:spPr>
      </p:pic>
      <p:pic>
        <p:nvPicPr>
          <p:cNvPr id="10" name="Google Shape;207;p24"/>
          <p:cNvPicPr preferRelativeResize="0"/>
          <p:nvPr/>
        </p:nvPicPr>
        <p:blipFill rotWithShape="1">
          <a:blip r:embed="rId7">
            <a:alphaModFix/>
          </a:blip>
          <a:srcRect l="32662" t="25323" r="14365" b="14555"/>
          <a:stretch/>
        </p:blipFill>
        <p:spPr>
          <a:xfrm>
            <a:off x="108381" y="900050"/>
            <a:ext cx="7872849" cy="4964749"/>
          </a:xfrm>
          <a:prstGeom prst="rect">
            <a:avLst/>
          </a:prstGeom>
          <a:noFill/>
          <a:ln>
            <a:noFill/>
          </a:ln>
        </p:spPr>
      </p:pic>
    </p:spTree>
    <p:extLst>
      <p:ext uri="{BB962C8B-B14F-4D97-AF65-F5344CB8AC3E}">
        <p14:creationId xmlns:p14="http://schemas.microsoft.com/office/powerpoint/2010/main" val="128309791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281843" y="191854"/>
            <a:ext cx="8546813" cy="721750"/>
          </a:xfrm>
          <a:prstGeom prst="rect">
            <a:avLst/>
          </a:prstGeom>
          <a:noFill/>
          <a:ln>
            <a:noFill/>
          </a:ln>
        </p:spPr>
        <p:txBody>
          <a:bodyPr spcFirstLastPara="1" wrap="square" lIns="76790" tIns="38395" rIns="76790" bIns="38395" anchor="ctr" anchorCtr="0">
            <a:noAutofit/>
          </a:bodyPr>
          <a:lstStyle/>
          <a:p>
            <a:pPr marL="382270"/>
            <a:r>
              <a:rPr lang="en-US" sz="3000" b="1" dirty="0" smtClean="0">
                <a:solidFill>
                  <a:srgbClr val="C00000"/>
                </a:solidFill>
                <a:latin typeface="Marcellus" charset="0"/>
              </a:rPr>
              <a:t>Multiplexers 8:1 : IC 74151</a:t>
            </a:r>
            <a:endParaRPr sz="3000" b="1" dirty="0">
              <a:solidFill>
                <a:srgbClr val="C00000"/>
              </a:solidFill>
              <a:latin typeface="Marcellus" charset="0"/>
            </a:endParaRPr>
          </a:p>
        </p:txBody>
      </p:sp>
      <p:pic>
        <p:nvPicPr>
          <p:cNvPr id="45" name="Google Shape;45;p3"/>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46" name="Google Shape;46;p3"/>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47" name="Google Shape;47;p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sp>
        <p:nvSpPr>
          <p:cNvPr id="49" name="Google Shape;49;p3"/>
          <p:cNvSpPr txBox="1"/>
          <p:nvPr/>
        </p:nvSpPr>
        <p:spPr>
          <a:xfrm>
            <a:off x="668094" y="814938"/>
            <a:ext cx="2997188" cy="2839500"/>
          </a:xfrm>
          <a:prstGeom prst="rect">
            <a:avLst/>
          </a:prstGeom>
          <a:noFill/>
          <a:ln>
            <a:noFill/>
          </a:ln>
        </p:spPr>
        <p:txBody>
          <a:bodyPr spcFirstLastPara="1" wrap="square" lIns="76790" tIns="76790" rIns="76790" bIns="76790" anchor="t" anchorCtr="0">
            <a:noAutofit/>
          </a:bodyPr>
          <a:lstStyle/>
          <a:p>
            <a:pPr marL="320040" indent="320040" algn="just">
              <a:buClr>
                <a:srgbClr val="000000"/>
              </a:buClr>
              <a:buSzPts val="2900"/>
            </a:pPr>
            <a:endParaRPr sz="2000" b="1" dirty="0">
              <a:solidFill>
                <a:schemeClr val="dk1"/>
              </a:solidFill>
              <a:latin typeface="Fira Sans"/>
              <a:ea typeface="Fira Sans"/>
              <a:cs typeface="Fira Sans"/>
              <a:sym typeface="Fira Sans"/>
            </a:endParaRPr>
          </a:p>
          <a:p>
            <a:pPr marL="320040" indent="320040" algn="just">
              <a:buClr>
                <a:srgbClr val="000000"/>
              </a:buClr>
              <a:buSzPts val="2900"/>
            </a:pPr>
            <a:endParaRPr sz="2000" b="1" dirty="0">
              <a:solidFill>
                <a:schemeClr val="dk1"/>
              </a:solidFill>
              <a:latin typeface="Fira Sans"/>
              <a:ea typeface="Fira Sans"/>
              <a:cs typeface="Fira Sans"/>
              <a:sym typeface="Fira Sans"/>
            </a:endParaRPr>
          </a:p>
        </p:txBody>
      </p:sp>
      <p:sp>
        <p:nvSpPr>
          <p:cNvPr id="50" name="Google Shape;50;p3"/>
          <p:cNvSpPr txBox="1"/>
          <p:nvPr/>
        </p:nvSpPr>
        <p:spPr>
          <a:xfrm>
            <a:off x="955110" y="913604"/>
            <a:ext cx="7572484" cy="4602500"/>
          </a:xfrm>
          <a:prstGeom prst="rect">
            <a:avLst/>
          </a:prstGeom>
          <a:noFill/>
          <a:ln>
            <a:noFill/>
          </a:ln>
        </p:spPr>
        <p:txBody>
          <a:bodyPr spcFirstLastPara="1" wrap="square" lIns="76790" tIns="76790" rIns="76790" bIns="76790" anchor="t" anchorCtr="0">
            <a:noAutofit/>
          </a:bodyPr>
          <a:lstStyle/>
          <a:p>
            <a:pPr marL="320040" algn="just">
              <a:buClr>
                <a:srgbClr val="000000"/>
              </a:buClr>
              <a:buSzPts val="2900"/>
            </a:pPr>
            <a:endParaRPr sz="2000" b="1" dirty="0">
              <a:solidFill>
                <a:schemeClr val="dk1"/>
              </a:solidFill>
              <a:latin typeface="Fira Sans"/>
              <a:ea typeface="Fira Sans"/>
              <a:cs typeface="Fira Sans"/>
              <a:sym typeface="Fira Sans"/>
            </a:endParaRPr>
          </a:p>
        </p:txBody>
      </p:sp>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1" y="5605573"/>
            <a:ext cx="1433886" cy="594811"/>
          </a:xfrm>
          <a:prstGeom prst="rect">
            <a:avLst/>
          </a:prstGeom>
        </p:spPr>
      </p:pic>
      <p:pic>
        <p:nvPicPr>
          <p:cNvPr id="3074" name="Picture 2" descr="https://sginfobmt.wordpress.com/wp-content/uploads/2014/09/092714_1512_multiplexer2.png?w=96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27784" y="1054753"/>
            <a:ext cx="3038475" cy="19907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sginfobmt.wordpress.com/wp-content/uploads/2014/09/092714_1512_multiplexer5.png?w=96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3648" y="3045478"/>
            <a:ext cx="59817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285130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281843" y="191854"/>
            <a:ext cx="8546813" cy="721750"/>
          </a:xfrm>
          <a:prstGeom prst="rect">
            <a:avLst/>
          </a:prstGeom>
          <a:noFill/>
          <a:ln>
            <a:noFill/>
          </a:ln>
        </p:spPr>
        <p:txBody>
          <a:bodyPr spcFirstLastPara="1" wrap="square" lIns="76790" tIns="38395" rIns="76790" bIns="38395" anchor="ctr" anchorCtr="0">
            <a:noAutofit/>
          </a:bodyPr>
          <a:lstStyle/>
          <a:p>
            <a:pPr marL="382270"/>
            <a:r>
              <a:rPr lang="en-US" sz="3000" b="1" dirty="0" smtClean="0">
                <a:solidFill>
                  <a:srgbClr val="C00000"/>
                </a:solidFill>
                <a:latin typeface="Marcellus" charset="0"/>
              </a:rPr>
              <a:t>Dual 4:1 Mux  IC 74153</a:t>
            </a:r>
            <a:endParaRPr sz="3000" b="1" dirty="0">
              <a:solidFill>
                <a:srgbClr val="C00000"/>
              </a:solidFill>
              <a:latin typeface="Marcellus" charset="0"/>
            </a:endParaRPr>
          </a:p>
        </p:txBody>
      </p:sp>
      <p:pic>
        <p:nvPicPr>
          <p:cNvPr id="45" name="Google Shape;45;p3"/>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46" name="Google Shape;46;p3"/>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47" name="Google Shape;47;p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sp>
        <p:nvSpPr>
          <p:cNvPr id="49" name="Google Shape;49;p3"/>
          <p:cNvSpPr txBox="1"/>
          <p:nvPr/>
        </p:nvSpPr>
        <p:spPr>
          <a:xfrm>
            <a:off x="668094" y="814938"/>
            <a:ext cx="2997188" cy="2839500"/>
          </a:xfrm>
          <a:prstGeom prst="rect">
            <a:avLst/>
          </a:prstGeom>
          <a:noFill/>
          <a:ln>
            <a:noFill/>
          </a:ln>
        </p:spPr>
        <p:txBody>
          <a:bodyPr spcFirstLastPara="1" wrap="square" lIns="76790" tIns="76790" rIns="76790" bIns="76790" anchor="t" anchorCtr="0">
            <a:noAutofit/>
          </a:bodyPr>
          <a:lstStyle/>
          <a:p>
            <a:pPr marL="320040" indent="320040" algn="just">
              <a:buClr>
                <a:srgbClr val="000000"/>
              </a:buClr>
              <a:buSzPts val="2900"/>
            </a:pPr>
            <a:endParaRPr sz="2000" b="1" dirty="0">
              <a:solidFill>
                <a:schemeClr val="dk1"/>
              </a:solidFill>
              <a:latin typeface="Fira Sans"/>
              <a:ea typeface="Fira Sans"/>
              <a:cs typeface="Fira Sans"/>
              <a:sym typeface="Fira Sans"/>
            </a:endParaRPr>
          </a:p>
          <a:p>
            <a:pPr marL="320040" indent="320040" algn="just">
              <a:buClr>
                <a:srgbClr val="000000"/>
              </a:buClr>
              <a:buSzPts val="2900"/>
            </a:pPr>
            <a:endParaRPr sz="2000" b="1" dirty="0">
              <a:solidFill>
                <a:schemeClr val="dk1"/>
              </a:solidFill>
              <a:latin typeface="Fira Sans"/>
              <a:ea typeface="Fira Sans"/>
              <a:cs typeface="Fira Sans"/>
              <a:sym typeface="Fira Sans"/>
            </a:endParaRPr>
          </a:p>
        </p:txBody>
      </p:sp>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1" y="5605573"/>
            <a:ext cx="1433886" cy="594811"/>
          </a:xfrm>
          <a:prstGeom prst="rect">
            <a:avLst/>
          </a:prstGeom>
        </p:spPr>
      </p:pic>
      <p:sp>
        <p:nvSpPr>
          <p:cNvPr id="2" name="AutoShape 2" descr="Analysis of a 4-Way Integrated Multiplexer ; the 74153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Analysis of a 4-Way Integrated Multiplexer ; the 74153 ..."/>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126"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8775" y="1173447"/>
            <a:ext cx="3526869" cy="2665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7"/>
          <p:cNvSpPr>
            <a:spLocks noChangeArrowheads="1"/>
          </p:cNvSpPr>
          <p:nvPr/>
        </p:nvSpPr>
        <p:spPr bwMode="auto">
          <a:xfrm>
            <a:off x="5220071" y="988781"/>
            <a:ext cx="1411669" cy="369332"/>
          </a:xfrm>
          <a:prstGeom prst="rect">
            <a:avLst/>
          </a:prstGeom>
          <a:solidFill>
            <a:schemeClr val="bg1"/>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dirty="0" smtClean="0">
                <a:ln>
                  <a:noFill/>
                </a:ln>
                <a:solidFill>
                  <a:srgbClr val="000000"/>
                </a:solidFill>
                <a:effectLst/>
                <a:latin typeface="Fira Sans" charset="0"/>
                <a:cs typeface="Times New Roman" pitchFamily="18" charset="0"/>
              </a:rPr>
              <a:t>Truth Table</a:t>
            </a:r>
            <a:endParaRPr kumimoji="0" lang="en-US" sz="1800" b="0" i="0" u="none" strike="noStrike" cap="none" normalizeH="0" dirty="0" smtClean="0">
              <a:ln>
                <a:noFill/>
              </a:ln>
              <a:solidFill>
                <a:schemeClr val="tx1"/>
              </a:solidFill>
              <a:effectLst/>
              <a:latin typeface="Fira Sans" charset="0"/>
              <a:cs typeface="Arial"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33737433"/>
              </p:ext>
            </p:extLst>
          </p:nvPr>
        </p:nvGraphicFramePr>
        <p:xfrm>
          <a:off x="4577132" y="1358113"/>
          <a:ext cx="3624064" cy="2595880"/>
        </p:xfrm>
        <a:graphic>
          <a:graphicData uri="http://schemas.openxmlformats.org/drawingml/2006/table">
            <a:tbl>
              <a:tblPr firstRow="1" bandRow="1">
                <a:tableStyleId>{5C22544A-7EE6-4342-B048-85BDC9FD1C3A}</a:tableStyleId>
              </a:tblPr>
              <a:tblGrid>
                <a:gridCol w="906016"/>
                <a:gridCol w="906016"/>
                <a:gridCol w="726015"/>
                <a:gridCol w="1086017"/>
              </a:tblGrid>
              <a:tr h="370840">
                <a:tc gridSpan="3">
                  <a:txBody>
                    <a:bodyPr/>
                    <a:lstStyle/>
                    <a:p>
                      <a:pPr algn="ctr"/>
                      <a:r>
                        <a:rPr lang="en-US" dirty="0" smtClean="0">
                          <a:solidFill>
                            <a:schemeClr val="tx1"/>
                          </a:solidFill>
                          <a:latin typeface="Fira Sans" charset="0"/>
                        </a:rPr>
                        <a:t>Inputs</a:t>
                      </a:r>
                      <a:endParaRPr lang="en-IN" dirty="0">
                        <a:solidFill>
                          <a:schemeClr val="tx1"/>
                        </a:solidFill>
                        <a:latin typeface="Fira Sans" charset="0"/>
                      </a:endParaRPr>
                    </a:p>
                  </a:txBody>
                  <a:tcPr/>
                </a:tc>
                <a:tc hMerge="1">
                  <a:txBody>
                    <a:bodyPr/>
                    <a:lstStyle/>
                    <a:p>
                      <a:endParaRPr lang="en-IN" dirty="0"/>
                    </a:p>
                  </a:txBody>
                  <a:tcPr/>
                </a:tc>
                <a:tc hMerge="1">
                  <a:txBody>
                    <a:bodyPr/>
                    <a:lstStyle/>
                    <a:p>
                      <a:endParaRPr lang="en-IN" dirty="0"/>
                    </a:p>
                  </a:txBody>
                  <a:tcPr/>
                </a:tc>
                <a:tc>
                  <a:txBody>
                    <a:bodyPr/>
                    <a:lstStyle/>
                    <a:p>
                      <a:pPr algn="ctr"/>
                      <a:r>
                        <a:rPr lang="en-US" dirty="0" smtClean="0">
                          <a:solidFill>
                            <a:schemeClr val="tx1"/>
                          </a:solidFill>
                          <a:latin typeface="Fira Sans" charset="0"/>
                        </a:rPr>
                        <a:t>Output</a:t>
                      </a:r>
                      <a:endParaRPr lang="en-IN" dirty="0">
                        <a:solidFill>
                          <a:schemeClr val="tx1"/>
                        </a:solidFill>
                        <a:latin typeface="Fira Sans" charset="0"/>
                      </a:endParaRPr>
                    </a:p>
                  </a:txBody>
                  <a:tcPr/>
                </a:tc>
              </a:tr>
              <a:tr h="370840">
                <a:tc>
                  <a:txBody>
                    <a:bodyPr/>
                    <a:lstStyle/>
                    <a:p>
                      <a:pPr algn="ctr"/>
                      <a:r>
                        <a:rPr lang="en-US" sz="1800" b="1" kern="1200" dirty="0" smtClean="0">
                          <a:solidFill>
                            <a:schemeClr val="tx1"/>
                          </a:solidFill>
                          <a:latin typeface="Fira Sans" charset="0"/>
                          <a:ea typeface="+mn-ea"/>
                          <a:cs typeface="+mn-cs"/>
                        </a:rPr>
                        <a:t>B</a:t>
                      </a:r>
                      <a:endParaRPr lang="en-IN" sz="1800" b="1" kern="1200" dirty="0">
                        <a:solidFill>
                          <a:schemeClr val="tx1"/>
                        </a:solidFill>
                        <a:latin typeface="Fira Sans" charset="0"/>
                        <a:ea typeface="+mn-ea"/>
                        <a:cs typeface="+mn-cs"/>
                      </a:endParaRPr>
                    </a:p>
                  </a:txBody>
                  <a:tcPr>
                    <a:solidFill>
                      <a:schemeClr val="tx2">
                        <a:lumMod val="60000"/>
                        <a:lumOff val="40000"/>
                      </a:schemeClr>
                    </a:solidFill>
                  </a:tcPr>
                </a:tc>
                <a:tc>
                  <a:txBody>
                    <a:bodyPr/>
                    <a:lstStyle/>
                    <a:p>
                      <a:pPr algn="ctr"/>
                      <a:r>
                        <a:rPr lang="en-US" sz="1800" b="1" kern="1200" dirty="0" smtClean="0">
                          <a:solidFill>
                            <a:schemeClr val="tx1"/>
                          </a:solidFill>
                          <a:latin typeface="Fira Sans" charset="0"/>
                          <a:ea typeface="+mn-ea"/>
                          <a:cs typeface="+mn-cs"/>
                        </a:rPr>
                        <a:t>A</a:t>
                      </a:r>
                      <a:endParaRPr lang="en-IN" sz="1800" b="1" kern="1200" dirty="0">
                        <a:solidFill>
                          <a:schemeClr val="tx1"/>
                        </a:solidFill>
                        <a:latin typeface="Fira Sans" charset="0"/>
                        <a:ea typeface="+mn-ea"/>
                        <a:cs typeface="+mn-cs"/>
                      </a:endParaRPr>
                    </a:p>
                  </a:txBody>
                  <a:tcPr>
                    <a:solidFill>
                      <a:schemeClr val="tx2">
                        <a:lumMod val="60000"/>
                        <a:lumOff val="40000"/>
                      </a:schemeClr>
                    </a:solidFill>
                  </a:tcPr>
                </a:tc>
                <a:tc>
                  <a:txBody>
                    <a:bodyPr/>
                    <a:lstStyle/>
                    <a:p>
                      <a:pPr algn="ctr"/>
                      <a:r>
                        <a:rPr lang="en-US" sz="1800" b="1" kern="1200" dirty="0" smtClean="0">
                          <a:solidFill>
                            <a:schemeClr val="tx1"/>
                          </a:solidFill>
                          <a:latin typeface="Fira Sans" charset="0"/>
                          <a:ea typeface="+mn-ea"/>
                          <a:cs typeface="+mn-cs"/>
                        </a:rPr>
                        <a:t>G’</a:t>
                      </a:r>
                      <a:endParaRPr lang="en-IN" sz="1800" b="1" kern="1200" dirty="0">
                        <a:solidFill>
                          <a:schemeClr val="tx1"/>
                        </a:solidFill>
                        <a:latin typeface="Fira Sans" charset="0"/>
                        <a:ea typeface="+mn-ea"/>
                        <a:cs typeface="+mn-cs"/>
                      </a:endParaRPr>
                    </a:p>
                  </a:txBody>
                  <a:tcPr>
                    <a:solidFill>
                      <a:schemeClr val="tx2">
                        <a:lumMod val="60000"/>
                        <a:lumOff val="40000"/>
                      </a:schemeClr>
                    </a:solidFill>
                  </a:tcPr>
                </a:tc>
                <a:tc>
                  <a:txBody>
                    <a:bodyPr/>
                    <a:lstStyle/>
                    <a:p>
                      <a:pPr algn="ctr"/>
                      <a:r>
                        <a:rPr lang="en-US" sz="1800" b="1" kern="1200" dirty="0" smtClean="0">
                          <a:solidFill>
                            <a:schemeClr val="tx1"/>
                          </a:solidFill>
                          <a:latin typeface="Fira Sans" charset="0"/>
                          <a:ea typeface="+mn-ea"/>
                          <a:cs typeface="+mn-cs"/>
                        </a:rPr>
                        <a:t>Y</a:t>
                      </a:r>
                      <a:endParaRPr lang="en-IN" sz="1800" b="1" kern="1200" dirty="0">
                        <a:solidFill>
                          <a:schemeClr val="tx1"/>
                        </a:solidFill>
                        <a:latin typeface="Fira Sans" charset="0"/>
                        <a:ea typeface="+mn-ea"/>
                        <a:cs typeface="+mn-cs"/>
                      </a:endParaRPr>
                    </a:p>
                  </a:txBody>
                  <a:tcPr>
                    <a:solidFill>
                      <a:schemeClr val="tx2">
                        <a:lumMod val="60000"/>
                        <a:lumOff val="40000"/>
                      </a:schemeClr>
                    </a:solidFill>
                  </a:tcPr>
                </a:tc>
              </a:tr>
              <a:tr h="370840">
                <a:tc>
                  <a:txBody>
                    <a:bodyPr/>
                    <a:lstStyle/>
                    <a:p>
                      <a:pPr algn="ctr"/>
                      <a:r>
                        <a:rPr lang="en-US" dirty="0" smtClean="0">
                          <a:latin typeface="Fira Sans" charset="0"/>
                        </a:rPr>
                        <a:t>X</a:t>
                      </a:r>
                      <a:endParaRPr lang="en-IN" dirty="0">
                        <a:latin typeface="Fira Sans" charset="0"/>
                      </a:endParaRPr>
                    </a:p>
                  </a:txBody>
                  <a:tcPr/>
                </a:tc>
                <a:tc>
                  <a:txBody>
                    <a:bodyPr/>
                    <a:lstStyle/>
                    <a:p>
                      <a:pPr algn="ctr"/>
                      <a:r>
                        <a:rPr lang="en-US" dirty="0" smtClean="0">
                          <a:latin typeface="Fira Sans" charset="0"/>
                        </a:rPr>
                        <a:t>X</a:t>
                      </a:r>
                      <a:endParaRPr lang="en-IN" dirty="0">
                        <a:latin typeface="Fira Sans" charset="0"/>
                      </a:endParaRPr>
                    </a:p>
                  </a:txBody>
                  <a:tcPr/>
                </a:tc>
                <a:tc>
                  <a:txBody>
                    <a:bodyPr/>
                    <a:lstStyle/>
                    <a:p>
                      <a:pPr algn="ctr"/>
                      <a:r>
                        <a:rPr lang="en-US" dirty="0" smtClean="0">
                          <a:latin typeface="Fira Sans" charset="0"/>
                        </a:rPr>
                        <a:t>1</a:t>
                      </a:r>
                      <a:endParaRPr lang="en-IN" dirty="0">
                        <a:latin typeface="Fira Sans" charset="0"/>
                      </a:endParaRPr>
                    </a:p>
                  </a:txBody>
                  <a:tcPr/>
                </a:tc>
                <a:tc>
                  <a:txBody>
                    <a:bodyPr/>
                    <a:lstStyle/>
                    <a:p>
                      <a:pPr algn="ctr"/>
                      <a:r>
                        <a:rPr lang="en-US" dirty="0" smtClean="0">
                          <a:latin typeface="Fira Sans" charset="0"/>
                        </a:rPr>
                        <a:t>0</a:t>
                      </a:r>
                      <a:endParaRPr lang="en-IN" dirty="0">
                        <a:latin typeface="Fira Sans" charset="0"/>
                      </a:endParaRPr>
                    </a:p>
                  </a:txBody>
                  <a:tcPr/>
                </a:tc>
              </a:tr>
              <a:tr h="370840">
                <a:tc>
                  <a:txBody>
                    <a:bodyPr/>
                    <a:lstStyle/>
                    <a:p>
                      <a:pPr algn="ctr"/>
                      <a:r>
                        <a:rPr lang="en-US" dirty="0" smtClean="0">
                          <a:latin typeface="Fira Sans" charset="0"/>
                        </a:rPr>
                        <a:t>0</a:t>
                      </a:r>
                      <a:endParaRPr lang="en-IN" dirty="0">
                        <a:latin typeface="Fira Sans" charset="0"/>
                      </a:endParaRPr>
                    </a:p>
                  </a:txBody>
                  <a:tcPr/>
                </a:tc>
                <a:tc>
                  <a:txBody>
                    <a:bodyPr/>
                    <a:lstStyle/>
                    <a:p>
                      <a:pPr algn="ctr"/>
                      <a:r>
                        <a:rPr lang="en-US" dirty="0" smtClean="0">
                          <a:latin typeface="Fira Sans" charset="0"/>
                        </a:rPr>
                        <a:t>0</a:t>
                      </a:r>
                      <a:endParaRPr lang="en-IN" dirty="0">
                        <a:latin typeface="Fira Sans" charset="0"/>
                      </a:endParaRPr>
                    </a:p>
                  </a:txBody>
                  <a:tcPr/>
                </a:tc>
                <a:tc>
                  <a:txBody>
                    <a:bodyPr/>
                    <a:lstStyle/>
                    <a:p>
                      <a:pPr algn="ctr"/>
                      <a:r>
                        <a:rPr lang="en-US" dirty="0" smtClean="0">
                          <a:latin typeface="Fira Sans" charset="0"/>
                        </a:rPr>
                        <a:t>0</a:t>
                      </a:r>
                      <a:endParaRPr lang="en-IN" dirty="0">
                        <a:latin typeface="Fira Sans" charset="0"/>
                      </a:endParaRPr>
                    </a:p>
                  </a:txBody>
                  <a:tcPr/>
                </a:tc>
                <a:tc>
                  <a:txBody>
                    <a:bodyPr/>
                    <a:lstStyle/>
                    <a:p>
                      <a:pPr algn="ctr"/>
                      <a:r>
                        <a:rPr lang="en-US" dirty="0" smtClean="0">
                          <a:latin typeface="Fira Sans" charset="0"/>
                        </a:rPr>
                        <a:t>D0</a:t>
                      </a:r>
                      <a:endParaRPr lang="en-IN" dirty="0">
                        <a:latin typeface="Fira Sans" charset="0"/>
                      </a:endParaRPr>
                    </a:p>
                  </a:txBody>
                  <a:tcPr/>
                </a:tc>
              </a:tr>
              <a:tr h="370840">
                <a:tc>
                  <a:txBody>
                    <a:bodyPr/>
                    <a:lstStyle/>
                    <a:p>
                      <a:pPr algn="ctr"/>
                      <a:r>
                        <a:rPr lang="en-US" dirty="0" smtClean="0">
                          <a:latin typeface="Fira Sans" charset="0"/>
                        </a:rPr>
                        <a:t>0</a:t>
                      </a:r>
                      <a:endParaRPr lang="en-IN" dirty="0">
                        <a:latin typeface="Fira Sans" charset="0"/>
                      </a:endParaRPr>
                    </a:p>
                  </a:txBody>
                  <a:tcPr/>
                </a:tc>
                <a:tc>
                  <a:txBody>
                    <a:bodyPr/>
                    <a:lstStyle/>
                    <a:p>
                      <a:pPr algn="ctr"/>
                      <a:r>
                        <a:rPr lang="en-US" dirty="0" smtClean="0">
                          <a:latin typeface="Fira Sans" charset="0"/>
                        </a:rPr>
                        <a:t>1</a:t>
                      </a:r>
                      <a:endParaRPr lang="en-IN" dirty="0">
                        <a:latin typeface="Fira Sans" charset="0"/>
                      </a:endParaRPr>
                    </a:p>
                  </a:txBody>
                  <a:tcPr/>
                </a:tc>
                <a:tc>
                  <a:txBody>
                    <a:bodyPr/>
                    <a:lstStyle/>
                    <a:p>
                      <a:pPr algn="ctr"/>
                      <a:r>
                        <a:rPr lang="en-US" dirty="0" smtClean="0">
                          <a:latin typeface="Fira Sans" charset="0"/>
                        </a:rPr>
                        <a:t>0</a:t>
                      </a:r>
                      <a:endParaRPr lang="en-IN" dirty="0">
                        <a:latin typeface="Fira Sans" charset="0"/>
                      </a:endParaRPr>
                    </a:p>
                  </a:txBody>
                  <a:tcPr/>
                </a:tc>
                <a:tc>
                  <a:txBody>
                    <a:bodyPr/>
                    <a:lstStyle/>
                    <a:p>
                      <a:pPr algn="ctr"/>
                      <a:r>
                        <a:rPr lang="en-US" dirty="0" smtClean="0">
                          <a:latin typeface="Fira Sans" charset="0"/>
                        </a:rPr>
                        <a:t>D1</a:t>
                      </a:r>
                    </a:p>
                  </a:txBody>
                  <a:tcPr/>
                </a:tc>
              </a:tr>
              <a:tr h="370840">
                <a:tc>
                  <a:txBody>
                    <a:bodyPr/>
                    <a:lstStyle/>
                    <a:p>
                      <a:pPr algn="ctr"/>
                      <a:r>
                        <a:rPr lang="en-US" dirty="0" smtClean="0">
                          <a:latin typeface="Fira Sans" charset="0"/>
                        </a:rPr>
                        <a:t>1</a:t>
                      </a:r>
                      <a:endParaRPr lang="en-IN" dirty="0">
                        <a:latin typeface="Fira Sans" charset="0"/>
                      </a:endParaRPr>
                    </a:p>
                  </a:txBody>
                  <a:tcPr/>
                </a:tc>
                <a:tc>
                  <a:txBody>
                    <a:bodyPr/>
                    <a:lstStyle/>
                    <a:p>
                      <a:pPr algn="ctr"/>
                      <a:r>
                        <a:rPr lang="en-US" dirty="0" smtClean="0">
                          <a:latin typeface="Fira Sans" charset="0"/>
                        </a:rPr>
                        <a:t>0</a:t>
                      </a:r>
                      <a:endParaRPr lang="en-IN" dirty="0">
                        <a:latin typeface="Fira Sans" charset="0"/>
                      </a:endParaRPr>
                    </a:p>
                  </a:txBody>
                  <a:tcPr/>
                </a:tc>
                <a:tc>
                  <a:txBody>
                    <a:bodyPr/>
                    <a:lstStyle/>
                    <a:p>
                      <a:pPr algn="ctr"/>
                      <a:r>
                        <a:rPr lang="en-US" dirty="0" smtClean="0">
                          <a:latin typeface="Fira Sans" charset="0"/>
                        </a:rPr>
                        <a:t>0</a:t>
                      </a:r>
                      <a:endParaRPr lang="en-IN" dirty="0">
                        <a:latin typeface="Fira Sans" charset="0"/>
                      </a:endParaRPr>
                    </a:p>
                  </a:txBody>
                  <a:tcPr/>
                </a:tc>
                <a:tc>
                  <a:txBody>
                    <a:bodyPr/>
                    <a:lstStyle/>
                    <a:p>
                      <a:pPr algn="ctr"/>
                      <a:r>
                        <a:rPr lang="en-US" dirty="0" smtClean="0">
                          <a:latin typeface="Fira Sans" charset="0"/>
                        </a:rPr>
                        <a:t>D2</a:t>
                      </a:r>
                    </a:p>
                  </a:txBody>
                  <a:tcPr/>
                </a:tc>
              </a:tr>
              <a:tr h="370840">
                <a:tc>
                  <a:txBody>
                    <a:bodyPr/>
                    <a:lstStyle/>
                    <a:p>
                      <a:pPr algn="ctr"/>
                      <a:r>
                        <a:rPr lang="en-US" dirty="0" smtClean="0">
                          <a:latin typeface="Fira Sans" charset="0"/>
                        </a:rPr>
                        <a:t>1</a:t>
                      </a:r>
                      <a:endParaRPr lang="en-IN" dirty="0">
                        <a:latin typeface="Fira Sans" charset="0"/>
                      </a:endParaRPr>
                    </a:p>
                  </a:txBody>
                  <a:tcPr/>
                </a:tc>
                <a:tc>
                  <a:txBody>
                    <a:bodyPr/>
                    <a:lstStyle/>
                    <a:p>
                      <a:pPr algn="ctr"/>
                      <a:r>
                        <a:rPr lang="en-US" dirty="0" smtClean="0">
                          <a:latin typeface="Fira Sans" charset="0"/>
                        </a:rPr>
                        <a:t>1</a:t>
                      </a:r>
                      <a:endParaRPr lang="en-IN" dirty="0">
                        <a:latin typeface="Fira Sans" charset="0"/>
                      </a:endParaRPr>
                    </a:p>
                  </a:txBody>
                  <a:tcPr/>
                </a:tc>
                <a:tc>
                  <a:txBody>
                    <a:bodyPr/>
                    <a:lstStyle/>
                    <a:p>
                      <a:pPr algn="ctr"/>
                      <a:r>
                        <a:rPr lang="en-US" dirty="0" smtClean="0">
                          <a:latin typeface="Fira Sans" charset="0"/>
                        </a:rPr>
                        <a:t>0</a:t>
                      </a:r>
                      <a:endParaRPr lang="en-IN" dirty="0">
                        <a:latin typeface="Fira Sans" charset="0"/>
                      </a:endParaRPr>
                    </a:p>
                  </a:txBody>
                  <a:tcPr/>
                </a:tc>
                <a:tc>
                  <a:txBody>
                    <a:bodyPr/>
                    <a:lstStyle/>
                    <a:p>
                      <a:pPr algn="ctr"/>
                      <a:r>
                        <a:rPr lang="en-US" dirty="0" smtClean="0">
                          <a:latin typeface="Fira Sans" charset="0"/>
                        </a:rPr>
                        <a:t>D3</a:t>
                      </a:r>
                    </a:p>
                  </a:txBody>
                  <a:tcPr/>
                </a:tc>
              </a:tr>
            </a:tbl>
          </a:graphicData>
        </a:graphic>
      </p:graphicFrame>
    </p:spTree>
    <p:extLst>
      <p:ext uri="{BB962C8B-B14F-4D97-AF65-F5344CB8AC3E}">
        <p14:creationId xmlns:p14="http://schemas.microsoft.com/office/powerpoint/2010/main" val="94989229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5"/>
          <p:cNvSpPr txBox="1">
            <a:spLocks noGrp="1"/>
          </p:cNvSpPr>
          <p:nvPr>
            <p:ph type="title"/>
          </p:nvPr>
        </p:nvSpPr>
        <p:spPr>
          <a:xfrm>
            <a:off x="300791" y="191861"/>
            <a:ext cx="8546850" cy="721800"/>
          </a:xfrm>
          <a:prstGeom prst="rect">
            <a:avLst/>
          </a:prstGeom>
          <a:noFill/>
          <a:ln>
            <a:noFill/>
          </a:ln>
        </p:spPr>
        <p:txBody>
          <a:bodyPr spcFirstLastPara="1" wrap="square" lIns="91425" tIns="45700" rIns="91425" bIns="45700" anchor="ctr" anchorCtr="0">
            <a:noAutofit/>
          </a:bodyPr>
          <a:lstStyle/>
          <a:p>
            <a:pPr marL="457200" lvl="0" indent="0" algn="ctr" rtl="0">
              <a:lnSpc>
                <a:spcPct val="90000"/>
              </a:lnSpc>
              <a:spcBef>
                <a:spcPts val="0"/>
              </a:spcBef>
              <a:spcAft>
                <a:spcPts val="0"/>
              </a:spcAft>
              <a:buNone/>
            </a:pPr>
            <a:r>
              <a:rPr lang="en-US" sz="3600" dirty="0">
                <a:solidFill>
                  <a:srgbClr val="C00000"/>
                </a:solidFill>
                <a:latin typeface="Marcellus"/>
                <a:ea typeface="Marcellus"/>
                <a:cs typeface="Marcellus"/>
                <a:sym typeface="Marcellus"/>
              </a:rPr>
              <a:t>Decoder</a:t>
            </a:r>
            <a:endParaRPr sz="3600" dirty="0"/>
          </a:p>
        </p:txBody>
      </p:sp>
      <p:pic>
        <p:nvPicPr>
          <p:cNvPr id="213" name="Google Shape;213;p25"/>
          <p:cNvPicPr preferRelativeResize="0"/>
          <p:nvPr/>
        </p:nvPicPr>
        <p:blipFill rotWithShape="1">
          <a:blip r:embed="rId3">
            <a:alphaModFix/>
          </a:blip>
          <a:srcRect/>
          <a:stretch/>
        </p:blipFill>
        <p:spPr>
          <a:xfrm rot="5400000">
            <a:off x="4362258" y="2097119"/>
            <a:ext cx="385984" cy="9177497"/>
          </a:xfrm>
          <a:prstGeom prst="rect">
            <a:avLst/>
          </a:prstGeom>
          <a:noFill/>
          <a:ln>
            <a:noFill/>
          </a:ln>
        </p:spPr>
      </p:pic>
      <p:pic>
        <p:nvPicPr>
          <p:cNvPr id="214" name="Google Shape;214;p25"/>
          <p:cNvPicPr preferRelativeResize="0"/>
          <p:nvPr/>
        </p:nvPicPr>
        <p:blipFill rotWithShape="1">
          <a:blip r:embed="rId4">
            <a:alphaModFix/>
          </a:blip>
          <a:srcRect/>
          <a:stretch/>
        </p:blipFill>
        <p:spPr>
          <a:xfrm rot="5400000">
            <a:off x="3378189" y="2920767"/>
            <a:ext cx="176409" cy="6999785"/>
          </a:xfrm>
          <a:prstGeom prst="rect">
            <a:avLst/>
          </a:prstGeom>
          <a:noFill/>
          <a:ln>
            <a:noFill/>
          </a:ln>
        </p:spPr>
      </p:pic>
      <p:pic>
        <p:nvPicPr>
          <p:cNvPr id="215" name="Google Shape;215;p25"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00" cy="721800"/>
          </a:xfrm>
          <a:prstGeom prst="rect">
            <a:avLst/>
          </a:prstGeom>
          <a:noFill/>
          <a:ln>
            <a:noFill/>
          </a:ln>
        </p:spPr>
      </p:pic>
      <p:sp>
        <p:nvSpPr>
          <p:cNvPr id="217" name="Google Shape;217;p25"/>
          <p:cNvSpPr txBox="1"/>
          <p:nvPr/>
        </p:nvSpPr>
        <p:spPr>
          <a:xfrm>
            <a:off x="702675" y="809825"/>
            <a:ext cx="7738650" cy="4550700"/>
          </a:xfrm>
          <a:prstGeom prst="rect">
            <a:avLst/>
          </a:prstGeom>
          <a:noFill/>
          <a:ln>
            <a:noFill/>
          </a:ln>
        </p:spPr>
        <p:txBody>
          <a:bodyPr spcFirstLastPara="1" wrap="square" lIns="91425" tIns="91425" rIns="91425" bIns="91425" anchor="t" anchorCtr="0">
            <a:noAutofit/>
          </a:bodyPr>
          <a:lstStyle/>
          <a:p>
            <a:r>
              <a:rPr lang="en-US" sz="1600" dirty="0">
                <a:latin typeface="Fira Sans"/>
                <a:ea typeface="Fira Sans"/>
                <a:cs typeface="Fira Sans"/>
                <a:sym typeface="Fira Sans"/>
              </a:rPr>
              <a:t>	</a:t>
            </a:r>
            <a:r>
              <a:rPr lang="en-US" sz="2000" b="1" dirty="0" smtClean="0">
                <a:latin typeface="Fira Sans"/>
                <a:ea typeface="Fira Sans"/>
                <a:cs typeface="Fira Sans"/>
                <a:sym typeface="Fira Sans"/>
              </a:rPr>
              <a:t>Truth table </a:t>
            </a:r>
            <a:r>
              <a:rPr lang="en-US" sz="1600" dirty="0">
                <a:latin typeface="Fira Sans"/>
                <a:ea typeface="Fira Sans"/>
                <a:cs typeface="Fira Sans"/>
                <a:sym typeface="Fira Sans"/>
              </a:rPr>
              <a:t>			</a:t>
            </a:r>
            <a:r>
              <a:rPr lang="en-US" sz="2400" b="1" dirty="0" smtClean="0">
                <a:latin typeface="Fira Sans"/>
                <a:ea typeface="Fira Sans"/>
                <a:cs typeface="Fira Sans"/>
                <a:sym typeface="Fira Sans"/>
              </a:rPr>
              <a:t>Minterm Generator </a:t>
            </a:r>
          </a:p>
          <a:p>
            <a:pPr marL="0" lvl="0" indent="0" algn="l" rtl="0">
              <a:spcBef>
                <a:spcPts val="0"/>
              </a:spcBef>
              <a:spcAft>
                <a:spcPts val="0"/>
              </a:spcAft>
              <a:buNone/>
            </a:pPr>
            <a:r>
              <a:rPr lang="en-US" sz="1600" dirty="0">
                <a:latin typeface="Fira Sans"/>
                <a:ea typeface="Fira Sans"/>
                <a:cs typeface="Fira Sans"/>
                <a:sym typeface="Fira Sans"/>
              </a:rPr>
              <a:t>							</a:t>
            </a:r>
            <a:r>
              <a:rPr lang="en-US" sz="1600" dirty="0" smtClean="0">
                <a:latin typeface="Fira Sans"/>
                <a:ea typeface="Fira Sans"/>
                <a:cs typeface="Fira Sans"/>
                <a:sym typeface="Fira Sans"/>
              </a:rPr>
              <a:t>						</a:t>
            </a:r>
            <a:r>
              <a:rPr lang="en-US" sz="2400" dirty="0" smtClean="0">
                <a:latin typeface="Fira Sans"/>
                <a:ea typeface="Fira Sans"/>
                <a:cs typeface="Fira Sans"/>
                <a:sym typeface="Fira Sans"/>
              </a:rPr>
              <a:t>O0=D1’D0’</a:t>
            </a:r>
            <a:endParaRPr sz="2400" dirty="0">
              <a:latin typeface="Fira Sans"/>
              <a:ea typeface="Fira Sans"/>
              <a:cs typeface="Fira Sans"/>
              <a:sym typeface="Fira Sans"/>
            </a:endParaRPr>
          </a:p>
          <a:p>
            <a:pPr marL="0" lvl="0" indent="0" algn="l" rtl="0">
              <a:spcBef>
                <a:spcPts val="0"/>
              </a:spcBef>
              <a:spcAft>
                <a:spcPts val="0"/>
              </a:spcAft>
              <a:buNone/>
            </a:pPr>
            <a:r>
              <a:rPr lang="en-US" sz="2400" dirty="0">
                <a:latin typeface="Fira Sans"/>
                <a:ea typeface="Fira Sans"/>
                <a:cs typeface="Fira Sans"/>
                <a:sym typeface="Fira Sans"/>
              </a:rPr>
              <a:t> 													O1 = D1’D0</a:t>
            </a:r>
            <a:endParaRPr sz="2400" dirty="0">
              <a:latin typeface="Fira Sans"/>
              <a:ea typeface="Fira Sans"/>
              <a:cs typeface="Fira Sans"/>
              <a:sym typeface="Fira Sans"/>
            </a:endParaRPr>
          </a:p>
          <a:p>
            <a:pPr marL="0" lvl="0" indent="0" algn="l" rtl="0">
              <a:spcBef>
                <a:spcPts val="0"/>
              </a:spcBef>
              <a:spcAft>
                <a:spcPts val="0"/>
              </a:spcAft>
              <a:buNone/>
            </a:pPr>
            <a:r>
              <a:rPr lang="en-US" sz="2400" dirty="0">
                <a:latin typeface="Fira Sans"/>
                <a:ea typeface="Fira Sans"/>
                <a:cs typeface="Fira Sans"/>
                <a:sym typeface="Fira Sans"/>
              </a:rPr>
              <a:t>													O2 = D1D0’</a:t>
            </a:r>
            <a:endParaRPr sz="2400" dirty="0">
              <a:latin typeface="Fira Sans"/>
              <a:ea typeface="Fira Sans"/>
              <a:cs typeface="Fira Sans"/>
              <a:sym typeface="Fira Sans"/>
            </a:endParaRPr>
          </a:p>
          <a:p>
            <a:pPr marL="0" lvl="0" indent="0" algn="l" rtl="0">
              <a:spcBef>
                <a:spcPts val="0"/>
              </a:spcBef>
              <a:spcAft>
                <a:spcPts val="0"/>
              </a:spcAft>
              <a:buNone/>
            </a:pPr>
            <a:r>
              <a:rPr lang="en-US" sz="2400" dirty="0">
                <a:latin typeface="Fira Sans"/>
                <a:ea typeface="Fira Sans"/>
                <a:cs typeface="Fira Sans"/>
                <a:sym typeface="Fira Sans"/>
              </a:rPr>
              <a:t>													O3 = D1D0</a:t>
            </a:r>
            <a:endParaRPr sz="2400" dirty="0">
              <a:latin typeface="Fira Sans"/>
              <a:ea typeface="Fira Sans"/>
              <a:cs typeface="Fira Sans"/>
              <a:sym typeface="Fira Sans"/>
            </a:endParaRPr>
          </a:p>
          <a:p>
            <a:pPr marL="0" lvl="0" indent="0" algn="l" rtl="0">
              <a:spcBef>
                <a:spcPts val="0"/>
              </a:spcBef>
              <a:spcAft>
                <a:spcPts val="0"/>
              </a:spcAft>
              <a:buNone/>
            </a:pPr>
            <a:endParaRPr sz="2400" dirty="0">
              <a:latin typeface="Fira Sans"/>
              <a:ea typeface="Fira Sans"/>
              <a:cs typeface="Fira Sans"/>
              <a:sym typeface="Fira Sans"/>
            </a:endParaRPr>
          </a:p>
          <a:p>
            <a:pPr marL="0" lvl="0" indent="0" algn="l" rtl="0">
              <a:spcBef>
                <a:spcPts val="0"/>
              </a:spcBef>
              <a:spcAft>
                <a:spcPts val="0"/>
              </a:spcAft>
              <a:buNone/>
            </a:pPr>
            <a:endParaRPr sz="2400" dirty="0">
              <a:latin typeface="Fira Sans"/>
              <a:ea typeface="Fira Sans"/>
              <a:cs typeface="Fira Sans"/>
              <a:sym typeface="Fira Sans"/>
            </a:endParaRPr>
          </a:p>
          <a:p>
            <a:pPr marL="0" lvl="0" indent="0" algn="l" rtl="0">
              <a:spcBef>
                <a:spcPts val="0"/>
              </a:spcBef>
              <a:spcAft>
                <a:spcPts val="0"/>
              </a:spcAft>
              <a:buNone/>
            </a:pPr>
            <a:endParaRPr sz="2400" dirty="0">
              <a:latin typeface="Fira Sans"/>
              <a:ea typeface="Fira Sans"/>
              <a:cs typeface="Fira Sans"/>
              <a:sym typeface="Fira Sans"/>
            </a:endParaRPr>
          </a:p>
          <a:p>
            <a:pPr marL="0" lvl="0" indent="0" algn="l" rtl="0">
              <a:spcBef>
                <a:spcPts val="0"/>
              </a:spcBef>
              <a:spcAft>
                <a:spcPts val="0"/>
              </a:spcAft>
              <a:buNone/>
            </a:pPr>
            <a:endParaRPr sz="2400" dirty="0">
              <a:latin typeface="Fira Sans"/>
              <a:ea typeface="Fira Sans"/>
              <a:cs typeface="Fira Sans"/>
              <a:sym typeface="Fira Sans"/>
            </a:endParaRPr>
          </a:p>
          <a:p>
            <a:pPr marL="0" lvl="0" indent="0" algn="l" rtl="0">
              <a:spcBef>
                <a:spcPts val="0"/>
              </a:spcBef>
              <a:spcAft>
                <a:spcPts val="0"/>
              </a:spcAft>
              <a:buNone/>
            </a:pPr>
            <a:endParaRPr sz="2400" dirty="0">
              <a:latin typeface="Fira Sans"/>
              <a:ea typeface="Fira Sans"/>
              <a:cs typeface="Fira Sans"/>
              <a:sym typeface="Fira Sans"/>
            </a:endParaRPr>
          </a:p>
        </p:txBody>
      </p:sp>
      <p:graphicFrame>
        <p:nvGraphicFramePr>
          <p:cNvPr id="218" name="Google Shape;218;p25"/>
          <p:cNvGraphicFramePr/>
          <p:nvPr>
            <p:extLst>
              <p:ext uri="{D42A27DB-BD31-4B8C-83A1-F6EECF244321}">
                <p14:modId xmlns:p14="http://schemas.microsoft.com/office/powerpoint/2010/main" val="1458671815"/>
              </p:ext>
            </p:extLst>
          </p:nvPr>
        </p:nvGraphicFramePr>
        <p:xfrm>
          <a:off x="539552" y="1484784"/>
          <a:ext cx="4221000" cy="2702750"/>
        </p:xfrm>
        <a:graphic>
          <a:graphicData uri="http://schemas.openxmlformats.org/drawingml/2006/table">
            <a:tbl>
              <a:tblPr>
                <a:noFill/>
              </a:tblPr>
              <a:tblGrid>
                <a:gridCol w="703500"/>
                <a:gridCol w="703500"/>
                <a:gridCol w="703500"/>
                <a:gridCol w="703500"/>
                <a:gridCol w="703500"/>
                <a:gridCol w="703500"/>
              </a:tblGrid>
              <a:tr h="540550">
                <a:tc>
                  <a:txBody>
                    <a:bodyPr/>
                    <a:lstStyle/>
                    <a:p>
                      <a:pPr marL="0" lvl="0" indent="0" algn="ctr" rtl="0">
                        <a:spcBef>
                          <a:spcPts val="0"/>
                        </a:spcBef>
                        <a:spcAft>
                          <a:spcPts val="0"/>
                        </a:spcAft>
                        <a:buNone/>
                      </a:pPr>
                      <a:r>
                        <a:rPr lang="en-US" sz="2000" b="1" dirty="0">
                          <a:latin typeface="Fira Sans"/>
                          <a:ea typeface="Fira Sans"/>
                          <a:cs typeface="Fira Sans"/>
                          <a:sym typeface="Fira Sans"/>
                        </a:rPr>
                        <a:t>D1</a:t>
                      </a:r>
                      <a:endParaRPr sz="2000" b="1"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000" b="1" dirty="0">
                          <a:latin typeface="Fira Sans"/>
                          <a:ea typeface="Fira Sans"/>
                          <a:cs typeface="Fira Sans"/>
                          <a:sym typeface="Fira Sans"/>
                        </a:rPr>
                        <a:t>D0</a:t>
                      </a:r>
                      <a:endParaRPr sz="2000" b="1"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000" b="1" dirty="0">
                          <a:latin typeface="Fira Sans"/>
                          <a:ea typeface="Fira Sans"/>
                          <a:cs typeface="Fira Sans"/>
                          <a:sym typeface="Fira Sans"/>
                        </a:rPr>
                        <a:t>O3</a:t>
                      </a:r>
                      <a:endParaRPr sz="2000" b="1" dirty="0">
                        <a:latin typeface="Fira Sans"/>
                        <a:ea typeface="Fira Sans"/>
                        <a:cs typeface="Fira Sans"/>
                        <a:sym typeface="Fira Sans"/>
                      </a:endParaRPr>
                    </a:p>
                  </a:txBody>
                  <a:tcPr marL="68569" marR="68569"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latin typeface="Fira Sans"/>
                          <a:ea typeface="Fira Sans"/>
                          <a:cs typeface="Fira Sans"/>
                          <a:sym typeface="Fira Sans"/>
                        </a:rPr>
                        <a:t>O2</a:t>
                      </a:r>
                      <a:endParaRPr sz="2000" b="1" dirty="0">
                        <a:latin typeface="Fira Sans"/>
                        <a:ea typeface="Fira Sans"/>
                        <a:cs typeface="Fira Sans"/>
                        <a:sym typeface="Fira Sans"/>
                      </a:endParaRPr>
                    </a:p>
                  </a:txBody>
                  <a:tcPr marL="68569" marR="68569"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latin typeface="Fira Sans"/>
                          <a:ea typeface="Fira Sans"/>
                          <a:cs typeface="Fira Sans"/>
                          <a:sym typeface="Fira Sans"/>
                        </a:rPr>
                        <a:t>O1</a:t>
                      </a:r>
                      <a:endParaRPr sz="2000" b="1"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000" b="1">
                          <a:latin typeface="Fira Sans"/>
                          <a:ea typeface="Fira Sans"/>
                          <a:cs typeface="Fira Sans"/>
                          <a:sym typeface="Fira Sans"/>
                        </a:rPr>
                        <a:t>O0</a:t>
                      </a:r>
                      <a:endParaRPr sz="2000" b="1">
                        <a:latin typeface="Fira Sans"/>
                        <a:ea typeface="Fira Sans"/>
                        <a:cs typeface="Fira Sans"/>
                        <a:sym typeface="Fira Sans"/>
                      </a:endParaRPr>
                    </a:p>
                  </a:txBody>
                  <a:tcPr marL="68569" marR="68569" marT="91425" marB="91425"/>
                </a:tc>
              </a:tr>
              <a:tr h="540550">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dirty="0">
                          <a:latin typeface="Fira Sans"/>
                          <a:ea typeface="Fira Sans"/>
                          <a:cs typeface="Fira Sans"/>
                          <a:sym typeface="Fira Sans"/>
                        </a:rPr>
                        <a:t>0</a:t>
                      </a:r>
                      <a:endParaRPr sz="20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tc>
              </a:tr>
              <a:tr h="540550">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B w="9525" cap="flat" cmpd="sng">
                      <a:solidFill>
                        <a:srgbClr val="9E9E9E"/>
                      </a:solidFill>
                      <a:prstDash val="solid"/>
                      <a:round/>
                      <a:headEnd type="none" w="sm" len="sm"/>
                      <a:tailEnd type="none" w="sm" len="sm"/>
                    </a:lnB>
                  </a:tcPr>
                </a:tc>
              </a:tr>
              <a:tr h="540550">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540550">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dirty="0">
                          <a:latin typeface="Fira Sans"/>
                          <a:ea typeface="Fira Sans"/>
                          <a:cs typeface="Fira Sans"/>
                          <a:sym typeface="Fira Sans"/>
                        </a:rPr>
                        <a:t>0</a:t>
                      </a:r>
                      <a:endParaRPr sz="20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T w="9525" cap="flat" cmpd="sng">
                      <a:solidFill>
                        <a:srgbClr val="9E9E9E"/>
                      </a:solidFill>
                      <a:prstDash val="solid"/>
                      <a:round/>
                      <a:headEnd type="none" w="sm" len="sm"/>
                      <a:tailEnd type="none" w="sm" len="sm"/>
                    </a:lnT>
                  </a:tcPr>
                </a:tc>
              </a:tr>
            </a:tbl>
          </a:graphicData>
        </a:graphic>
      </p:graphicFrame>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Tree>
    <p:extLst>
      <p:ext uri="{BB962C8B-B14F-4D97-AF65-F5344CB8AC3E}">
        <p14:creationId xmlns:p14="http://schemas.microsoft.com/office/powerpoint/2010/main" val="419712245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300791" y="191861"/>
            <a:ext cx="8546850" cy="721800"/>
          </a:xfrm>
          <a:prstGeom prst="rect">
            <a:avLst/>
          </a:prstGeom>
          <a:noFill/>
          <a:ln>
            <a:noFill/>
          </a:ln>
        </p:spPr>
        <p:txBody>
          <a:bodyPr spcFirstLastPara="1" wrap="square" lIns="91425" tIns="45700" rIns="91425" bIns="45700" anchor="ctr" anchorCtr="0">
            <a:noAutofit/>
          </a:bodyPr>
          <a:lstStyle/>
          <a:p>
            <a:pPr marL="457200" lvl="0" indent="0" algn="ctr" rtl="0">
              <a:lnSpc>
                <a:spcPct val="90000"/>
              </a:lnSpc>
              <a:spcBef>
                <a:spcPts val="0"/>
              </a:spcBef>
              <a:spcAft>
                <a:spcPts val="0"/>
              </a:spcAft>
              <a:buNone/>
            </a:pPr>
            <a:r>
              <a:rPr lang="en-US" sz="3600" dirty="0" smtClean="0">
                <a:solidFill>
                  <a:srgbClr val="C00000"/>
                </a:solidFill>
                <a:latin typeface="Marcellus"/>
                <a:ea typeface="Marcellus"/>
                <a:cs typeface="Marcellus"/>
                <a:sym typeface="Marcellus"/>
              </a:rPr>
              <a:t>2:4 Decoder</a:t>
            </a:r>
            <a:endParaRPr sz="3600" dirty="0"/>
          </a:p>
        </p:txBody>
      </p:sp>
      <p:pic>
        <p:nvPicPr>
          <p:cNvPr id="224" name="Google Shape;224;p26"/>
          <p:cNvPicPr preferRelativeResize="0"/>
          <p:nvPr/>
        </p:nvPicPr>
        <p:blipFill rotWithShape="1">
          <a:blip r:embed="rId3">
            <a:alphaModFix/>
          </a:blip>
          <a:srcRect/>
          <a:stretch/>
        </p:blipFill>
        <p:spPr>
          <a:xfrm rot="5400000">
            <a:off x="4362258" y="2097119"/>
            <a:ext cx="385984" cy="9177497"/>
          </a:xfrm>
          <a:prstGeom prst="rect">
            <a:avLst/>
          </a:prstGeom>
          <a:noFill/>
          <a:ln>
            <a:noFill/>
          </a:ln>
        </p:spPr>
      </p:pic>
      <p:pic>
        <p:nvPicPr>
          <p:cNvPr id="225" name="Google Shape;225;p26"/>
          <p:cNvPicPr preferRelativeResize="0"/>
          <p:nvPr/>
        </p:nvPicPr>
        <p:blipFill rotWithShape="1">
          <a:blip r:embed="rId4">
            <a:alphaModFix/>
          </a:blip>
          <a:srcRect/>
          <a:stretch/>
        </p:blipFill>
        <p:spPr>
          <a:xfrm rot="5400000">
            <a:off x="3378189" y="2920767"/>
            <a:ext cx="176409" cy="6999785"/>
          </a:xfrm>
          <a:prstGeom prst="rect">
            <a:avLst/>
          </a:prstGeom>
          <a:noFill/>
          <a:ln>
            <a:noFill/>
          </a:ln>
        </p:spPr>
      </p:pic>
      <p:pic>
        <p:nvPicPr>
          <p:cNvPr id="226" name="Google Shape;226;p26"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00" cy="721800"/>
          </a:xfrm>
          <a:prstGeom prst="rect">
            <a:avLst/>
          </a:prstGeom>
          <a:noFill/>
          <a:ln>
            <a:noFill/>
          </a:ln>
        </p:spPr>
      </p:pic>
      <p:sp>
        <p:nvSpPr>
          <p:cNvPr id="228" name="Google Shape;228;p26"/>
          <p:cNvSpPr txBox="1"/>
          <p:nvPr/>
        </p:nvSpPr>
        <p:spPr>
          <a:xfrm>
            <a:off x="702675" y="809825"/>
            <a:ext cx="7738650" cy="455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600">
              <a:latin typeface="Fira Sans"/>
              <a:ea typeface="Fira Sans"/>
              <a:cs typeface="Fira Sans"/>
              <a:sym typeface="Fira Sans"/>
            </a:endParaRPr>
          </a:p>
        </p:txBody>
      </p:sp>
      <p:pic>
        <p:nvPicPr>
          <p:cNvPr id="229" name="Google Shape;229;p26"/>
          <p:cNvPicPr preferRelativeResize="0"/>
          <p:nvPr/>
        </p:nvPicPr>
        <p:blipFill rotWithShape="1">
          <a:blip r:embed="rId6">
            <a:alphaModFix/>
          </a:blip>
          <a:srcRect l="36068" t="27120" r="13988" b="12985"/>
          <a:stretch/>
        </p:blipFill>
        <p:spPr>
          <a:xfrm>
            <a:off x="1691680" y="1075574"/>
            <a:ext cx="4901306" cy="4406200"/>
          </a:xfrm>
          <a:prstGeom prst="rect">
            <a:avLst/>
          </a:prstGeom>
          <a:noFill/>
          <a:ln>
            <a:noFill/>
          </a:ln>
        </p:spPr>
      </p:pic>
      <p:pic>
        <p:nvPicPr>
          <p:cNvPr id="9" name="Picture 8"/>
          <p:cNvPicPr/>
          <p:nvPr/>
        </p:nvPicPr>
        <p:blipFill>
          <a:blip r:embed="rId7">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Tree>
    <p:extLst>
      <p:ext uri="{BB962C8B-B14F-4D97-AF65-F5344CB8AC3E}">
        <p14:creationId xmlns:p14="http://schemas.microsoft.com/office/powerpoint/2010/main" val="306226069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34"/>
          <p:cNvSpPr txBox="1">
            <a:spLocks noGrp="1"/>
          </p:cNvSpPr>
          <p:nvPr>
            <p:ph type="title"/>
          </p:nvPr>
        </p:nvSpPr>
        <p:spPr>
          <a:xfrm>
            <a:off x="300791" y="191861"/>
            <a:ext cx="8546850" cy="721800"/>
          </a:xfrm>
          <a:prstGeom prst="rect">
            <a:avLst/>
          </a:prstGeom>
          <a:noFill/>
          <a:ln>
            <a:noFill/>
          </a:ln>
        </p:spPr>
        <p:txBody>
          <a:bodyPr spcFirstLastPara="1" wrap="square" lIns="91425" tIns="45700" rIns="91425" bIns="45700" anchor="ctr" anchorCtr="0">
            <a:noAutofit/>
          </a:bodyPr>
          <a:lstStyle/>
          <a:p>
            <a:pPr marL="457200" lvl="0" indent="0" algn="ctr" rtl="0">
              <a:lnSpc>
                <a:spcPct val="90000"/>
              </a:lnSpc>
              <a:spcBef>
                <a:spcPts val="0"/>
              </a:spcBef>
              <a:spcAft>
                <a:spcPts val="0"/>
              </a:spcAft>
              <a:buNone/>
            </a:pPr>
            <a:r>
              <a:rPr lang="en-US" sz="3600">
                <a:solidFill>
                  <a:srgbClr val="C00000"/>
                </a:solidFill>
                <a:latin typeface="Marcellus"/>
                <a:ea typeface="Marcellus"/>
                <a:cs typeface="Marcellus"/>
                <a:sym typeface="Marcellus"/>
              </a:rPr>
              <a:t>Decoder with active low output</a:t>
            </a:r>
            <a:endParaRPr sz="3600"/>
          </a:p>
        </p:txBody>
      </p:sp>
      <p:pic>
        <p:nvPicPr>
          <p:cNvPr id="312" name="Google Shape;312;p34"/>
          <p:cNvPicPr preferRelativeResize="0"/>
          <p:nvPr/>
        </p:nvPicPr>
        <p:blipFill rotWithShape="1">
          <a:blip r:embed="rId3">
            <a:alphaModFix/>
          </a:blip>
          <a:srcRect/>
          <a:stretch/>
        </p:blipFill>
        <p:spPr>
          <a:xfrm rot="5400000">
            <a:off x="4362258" y="2097119"/>
            <a:ext cx="385984" cy="9177497"/>
          </a:xfrm>
          <a:prstGeom prst="rect">
            <a:avLst/>
          </a:prstGeom>
          <a:noFill/>
          <a:ln>
            <a:noFill/>
          </a:ln>
        </p:spPr>
      </p:pic>
      <p:pic>
        <p:nvPicPr>
          <p:cNvPr id="313" name="Google Shape;313;p34"/>
          <p:cNvPicPr preferRelativeResize="0"/>
          <p:nvPr/>
        </p:nvPicPr>
        <p:blipFill rotWithShape="1">
          <a:blip r:embed="rId4">
            <a:alphaModFix/>
          </a:blip>
          <a:srcRect/>
          <a:stretch/>
        </p:blipFill>
        <p:spPr>
          <a:xfrm rot="5400000">
            <a:off x="3378189" y="2920767"/>
            <a:ext cx="176409" cy="6999785"/>
          </a:xfrm>
          <a:prstGeom prst="rect">
            <a:avLst/>
          </a:prstGeom>
          <a:noFill/>
          <a:ln>
            <a:noFill/>
          </a:ln>
        </p:spPr>
      </p:pic>
      <p:pic>
        <p:nvPicPr>
          <p:cNvPr id="314" name="Google Shape;314;p34"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00" cy="721800"/>
          </a:xfrm>
          <a:prstGeom prst="rect">
            <a:avLst/>
          </a:prstGeom>
          <a:noFill/>
          <a:ln>
            <a:noFill/>
          </a:ln>
        </p:spPr>
      </p:pic>
      <p:sp>
        <p:nvSpPr>
          <p:cNvPr id="316" name="Google Shape;316;p34"/>
          <p:cNvSpPr txBox="1"/>
          <p:nvPr/>
        </p:nvSpPr>
        <p:spPr>
          <a:xfrm>
            <a:off x="701875" y="809825"/>
            <a:ext cx="3653301" cy="1971103"/>
          </a:xfrm>
          <a:prstGeom prst="rect">
            <a:avLst/>
          </a:prstGeom>
          <a:noFill/>
          <a:ln>
            <a:noFill/>
          </a:ln>
        </p:spPr>
        <p:txBody>
          <a:bodyPr spcFirstLastPara="1" wrap="square" lIns="91425" tIns="91425" rIns="91425" bIns="91425" anchor="t" anchorCtr="0">
            <a:noAutofit/>
          </a:bodyPr>
          <a:lstStyle/>
          <a:p>
            <a:pPr lvl="0"/>
            <a:r>
              <a:rPr lang="en-IN" sz="2000" b="1" dirty="0" err="1" smtClean="0">
                <a:latin typeface="Fira Sans"/>
                <a:ea typeface="Fira Sans"/>
                <a:cs typeface="Fira Sans"/>
                <a:sym typeface="Fira Sans"/>
              </a:rPr>
              <a:t>Maxterm</a:t>
            </a:r>
            <a:r>
              <a:rPr lang="en-IN" sz="2000" b="1" dirty="0" smtClean="0">
                <a:latin typeface="Fira Sans"/>
                <a:ea typeface="Fira Sans"/>
                <a:cs typeface="Fira Sans"/>
                <a:sym typeface="Fira Sans"/>
              </a:rPr>
              <a:t> Generator </a:t>
            </a:r>
          </a:p>
          <a:p>
            <a:pPr marL="0" lvl="0" indent="0" algn="l" rtl="0">
              <a:spcBef>
                <a:spcPts val="0"/>
              </a:spcBef>
              <a:spcAft>
                <a:spcPts val="0"/>
              </a:spcAft>
              <a:buNone/>
            </a:pPr>
            <a:r>
              <a:rPr lang="en-US" sz="2000" b="1" dirty="0" smtClean="0">
                <a:latin typeface="Fira Sans"/>
                <a:ea typeface="Fira Sans"/>
                <a:cs typeface="Fira Sans"/>
                <a:sym typeface="Fira Sans"/>
              </a:rPr>
              <a:t>	O0= ( D1+D0)</a:t>
            </a:r>
            <a:endParaRPr sz="2000" b="1" dirty="0">
              <a:latin typeface="Fira Sans"/>
              <a:ea typeface="Fira Sans"/>
              <a:cs typeface="Fira Sans"/>
              <a:sym typeface="Fira Sans"/>
            </a:endParaRPr>
          </a:p>
          <a:p>
            <a:pPr marL="0" lvl="0" indent="0" algn="l" rtl="0">
              <a:spcBef>
                <a:spcPts val="0"/>
              </a:spcBef>
              <a:spcAft>
                <a:spcPts val="0"/>
              </a:spcAft>
              <a:buNone/>
            </a:pPr>
            <a:r>
              <a:rPr lang="en-US" sz="2000" b="1" dirty="0">
                <a:latin typeface="Fira Sans"/>
                <a:ea typeface="Fira Sans"/>
                <a:cs typeface="Fira Sans"/>
                <a:sym typeface="Fira Sans"/>
              </a:rPr>
              <a:t> 	</a:t>
            </a:r>
            <a:r>
              <a:rPr lang="en-US" sz="2000" b="1" dirty="0" smtClean="0">
                <a:latin typeface="Fira Sans"/>
                <a:ea typeface="Fira Sans"/>
                <a:cs typeface="Fira Sans"/>
                <a:sym typeface="Fira Sans"/>
              </a:rPr>
              <a:t>O1 = (D1+D0’)</a:t>
            </a:r>
          </a:p>
          <a:p>
            <a:pPr marL="0" lvl="0" indent="0" algn="l" rtl="0">
              <a:spcBef>
                <a:spcPts val="0"/>
              </a:spcBef>
              <a:spcAft>
                <a:spcPts val="0"/>
              </a:spcAft>
              <a:buNone/>
            </a:pPr>
            <a:r>
              <a:rPr lang="en-US" sz="2000" b="1" dirty="0">
                <a:latin typeface="Fira Sans"/>
                <a:ea typeface="Fira Sans"/>
                <a:cs typeface="Fira Sans"/>
                <a:sym typeface="Fira Sans"/>
              </a:rPr>
              <a:t> </a:t>
            </a:r>
            <a:r>
              <a:rPr lang="en-US" sz="2000" b="1" dirty="0" smtClean="0">
                <a:latin typeface="Fira Sans"/>
                <a:ea typeface="Fira Sans"/>
                <a:cs typeface="Fira Sans"/>
                <a:sym typeface="Fira Sans"/>
              </a:rPr>
              <a:t>          O2 </a:t>
            </a:r>
            <a:r>
              <a:rPr lang="en-US" sz="2000" b="1" dirty="0">
                <a:latin typeface="Fira Sans"/>
                <a:ea typeface="Fira Sans"/>
                <a:cs typeface="Fira Sans"/>
                <a:sym typeface="Fira Sans"/>
              </a:rPr>
              <a:t>= </a:t>
            </a:r>
            <a:r>
              <a:rPr lang="en-US" sz="2000" b="1" dirty="0" smtClean="0">
                <a:latin typeface="Fira Sans"/>
                <a:ea typeface="Fira Sans"/>
                <a:cs typeface="Fira Sans"/>
                <a:sym typeface="Fira Sans"/>
              </a:rPr>
              <a:t>(D1’+D0)</a:t>
            </a:r>
            <a:endParaRPr sz="2000" b="1" dirty="0">
              <a:latin typeface="Fira Sans"/>
              <a:ea typeface="Fira Sans"/>
              <a:cs typeface="Fira Sans"/>
              <a:sym typeface="Fira Sans"/>
            </a:endParaRPr>
          </a:p>
          <a:p>
            <a:pPr marL="0" lvl="0" indent="0" algn="l" rtl="0">
              <a:spcBef>
                <a:spcPts val="0"/>
              </a:spcBef>
              <a:spcAft>
                <a:spcPts val="0"/>
              </a:spcAft>
              <a:buNone/>
            </a:pPr>
            <a:r>
              <a:rPr lang="en-US" sz="2000" b="1" dirty="0">
                <a:latin typeface="Fira Sans"/>
                <a:ea typeface="Fira Sans"/>
                <a:cs typeface="Fira Sans"/>
                <a:sym typeface="Fira Sans"/>
              </a:rPr>
              <a:t>	</a:t>
            </a:r>
            <a:r>
              <a:rPr lang="en-US" sz="2000" b="1" dirty="0" smtClean="0">
                <a:latin typeface="Fira Sans"/>
                <a:ea typeface="Fira Sans"/>
                <a:cs typeface="Fira Sans"/>
                <a:sym typeface="Fira Sans"/>
              </a:rPr>
              <a:t>O3 </a:t>
            </a:r>
            <a:r>
              <a:rPr lang="en-US" sz="2000" b="1" dirty="0">
                <a:latin typeface="Fira Sans"/>
                <a:ea typeface="Fira Sans"/>
                <a:cs typeface="Fira Sans"/>
                <a:sym typeface="Fira Sans"/>
              </a:rPr>
              <a:t>= </a:t>
            </a:r>
            <a:r>
              <a:rPr lang="en-US" sz="2000" b="1" dirty="0" smtClean="0">
                <a:latin typeface="Fira Sans"/>
                <a:ea typeface="Fira Sans"/>
                <a:cs typeface="Fira Sans"/>
                <a:sym typeface="Fira Sans"/>
              </a:rPr>
              <a:t>(D1’+D0’)</a:t>
            </a:r>
            <a:endParaRPr sz="2000" b="1" dirty="0">
              <a:latin typeface="Fira Sans"/>
              <a:ea typeface="Fira Sans"/>
              <a:cs typeface="Fira Sans"/>
              <a:sym typeface="Fira Sans"/>
            </a:endParaRPr>
          </a:p>
          <a:p>
            <a:pPr marL="0" lvl="0" indent="0" algn="l" rtl="0">
              <a:spcBef>
                <a:spcPts val="0"/>
              </a:spcBef>
              <a:spcAft>
                <a:spcPts val="0"/>
              </a:spcAft>
              <a:buNone/>
            </a:pPr>
            <a:endParaRPr sz="2400" dirty="0">
              <a:latin typeface="Fira Sans"/>
              <a:ea typeface="Fira Sans"/>
              <a:cs typeface="Fira Sans"/>
              <a:sym typeface="Fira Sans"/>
            </a:endParaRPr>
          </a:p>
          <a:p>
            <a:pPr marL="0" lvl="0" indent="0" algn="l" rtl="0">
              <a:spcBef>
                <a:spcPts val="0"/>
              </a:spcBef>
              <a:spcAft>
                <a:spcPts val="0"/>
              </a:spcAft>
              <a:buNone/>
            </a:pPr>
            <a:endParaRPr sz="2400" dirty="0">
              <a:latin typeface="Fira Sans"/>
              <a:ea typeface="Fira Sans"/>
              <a:cs typeface="Fira Sans"/>
              <a:sym typeface="Fira Sans"/>
            </a:endParaRPr>
          </a:p>
        </p:txBody>
      </p:sp>
      <p:graphicFrame>
        <p:nvGraphicFramePr>
          <p:cNvPr id="317" name="Google Shape;317;p34"/>
          <p:cNvGraphicFramePr/>
          <p:nvPr>
            <p:extLst>
              <p:ext uri="{D42A27DB-BD31-4B8C-83A1-F6EECF244321}">
                <p14:modId xmlns:p14="http://schemas.microsoft.com/office/powerpoint/2010/main" val="2852736524"/>
              </p:ext>
            </p:extLst>
          </p:nvPr>
        </p:nvGraphicFramePr>
        <p:xfrm>
          <a:off x="5004048" y="908720"/>
          <a:ext cx="3500922" cy="2438250"/>
        </p:xfrm>
        <a:graphic>
          <a:graphicData uri="http://schemas.openxmlformats.org/drawingml/2006/table">
            <a:tbl>
              <a:tblPr>
                <a:noFill/>
              </a:tblPr>
              <a:tblGrid>
                <a:gridCol w="583487"/>
                <a:gridCol w="583487"/>
                <a:gridCol w="583487"/>
                <a:gridCol w="583487"/>
                <a:gridCol w="583487"/>
                <a:gridCol w="583487"/>
              </a:tblGrid>
              <a:tr h="446450">
                <a:tc>
                  <a:txBody>
                    <a:bodyPr/>
                    <a:lstStyle/>
                    <a:p>
                      <a:pPr marL="0" lvl="0" indent="0" algn="ctr" rtl="0">
                        <a:spcBef>
                          <a:spcPts val="0"/>
                        </a:spcBef>
                        <a:spcAft>
                          <a:spcPts val="0"/>
                        </a:spcAft>
                        <a:buNone/>
                      </a:pPr>
                      <a:r>
                        <a:rPr lang="en-US" sz="2000" b="1" dirty="0">
                          <a:latin typeface="Fira Sans"/>
                          <a:ea typeface="Fira Sans"/>
                          <a:cs typeface="Fira Sans"/>
                          <a:sym typeface="Fira Sans"/>
                        </a:rPr>
                        <a:t>D1</a:t>
                      </a:r>
                      <a:endParaRPr sz="2000" b="1"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000" b="1" dirty="0">
                          <a:latin typeface="Fira Sans"/>
                          <a:ea typeface="Fira Sans"/>
                          <a:cs typeface="Fira Sans"/>
                          <a:sym typeface="Fira Sans"/>
                        </a:rPr>
                        <a:t>D0</a:t>
                      </a:r>
                      <a:endParaRPr sz="2000" b="1"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O3</a:t>
                      </a:r>
                      <a:endParaRPr sz="2000" b="1" dirty="0">
                        <a:latin typeface="Fira Sans"/>
                        <a:ea typeface="Fira Sans"/>
                        <a:cs typeface="Fira Sans"/>
                        <a:sym typeface="Fira Sans"/>
                      </a:endParaRPr>
                    </a:p>
                  </a:txBody>
                  <a:tcPr marL="68569" marR="68569"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O2</a:t>
                      </a:r>
                      <a:endParaRPr sz="2000" b="1">
                        <a:latin typeface="Fira Sans"/>
                        <a:ea typeface="Fira Sans"/>
                        <a:cs typeface="Fira Sans"/>
                        <a:sym typeface="Fira Sans"/>
                      </a:endParaRPr>
                    </a:p>
                  </a:txBody>
                  <a:tcPr marL="68569" marR="68569"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latin typeface="Fira Sans"/>
                          <a:ea typeface="Fira Sans"/>
                          <a:cs typeface="Fira Sans"/>
                          <a:sym typeface="Fira Sans"/>
                        </a:rPr>
                        <a:t>O1</a:t>
                      </a:r>
                      <a:endParaRPr sz="2000" b="1"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000" b="1">
                          <a:latin typeface="Fira Sans"/>
                          <a:ea typeface="Fira Sans"/>
                          <a:cs typeface="Fira Sans"/>
                          <a:sym typeface="Fira Sans"/>
                        </a:rPr>
                        <a:t>O0</a:t>
                      </a:r>
                      <a:endParaRPr sz="2000" b="1">
                        <a:latin typeface="Fira Sans"/>
                        <a:ea typeface="Fira Sans"/>
                        <a:cs typeface="Fira Sans"/>
                        <a:sym typeface="Fira Sans"/>
                      </a:endParaRPr>
                    </a:p>
                  </a:txBody>
                  <a:tcPr marL="68569" marR="68569" marT="91425" marB="91425"/>
                </a:tc>
              </a:tr>
              <a:tr h="446450">
                <a:tc>
                  <a:txBody>
                    <a:bodyPr/>
                    <a:lstStyle/>
                    <a:p>
                      <a:pPr marL="0" lvl="0" indent="0" algn="ctr" rtl="0">
                        <a:spcBef>
                          <a:spcPts val="0"/>
                        </a:spcBef>
                        <a:spcAft>
                          <a:spcPts val="0"/>
                        </a:spcAft>
                        <a:buNone/>
                      </a:pPr>
                      <a:r>
                        <a:rPr lang="en-US" sz="2000" dirty="0">
                          <a:latin typeface="Fira Sans"/>
                          <a:ea typeface="Fira Sans"/>
                          <a:cs typeface="Fira Sans"/>
                          <a:sym typeface="Fira Sans"/>
                        </a:rPr>
                        <a:t>0</a:t>
                      </a:r>
                      <a:endParaRPr sz="2000"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000" dirty="0">
                          <a:latin typeface="Fira Sans"/>
                          <a:ea typeface="Fira Sans"/>
                          <a:cs typeface="Fira Sans"/>
                          <a:sym typeface="Fira Sans"/>
                        </a:rPr>
                        <a:t>0</a:t>
                      </a:r>
                      <a:endParaRPr sz="2000" dirty="0">
                        <a:latin typeface="Fira Sans"/>
                        <a:ea typeface="Fira Sans"/>
                        <a:cs typeface="Fira Sans"/>
                        <a:sym typeface="Fira Sans"/>
                      </a:endParaRPr>
                    </a:p>
                  </a:txBody>
                  <a:tcPr marL="68569" marR="68569" marT="91425" marB="91425">
                    <a:lnR w="9525" cap="flat" cmpd="sng">
                      <a:solidFill>
                        <a:srgbClr val="9E9E9E"/>
                      </a:solidFill>
                      <a:prstDash val="solid"/>
                      <a:round/>
                      <a:headEnd type="none" w="sm" len="sm"/>
                      <a:tailEnd type="none" w="sm" len="sm"/>
                    </a:lnR>
                  </a:tcPr>
                </a:tc>
                <a:tc>
                  <a:txBody>
                    <a:bodyPr/>
                    <a:lstStyle/>
                    <a:p>
                      <a:pPr marL="0" marR="0" lvl="0" indent="0" algn="ctr" rtl="0">
                        <a:lnSpc>
                          <a:spcPct val="100000"/>
                        </a:lnSpc>
                        <a:spcBef>
                          <a:spcPts val="0"/>
                        </a:spcBef>
                        <a:spcAft>
                          <a:spcPts val="0"/>
                        </a:spcAft>
                        <a:buNone/>
                      </a:pPr>
                      <a:r>
                        <a:rPr lang="en-US" sz="2000" dirty="0">
                          <a:latin typeface="Fira Sans"/>
                          <a:ea typeface="Fira Sans"/>
                          <a:cs typeface="Fira Sans"/>
                          <a:sym typeface="Fira Sans"/>
                        </a:rPr>
                        <a:t>1</a:t>
                      </a:r>
                      <a:endParaRPr sz="20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B w="9525" cap="flat" cmpd="sng">
                      <a:solidFill>
                        <a:srgbClr val="9E9E9E"/>
                      </a:solidFill>
                      <a:prstDash val="solid"/>
                      <a:round/>
                      <a:headEnd type="none" w="sm" len="sm"/>
                      <a:tailEnd type="none" w="sm" len="sm"/>
                    </a:lnB>
                  </a:tcPr>
                </a:tc>
              </a:tr>
              <a:tr h="446450">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R w="9525" cap="flat" cmpd="sng">
                      <a:solidFill>
                        <a:srgbClr val="9E9E9E"/>
                      </a:solidFill>
                      <a:prstDash val="solid"/>
                      <a:round/>
                      <a:headEnd type="none" w="sm" len="sm"/>
                      <a:tailEnd type="none" w="sm" len="sm"/>
                    </a:lnR>
                  </a:tcPr>
                </a:tc>
                <a:tc>
                  <a:txBody>
                    <a:bodyPr/>
                    <a:lstStyle/>
                    <a:p>
                      <a:pPr marL="0" marR="0" lvl="0" indent="0" algn="ctr" rtl="0">
                        <a:lnSpc>
                          <a:spcPct val="100000"/>
                        </a:lnSpc>
                        <a:spcBef>
                          <a:spcPts val="0"/>
                        </a:spcBef>
                        <a:spcAft>
                          <a:spcPts val="0"/>
                        </a:spcAft>
                        <a:buNone/>
                      </a:pPr>
                      <a:r>
                        <a:rPr lang="en-US" sz="2000" dirty="0">
                          <a:latin typeface="Fira Sans"/>
                          <a:ea typeface="Fira Sans"/>
                          <a:cs typeface="Fira Sans"/>
                          <a:sym typeface="Fira Sans"/>
                        </a:rPr>
                        <a:t>1</a:t>
                      </a:r>
                      <a:endParaRPr sz="20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dirty="0">
                          <a:latin typeface="Fira Sans"/>
                          <a:ea typeface="Fira Sans"/>
                          <a:cs typeface="Fira Sans"/>
                          <a:sym typeface="Fira Sans"/>
                        </a:rPr>
                        <a:t>1</a:t>
                      </a:r>
                      <a:endParaRPr sz="20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446450">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R w="9525" cap="flat" cmpd="sng">
                      <a:solidFill>
                        <a:srgbClr val="9E9E9E"/>
                      </a:solidFill>
                      <a:prstDash val="solid"/>
                      <a:round/>
                      <a:headEnd type="none" w="sm" len="sm"/>
                      <a:tailEnd type="none" w="sm" len="sm"/>
                    </a:lnR>
                  </a:tcPr>
                </a:tc>
                <a:tc>
                  <a:txBody>
                    <a:bodyPr/>
                    <a:lstStyle/>
                    <a:p>
                      <a:pPr marL="0" marR="0" lvl="0" indent="0" algn="ctr" rtl="0">
                        <a:lnSpc>
                          <a:spcPct val="100000"/>
                        </a:lnSpc>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dirty="0">
                          <a:latin typeface="Fira Sans"/>
                          <a:ea typeface="Fira Sans"/>
                          <a:cs typeface="Fira Sans"/>
                          <a:sym typeface="Fira Sans"/>
                        </a:rPr>
                        <a:t>0</a:t>
                      </a:r>
                      <a:endParaRPr sz="20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dirty="0">
                          <a:latin typeface="Fira Sans"/>
                          <a:ea typeface="Fira Sans"/>
                          <a:cs typeface="Fira Sans"/>
                          <a:sym typeface="Fira Sans"/>
                        </a:rPr>
                        <a:t>1</a:t>
                      </a:r>
                      <a:endParaRPr sz="20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446450">
                <a:tc>
                  <a:txBody>
                    <a:bodyPr/>
                    <a:lstStyle/>
                    <a:p>
                      <a:pPr marL="0" lvl="0" indent="0" algn="ctr" rtl="0">
                        <a:spcBef>
                          <a:spcPts val="0"/>
                        </a:spcBef>
                        <a:spcAft>
                          <a:spcPts val="0"/>
                        </a:spcAft>
                        <a:buNone/>
                      </a:pPr>
                      <a:r>
                        <a:rPr lang="en-US" sz="2000" dirty="0">
                          <a:latin typeface="Fira Sans"/>
                          <a:ea typeface="Fira Sans"/>
                          <a:cs typeface="Fira Sans"/>
                          <a:sym typeface="Fira Sans"/>
                        </a:rPr>
                        <a:t>1</a:t>
                      </a:r>
                      <a:endParaRPr sz="2000"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R w="9525" cap="flat" cmpd="sng">
                      <a:solidFill>
                        <a:srgbClr val="9E9E9E"/>
                      </a:solidFill>
                      <a:prstDash val="solid"/>
                      <a:round/>
                      <a:headEnd type="none" w="sm" len="sm"/>
                      <a:tailEnd type="none" w="sm" len="sm"/>
                    </a:lnR>
                  </a:tcPr>
                </a:tc>
                <a:tc>
                  <a:txBody>
                    <a:bodyPr/>
                    <a:lstStyle/>
                    <a:p>
                      <a:pPr marL="0" marR="0" lvl="0" indent="0" algn="ctr" rtl="0">
                        <a:lnSpc>
                          <a:spcPct val="100000"/>
                        </a:lnSpc>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dirty="0">
                          <a:latin typeface="Fira Sans"/>
                          <a:ea typeface="Fira Sans"/>
                          <a:cs typeface="Fira Sans"/>
                          <a:sym typeface="Fira Sans"/>
                        </a:rPr>
                        <a:t>1</a:t>
                      </a:r>
                      <a:endParaRPr sz="20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dirty="0">
                          <a:latin typeface="Fira Sans"/>
                          <a:ea typeface="Fira Sans"/>
                          <a:cs typeface="Fira Sans"/>
                          <a:sym typeface="Fira Sans"/>
                        </a:rPr>
                        <a:t>1</a:t>
                      </a:r>
                      <a:endParaRPr sz="20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pic>
        <p:nvPicPr>
          <p:cNvPr id="2" name="Picture 1"/>
          <p:cNvPicPr>
            <a:picLocks noChangeAspect="1"/>
          </p:cNvPicPr>
          <p:nvPr/>
        </p:nvPicPr>
        <p:blipFill rotWithShape="1">
          <a:blip r:embed="rId7">
            <a:extLst>
              <a:ext uri="{28A0092B-C50C-407E-A947-70E740481C1C}">
                <a14:useLocalDpi xmlns:a14="http://schemas.microsoft.com/office/drawing/2010/main" val="0"/>
              </a:ext>
            </a:extLst>
          </a:blip>
          <a:srcRect l="32177" t="18956" r="28385" b="18531"/>
          <a:stretch/>
        </p:blipFill>
        <p:spPr>
          <a:xfrm>
            <a:off x="539552" y="2564904"/>
            <a:ext cx="4388423" cy="3108468"/>
          </a:xfrm>
          <a:prstGeom prst="rect">
            <a:avLst/>
          </a:prstGeom>
        </p:spPr>
      </p:pic>
    </p:spTree>
    <p:extLst>
      <p:ext uri="{BB962C8B-B14F-4D97-AF65-F5344CB8AC3E}">
        <p14:creationId xmlns:p14="http://schemas.microsoft.com/office/powerpoint/2010/main" val="276931675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34"/>
          <p:cNvSpPr txBox="1">
            <a:spLocks noGrp="1"/>
          </p:cNvSpPr>
          <p:nvPr>
            <p:ph type="title"/>
          </p:nvPr>
        </p:nvSpPr>
        <p:spPr>
          <a:xfrm>
            <a:off x="300791" y="191861"/>
            <a:ext cx="8546850" cy="721800"/>
          </a:xfrm>
          <a:prstGeom prst="rect">
            <a:avLst/>
          </a:prstGeom>
          <a:noFill/>
          <a:ln>
            <a:noFill/>
          </a:ln>
        </p:spPr>
        <p:txBody>
          <a:bodyPr spcFirstLastPara="1" wrap="square" lIns="91425" tIns="45700" rIns="91425" bIns="45700" anchor="ctr" anchorCtr="0">
            <a:noAutofit/>
          </a:bodyPr>
          <a:lstStyle/>
          <a:p>
            <a:pPr marL="457200" lvl="0" indent="0" algn="ctr" rtl="0">
              <a:lnSpc>
                <a:spcPct val="90000"/>
              </a:lnSpc>
              <a:spcBef>
                <a:spcPts val="0"/>
              </a:spcBef>
              <a:spcAft>
                <a:spcPts val="0"/>
              </a:spcAft>
              <a:buNone/>
            </a:pPr>
            <a:r>
              <a:rPr lang="en-US" sz="3600" dirty="0">
                <a:solidFill>
                  <a:srgbClr val="C00000"/>
                </a:solidFill>
                <a:latin typeface="Marcellus"/>
                <a:ea typeface="Marcellus"/>
                <a:cs typeface="Marcellus"/>
                <a:sym typeface="Marcellus"/>
              </a:rPr>
              <a:t>Decoder with </a:t>
            </a:r>
            <a:r>
              <a:rPr lang="en-US" sz="3600" dirty="0" smtClean="0">
                <a:solidFill>
                  <a:srgbClr val="C00000"/>
                </a:solidFill>
                <a:latin typeface="Marcellus"/>
                <a:ea typeface="Marcellus"/>
                <a:cs typeface="Marcellus"/>
                <a:sym typeface="Marcellus"/>
              </a:rPr>
              <a:t>enable input</a:t>
            </a:r>
            <a:endParaRPr sz="3600" dirty="0"/>
          </a:p>
        </p:txBody>
      </p:sp>
      <p:pic>
        <p:nvPicPr>
          <p:cNvPr id="312" name="Google Shape;312;p34"/>
          <p:cNvPicPr preferRelativeResize="0"/>
          <p:nvPr/>
        </p:nvPicPr>
        <p:blipFill rotWithShape="1">
          <a:blip r:embed="rId3">
            <a:alphaModFix/>
          </a:blip>
          <a:srcRect/>
          <a:stretch/>
        </p:blipFill>
        <p:spPr>
          <a:xfrm rot="5400000">
            <a:off x="4362258" y="2097119"/>
            <a:ext cx="385984" cy="9177497"/>
          </a:xfrm>
          <a:prstGeom prst="rect">
            <a:avLst/>
          </a:prstGeom>
          <a:noFill/>
          <a:ln>
            <a:noFill/>
          </a:ln>
        </p:spPr>
      </p:pic>
      <p:pic>
        <p:nvPicPr>
          <p:cNvPr id="313" name="Google Shape;313;p34"/>
          <p:cNvPicPr preferRelativeResize="0"/>
          <p:nvPr/>
        </p:nvPicPr>
        <p:blipFill rotWithShape="1">
          <a:blip r:embed="rId4">
            <a:alphaModFix/>
          </a:blip>
          <a:srcRect/>
          <a:stretch/>
        </p:blipFill>
        <p:spPr>
          <a:xfrm rot="5400000">
            <a:off x="3378189" y="2920767"/>
            <a:ext cx="176409" cy="6999785"/>
          </a:xfrm>
          <a:prstGeom prst="rect">
            <a:avLst/>
          </a:prstGeom>
          <a:noFill/>
          <a:ln>
            <a:noFill/>
          </a:ln>
        </p:spPr>
      </p:pic>
      <p:pic>
        <p:nvPicPr>
          <p:cNvPr id="314" name="Google Shape;314;p34"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00" cy="721800"/>
          </a:xfrm>
          <a:prstGeom prst="rect">
            <a:avLst/>
          </a:prstGeom>
          <a:noFill/>
          <a:ln>
            <a:noFill/>
          </a:ln>
        </p:spPr>
      </p:pic>
      <p:sp>
        <p:nvSpPr>
          <p:cNvPr id="316" name="Google Shape;316;p34"/>
          <p:cNvSpPr txBox="1"/>
          <p:nvPr/>
        </p:nvSpPr>
        <p:spPr>
          <a:xfrm>
            <a:off x="701875" y="809825"/>
            <a:ext cx="3653301" cy="1827087"/>
          </a:xfrm>
          <a:prstGeom prst="rect">
            <a:avLst/>
          </a:prstGeom>
          <a:noFill/>
          <a:ln>
            <a:noFill/>
          </a:ln>
        </p:spPr>
        <p:txBody>
          <a:bodyPr spcFirstLastPara="1" wrap="square" lIns="91425" tIns="91425" rIns="91425" bIns="91425" anchor="t" anchorCtr="0">
            <a:noAutofit/>
          </a:bodyPr>
          <a:lstStyle/>
          <a:p>
            <a:pPr lvl="0"/>
            <a:r>
              <a:rPr lang="en-IN" sz="2000" b="1" dirty="0" err="1" smtClean="0">
                <a:latin typeface="Fira Sans"/>
                <a:ea typeface="Fira Sans"/>
                <a:cs typeface="Fira Sans"/>
                <a:sym typeface="Fira Sans"/>
              </a:rPr>
              <a:t>Minterm</a:t>
            </a:r>
            <a:r>
              <a:rPr lang="en-IN" sz="2000" b="1" dirty="0" smtClean="0">
                <a:latin typeface="Fira Sans"/>
                <a:ea typeface="Fira Sans"/>
                <a:cs typeface="Fira Sans"/>
                <a:sym typeface="Fira Sans"/>
              </a:rPr>
              <a:t> Generator </a:t>
            </a:r>
          </a:p>
          <a:p>
            <a:pPr marL="0" lvl="0" indent="0" algn="l" rtl="0">
              <a:spcBef>
                <a:spcPts val="0"/>
              </a:spcBef>
              <a:spcAft>
                <a:spcPts val="0"/>
              </a:spcAft>
              <a:buNone/>
            </a:pPr>
            <a:r>
              <a:rPr lang="en-US" sz="2000" b="1" dirty="0" smtClean="0">
                <a:latin typeface="Fira Sans"/>
                <a:ea typeface="Fira Sans"/>
                <a:cs typeface="Fira Sans"/>
                <a:sym typeface="Fira Sans"/>
              </a:rPr>
              <a:t>	O0= En.D1’D0’</a:t>
            </a:r>
            <a:endParaRPr sz="2000" b="1" dirty="0">
              <a:latin typeface="Fira Sans"/>
              <a:ea typeface="Fira Sans"/>
              <a:cs typeface="Fira Sans"/>
              <a:sym typeface="Fira Sans"/>
            </a:endParaRPr>
          </a:p>
          <a:p>
            <a:pPr marL="0" lvl="0" indent="0" algn="l" rtl="0">
              <a:spcBef>
                <a:spcPts val="0"/>
              </a:spcBef>
              <a:spcAft>
                <a:spcPts val="0"/>
              </a:spcAft>
              <a:buNone/>
            </a:pPr>
            <a:r>
              <a:rPr lang="en-US" sz="2000" b="1" dirty="0">
                <a:latin typeface="Fira Sans"/>
                <a:ea typeface="Fira Sans"/>
                <a:cs typeface="Fira Sans"/>
                <a:sym typeface="Fira Sans"/>
              </a:rPr>
              <a:t> 	</a:t>
            </a:r>
            <a:r>
              <a:rPr lang="en-US" sz="2000" b="1" dirty="0" smtClean="0">
                <a:latin typeface="Fira Sans"/>
                <a:ea typeface="Fira Sans"/>
                <a:cs typeface="Fira Sans"/>
                <a:sym typeface="Fira Sans"/>
              </a:rPr>
              <a:t>O1 = En.D1’D0</a:t>
            </a:r>
          </a:p>
          <a:p>
            <a:pPr marL="0" lvl="0" indent="0" algn="l" rtl="0">
              <a:spcBef>
                <a:spcPts val="0"/>
              </a:spcBef>
              <a:spcAft>
                <a:spcPts val="0"/>
              </a:spcAft>
              <a:buNone/>
            </a:pPr>
            <a:r>
              <a:rPr lang="en-US" sz="2000" b="1" dirty="0">
                <a:latin typeface="Fira Sans"/>
                <a:ea typeface="Fira Sans"/>
                <a:cs typeface="Fira Sans"/>
                <a:sym typeface="Fira Sans"/>
              </a:rPr>
              <a:t> </a:t>
            </a:r>
            <a:r>
              <a:rPr lang="en-US" sz="2000" b="1" dirty="0" smtClean="0">
                <a:latin typeface="Fira Sans"/>
                <a:ea typeface="Fira Sans"/>
                <a:cs typeface="Fira Sans"/>
                <a:sym typeface="Fira Sans"/>
              </a:rPr>
              <a:t>          O2 </a:t>
            </a:r>
            <a:r>
              <a:rPr lang="en-US" sz="2000" b="1" dirty="0">
                <a:latin typeface="Fira Sans"/>
                <a:ea typeface="Fira Sans"/>
                <a:cs typeface="Fira Sans"/>
                <a:sym typeface="Fira Sans"/>
              </a:rPr>
              <a:t>= </a:t>
            </a:r>
            <a:r>
              <a:rPr lang="en-US" sz="2000" b="1" dirty="0" smtClean="0">
                <a:latin typeface="Fira Sans"/>
                <a:ea typeface="Fira Sans"/>
                <a:cs typeface="Fira Sans"/>
                <a:sym typeface="Fira Sans"/>
              </a:rPr>
              <a:t>En.D1D0’</a:t>
            </a:r>
            <a:endParaRPr sz="2000" b="1" dirty="0">
              <a:latin typeface="Fira Sans"/>
              <a:ea typeface="Fira Sans"/>
              <a:cs typeface="Fira Sans"/>
              <a:sym typeface="Fira Sans"/>
            </a:endParaRPr>
          </a:p>
          <a:p>
            <a:pPr marL="0" lvl="0" indent="0" algn="l" rtl="0">
              <a:spcBef>
                <a:spcPts val="0"/>
              </a:spcBef>
              <a:spcAft>
                <a:spcPts val="0"/>
              </a:spcAft>
              <a:buNone/>
            </a:pPr>
            <a:r>
              <a:rPr lang="en-US" sz="2000" b="1" dirty="0">
                <a:latin typeface="Fira Sans"/>
                <a:ea typeface="Fira Sans"/>
                <a:cs typeface="Fira Sans"/>
                <a:sym typeface="Fira Sans"/>
              </a:rPr>
              <a:t>	</a:t>
            </a:r>
            <a:r>
              <a:rPr lang="en-US" sz="2000" b="1" dirty="0" smtClean="0">
                <a:latin typeface="Fira Sans"/>
                <a:ea typeface="Fira Sans"/>
                <a:cs typeface="Fira Sans"/>
                <a:sym typeface="Fira Sans"/>
              </a:rPr>
              <a:t>O3 </a:t>
            </a:r>
            <a:r>
              <a:rPr lang="en-US" sz="2000" b="1" dirty="0">
                <a:latin typeface="Fira Sans"/>
                <a:ea typeface="Fira Sans"/>
                <a:cs typeface="Fira Sans"/>
                <a:sym typeface="Fira Sans"/>
              </a:rPr>
              <a:t>= </a:t>
            </a:r>
            <a:r>
              <a:rPr lang="en-US" sz="2000" b="1" dirty="0" smtClean="0">
                <a:latin typeface="Fira Sans"/>
                <a:ea typeface="Fira Sans"/>
                <a:cs typeface="Fira Sans"/>
                <a:sym typeface="Fira Sans"/>
              </a:rPr>
              <a:t>En.D1D0</a:t>
            </a:r>
            <a:endParaRPr sz="2000" b="1" dirty="0">
              <a:latin typeface="Fira Sans"/>
              <a:ea typeface="Fira Sans"/>
              <a:cs typeface="Fira Sans"/>
              <a:sym typeface="Fira Sans"/>
            </a:endParaRPr>
          </a:p>
          <a:p>
            <a:pPr marL="0" lvl="0" indent="0" algn="l" rtl="0">
              <a:spcBef>
                <a:spcPts val="0"/>
              </a:spcBef>
              <a:spcAft>
                <a:spcPts val="0"/>
              </a:spcAft>
              <a:buNone/>
            </a:pPr>
            <a:endParaRPr sz="2400" dirty="0">
              <a:latin typeface="Fira Sans"/>
              <a:ea typeface="Fira Sans"/>
              <a:cs typeface="Fira Sans"/>
              <a:sym typeface="Fira Sans"/>
            </a:endParaRPr>
          </a:p>
          <a:p>
            <a:pPr marL="0" lvl="0" indent="0" algn="l" rtl="0">
              <a:spcBef>
                <a:spcPts val="0"/>
              </a:spcBef>
              <a:spcAft>
                <a:spcPts val="0"/>
              </a:spcAft>
              <a:buNone/>
            </a:pPr>
            <a:endParaRPr sz="2400" dirty="0">
              <a:latin typeface="Fira Sans"/>
              <a:ea typeface="Fira Sans"/>
              <a:cs typeface="Fira Sans"/>
              <a:sym typeface="Fira Sans"/>
            </a:endParaRPr>
          </a:p>
        </p:txBody>
      </p:sp>
      <p:graphicFrame>
        <p:nvGraphicFramePr>
          <p:cNvPr id="317" name="Google Shape;317;p34"/>
          <p:cNvGraphicFramePr/>
          <p:nvPr>
            <p:extLst>
              <p:ext uri="{D42A27DB-BD31-4B8C-83A1-F6EECF244321}">
                <p14:modId xmlns:p14="http://schemas.microsoft.com/office/powerpoint/2010/main" val="3768736437"/>
              </p:ext>
            </p:extLst>
          </p:nvPr>
        </p:nvGraphicFramePr>
        <p:xfrm>
          <a:off x="5364086" y="908720"/>
          <a:ext cx="3140886" cy="2743020"/>
        </p:xfrm>
        <a:graphic>
          <a:graphicData uri="http://schemas.openxmlformats.org/drawingml/2006/table">
            <a:tbl>
              <a:tblPr>
                <a:noFill/>
              </a:tblPr>
              <a:tblGrid>
                <a:gridCol w="448698"/>
                <a:gridCol w="448698"/>
                <a:gridCol w="448698"/>
                <a:gridCol w="448698"/>
                <a:gridCol w="448698"/>
                <a:gridCol w="448698"/>
                <a:gridCol w="448698"/>
              </a:tblGrid>
              <a:tr h="408045">
                <a:tc>
                  <a:txBody>
                    <a:bodyPr/>
                    <a:lstStyle/>
                    <a:p>
                      <a:pPr marL="0" lvl="0" indent="0" algn="ctr" rtl="0">
                        <a:spcBef>
                          <a:spcPts val="0"/>
                        </a:spcBef>
                        <a:spcAft>
                          <a:spcPts val="0"/>
                        </a:spcAft>
                        <a:buNone/>
                      </a:pPr>
                      <a:r>
                        <a:rPr lang="en-US" sz="1800" b="1" dirty="0" smtClean="0">
                          <a:latin typeface="Fira Sans"/>
                          <a:ea typeface="Fira Sans"/>
                          <a:cs typeface="Fira Sans"/>
                          <a:sym typeface="Fira Sans"/>
                        </a:rPr>
                        <a:t>En</a:t>
                      </a:r>
                      <a:endParaRPr sz="1800" b="1"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b="1" dirty="0">
                          <a:latin typeface="Fira Sans"/>
                          <a:ea typeface="Fira Sans"/>
                          <a:cs typeface="Fira Sans"/>
                          <a:sym typeface="Fira Sans"/>
                        </a:rPr>
                        <a:t>D1</a:t>
                      </a:r>
                      <a:endParaRPr sz="1800" b="1"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b="1" dirty="0">
                          <a:latin typeface="Fira Sans"/>
                          <a:ea typeface="Fira Sans"/>
                          <a:cs typeface="Fira Sans"/>
                          <a:sym typeface="Fira Sans"/>
                        </a:rPr>
                        <a:t>D0</a:t>
                      </a:r>
                      <a:endParaRPr sz="1800" b="1"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b="1" dirty="0" smtClean="0">
                          <a:latin typeface="Fira Sans"/>
                          <a:ea typeface="Fira Sans"/>
                          <a:cs typeface="Fira Sans"/>
                          <a:sym typeface="Fira Sans"/>
                        </a:rPr>
                        <a:t>O3</a:t>
                      </a:r>
                      <a:endParaRPr sz="1800" b="1" dirty="0">
                        <a:latin typeface="Fira Sans"/>
                        <a:ea typeface="Fira Sans"/>
                        <a:cs typeface="Fira Sans"/>
                        <a:sym typeface="Fira Sans"/>
                      </a:endParaRPr>
                    </a:p>
                  </a:txBody>
                  <a:tcPr marL="68569" marR="68569"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b="1">
                          <a:latin typeface="Fira Sans"/>
                          <a:ea typeface="Fira Sans"/>
                          <a:cs typeface="Fira Sans"/>
                          <a:sym typeface="Fira Sans"/>
                        </a:rPr>
                        <a:t>O2</a:t>
                      </a:r>
                      <a:endParaRPr sz="1800" b="1">
                        <a:latin typeface="Fira Sans"/>
                        <a:ea typeface="Fira Sans"/>
                        <a:cs typeface="Fira Sans"/>
                        <a:sym typeface="Fira Sans"/>
                      </a:endParaRPr>
                    </a:p>
                  </a:txBody>
                  <a:tcPr marL="68569" marR="68569"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b="1" dirty="0">
                          <a:latin typeface="Fira Sans"/>
                          <a:ea typeface="Fira Sans"/>
                          <a:cs typeface="Fira Sans"/>
                          <a:sym typeface="Fira Sans"/>
                        </a:rPr>
                        <a:t>O1</a:t>
                      </a:r>
                      <a:endParaRPr sz="1800" b="1"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b="1">
                          <a:latin typeface="Fira Sans"/>
                          <a:ea typeface="Fira Sans"/>
                          <a:cs typeface="Fira Sans"/>
                          <a:sym typeface="Fira Sans"/>
                        </a:rPr>
                        <a:t>O0</a:t>
                      </a:r>
                      <a:endParaRPr sz="1800" b="1">
                        <a:latin typeface="Fira Sans"/>
                        <a:ea typeface="Fira Sans"/>
                        <a:cs typeface="Fira Sans"/>
                        <a:sym typeface="Fira Sans"/>
                      </a:endParaRPr>
                    </a:p>
                  </a:txBody>
                  <a:tcPr marL="68569" marR="68569" marT="91425" marB="91425"/>
                </a:tc>
              </a:tr>
              <a:tr h="408045">
                <a:tc>
                  <a:txBody>
                    <a:bodyPr/>
                    <a:lstStyle/>
                    <a:p>
                      <a:pPr marL="0" lvl="0" indent="0" algn="ctr" rtl="0">
                        <a:spcBef>
                          <a:spcPts val="0"/>
                        </a:spcBef>
                        <a:spcAft>
                          <a:spcPts val="0"/>
                        </a:spcAft>
                        <a:buNone/>
                      </a:pPr>
                      <a:r>
                        <a:rPr lang="en-US" sz="1800" dirty="0" smtClean="0">
                          <a:latin typeface="Fira Sans"/>
                          <a:ea typeface="Fira Sans"/>
                          <a:cs typeface="Fira Sans"/>
                          <a:sym typeface="Fira Sans"/>
                        </a:rPr>
                        <a:t>0</a:t>
                      </a:r>
                      <a:endParaRPr sz="1800"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dirty="0" smtClean="0">
                          <a:latin typeface="Fira Sans"/>
                          <a:ea typeface="Fira Sans"/>
                          <a:cs typeface="Fira Sans"/>
                          <a:sym typeface="Fira Sans"/>
                        </a:rPr>
                        <a:t>X </a:t>
                      </a:r>
                      <a:endParaRPr sz="1800"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dirty="0" smtClean="0">
                          <a:latin typeface="Fira Sans"/>
                          <a:ea typeface="Fira Sans"/>
                          <a:cs typeface="Fira Sans"/>
                          <a:sym typeface="Fira Sans"/>
                        </a:rPr>
                        <a:t>X</a:t>
                      </a:r>
                      <a:endParaRPr sz="1800" dirty="0">
                        <a:latin typeface="Fira Sans"/>
                        <a:ea typeface="Fira Sans"/>
                        <a:cs typeface="Fira Sans"/>
                        <a:sym typeface="Fira Sans"/>
                      </a:endParaRPr>
                    </a:p>
                  </a:txBody>
                  <a:tcPr marL="68569" marR="68569" marT="91425" marB="91425">
                    <a:lnR w="9525" cap="flat" cmpd="sng" algn="ctr">
                      <a:solidFill>
                        <a:srgbClr val="9E9E9E"/>
                      </a:solidFill>
                      <a:prstDash val="solid"/>
                      <a:round/>
                      <a:headEnd type="none" w="sm" len="sm"/>
                      <a:tailEnd type="none" w="sm" len="sm"/>
                    </a:lnR>
                  </a:tcPr>
                </a:tc>
                <a:tc>
                  <a:txBody>
                    <a:bodyPr/>
                    <a:lstStyle/>
                    <a:p>
                      <a:pPr marL="0" marR="0" lvl="0" indent="0" algn="ctr" rtl="0">
                        <a:lnSpc>
                          <a:spcPct val="100000"/>
                        </a:lnSpc>
                        <a:spcBef>
                          <a:spcPts val="0"/>
                        </a:spcBef>
                        <a:spcAft>
                          <a:spcPts val="0"/>
                        </a:spcAft>
                        <a:buNone/>
                      </a:pPr>
                      <a:r>
                        <a:rPr lang="en-US" sz="1800" dirty="0" smtClean="0">
                          <a:latin typeface="Fira Sans"/>
                          <a:ea typeface="Fira Sans"/>
                          <a:cs typeface="Fira Sans"/>
                          <a:sym typeface="Fira Sans"/>
                        </a:rPr>
                        <a:t>0</a:t>
                      </a:r>
                      <a:endParaRPr sz="1800" dirty="0">
                        <a:latin typeface="Fira Sans"/>
                        <a:ea typeface="Fira Sans"/>
                        <a:cs typeface="Fira Sans"/>
                        <a:sym typeface="Fira Sans"/>
                      </a:endParaRPr>
                    </a:p>
                  </a:txBody>
                  <a:tcPr marL="68569" marR="68569"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dirty="0" smtClean="0">
                          <a:latin typeface="Fira Sans"/>
                          <a:ea typeface="Fira Sans"/>
                          <a:cs typeface="Fira Sans"/>
                          <a:sym typeface="Fira Sans"/>
                        </a:rPr>
                        <a:t>0</a:t>
                      </a:r>
                      <a:endParaRPr sz="1800" dirty="0">
                        <a:latin typeface="Fira Sans"/>
                        <a:ea typeface="Fira Sans"/>
                        <a:cs typeface="Fira Sans"/>
                        <a:sym typeface="Fira Sans"/>
                      </a:endParaRPr>
                    </a:p>
                  </a:txBody>
                  <a:tcPr marL="68569" marR="68569"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dirty="0" smtClean="0">
                          <a:latin typeface="Fira Sans"/>
                          <a:ea typeface="Fira Sans"/>
                          <a:cs typeface="Fira Sans"/>
                          <a:sym typeface="Fira Sans"/>
                        </a:rPr>
                        <a:t>0</a:t>
                      </a:r>
                      <a:endParaRPr sz="1800" dirty="0">
                        <a:latin typeface="Fira Sans"/>
                        <a:ea typeface="Fira Sans"/>
                        <a:cs typeface="Fira Sans"/>
                        <a:sym typeface="Fira Sans"/>
                      </a:endParaRPr>
                    </a:p>
                  </a:txBody>
                  <a:tcPr marL="68569" marR="68569" marT="91425" marB="91425">
                    <a:lnL w="9525" cap="flat" cmpd="sng" algn="ctr">
                      <a:solidFill>
                        <a:srgbClr val="9E9E9E"/>
                      </a:solidFill>
                      <a:prstDash val="solid"/>
                      <a:round/>
                      <a:headEnd type="none" w="sm" len="sm"/>
                      <a:tailEnd type="none" w="sm" len="sm"/>
                    </a:lnL>
                  </a:tcPr>
                </a:tc>
                <a:tc>
                  <a:txBody>
                    <a:bodyPr/>
                    <a:lstStyle/>
                    <a:p>
                      <a:pPr marL="0" marR="0" lvl="0" indent="0" algn="ctr" rtl="0">
                        <a:lnSpc>
                          <a:spcPct val="100000"/>
                        </a:lnSpc>
                        <a:spcBef>
                          <a:spcPts val="0"/>
                        </a:spcBef>
                        <a:spcAft>
                          <a:spcPts val="0"/>
                        </a:spcAft>
                        <a:buNone/>
                      </a:pPr>
                      <a:r>
                        <a:rPr lang="en-US" sz="1800" dirty="0" smtClean="0">
                          <a:latin typeface="Fira Sans"/>
                          <a:ea typeface="Fira Sans"/>
                          <a:cs typeface="Fira Sans"/>
                          <a:sym typeface="Fira Sans"/>
                        </a:rPr>
                        <a:t>0</a:t>
                      </a:r>
                      <a:endParaRPr sz="1800" dirty="0">
                        <a:latin typeface="Fira Sans"/>
                        <a:ea typeface="Fira Sans"/>
                        <a:cs typeface="Fira Sans"/>
                        <a:sym typeface="Fira Sans"/>
                      </a:endParaRPr>
                    </a:p>
                  </a:txBody>
                  <a:tcPr marL="68569" marR="68569" marT="91425" marB="91425"/>
                </a:tc>
              </a:tr>
              <a:tr h="408045">
                <a:tc>
                  <a:txBody>
                    <a:bodyPr/>
                    <a:lstStyle/>
                    <a:p>
                      <a:pPr marL="0" lvl="0" indent="0" algn="ctr" rtl="0">
                        <a:spcBef>
                          <a:spcPts val="0"/>
                        </a:spcBef>
                        <a:spcAft>
                          <a:spcPts val="0"/>
                        </a:spcAft>
                        <a:buNone/>
                      </a:pPr>
                      <a:r>
                        <a:rPr lang="en-US" sz="1800" dirty="0" smtClean="0">
                          <a:latin typeface="Fira Sans"/>
                          <a:ea typeface="Fira Sans"/>
                          <a:cs typeface="Fira Sans"/>
                          <a:sym typeface="Fira Sans"/>
                        </a:rPr>
                        <a:t>1</a:t>
                      </a:r>
                      <a:endParaRPr sz="1800"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dirty="0">
                          <a:latin typeface="Fira Sans"/>
                          <a:ea typeface="Fira Sans"/>
                          <a:cs typeface="Fira Sans"/>
                          <a:sym typeface="Fira Sans"/>
                        </a:rPr>
                        <a:t>0</a:t>
                      </a:r>
                      <a:endParaRPr sz="1800"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dirty="0">
                          <a:latin typeface="Fira Sans"/>
                          <a:ea typeface="Fira Sans"/>
                          <a:cs typeface="Fira Sans"/>
                          <a:sym typeface="Fira Sans"/>
                        </a:rPr>
                        <a:t>0</a:t>
                      </a:r>
                      <a:endParaRPr sz="1800" dirty="0">
                        <a:latin typeface="Fira Sans"/>
                        <a:ea typeface="Fira Sans"/>
                        <a:cs typeface="Fira Sans"/>
                        <a:sym typeface="Fira Sans"/>
                      </a:endParaRPr>
                    </a:p>
                  </a:txBody>
                  <a:tcPr marL="68569" marR="68569" marT="91425" marB="91425">
                    <a:lnR w="9525" cap="flat" cmpd="sng">
                      <a:solidFill>
                        <a:srgbClr val="9E9E9E"/>
                      </a:solidFill>
                      <a:prstDash val="solid"/>
                      <a:round/>
                      <a:headEnd type="none" w="sm" len="sm"/>
                      <a:tailEnd type="none" w="sm" len="sm"/>
                    </a:lnR>
                  </a:tcPr>
                </a:tc>
                <a:tc>
                  <a:txBody>
                    <a:bodyPr/>
                    <a:lstStyle/>
                    <a:p>
                      <a:pPr marL="0" marR="0" lvl="0" indent="0" algn="ctr" rtl="0">
                        <a:lnSpc>
                          <a:spcPct val="100000"/>
                        </a:lnSpc>
                        <a:spcBef>
                          <a:spcPts val="0"/>
                        </a:spcBef>
                        <a:spcAft>
                          <a:spcPts val="0"/>
                        </a:spcAft>
                        <a:buNone/>
                      </a:pPr>
                      <a:r>
                        <a:rPr lang="en-US" sz="1800" dirty="0" smtClean="0">
                          <a:latin typeface="Fira Sans"/>
                          <a:ea typeface="Fira Sans"/>
                          <a:cs typeface="Fira Sans"/>
                          <a:sym typeface="Fira Sans"/>
                        </a:rPr>
                        <a:t>0</a:t>
                      </a:r>
                      <a:endParaRPr sz="18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dirty="0" smtClean="0">
                          <a:latin typeface="Fira Sans"/>
                          <a:ea typeface="Fira Sans"/>
                          <a:cs typeface="Fira Sans"/>
                          <a:sym typeface="Fira Sans"/>
                        </a:rPr>
                        <a:t>0</a:t>
                      </a:r>
                      <a:endParaRPr sz="18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dirty="0" smtClean="0">
                          <a:latin typeface="Fira Sans"/>
                          <a:ea typeface="Fira Sans"/>
                          <a:cs typeface="Fira Sans"/>
                          <a:sym typeface="Fira Sans"/>
                        </a:rPr>
                        <a:t>0</a:t>
                      </a:r>
                      <a:endParaRPr sz="18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dirty="0" smtClean="0">
                          <a:latin typeface="Fira Sans"/>
                          <a:ea typeface="Fira Sans"/>
                          <a:cs typeface="Fira Sans"/>
                          <a:sym typeface="Fira Sans"/>
                        </a:rPr>
                        <a:t>1</a:t>
                      </a:r>
                      <a:endParaRPr sz="1800" dirty="0">
                        <a:latin typeface="Fira Sans"/>
                        <a:ea typeface="Fira Sans"/>
                        <a:cs typeface="Fira Sans"/>
                        <a:sym typeface="Fira Sans"/>
                      </a:endParaRPr>
                    </a:p>
                  </a:txBody>
                  <a:tcPr marL="68569" marR="68569" marT="91425" marB="91425">
                    <a:lnB w="9525" cap="flat" cmpd="sng">
                      <a:solidFill>
                        <a:srgbClr val="9E9E9E"/>
                      </a:solidFill>
                      <a:prstDash val="solid"/>
                      <a:round/>
                      <a:headEnd type="none" w="sm" len="sm"/>
                      <a:tailEnd type="none" w="sm" len="sm"/>
                    </a:lnB>
                  </a:tcPr>
                </a:tc>
              </a:tr>
              <a:tr h="408045">
                <a:tc>
                  <a:txBody>
                    <a:bodyPr/>
                    <a:lstStyle/>
                    <a:p>
                      <a:pPr marL="0" lvl="0" indent="0" algn="ctr" rtl="0">
                        <a:spcBef>
                          <a:spcPts val="0"/>
                        </a:spcBef>
                        <a:spcAft>
                          <a:spcPts val="0"/>
                        </a:spcAft>
                        <a:buNone/>
                      </a:pPr>
                      <a:r>
                        <a:rPr lang="en-US" sz="1800" dirty="0" smtClean="0">
                          <a:latin typeface="Fira Sans"/>
                          <a:ea typeface="Fira Sans"/>
                          <a:cs typeface="Fira Sans"/>
                          <a:sym typeface="Fira Sans"/>
                        </a:rPr>
                        <a:t>1</a:t>
                      </a:r>
                      <a:endParaRPr sz="1800"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dirty="0">
                          <a:latin typeface="Fira Sans"/>
                          <a:ea typeface="Fira Sans"/>
                          <a:cs typeface="Fira Sans"/>
                          <a:sym typeface="Fira Sans"/>
                        </a:rPr>
                        <a:t>0</a:t>
                      </a:r>
                      <a:endParaRPr sz="1800"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a:latin typeface="Fira Sans"/>
                          <a:ea typeface="Fira Sans"/>
                          <a:cs typeface="Fira Sans"/>
                          <a:sym typeface="Fira Sans"/>
                        </a:rPr>
                        <a:t>1</a:t>
                      </a:r>
                      <a:endParaRPr sz="1800">
                        <a:latin typeface="Fira Sans"/>
                        <a:ea typeface="Fira Sans"/>
                        <a:cs typeface="Fira Sans"/>
                        <a:sym typeface="Fira Sans"/>
                      </a:endParaRPr>
                    </a:p>
                  </a:txBody>
                  <a:tcPr marL="68569" marR="68569" marT="91425" marB="91425">
                    <a:lnR w="9525" cap="flat" cmpd="sng">
                      <a:solidFill>
                        <a:srgbClr val="9E9E9E"/>
                      </a:solidFill>
                      <a:prstDash val="solid"/>
                      <a:round/>
                      <a:headEnd type="none" w="sm" len="sm"/>
                      <a:tailEnd type="none" w="sm" len="sm"/>
                    </a:lnR>
                  </a:tcPr>
                </a:tc>
                <a:tc>
                  <a:txBody>
                    <a:bodyPr/>
                    <a:lstStyle/>
                    <a:p>
                      <a:pPr marL="0" marR="0" lvl="0" indent="0" algn="ctr" rtl="0">
                        <a:lnSpc>
                          <a:spcPct val="100000"/>
                        </a:lnSpc>
                        <a:spcBef>
                          <a:spcPts val="0"/>
                        </a:spcBef>
                        <a:spcAft>
                          <a:spcPts val="0"/>
                        </a:spcAft>
                        <a:buNone/>
                      </a:pPr>
                      <a:r>
                        <a:rPr lang="en-US" sz="1800" dirty="0" smtClean="0">
                          <a:latin typeface="Fira Sans"/>
                          <a:ea typeface="Fira Sans"/>
                          <a:cs typeface="Fira Sans"/>
                          <a:sym typeface="Fira Sans"/>
                        </a:rPr>
                        <a:t>0</a:t>
                      </a:r>
                      <a:endParaRPr sz="18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dirty="0" smtClean="0">
                          <a:latin typeface="Fira Sans"/>
                          <a:ea typeface="Fira Sans"/>
                          <a:cs typeface="Fira Sans"/>
                          <a:sym typeface="Fira Sans"/>
                        </a:rPr>
                        <a:t>0</a:t>
                      </a:r>
                      <a:endParaRPr sz="18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dirty="0" smtClean="0">
                          <a:latin typeface="Fira Sans"/>
                          <a:ea typeface="Fira Sans"/>
                          <a:cs typeface="Fira Sans"/>
                          <a:sym typeface="Fira Sans"/>
                        </a:rPr>
                        <a:t>1</a:t>
                      </a:r>
                      <a:endParaRPr sz="18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dirty="0" smtClean="0">
                          <a:latin typeface="Fira Sans"/>
                          <a:ea typeface="Fira Sans"/>
                          <a:cs typeface="Fira Sans"/>
                          <a:sym typeface="Fira Sans"/>
                        </a:rPr>
                        <a:t>0</a:t>
                      </a:r>
                      <a:endParaRPr sz="18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408045">
                <a:tc>
                  <a:txBody>
                    <a:bodyPr/>
                    <a:lstStyle/>
                    <a:p>
                      <a:pPr marL="0" lvl="0" indent="0" algn="ctr" rtl="0">
                        <a:spcBef>
                          <a:spcPts val="0"/>
                        </a:spcBef>
                        <a:spcAft>
                          <a:spcPts val="0"/>
                        </a:spcAft>
                        <a:buNone/>
                      </a:pPr>
                      <a:r>
                        <a:rPr lang="en-US" sz="1800" dirty="0" smtClean="0">
                          <a:latin typeface="Fira Sans"/>
                          <a:ea typeface="Fira Sans"/>
                          <a:cs typeface="Fira Sans"/>
                          <a:sym typeface="Fira Sans"/>
                        </a:rPr>
                        <a:t>1</a:t>
                      </a:r>
                      <a:endParaRPr sz="1800"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a:latin typeface="Fira Sans"/>
                          <a:ea typeface="Fira Sans"/>
                          <a:cs typeface="Fira Sans"/>
                          <a:sym typeface="Fira Sans"/>
                        </a:rPr>
                        <a:t>1</a:t>
                      </a:r>
                      <a:endParaRPr sz="18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a:latin typeface="Fira Sans"/>
                          <a:ea typeface="Fira Sans"/>
                          <a:cs typeface="Fira Sans"/>
                          <a:sym typeface="Fira Sans"/>
                        </a:rPr>
                        <a:t>0</a:t>
                      </a:r>
                      <a:endParaRPr sz="1800">
                        <a:latin typeface="Fira Sans"/>
                        <a:ea typeface="Fira Sans"/>
                        <a:cs typeface="Fira Sans"/>
                        <a:sym typeface="Fira Sans"/>
                      </a:endParaRPr>
                    </a:p>
                  </a:txBody>
                  <a:tcPr marL="68569" marR="68569" marT="91425" marB="91425">
                    <a:lnR w="9525" cap="flat" cmpd="sng">
                      <a:solidFill>
                        <a:srgbClr val="9E9E9E"/>
                      </a:solidFill>
                      <a:prstDash val="solid"/>
                      <a:round/>
                      <a:headEnd type="none" w="sm" len="sm"/>
                      <a:tailEnd type="none" w="sm" len="sm"/>
                    </a:lnR>
                  </a:tcPr>
                </a:tc>
                <a:tc>
                  <a:txBody>
                    <a:bodyPr/>
                    <a:lstStyle/>
                    <a:p>
                      <a:pPr marL="0" marR="0" lvl="0" indent="0" algn="ctr" rtl="0">
                        <a:lnSpc>
                          <a:spcPct val="100000"/>
                        </a:lnSpc>
                        <a:spcBef>
                          <a:spcPts val="0"/>
                        </a:spcBef>
                        <a:spcAft>
                          <a:spcPts val="0"/>
                        </a:spcAft>
                        <a:buNone/>
                      </a:pPr>
                      <a:r>
                        <a:rPr lang="en-US" sz="1800" dirty="0" smtClean="0">
                          <a:latin typeface="Fira Sans"/>
                          <a:ea typeface="Fira Sans"/>
                          <a:cs typeface="Fira Sans"/>
                          <a:sym typeface="Fira Sans"/>
                        </a:rPr>
                        <a:t>0</a:t>
                      </a:r>
                      <a:endParaRPr sz="18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dirty="0" smtClean="0">
                          <a:latin typeface="Fira Sans"/>
                          <a:ea typeface="Fira Sans"/>
                          <a:cs typeface="Fira Sans"/>
                          <a:sym typeface="Fira Sans"/>
                        </a:rPr>
                        <a:t>1</a:t>
                      </a:r>
                      <a:endParaRPr sz="18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dirty="0" smtClean="0">
                          <a:latin typeface="Fira Sans"/>
                          <a:ea typeface="Fira Sans"/>
                          <a:cs typeface="Fira Sans"/>
                          <a:sym typeface="Fira Sans"/>
                        </a:rPr>
                        <a:t>0</a:t>
                      </a:r>
                      <a:endParaRPr sz="18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dirty="0" smtClean="0">
                          <a:latin typeface="Fira Sans"/>
                          <a:ea typeface="Fira Sans"/>
                          <a:cs typeface="Fira Sans"/>
                          <a:sym typeface="Fira Sans"/>
                        </a:rPr>
                        <a:t>0</a:t>
                      </a:r>
                      <a:endParaRPr sz="18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408045">
                <a:tc>
                  <a:txBody>
                    <a:bodyPr/>
                    <a:lstStyle/>
                    <a:p>
                      <a:pPr marL="0" lvl="0" indent="0" algn="ctr" rtl="0">
                        <a:spcBef>
                          <a:spcPts val="0"/>
                        </a:spcBef>
                        <a:spcAft>
                          <a:spcPts val="0"/>
                        </a:spcAft>
                        <a:buNone/>
                      </a:pPr>
                      <a:r>
                        <a:rPr lang="en-US" sz="1800" dirty="0" smtClean="0">
                          <a:latin typeface="Fira Sans"/>
                          <a:ea typeface="Fira Sans"/>
                          <a:cs typeface="Fira Sans"/>
                          <a:sym typeface="Fira Sans"/>
                        </a:rPr>
                        <a:t>1</a:t>
                      </a:r>
                      <a:endParaRPr sz="1800"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dirty="0">
                          <a:latin typeface="Fira Sans"/>
                          <a:ea typeface="Fira Sans"/>
                          <a:cs typeface="Fira Sans"/>
                          <a:sym typeface="Fira Sans"/>
                        </a:rPr>
                        <a:t>1</a:t>
                      </a:r>
                      <a:endParaRPr sz="1800"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a:latin typeface="Fira Sans"/>
                          <a:ea typeface="Fira Sans"/>
                          <a:cs typeface="Fira Sans"/>
                          <a:sym typeface="Fira Sans"/>
                        </a:rPr>
                        <a:t>1</a:t>
                      </a:r>
                      <a:endParaRPr sz="1800">
                        <a:latin typeface="Fira Sans"/>
                        <a:ea typeface="Fira Sans"/>
                        <a:cs typeface="Fira Sans"/>
                        <a:sym typeface="Fira Sans"/>
                      </a:endParaRPr>
                    </a:p>
                  </a:txBody>
                  <a:tcPr marL="68569" marR="68569" marT="91425" marB="91425">
                    <a:lnR w="9525" cap="flat" cmpd="sng">
                      <a:solidFill>
                        <a:srgbClr val="9E9E9E"/>
                      </a:solidFill>
                      <a:prstDash val="solid"/>
                      <a:round/>
                      <a:headEnd type="none" w="sm" len="sm"/>
                      <a:tailEnd type="none" w="sm" len="sm"/>
                    </a:lnR>
                  </a:tcPr>
                </a:tc>
                <a:tc>
                  <a:txBody>
                    <a:bodyPr/>
                    <a:lstStyle/>
                    <a:p>
                      <a:pPr marL="0" marR="0" lvl="0" indent="0" algn="ctr" rtl="0">
                        <a:lnSpc>
                          <a:spcPct val="100000"/>
                        </a:lnSpc>
                        <a:spcBef>
                          <a:spcPts val="0"/>
                        </a:spcBef>
                        <a:spcAft>
                          <a:spcPts val="0"/>
                        </a:spcAft>
                        <a:buNone/>
                      </a:pPr>
                      <a:r>
                        <a:rPr lang="en-US" sz="1800" dirty="0" smtClean="0">
                          <a:latin typeface="Fira Sans"/>
                          <a:ea typeface="Fira Sans"/>
                          <a:cs typeface="Fira Sans"/>
                          <a:sym typeface="Fira Sans"/>
                        </a:rPr>
                        <a:t>1</a:t>
                      </a:r>
                      <a:endParaRPr sz="18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dirty="0" smtClean="0">
                          <a:latin typeface="Fira Sans"/>
                          <a:ea typeface="Fira Sans"/>
                          <a:cs typeface="Fira Sans"/>
                          <a:sym typeface="Fira Sans"/>
                        </a:rPr>
                        <a:t>0</a:t>
                      </a:r>
                      <a:endParaRPr sz="18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dirty="0" smtClean="0">
                          <a:latin typeface="Fira Sans"/>
                          <a:ea typeface="Fira Sans"/>
                          <a:cs typeface="Fira Sans"/>
                          <a:sym typeface="Fira Sans"/>
                        </a:rPr>
                        <a:t>0</a:t>
                      </a:r>
                      <a:endParaRPr sz="18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dirty="0" smtClean="0">
                          <a:latin typeface="Fira Sans"/>
                          <a:ea typeface="Fira Sans"/>
                          <a:cs typeface="Fira Sans"/>
                          <a:sym typeface="Fira Sans"/>
                        </a:rPr>
                        <a:t>0</a:t>
                      </a:r>
                      <a:endParaRPr sz="18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pic>
        <p:nvPicPr>
          <p:cNvPr id="3" name="Picture 2"/>
          <p:cNvPicPr>
            <a:picLocks noChangeAspect="1"/>
          </p:cNvPicPr>
          <p:nvPr/>
        </p:nvPicPr>
        <p:blipFill rotWithShape="1">
          <a:blip r:embed="rId7">
            <a:extLst>
              <a:ext uri="{28A0092B-C50C-407E-A947-70E740481C1C}">
                <a14:useLocalDpi xmlns:a14="http://schemas.microsoft.com/office/drawing/2010/main" val="0"/>
              </a:ext>
            </a:extLst>
          </a:blip>
          <a:srcRect l="24859" t="9338" r="23834" b="13722"/>
          <a:stretch/>
        </p:blipFill>
        <p:spPr>
          <a:xfrm>
            <a:off x="701875" y="2504418"/>
            <a:ext cx="4367943" cy="2927066"/>
          </a:xfrm>
          <a:prstGeom prst="rect">
            <a:avLst/>
          </a:prstGeom>
        </p:spPr>
      </p:pic>
    </p:spTree>
    <p:extLst>
      <p:ext uri="{BB962C8B-B14F-4D97-AF65-F5344CB8AC3E}">
        <p14:creationId xmlns:p14="http://schemas.microsoft.com/office/powerpoint/2010/main" val="296864168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7"/>
          <p:cNvSpPr txBox="1">
            <a:spLocks noGrp="1"/>
          </p:cNvSpPr>
          <p:nvPr>
            <p:ph type="title"/>
          </p:nvPr>
        </p:nvSpPr>
        <p:spPr>
          <a:xfrm>
            <a:off x="300791" y="191861"/>
            <a:ext cx="8546850" cy="721800"/>
          </a:xfrm>
          <a:prstGeom prst="rect">
            <a:avLst/>
          </a:prstGeom>
          <a:noFill/>
          <a:ln>
            <a:noFill/>
          </a:ln>
        </p:spPr>
        <p:txBody>
          <a:bodyPr spcFirstLastPara="1" wrap="square" lIns="91425" tIns="45700" rIns="91425" bIns="45700" anchor="ctr" anchorCtr="0">
            <a:noAutofit/>
          </a:bodyPr>
          <a:lstStyle/>
          <a:p>
            <a:pPr marL="457200" lvl="0" indent="0" algn="ctr" rtl="0">
              <a:lnSpc>
                <a:spcPct val="90000"/>
              </a:lnSpc>
              <a:spcBef>
                <a:spcPts val="0"/>
              </a:spcBef>
              <a:spcAft>
                <a:spcPts val="0"/>
              </a:spcAft>
              <a:buNone/>
            </a:pPr>
            <a:r>
              <a:rPr lang="en-US" sz="3600" dirty="0">
                <a:solidFill>
                  <a:srgbClr val="C00000"/>
                </a:solidFill>
                <a:latin typeface="Marcellus"/>
                <a:ea typeface="Marcellus"/>
                <a:cs typeface="Marcellus"/>
                <a:sym typeface="Marcellus"/>
              </a:rPr>
              <a:t>Decoder </a:t>
            </a:r>
            <a:r>
              <a:rPr lang="en-US" sz="3600" dirty="0" smtClean="0">
                <a:solidFill>
                  <a:srgbClr val="C00000"/>
                </a:solidFill>
                <a:latin typeface="Marcellus"/>
                <a:ea typeface="Marcellus"/>
                <a:cs typeface="Marcellus"/>
                <a:sym typeface="Marcellus"/>
              </a:rPr>
              <a:t>Tree</a:t>
            </a:r>
            <a:br>
              <a:rPr lang="en-US" sz="3600" dirty="0" smtClean="0">
                <a:solidFill>
                  <a:srgbClr val="C00000"/>
                </a:solidFill>
                <a:latin typeface="Marcellus"/>
                <a:ea typeface="Marcellus"/>
                <a:cs typeface="Marcellus"/>
                <a:sym typeface="Marcellus"/>
              </a:rPr>
            </a:br>
            <a:r>
              <a:rPr lang="en-US" sz="3600" dirty="0" smtClean="0">
                <a:solidFill>
                  <a:srgbClr val="C00000"/>
                </a:solidFill>
                <a:latin typeface="Marcellus"/>
                <a:ea typeface="Marcellus"/>
                <a:cs typeface="Marcellus"/>
                <a:sym typeface="Marcellus"/>
              </a:rPr>
              <a:t>3:8 decoder using 2:4</a:t>
            </a:r>
            <a:endParaRPr sz="3600" dirty="0"/>
          </a:p>
        </p:txBody>
      </p:sp>
      <p:pic>
        <p:nvPicPr>
          <p:cNvPr id="235" name="Google Shape;235;p27"/>
          <p:cNvPicPr preferRelativeResize="0"/>
          <p:nvPr/>
        </p:nvPicPr>
        <p:blipFill rotWithShape="1">
          <a:blip r:embed="rId3">
            <a:alphaModFix/>
          </a:blip>
          <a:srcRect/>
          <a:stretch/>
        </p:blipFill>
        <p:spPr>
          <a:xfrm rot="5400000">
            <a:off x="4362258" y="2097119"/>
            <a:ext cx="385984" cy="9177497"/>
          </a:xfrm>
          <a:prstGeom prst="rect">
            <a:avLst/>
          </a:prstGeom>
          <a:noFill/>
          <a:ln>
            <a:noFill/>
          </a:ln>
        </p:spPr>
      </p:pic>
      <p:pic>
        <p:nvPicPr>
          <p:cNvPr id="236" name="Google Shape;236;p27"/>
          <p:cNvPicPr preferRelativeResize="0"/>
          <p:nvPr/>
        </p:nvPicPr>
        <p:blipFill rotWithShape="1">
          <a:blip r:embed="rId4">
            <a:alphaModFix/>
          </a:blip>
          <a:srcRect/>
          <a:stretch/>
        </p:blipFill>
        <p:spPr>
          <a:xfrm rot="5400000">
            <a:off x="3378189" y="2920767"/>
            <a:ext cx="176409" cy="6999785"/>
          </a:xfrm>
          <a:prstGeom prst="rect">
            <a:avLst/>
          </a:prstGeom>
          <a:noFill/>
          <a:ln>
            <a:noFill/>
          </a:ln>
        </p:spPr>
      </p:pic>
      <p:pic>
        <p:nvPicPr>
          <p:cNvPr id="237" name="Google Shape;237;p27"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00" cy="721800"/>
          </a:xfrm>
          <a:prstGeom prst="rect">
            <a:avLst/>
          </a:prstGeom>
          <a:noFill/>
          <a:ln>
            <a:noFill/>
          </a:ln>
        </p:spPr>
      </p:pic>
      <p:pic>
        <p:nvPicPr>
          <p:cNvPr id="239" name="Google Shape;239;p27"/>
          <p:cNvPicPr preferRelativeResize="0"/>
          <p:nvPr/>
        </p:nvPicPr>
        <p:blipFill rotWithShape="1">
          <a:blip r:embed="rId6">
            <a:alphaModFix/>
          </a:blip>
          <a:srcRect l="28573" t="24427" r="12342" b="10742"/>
          <a:stretch/>
        </p:blipFill>
        <p:spPr>
          <a:xfrm>
            <a:off x="2047566" y="1207064"/>
            <a:ext cx="5402429" cy="4443875"/>
          </a:xfrm>
          <a:prstGeom prst="rect">
            <a:avLst/>
          </a:prstGeom>
          <a:noFill/>
          <a:ln>
            <a:noFill/>
          </a:ln>
        </p:spPr>
      </p:pic>
      <p:pic>
        <p:nvPicPr>
          <p:cNvPr id="8" name="Picture 7"/>
          <p:cNvPicPr/>
          <p:nvPr/>
        </p:nvPicPr>
        <p:blipFill>
          <a:blip r:embed="rId7">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Tree>
    <p:extLst>
      <p:ext uri="{BB962C8B-B14F-4D97-AF65-F5344CB8AC3E}">
        <p14:creationId xmlns:p14="http://schemas.microsoft.com/office/powerpoint/2010/main" val="229567331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281843" y="191854"/>
            <a:ext cx="8546813" cy="721750"/>
          </a:xfrm>
          <a:prstGeom prst="rect">
            <a:avLst/>
          </a:prstGeom>
          <a:noFill/>
          <a:ln>
            <a:noFill/>
          </a:ln>
        </p:spPr>
        <p:txBody>
          <a:bodyPr spcFirstLastPara="1" wrap="square" lIns="76790" tIns="38395" rIns="76790" bIns="38395" anchor="ctr" anchorCtr="0">
            <a:noAutofit/>
          </a:bodyPr>
          <a:lstStyle/>
          <a:p>
            <a:pPr marL="382270"/>
            <a:r>
              <a:rPr lang="en-US" sz="3000" b="1" dirty="0" smtClean="0">
                <a:solidFill>
                  <a:srgbClr val="C00000"/>
                </a:solidFill>
                <a:latin typeface="Marcellus" charset="0"/>
              </a:rPr>
              <a:t>IC 74138: 3:8 Decoder</a:t>
            </a:r>
            <a:endParaRPr sz="3000" b="1" dirty="0">
              <a:solidFill>
                <a:srgbClr val="C00000"/>
              </a:solidFill>
              <a:latin typeface="Marcellus" charset="0"/>
            </a:endParaRPr>
          </a:p>
        </p:txBody>
      </p:sp>
      <p:pic>
        <p:nvPicPr>
          <p:cNvPr id="45" name="Google Shape;45;p3"/>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46" name="Google Shape;46;p3"/>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47" name="Google Shape;47;p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sp>
        <p:nvSpPr>
          <p:cNvPr id="49" name="Google Shape;49;p3"/>
          <p:cNvSpPr txBox="1"/>
          <p:nvPr/>
        </p:nvSpPr>
        <p:spPr>
          <a:xfrm>
            <a:off x="668094" y="814938"/>
            <a:ext cx="2997188" cy="2839500"/>
          </a:xfrm>
          <a:prstGeom prst="rect">
            <a:avLst/>
          </a:prstGeom>
          <a:noFill/>
          <a:ln>
            <a:noFill/>
          </a:ln>
        </p:spPr>
        <p:txBody>
          <a:bodyPr spcFirstLastPara="1" wrap="square" lIns="76790" tIns="76790" rIns="76790" bIns="76790" anchor="t" anchorCtr="0">
            <a:noAutofit/>
          </a:bodyPr>
          <a:lstStyle/>
          <a:p>
            <a:pPr marL="320040" indent="320040" algn="just">
              <a:buClr>
                <a:srgbClr val="000000"/>
              </a:buClr>
              <a:buSzPts val="2900"/>
            </a:pPr>
            <a:endParaRPr sz="2000" b="1" dirty="0">
              <a:solidFill>
                <a:schemeClr val="dk1"/>
              </a:solidFill>
              <a:latin typeface="Fira Sans"/>
              <a:ea typeface="Fira Sans"/>
              <a:cs typeface="Fira Sans"/>
              <a:sym typeface="Fira Sans"/>
            </a:endParaRPr>
          </a:p>
          <a:p>
            <a:pPr marL="320040" indent="320040" algn="just">
              <a:buClr>
                <a:srgbClr val="000000"/>
              </a:buClr>
              <a:buSzPts val="2900"/>
            </a:pPr>
            <a:endParaRPr sz="2000" b="1" dirty="0">
              <a:solidFill>
                <a:schemeClr val="dk1"/>
              </a:solidFill>
              <a:latin typeface="Fira Sans"/>
              <a:ea typeface="Fira Sans"/>
              <a:cs typeface="Fira Sans"/>
              <a:sym typeface="Fira Sans"/>
            </a:endParaRPr>
          </a:p>
        </p:txBody>
      </p:sp>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1" y="5605573"/>
            <a:ext cx="1433886" cy="594811"/>
          </a:xfrm>
          <a:prstGeom prst="rect">
            <a:avLst/>
          </a:prstGeom>
        </p:spPr>
      </p:pic>
      <p:pic>
        <p:nvPicPr>
          <p:cNvPr id="6146" name="Picture 2" descr="IC 74138 pin diagram"/>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381" y="959219"/>
            <a:ext cx="4157393" cy="3137533"/>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IC 74138 Truth Tabl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80731" y="913604"/>
            <a:ext cx="4763269" cy="3600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075177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9"/>
          <p:cNvSpPr txBox="1">
            <a:spLocks noGrp="1"/>
          </p:cNvSpPr>
          <p:nvPr>
            <p:ph type="title"/>
          </p:nvPr>
        </p:nvSpPr>
        <p:spPr>
          <a:xfrm>
            <a:off x="300791" y="191861"/>
            <a:ext cx="8546850" cy="721800"/>
          </a:xfrm>
          <a:prstGeom prst="rect">
            <a:avLst/>
          </a:prstGeom>
          <a:noFill/>
          <a:ln>
            <a:noFill/>
          </a:ln>
        </p:spPr>
        <p:txBody>
          <a:bodyPr spcFirstLastPara="1" wrap="square" lIns="91425" tIns="45700" rIns="91425" bIns="45700" anchor="ctr" anchorCtr="0">
            <a:noAutofit/>
          </a:bodyPr>
          <a:lstStyle/>
          <a:p>
            <a:pPr marL="457200" lvl="0" indent="0" algn="ctr" rtl="0">
              <a:lnSpc>
                <a:spcPct val="90000"/>
              </a:lnSpc>
              <a:spcBef>
                <a:spcPts val="0"/>
              </a:spcBef>
              <a:spcAft>
                <a:spcPts val="0"/>
              </a:spcAft>
              <a:buNone/>
            </a:pPr>
            <a:r>
              <a:rPr lang="en-US" sz="3600">
                <a:solidFill>
                  <a:srgbClr val="C00000"/>
                </a:solidFill>
                <a:latin typeface="Marcellus"/>
                <a:ea typeface="Marcellus"/>
                <a:cs typeface="Marcellus"/>
                <a:sym typeface="Marcellus"/>
              </a:rPr>
              <a:t>Function Implementation using Multiplexer</a:t>
            </a:r>
            <a:endParaRPr sz="3600"/>
          </a:p>
        </p:txBody>
      </p:sp>
      <p:pic>
        <p:nvPicPr>
          <p:cNvPr id="255" name="Google Shape;255;p29"/>
          <p:cNvPicPr preferRelativeResize="0"/>
          <p:nvPr/>
        </p:nvPicPr>
        <p:blipFill rotWithShape="1">
          <a:blip r:embed="rId3">
            <a:alphaModFix/>
          </a:blip>
          <a:srcRect/>
          <a:stretch/>
        </p:blipFill>
        <p:spPr>
          <a:xfrm rot="5400000">
            <a:off x="4362258" y="2097119"/>
            <a:ext cx="385984" cy="9177497"/>
          </a:xfrm>
          <a:prstGeom prst="rect">
            <a:avLst/>
          </a:prstGeom>
          <a:noFill/>
          <a:ln>
            <a:noFill/>
          </a:ln>
        </p:spPr>
      </p:pic>
      <p:pic>
        <p:nvPicPr>
          <p:cNvPr id="256" name="Google Shape;256;p29"/>
          <p:cNvPicPr preferRelativeResize="0"/>
          <p:nvPr/>
        </p:nvPicPr>
        <p:blipFill rotWithShape="1">
          <a:blip r:embed="rId4">
            <a:alphaModFix/>
          </a:blip>
          <a:srcRect/>
          <a:stretch/>
        </p:blipFill>
        <p:spPr>
          <a:xfrm rot="5400000">
            <a:off x="3378189" y="2920767"/>
            <a:ext cx="176409" cy="6999785"/>
          </a:xfrm>
          <a:prstGeom prst="rect">
            <a:avLst/>
          </a:prstGeom>
          <a:noFill/>
          <a:ln>
            <a:noFill/>
          </a:ln>
        </p:spPr>
      </p:pic>
      <p:pic>
        <p:nvPicPr>
          <p:cNvPr id="257" name="Google Shape;257;p29"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00" cy="721800"/>
          </a:xfrm>
          <a:prstGeom prst="rect">
            <a:avLst/>
          </a:prstGeom>
          <a:noFill/>
          <a:ln>
            <a:noFill/>
          </a:ln>
        </p:spPr>
      </p:pic>
      <p:sp>
        <p:nvSpPr>
          <p:cNvPr id="259" name="Google Shape;259;p29"/>
          <p:cNvSpPr txBox="1"/>
          <p:nvPr/>
        </p:nvSpPr>
        <p:spPr>
          <a:xfrm>
            <a:off x="702675" y="809825"/>
            <a:ext cx="7738650" cy="455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2400" dirty="0">
                <a:solidFill>
                  <a:schemeClr val="dk1"/>
                </a:solidFill>
                <a:latin typeface="Fira Sans"/>
                <a:ea typeface="Fira Sans"/>
                <a:cs typeface="Fira Sans"/>
                <a:sym typeface="Fira Sans"/>
              </a:rPr>
              <a:t>F= </a:t>
            </a:r>
            <a:r>
              <a:rPr lang="en-US" sz="2400" dirty="0" err="1">
                <a:solidFill>
                  <a:schemeClr val="dk1"/>
                </a:solidFill>
                <a:latin typeface="Fira Sans"/>
                <a:ea typeface="Fira Sans"/>
                <a:cs typeface="Fira Sans"/>
                <a:sym typeface="Fira Sans"/>
              </a:rPr>
              <a:t>Σm</a:t>
            </a:r>
            <a:r>
              <a:rPr lang="en-US" sz="2400" dirty="0">
                <a:solidFill>
                  <a:schemeClr val="dk1"/>
                </a:solidFill>
                <a:latin typeface="Fira Sans"/>
                <a:ea typeface="Fira Sans"/>
                <a:cs typeface="Fira Sans"/>
                <a:sym typeface="Fira Sans"/>
              </a:rPr>
              <a:t>(0,1,2,5,7)								</a:t>
            </a:r>
            <a:endParaRPr sz="2400" dirty="0">
              <a:solidFill>
                <a:schemeClr val="dk1"/>
              </a:solidFill>
              <a:latin typeface="Fira Sans"/>
              <a:ea typeface="Fira Sans"/>
              <a:cs typeface="Fira Sans"/>
              <a:sym typeface="Fira Sans"/>
            </a:endParaRPr>
          </a:p>
          <a:p>
            <a:pPr marL="0" lvl="0" indent="0" algn="l" rtl="0">
              <a:spcBef>
                <a:spcPts val="1000"/>
              </a:spcBef>
              <a:spcAft>
                <a:spcPts val="0"/>
              </a:spcAft>
              <a:buNone/>
            </a:pPr>
            <a:endParaRPr sz="1600" dirty="0">
              <a:latin typeface="Fira Sans"/>
              <a:ea typeface="Fira Sans"/>
              <a:cs typeface="Fira Sans"/>
              <a:sym typeface="Fira Sans"/>
            </a:endParaRPr>
          </a:p>
        </p:txBody>
      </p:sp>
      <p:graphicFrame>
        <p:nvGraphicFramePr>
          <p:cNvPr id="260" name="Google Shape;260;p29"/>
          <p:cNvGraphicFramePr/>
          <p:nvPr>
            <p:extLst>
              <p:ext uri="{D42A27DB-BD31-4B8C-83A1-F6EECF244321}">
                <p14:modId xmlns:p14="http://schemas.microsoft.com/office/powerpoint/2010/main" val="1614912014"/>
              </p:ext>
            </p:extLst>
          </p:nvPr>
        </p:nvGraphicFramePr>
        <p:xfrm>
          <a:off x="967223" y="1412776"/>
          <a:ext cx="2507755" cy="4114530"/>
        </p:xfrm>
        <a:graphic>
          <a:graphicData uri="http://schemas.openxmlformats.org/drawingml/2006/table">
            <a:tbl>
              <a:tblPr>
                <a:noFill/>
              </a:tblPr>
              <a:tblGrid>
                <a:gridCol w="501551"/>
                <a:gridCol w="501551"/>
                <a:gridCol w="501551"/>
                <a:gridCol w="501551"/>
                <a:gridCol w="501551"/>
              </a:tblGrid>
              <a:tr h="440049">
                <a:tc>
                  <a:txBody>
                    <a:bodyPr/>
                    <a:lstStyle/>
                    <a:p>
                      <a:pPr marL="0" lvl="0" indent="0" algn="ctr" rtl="0">
                        <a:spcBef>
                          <a:spcPts val="0"/>
                        </a:spcBef>
                        <a:spcAft>
                          <a:spcPts val="0"/>
                        </a:spcAft>
                        <a:buNone/>
                      </a:pPr>
                      <a:r>
                        <a:rPr lang="en-US" sz="1800" b="1" dirty="0">
                          <a:latin typeface="Fira Sans"/>
                          <a:ea typeface="Fira Sans"/>
                          <a:cs typeface="Fira Sans"/>
                          <a:sym typeface="Fira Sans"/>
                        </a:rPr>
                        <a:t>A</a:t>
                      </a:r>
                      <a:endParaRPr sz="1800" b="1"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b="1" dirty="0">
                          <a:latin typeface="Fira Sans"/>
                          <a:ea typeface="Fira Sans"/>
                          <a:cs typeface="Fira Sans"/>
                          <a:sym typeface="Fira Sans"/>
                        </a:rPr>
                        <a:t>B</a:t>
                      </a:r>
                      <a:endParaRPr sz="1800" b="1"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b="1">
                          <a:latin typeface="Fira Sans"/>
                          <a:ea typeface="Fira Sans"/>
                          <a:cs typeface="Fira Sans"/>
                          <a:sym typeface="Fira Sans"/>
                        </a:rPr>
                        <a:t>C</a:t>
                      </a:r>
                      <a:endParaRPr sz="1800" b="1">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b="1" dirty="0">
                          <a:latin typeface="Fira Sans"/>
                          <a:ea typeface="Fira Sans"/>
                          <a:cs typeface="Fira Sans"/>
                          <a:sym typeface="Fira Sans"/>
                        </a:rPr>
                        <a:t>Y</a:t>
                      </a:r>
                      <a:endParaRPr sz="1800" b="1"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endParaRPr sz="1800" b="1">
                        <a:latin typeface="Fira Sans"/>
                        <a:ea typeface="Fira Sans"/>
                        <a:cs typeface="Fira Sans"/>
                        <a:sym typeface="Fira Sans"/>
                      </a:endParaRPr>
                    </a:p>
                  </a:txBody>
                  <a:tcPr marL="68569" marR="68569" marT="91425" marB="91425"/>
                </a:tc>
              </a:tr>
              <a:tr h="440049">
                <a:tc>
                  <a:txBody>
                    <a:bodyPr/>
                    <a:lstStyle/>
                    <a:p>
                      <a:pPr marL="0" lvl="0" indent="0" algn="ctr" rtl="0">
                        <a:spcBef>
                          <a:spcPts val="0"/>
                        </a:spcBef>
                        <a:spcAft>
                          <a:spcPts val="0"/>
                        </a:spcAft>
                        <a:buNone/>
                      </a:pPr>
                      <a:r>
                        <a:rPr lang="en-US" sz="1800">
                          <a:latin typeface="Fira Sans"/>
                          <a:ea typeface="Fira Sans"/>
                          <a:cs typeface="Fira Sans"/>
                          <a:sym typeface="Fira Sans"/>
                        </a:rPr>
                        <a:t>0</a:t>
                      </a:r>
                      <a:endParaRPr sz="18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dirty="0">
                          <a:latin typeface="Fira Sans"/>
                          <a:ea typeface="Fira Sans"/>
                          <a:cs typeface="Fira Sans"/>
                          <a:sym typeface="Fira Sans"/>
                        </a:rPr>
                        <a:t>0</a:t>
                      </a:r>
                      <a:endParaRPr sz="1800"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a:latin typeface="Fira Sans"/>
                          <a:ea typeface="Fira Sans"/>
                          <a:cs typeface="Fira Sans"/>
                          <a:sym typeface="Fira Sans"/>
                        </a:rPr>
                        <a:t>0</a:t>
                      </a:r>
                      <a:endParaRPr sz="18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a:latin typeface="Fira Sans"/>
                          <a:ea typeface="Fira Sans"/>
                          <a:cs typeface="Fira Sans"/>
                          <a:sym typeface="Fira Sans"/>
                        </a:rPr>
                        <a:t>1</a:t>
                      </a:r>
                      <a:endParaRPr sz="1800">
                        <a:latin typeface="Fira Sans"/>
                        <a:ea typeface="Fira Sans"/>
                        <a:cs typeface="Fira Sans"/>
                        <a:sym typeface="Fira Sans"/>
                      </a:endParaRPr>
                    </a:p>
                  </a:txBody>
                  <a:tcPr marL="68569" marR="68569" marT="91425" marB="91425"/>
                </a:tc>
                <a:tc rowSpan="2">
                  <a:txBody>
                    <a:bodyPr/>
                    <a:lstStyle/>
                    <a:p>
                      <a:pPr marL="0" lvl="0" indent="0" algn="ctr" rtl="0">
                        <a:spcBef>
                          <a:spcPts val="0"/>
                        </a:spcBef>
                        <a:spcAft>
                          <a:spcPts val="0"/>
                        </a:spcAft>
                        <a:buNone/>
                      </a:pPr>
                      <a:r>
                        <a:rPr lang="en-US" sz="1800">
                          <a:latin typeface="Fira Sans"/>
                          <a:ea typeface="Fira Sans"/>
                          <a:cs typeface="Fira Sans"/>
                          <a:sym typeface="Fira Sans"/>
                        </a:rPr>
                        <a:t>1</a:t>
                      </a:r>
                      <a:endParaRPr sz="1800">
                        <a:latin typeface="Fira Sans"/>
                        <a:ea typeface="Fira Sans"/>
                        <a:cs typeface="Fira Sans"/>
                        <a:sym typeface="Fira Sans"/>
                      </a:endParaRPr>
                    </a:p>
                  </a:txBody>
                  <a:tcPr marL="68569" marR="68569" marT="91425" marB="91425" anchor="ctr"/>
                </a:tc>
              </a:tr>
              <a:tr h="440049">
                <a:tc>
                  <a:txBody>
                    <a:bodyPr/>
                    <a:lstStyle/>
                    <a:p>
                      <a:pPr marL="0" lvl="0" indent="0" algn="ctr" rtl="0">
                        <a:spcBef>
                          <a:spcPts val="0"/>
                        </a:spcBef>
                        <a:spcAft>
                          <a:spcPts val="0"/>
                        </a:spcAft>
                        <a:buNone/>
                      </a:pPr>
                      <a:r>
                        <a:rPr lang="en-US" sz="1800">
                          <a:latin typeface="Fira Sans"/>
                          <a:ea typeface="Fira Sans"/>
                          <a:cs typeface="Fira Sans"/>
                          <a:sym typeface="Fira Sans"/>
                        </a:rPr>
                        <a:t>0</a:t>
                      </a:r>
                      <a:endParaRPr sz="18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a:latin typeface="Fira Sans"/>
                          <a:ea typeface="Fira Sans"/>
                          <a:cs typeface="Fira Sans"/>
                          <a:sym typeface="Fira Sans"/>
                        </a:rPr>
                        <a:t>0</a:t>
                      </a:r>
                      <a:endParaRPr sz="18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dirty="0">
                          <a:latin typeface="Fira Sans"/>
                          <a:ea typeface="Fira Sans"/>
                          <a:cs typeface="Fira Sans"/>
                          <a:sym typeface="Fira Sans"/>
                        </a:rPr>
                        <a:t>1</a:t>
                      </a:r>
                      <a:endParaRPr sz="1800"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a:latin typeface="Fira Sans"/>
                          <a:ea typeface="Fira Sans"/>
                          <a:cs typeface="Fira Sans"/>
                          <a:sym typeface="Fira Sans"/>
                        </a:rPr>
                        <a:t>1</a:t>
                      </a:r>
                      <a:endParaRPr sz="1800">
                        <a:latin typeface="Fira Sans"/>
                        <a:ea typeface="Fira Sans"/>
                        <a:cs typeface="Fira Sans"/>
                        <a:sym typeface="Fira Sans"/>
                      </a:endParaRPr>
                    </a:p>
                  </a:txBody>
                  <a:tcPr marL="68569" marR="68569" marT="91425" marB="91425"/>
                </a:tc>
                <a:tc vMerge="1">
                  <a:txBody>
                    <a:bodyPr/>
                    <a:lstStyle/>
                    <a:p>
                      <a:endParaRPr lang="en-US"/>
                    </a:p>
                  </a:txBody>
                  <a:tcPr/>
                </a:tc>
              </a:tr>
              <a:tr h="440049">
                <a:tc>
                  <a:txBody>
                    <a:bodyPr/>
                    <a:lstStyle/>
                    <a:p>
                      <a:pPr marL="0" lvl="0" indent="0" algn="ctr" rtl="0">
                        <a:spcBef>
                          <a:spcPts val="0"/>
                        </a:spcBef>
                        <a:spcAft>
                          <a:spcPts val="0"/>
                        </a:spcAft>
                        <a:buNone/>
                      </a:pPr>
                      <a:r>
                        <a:rPr lang="en-US" sz="1800">
                          <a:latin typeface="Fira Sans"/>
                          <a:ea typeface="Fira Sans"/>
                          <a:cs typeface="Fira Sans"/>
                          <a:sym typeface="Fira Sans"/>
                        </a:rPr>
                        <a:t>0</a:t>
                      </a:r>
                      <a:endParaRPr sz="18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a:latin typeface="Fira Sans"/>
                          <a:ea typeface="Fira Sans"/>
                          <a:cs typeface="Fira Sans"/>
                          <a:sym typeface="Fira Sans"/>
                        </a:rPr>
                        <a:t>1</a:t>
                      </a:r>
                      <a:endParaRPr sz="18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a:latin typeface="Fira Sans"/>
                          <a:ea typeface="Fira Sans"/>
                          <a:cs typeface="Fira Sans"/>
                          <a:sym typeface="Fira Sans"/>
                        </a:rPr>
                        <a:t>0</a:t>
                      </a:r>
                      <a:endParaRPr sz="18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dirty="0">
                          <a:latin typeface="Fira Sans"/>
                          <a:ea typeface="Fira Sans"/>
                          <a:cs typeface="Fira Sans"/>
                          <a:sym typeface="Fira Sans"/>
                        </a:rPr>
                        <a:t>1</a:t>
                      </a:r>
                      <a:endParaRPr sz="1800" dirty="0">
                        <a:latin typeface="Fira Sans"/>
                        <a:ea typeface="Fira Sans"/>
                        <a:cs typeface="Fira Sans"/>
                        <a:sym typeface="Fira Sans"/>
                      </a:endParaRPr>
                    </a:p>
                  </a:txBody>
                  <a:tcPr marL="68569" marR="68569" marT="91425" marB="91425"/>
                </a:tc>
                <a:tc rowSpan="2">
                  <a:txBody>
                    <a:bodyPr/>
                    <a:lstStyle/>
                    <a:p>
                      <a:pPr marL="0" lvl="0" indent="0" algn="ctr" rtl="0">
                        <a:spcBef>
                          <a:spcPts val="0"/>
                        </a:spcBef>
                        <a:spcAft>
                          <a:spcPts val="0"/>
                        </a:spcAft>
                        <a:buNone/>
                      </a:pPr>
                      <a:r>
                        <a:rPr lang="en-US" sz="1800">
                          <a:latin typeface="Fira Sans"/>
                          <a:ea typeface="Fira Sans"/>
                          <a:cs typeface="Fira Sans"/>
                          <a:sym typeface="Fira Sans"/>
                        </a:rPr>
                        <a:t>C’</a:t>
                      </a:r>
                      <a:endParaRPr sz="1800">
                        <a:latin typeface="Fira Sans"/>
                        <a:ea typeface="Fira Sans"/>
                        <a:cs typeface="Fira Sans"/>
                        <a:sym typeface="Fira Sans"/>
                      </a:endParaRPr>
                    </a:p>
                  </a:txBody>
                  <a:tcPr marL="68569" marR="68569" marT="91425" marB="91425" anchor="ctr"/>
                </a:tc>
              </a:tr>
              <a:tr h="440049">
                <a:tc>
                  <a:txBody>
                    <a:bodyPr/>
                    <a:lstStyle/>
                    <a:p>
                      <a:pPr marL="0" lvl="0" indent="0" algn="ctr" rtl="0">
                        <a:spcBef>
                          <a:spcPts val="0"/>
                        </a:spcBef>
                        <a:spcAft>
                          <a:spcPts val="0"/>
                        </a:spcAft>
                        <a:buNone/>
                      </a:pPr>
                      <a:r>
                        <a:rPr lang="en-US" sz="1800">
                          <a:latin typeface="Fira Sans"/>
                          <a:ea typeface="Fira Sans"/>
                          <a:cs typeface="Fira Sans"/>
                          <a:sym typeface="Fira Sans"/>
                        </a:rPr>
                        <a:t>0</a:t>
                      </a:r>
                      <a:endParaRPr sz="18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a:latin typeface="Fira Sans"/>
                          <a:ea typeface="Fira Sans"/>
                          <a:cs typeface="Fira Sans"/>
                          <a:sym typeface="Fira Sans"/>
                        </a:rPr>
                        <a:t>1</a:t>
                      </a:r>
                      <a:endParaRPr sz="18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a:latin typeface="Fira Sans"/>
                          <a:ea typeface="Fira Sans"/>
                          <a:cs typeface="Fira Sans"/>
                          <a:sym typeface="Fira Sans"/>
                        </a:rPr>
                        <a:t>1</a:t>
                      </a:r>
                      <a:endParaRPr sz="18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dirty="0">
                          <a:latin typeface="Fira Sans"/>
                          <a:ea typeface="Fira Sans"/>
                          <a:cs typeface="Fira Sans"/>
                          <a:sym typeface="Fira Sans"/>
                        </a:rPr>
                        <a:t>0</a:t>
                      </a:r>
                      <a:endParaRPr sz="1800" dirty="0">
                        <a:latin typeface="Fira Sans"/>
                        <a:ea typeface="Fira Sans"/>
                        <a:cs typeface="Fira Sans"/>
                        <a:sym typeface="Fira Sans"/>
                      </a:endParaRPr>
                    </a:p>
                  </a:txBody>
                  <a:tcPr marL="68569" marR="68569" marT="91425" marB="91425"/>
                </a:tc>
                <a:tc vMerge="1">
                  <a:txBody>
                    <a:bodyPr/>
                    <a:lstStyle/>
                    <a:p>
                      <a:endParaRPr lang="en-US"/>
                    </a:p>
                  </a:txBody>
                  <a:tcPr/>
                </a:tc>
              </a:tr>
              <a:tr h="440049">
                <a:tc>
                  <a:txBody>
                    <a:bodyPr/>
                    <a:lstStyle/>
                    <a:p>
                      <a:pPr marL="0" lvl="0" indent="0" algn="ctr" rtl="0">
                        <a:spcBef>
                          <a:spcPts val="0"/>
                        </a:spcBef>
                        <a:spcAft>
                          <a:spcPts val="0"/>
                        </a:spcAft>
                        <a:buNone/>
                      </a:pPr>
                      <a:r>
                        <a:rPr lang="en-US" sz="1800">
                          <a:latin typeface="Fira Sans"/>
                          <a:ea typeface="Fira Sans"/>
                          <a:cs typeface="Fira Sans"/>
                          <a:sym typeface="Fira Sans"/>
                        </a:rPr>
                        <a:t>1</a:t>
                      </a:r>
                      <a:endParaRPr sz="18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a:latin typeface="Fira Sans"/>
                          <a:ea typeface="Fira Sans"/>
                          <a:cs typeface="Fira Sans"/>
                          <a:sym typeface="Fira Sans"/>
                        </a:rPr>
                        <a:t>0</a:t>
                      </a:r>
                      <a:endParaRPr sz="18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a:latin typeface="Fira Sans"/>
                          <a:ea typeface="Fira Sans"/>
                          <a:cs typeface="Fira Sans"/>
                          <a:sym typeface="Fira Sans"/>
                        </a:rPr>
                        <a:t>0</a:t>
                      </a:r>
                      <a:endParaRPr sz="18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a:latin typeface="Fira Sans"/>
                          <a:ea typeface="Fira Sans"/>
                          <a:cs typeface="Fira Sans"/>
                          <a:sym typeface="Fira Sans"/>
                        </a:rPr>
                        <a:t>0</a:t>
                      </a:r>
                      <a:endParaRPr sz="1800">
                        <a:latin typeface="Fira Sans"/>
                        <a:ea typeface="Fira Sans"/>
                        <a:cs typeface="Fira Sans"/>
                        <a:sym typeface="Fira Sans"/>
                      </a:endParaRPr>
                    </a:p>
                  </a:txBody>
                  <a:tcPr marL="68569" marR="68569" marT="91425" marB="91425"/>
                </a:tc>
                <a:tc rowSpan="2">
                  <a:txBody>
                    <a:bodyPr/>
                    <a:lstStyle/>
                    <a:p>
                      <a:pPr marL="0" lvl="0" indent="0" algn="ctr" rtl="0">
                        <a:spcBef>
                          <a:spcPts val="0"/>
                        </a:spcBef>
                        <a:spcAft>
                          <a:spcPts val="0"/>
                        </a:spcAft>
                        <a:buNone/>
                      </a:pPr>
                      <a:r>
                        <a:rPr lang="en-US" sz="1800" dirty="0">
                          <a:latin typeface="Fira Sans"/>
                          <a:ea typeface="Fira Sans"/>
                          <a:cs typeface="Fira Sans"/>
                          <a:sym typeface="Fira Sans"/>
                        </a:rPr>
                        <a:t>C</a:t>
                      </a:r>
                      <a:endParaRPr sz="1800" dirty="0">
                        <a:latin typeface="Fira Sans"/>
                        <a:ea typeface="Fira Sans"/>
                        <a:cs typeface="Fira Sans"/>
                        <a:sym typeface="Fira Sans"/>
                      </a:endParaRPr>
                    </a:p>
                  </a:txBody>
                  <a:tcPr marL="68569" marR="68569" marT="91425" marB="91425" anchor="ctr"/>
                </a:tc>
              </a:tr>
              <a:tr h="440049">
                <a:tc>
                  <a:txBody>
                    <a:bodyPr/>
                    <a:lstStyle/>
                    <a:p>
                      <a:pPr marL="0" lvl="0" indent="0" algn="ctr" rtl="0">
                        <a:spcBef>
                          <a:spcPts val="0"/>
                        </a:spcBef>
                        <a:spcAft>
                          <a:spcPts val="0"/>
                        </a:spcAft>
                        <a:buNone/>
                      </a:pPr>
                      <a:r>
                        <a:rPr lang="en-US" sz="1800">
                          <a:latin typeface="Fira Sans"/>
                          <a:ea typeface="Fira Sans"/>
                          <a:cs typeface="Fira Sans"/>
                          <a:sym typeface="Fira Sans"/>
                        </a:rPr>
                        <a:t>1</a:t>
                      </a:r>
                      <a:endParaRPr sz="18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a:latin typeface="Fira Sans"/>
                          <a:ea typeface="Fira Sans"/>
                          <a:cs typeface="Fira Sans"/>
                          <a:sym typeface="Fira Sans"/>
                        </a:rPr>
                        <a:t>0</a:t>
                      </a:r>
                      <a:endParaRPr sz="18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a:latin typeface="Fira Sans"/>
                          <a:ea typeface="Fira Sans"/>
                          <a:cs typeface="Fira Sans"/>
                          <a:sym typeface="Fira Sans"/>
                        </a:rPr>
                        <a:t>1</a:t>
                      </a:r>
                      <a:endParaRPr sz="18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dirty="0">
                          <a:latin typeface="Fira Sans"/>
                          <a:ea typeface="Fira Sans"/>
                          <a:cs typeface="Fira Sans"/>
                          <a:sym typeface="Fira Sans"/>
                        </a:rPr>
                        <a:t>1</a:t>
                      </a:r>
                      <a:endParaRPr sz="1800" dirty="0">
                        <a:latin typeface="Fira Sans"/>
                        <a:ea typeface="Fira Sans"/>
                        <a:cs typeface="Fira Sans"/>
                        <a:sym typeface="Fira Sans"/>
                      </a:endParaRPr>
                    </a:p>
                  </a:txBody>
                  <a:tcPr marL="68569" marR="68569" marT="91425" marB="91425"/>
                </a:tc>
                <a:tc vMerge="1">
                  <a:txBody>
                    <a:bodyPr/>
                    <a:lstStyle/>
                    <a:p>
                      <a:endParaRPr lang="en-US"/>
                    </a:p>
                  </a:txBody>
                  <a:tcPr/>
                </a:tc>
              </a:tr>
              <a:tr h="440049">
                <a:tc>
                  <a:txBody>
                    <a:bodyPr/>
                    <a:lstStyle/>
                    <a:p>
                      <a:pPr marL="0" lvl="0" indent="0" algn="ctr" rtl="0">
                        <a:spcBef>
                          <a:spcPts val="0"/>
                        </a:spcBef>
                        <a:spcAft>
                          <a:spcPts val="0"/>
                        </a:spcAft>
                        <a:buNone/>
                      </a:pPr>
                      <a:r>
                        <a:rPr lang="en-US" sz="1800">
                          <a:latin typeface="Fira Sans"/>
                          <a:ea typeface="Fira Sans"/>
                          <a:cs typeface="Fira Sans"/>
                          <a:sym typeface="Fira Sans"/>
                        </a:rPr>
                        <a:t>1</a:t>
                      </a:r>
                      <a:endParaRPr sz="18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a:latin typeface="Fira Sans"/>
                          <a:ea typeface="Fira Sans"/>
                          <a:cs typeface="Fira Sans"/>
                          <a:sym typeface="Fira Sans"/>
                        </a:rPr>
                        <a:t>1</a:t>
                      </a:r>
                      <a:endParaRPr sz="18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a:latin typeface="Fira Sans"/>
                          <a:ea typeface="Fira Sans"/>
                          <a:cs typeface="Fira Sans"/>
                          <a:sym typeface="Fira Sans"/>
                        </a:rPr>
                        <a:t>0</a:t>
                      </a:r>
                      <a:endParaRPr sz="18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a:latin typeface="Fira Sans"/>
                          <a:ea typeface="Fira Sans"/>
                          <a:cs typeface="Fira Sans"/>
                          <a:sym typeface="Fira Sans"/>
                        </a:rPr>
                        <a:t>0</a:t>
                      </a:r>
                      <a:endParaRPr sz="1800">
                        <a:latin typeface="Fira Sans"/>
                        <a:ea typeface="Fira Sans"/>
                        <a:cs typeface="Fira Sans"/>
                        <a:sym typeface="Fira Sans"/>
                      </a:endParaRPr>
                    </a:p>
                  </a:txBody>
                  <a:tcPr marL="68569" marR="68569" marT="91425" marB="91425"/>
                </a:tc>
                <a:tc rowSpan="2">
                  <a:txBody>
                    <a:bodyPr/>
                    <a:lstStyle/>
                    <a:p>
                      <a:pPr marL="0" lvl="0" indent="0" algn="ctr" rtl="0">
                        <a:spcBef>
                          <a:spcPts val="0"/>
                        </a:spcBef>
                        <a:spcAft>
                          <a:spcPts val="0"/>
                        </a:spcAft>
                        <a:buNone/>
                      </a:pPr>
                      <a:r>
                        <a:rPr lang="en-US" sz="1800" dirty="0">
                          <a:latin typeface="Fira Sans"/>
                          <a:ea typeface="Fira Sans"/>
                          <a:cs typeface="Fira Sans"/>
                          <a:sym typeface="Fira Sans"/>
                        </a:rPr>
                        <a:t>C</a:t>
                      </a:r>
                      <a:endParaRPr sz="1800" dirty="0">
                        <a:latin typeface="Fira Sans"/>
                        <a:ea typeface="Fira Sans"/>
                        <a:cs typeface="Fira Sans"/>
                        <a:sym typeface="Fira Sans"/>
                      </a:endParaRPr>
                    </a:p>
                  </a:txBody>
                  <a:tcPr marL="68569" marR="68569" marT="91425" marB="91425" anchor="ctr"/>
                </a:tc>
              </a:tr>
              <a:tr h="440049">
                <a:tc>
                  <a:txBody>
                    <a:bodyPr/>
                    <a:lstStyle/>
                    <a:p>
                      <a:pPr marL="0" lvl="0" indent="0" algn="ctr" rtl="0">
                        <a:spcBef>
                          <a:spcPts val="0"/>
                        </a:spcBef>
                        <a:spcAft>
                          <a:spcPts val="0"/>
                        </a:spcAft>
                        <a:buNone/>
                      </a:pPr>
                      <a:r>
                        <a:rPr lang="en-US" sz="1800">
                          <a:latin typeface="Fira Sans"/>
                          <a:ea typeface="Fira Sans"/>
                          <a:cs typeface="Fira Sans"/>
                          <a:sym typeface="Fira Sans"/>
                        </a:rPr>
                        <a:t>1</a:t>
                      </a:r>
                      <a:endParaRPr sz="18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a:latin typeface="Fira Sans"/>
                          <a:ea typeface="Fira Sans"/>
                          <a:cs typeface="Fira Sans"/>
                          <a:sym typeface="Fira Sans"/>
                        </a:rPr>
                        <a:t>1</a:t>
                      </a:r>
                      <a:endParaRPr sz="18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a:latin typeface="Fira Sans"/>
                          <a:ea typeface="Fira Sans"/>
                          <a:cs typeface="Fira Sans"/>
                          <a:sym typeface="Fira Sans"/>
                        </a:rPr>
                        <a:t>1</a:t>
                      </a:r>
                      <a:endParaRPr sz="18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1800" dirty="0">
                          <a:latin typeface="Fira Sans"/>
                          <a:ea typeface="Fira Sans"/>
                          <a:cs typeface="Fira Sans"/>
                          <a:sym typeface="Fira Sans"/>
                        </a:rPr>
                        <a:t>1</a:t>
                      </a:r>
                      <a:endParaRPr sz="1800" dirty="0">
                        <a:latin typeface="Fira Sans"/>
                        <a:ea typeface="Fira Sans"/>
                        <a:cs typeface="Fira Sans"/>
                        <a:sym typeface="Fira Sans"/>
                      </a:endParaRPr>
                    </a:p>
                  </a:txBody>
                  <a:tcPr marL="68569" marR="68569" marT="91425" marB="91425"/>
                </a:tc>
                <a:tc vMerge="1">
                  <a:txBody>
                    <a:bodyPr/>
                    <a:lstStyle/>
                    <a:p>
                      <a:endParaRPr lang="en-US"/>
                    </a:p>
                  </a:txBody>
                  <a:tcPr/>
                </a:tc>
              </a:tr>
            </a:tbl>
          </a:graphicData>
        </a:graphic>
      </p:graphicFrame>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pic>
        <p:nvPicPr>
          <p:cNvPr id="2" name="Picture 1"/>
          <p:cNvPicPr>
            <a:picLocks noChangeAspect="1"/>
          </p:cNvPicPr>
          <p:nvPr/>
        </p:nvPicPr>
        <p:blipFill rotWithShape="1">
          <a:blip r:embed="rId7">
            <a:extLst>
              <a:ext uri="{28A0092B-C50C-407E-A947-70E740481C1C}">
                <a14:useLocalDpi xmlns:a14="http://schemas.microsoft.com/office/drawing/2010/main" val="0"/>
              </a:ext>
            </a:extLst>
          </a:blip>
          <a:srcRect l="29648" t="18673" r="29648" b="30977"/>
          <a:stretch/>
        </p:blipFill>
        <p:spPr>
          <a:xfrm>
            <a:off x="3540220" y="1484784"/>
            <a:ext cx="5080205" cy="2808312"/>
          </a:xfrm>
          <a:prstGeom prst="rect">
            <a:avLst/>
          </a:prstGeom>
        </p:spPr>
      </p:pic>
    </p:spTree>
    <p:extLst>
      <p:ext uri="{BB962C8B-B14F-4D97-AF65-F5344CB8AC3E}">
        <p14:creationId xmlns:p14="http://schemas.microsoft.com/office/powerpoint/2010/main" val="118510724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0"/>
          <p:cNvSpPr txBox="1">
            <a:spLocks noGrp="1"/>
          </p:cNvSpPr>
          <p:nvPr>
            <p:ph type="title"/>
          </p:nvPr>
        </p:nvSpPr>
        <p:spPr>
          <a:xfrm>
            <a:off x="323528" y="0"/>
            <a:ext cx="8735705" cy="721800"/>
          </a:xfrm>
          <a:prstGeom prst="rect">
            <a:avLst/>
          </a:prstGeom>
          <a:noFill/>
          <a:ln>
            <a:noFill/>
          </a:ln>
        </p:spPr>
        <p:txBody>
          <a:bodyPr spcFirstLastPara="1" wrap="square" lIns="91425" tIns="45700" rIns="91425" bIns="45700" anchor="ctr" anchorCtr="0">
            <a:noAutofit/>
          </a:bodyPr>
          <a:lstStyle/>
          <a:p>
            <a:pPr marL="457200" lvl="0" indent="0" algn="l" rtl="0">
              <a:lnSpc>
                <a:spcPct val="90000"/>
              </a:lnSpc>
              <a:spcBef>
                <a:spcPts val="0"/>
              </a:spcBef>
              <a:spcAft>
                <a:spcPts val="0"/>
              </a:spcAft>
              <a:buNone/>
            </a:pPr>
            <a:r>
              <a:rPr lang="en-US" sz="3400" dirty="0">
                <a:solidFill>
                  <a:srgbClr val="C00000"/>
                </a:solidFill>
                <a:latin typeface="Marcellus"/>
                <a:ea typeface="Marcellus"/>
                <a:cs typeface="Marcellus"/>
                <a:sym typeface="Marcellus"/>
              </a:rPr>
              <a:t>Function Implementation using Multiplexer</a:t>
            </a:r>
            <a:endParaRPr sz="3400" dirty="0"/>
          </a:p>
        </p:txBody>
      </p:sp>
      <p:pic>
        <p:nvPicPr>
          <p:cNvPr id="266" name="Google Shape;266;p30"/>
          <p:cNvPicPr preferRelativeResize="0"/>
          <p:nvPr/>
        </p:nvPicPr>
        <p:blipFill rotWithShape="1">
          <a:blip r:embed="rId3">
            <a:alphaModFix/>
          </a:blip>
          <a:srcRect/>
          <a:stretch/>
        </p:blipFill>
        <p:spPr>
          <a:xfrm rot="5400000">
            <a:off x="4362258" y="2097119"/>
            <a:ext cx="385984" cy="9177497"/>
          </a:xfrm>
          <a:prstGeom prst="rect">
            <a:avLst/>
          </a:prstGeom>
          <a:noFill/>
          <a:ln>
            <a:noFill/>
          </a:ln>
        </p:spPr>
      </p:pic>
      <p:pic>
        <p:nvPicPr>
          <p:cNvPr id="267" name="Google Shape;267;p30"/>
          <p:cNvPicPr preferRelativeResize="0"/>
          <p:nvPr/>
        </p:nvPicPr>
        <p:blipFill rotWithShape="1">
          <a:blip r:embed="rId4">
            <a:alphaModFix/>
          </a:blip>
          <a:srcRect/>
          <a:stretch/>
        </p:blipFill>
        <p:spPr>
          <a:xfrm rot="5400000">
            <a:off x="3378189" y="2920767"/>
            <a:ext cx="176409" cy="6999785"/>
          </a:xfrm>
          <a:prstGeom prst="rect">
            <a:avLst/>
          </a:prstGeom>
          <a:noFill/>
          <a:ln>
            <a:noFill/>
          </a:ln>
        </p:spPr>
      </p:pic>
      <p:pic>
        <p:nvPicPr>
          <p:cNvPr id="268" name="Google Shape;268;p30"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00" cy="721800"/>
          </a:xfrm>
          <a:prstGeom prst="rect">
            <a:avLst/>
          </a:prstGeom>
          <a:noFill/>
          <a:ln>
            <a:noFill/>
          </a:ln>
        </p:spPr>
      </p:pic>
      <p:sp>
        <p:nvSpPr>
          <p:cNvPr id="270" name="Google Shape;270;p30"/>
          <p:cNvSpPr txBox="1"/>
          <p:nvPr/>
        </p:nvSpPr>
        <p:spPr>
          <a:xfrm>
            <a:off x="108380" y="809900"/>
            <a:ext cx="3455508" cy="4550700"/>
          </a:xfrm>
          <a:prstGeom prst="rect">
            <a:avLst/>
          </a:prstGeom>
          <a:noFill/>
          <a:ln>
            <a:noFill/>
          </a:ln>
        </p:spPr>
        <p:txBody>
          <a:bodyPr spcFirstLastPara="1" wrap="square" lIns="91425" tIns="91425" rIns="91425" bIns="91425" anchor="t" anchorCtr="0">
            <a:noAutofit/>
          </a:bodyPr>
          <a:lstStyle/>
          <a:p>
            <a:pPr marL="0" lvl="0" indent="0" algn="l" rtl="0">
              <a:spcAft>
                <a:spcPts val="0"/>
              </a:spcAft>
              <a:buNone/>
            </a:pPr>
            <a:r>
              <a:rPr lang="en-US" sz="2400" b="1" dirty="0">
                <a:solidFill>
                  <a:schemeClr val="dk1"/>
                </a:solidFill>
                <a:latin typeface="Fira Sans"/>
                <a:ea typeface="Fira Sans"/>
                <a:cs typeface="Fira Sans"/>
                <a:sym typeface="Fira Sans"/>
              </a:rPr>
              <a:t>F= </a:t>
            </a:r>
            <a:r>
              <a:rPr lang="en-US" sz="2400" b="1" dirty="0" err="1">
                <a:solidFill>
                  <a:schemeClr val="dk1"/>
                </a:solidFill>
                <a:latin typeface="Fira Sans"/>
                <a:ea typeface="Fira Sans"/>
                <a:cs typeface="Fira Sans"/>
                <a:sym typeface="Fira Sans"/>
              </a:rPr>
              <a:t>Σm</a:t>
            </a:r>
            <a:r>
              <a:rPr lang="en-US" sz="2400" b="1" dirty="0">
                <a:solidFill>
                  <a:schemeClr val="dk1"/>
                </a:solidFill>
                <a:latin typeface="Fira Sans"/>
                <a:ea typeface="Fira Sans"/>
                <a:cs typeface="Fira Sans"/>
                <a:sym typeface="Fira Sans"/>
              </a:rPr>
              <a:t>(0,2,5,7,8,10,13,15) </a:t>
            </a:r>
            <a:endParaRPr sz="2400" b="1" dirty="0">
              <a:solidFill>
                <a:schemeClr val="dk1"/>
              </a:solidFill>
              <a:latin typeface="Fira Sans"/>
              <a:ea typeface="Fira Sans"/>
              <a:cs typeface="Fira Sans"/>
              <a:sym typeface="Fira Sans"/>
            </a:endParaRPr>
          </a:p>
          <a:p>
            <a:pPr marL="0" lvl="0" indent="0" algn="l" rtl="0">
              <a:spcAft>
                <a:spcPts val="0"/>
              </a:spcAft>
              <a:buNone/>
            </a:pPr>
            <a:r>
              <a:rPr lang="en-US" sz="2400" b="1" dirty="0">
                <a:solidFill>
                  <a:schemeClr val="dk1"/>
                </a:solidFill>
                <a:latin typeface="Fira Sans"/>
                <a:ea typeface="Fira Sans"/>
                <a:cs typeface="Fira Sans"/>
                <a:sym typeface="Fira Sans"/>
              </a:rPr>
              <a:t>Implement using </a:t>
            </a:r>
            <a:endParaRPr lang="en-US" sz="2400" b="1" dirty="0" smtClean="0">
              <a:solidFill>
                <a:schemeClr val="dk1"/>
              </a:solidFill>
              <a:latin typeface="Fira Sans"/>
              <a:ea typeface="Fira Sans"/>
              <a:cs typeface="Fira Sans"/>
              <a:sym typeface="Fira Sans"/>
            </a:endParaRPr>
          </a:p>
          <a:p>
            <a:pPr marL="0" lvl="0" indent="0" algn="l" rtl="0">
              <a:spcAft>
                <a:spcPts val="0"/>
              </a:spcAft>
              <a:buNone/>
            </a:pPr>
            <a:r>
              <a:rPr lang="en-US" sz="2400" b="1" dirty="0" smtClean="0">
                <a:solidFill>
                  <a:schemeClr val="dk1"/>
                </a:solidFill>
                <a:latin typeface="Fira Sans"/>
                <a:ea typeface="Fira Sans"/>
                <a:cs typeface="Fira Sans"/>
                <a:sym typeface="Fira Sans"/>
              </a:rPr>
              <a:t>8</a:t>
            </a:r>
            <a:r>
              <a:rPr lang="en-US" sz="2400" b="1" dirty="0">
                <a:solidFill>
                  <a:schemeClr val="dk1"/>
                </a:solidFill>
                <a:latin typeface="Fira Sans"/>
                <a:ea typeface="Fira Sans"/>
                <a:cs typeface="Fira Sans"/>
                <a:sym typeface="Fira Sans"/>
              </a:rPr>
              <a:t>: 1 mux</a:t>
            </a:r>
            <a:endParaRPr sz="2400" b="1" dirty="0">
              <a:solidFill>
                <a:schemeClr val="dk1"/>
              </a:solidFill>
              <a:latin typeface="Fira Sans"/>
              <a:ea typeface="Fira Sans"/>
              <a:cs typeface="Fira Sans"/>
              <a:sym typeface="Fira Sans"/>
            </a:endParaRPr>
          </a:p>
          <a:p>
            <a:pPr marL="0" lvl="0" indent="0" algn="l" rtl="0">
              <a:spcAft>
                <a:spcPts val="0"/>
              </a:spcAft>
              <a:buNone/>
            </a:pPr>
            <a:r>
              <a:rPr lang="en-US" sz="2400" b="1" dirty="0">
                <a:solidFill>
                  <a:schemeClr val="dk1"/>
                </a:solidFill>
                <a:latin typeface="Fira Sans"/>
                <a:ea typeface="Fira Sans"/>
                <a:cs typeface="Fira Sans"/>
                <a:sym typeface="Fira Sans"/>
              </a:rPr>
              <a:t>Implement using </a:t>
            </a:r>
            <a:endParaRPr lang="en-US" sz="2400" b="1" dirty="0" smtClean="0">
              <a:solidFill>
                <a:schemeClr val="dk1"/>
              </a:solidFill>
              <a:latin typeface="Fira Sans"/>
              <a:ea typeface="Fira Sans"/>
              <a:cs typeface="Fira Sans"/>
              <a:sym typeface="Fira Sans"/>
            </a:endParaRPr>
          </a:p>
          <a:p>
            <a:pPr marL="0" lvl="0" indent="0" algn="l" rtl="0">
              <a:spcAft>
                <a:spcPts val="0"/>
              </a:spcAft>
              <a:buNone/>
            </a:pPr>
            <a:r>
              <a:rPr lang="en-US" sz="2400" b="1" dirty="0" smtClean="0">
                <a:solidFill>
                  <a:schemeClr val="dk1"/>
                </a:solidFill>
                <a:latin typeface="Fira Sans"/>
                <a:ea typeface="Fira Sans"/>
                <a:cs typeface="Fira Sans"/>
                <a:sym typeface="Fira Sans"/>
              </a:rPr>
              <a:t>4:1 </a:t>
            </a:r>
            <a:r>
              <a:rPr lang="en-US" sz="2400" b="1" dirty="0">
                <a:solidFill>
                  <a:schemeClr val="dk1"/>
                </a:solidFill>
                <a:latin typeface="Fira Sans"/>
                <a:ea typeface="Fira Sans"/>
                <a:cs typeface="Fira Sans"/>
                <a:sym typeface="Fira Sans"/>
              </a:rPr>
              <a:t>mux</a:t>
            </a:r>
            <a:endParaRPr sz="2400" b="1" dirty="0">
              <a:solidFill>
                <a:schemeClr val="dk1"/>
              </a:solidFill>
              <a:latin typeface="Fira Sans"/>
              <a:ea typeface="Fira Sans"/>
              <a:cs typeface="Fira Sans"/>
              <a:sym typeface="Fira Sans"/>
            </a:endParaRPr>
          </a:p>
          <a:p>
            <a:pPr marL="0" lvl="0" indent="0" algn="l" rtl="0">
              <a:spcAft>
                <a:spcPts val="0"/>
              </a:spcAft>
              <a:buClr>
                <a:schemeClr val="dk1"/>
              </a:buClr>
              <a:buSzPts val="1100"/>
              <a:buFont typeface="Arial"/>
              <a:buNone/>
            </a:pPr>
            <a:endParaRPr sz="2400" b="1" dirty="0">
              <a:solidFill>
                <a:schemeClr val="dk1"/>
              </a:solidFill>
              <a:latin typeface="Fira Sans"/>
              <a:ea typeface="Fira Sans"/>
              <a:cs typeface="Fira Sans"/>
              <a:sym typeface="Fira Sans"/>
            </a:endParaRPr>
          </a:p>
          <a:p>
            <a:pPr marL="0" lvl="0" indent="0" algn="l" rtl="0">
              <a:spcAft>
                <a:spcPts val="0"/>
              </a:spcAft>
              <a:buNone/>
            </a:pPr>
            <a:r>
              <a:rPr lang="en-US" sz="2400" dirty="0">
                <a:solidFill>
                  <a:schemeClr val="dk1"/>
                </a:solidFill>
                <a:latin typeface="Fira Sans"/>
                <a:ea typeface="Fira Sans"/>
                <a:cs typeface="Fira Sans"/>
                <a:sym typeface="Fira Sans"/>
              </a:rPr>
              <a:t>Using 8:1 Mux </a:t>
            </a:r>
            <a:endParaRPr sz="2400" dirty="0">
              <a:solidFill>
                <a:schemeClr val="dk1"/>
              </a:solidFill>
              <a:latin typeface="Fira Sans"/>
              <a:ea typeface="Fira Sans"/>
              <a:cs typeface="Fira Sans"/>
              <a:sym typeface="Fira Sans"/>
            </a:endParaRPr>
          </a:p>
          <a:p>
            <a:pPr marL="0" lvl="0" indent="0" algn="l" rtl="0">
              <a:spcAft>
                <a:spcPts val="0"/>
              </a:spcAft>
              <a:buNone/>
            </a:pPr>
            <a:r>
              <a:rPr lang="en-US" sz="2400" dirty="0">
                <a:solidFill>
                  <a:schemeClr val="dk1"/>
                </a:solidFill>
                <a:latin typeface="Fira Sans"/>
                <a:ea typeface="Fira Sans"/>
                <a:cs typeface="Fira Sans"/>
                <a:sym typeface="Fira Sans"/>
              </a:rPr>
              <a:t>ABC are select Lines </a:t>
            </a:r>
            <a:endParaRPr sz="2400" dirty="0">
              <a:solidFill>
                <a:schemeClr val="dk1"/>
              </a:solidFill>
              <a:latin typeface="Fira Sans"/>
              <a:ea typeface="Fira Sans"/>
              <a:cs typeface="Fira Sans"/>
              <a:sym typeface="Fira Sans"/>
            </a:endParaRPr>
          </a:p>
          <a:p>
            <a:pPr marL="0" lvl="0" indent="0" algn="l" rtl="0">
              <a:spcBef>
                <a:spcPts val="0"/>
              </a:spcBef>
              <a:spcAft>
                <a:spcPts val="0"/>
              </a:spcAft>
              <a:buNone/>
            </a:pPr>
            <a:endParaRPr sz="2400" dirty="0">
              <a:solidFill>
                <a:schemeClr val="dk1"/>
              </a:solidFill>
              <a:latin typeface="Fira Sans"/>
              <a:ea typeface="Fira Sans"/>
              <a:cs typeface="Fira Sans"/>
              <a:sym typeface="Fira Sans"/>
            </a:endParaRPr>
          </a:p>
        </p:txBody>
      </p:sp>
      <p:graphicFrame>
        <p:nvGraphicFramePr>
          <p:cNvPr id="271" name="Google Shape;271;p30"/>
          <p:cNvGraphicFramePr/>
          <p:nvPr>
            <p:extLst>
              <p:ext uri="{D42A27DB-BD31-4B8C-83A1-F6EECF244321}">
                <p14:modId xmlns:p14="http://schemas.microsoft.com/office/powerpoint/2010/main" val="3707964834"/>
              </p:ext>
            </p:extLst>
          </p:nvPr>
        </p:nvGraphicFramePr>
        <p:xfrm>
          <a:off x="3707904" y="890825"/>
          <a:ext cx="2692914" cy="4388850"/>
        </p:xfrm>
        <a:graphic>
          <a:graphicData uri="http://schemas.openxmlformats.org/drawingml/2006/table">
            <a:tbl>
              <a:tblPr>
                <a:noFill/>
              </a:tblPr>
              <a:tblGrid>
                <a:gridCol w="448819"/>
                <a:gridCol w="448819"/>
                <a:gridCol w="448819"/>
                <a:gridCol w="448819"/>
                <a:gridCol w="448819"/>
                <a:gridCol w="448819"/>
              </a:tblGrid>
              <a:tr h="419450">
                <a:tc>
                  <a:txBody>
                    <a:bodyPr/>
                    <a:lstStyle/>
                    <a:p>
                      <a:pPr marL="0" lvl="0" indent="0" algn="ctr" rtl="0">
                        <a:spcBef>
                          <a:spcPts val="0"/>
                        </a:spcBef>
                        <a:spcAft>
                          <a:spcPts val="0"/>
                        </a:spcAft>
                        <a:buNone/>
                      </a:pPr>
                      <a:r>
                        <a:rPr lang="en-US" sz="2000" b="1" dirty="0">
                          <a:latin typeface="Fira Sans"/>
                          <a:ea typeface="Fira Sans"/>
                          <a:cs typeface="Fira Sans"/>
                          <a:sym typeface="Fira Sans"/>
                        </a:rPr>
                        <a:t>A</a:t>
                      </a:r>
                      <a:endParaRPr sz="2000" b="1"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000" b="1">
                          <a:latin typeface="Fira Sans"/>
                          <a:ea typeface="Fira Sans"/>
                          <a:cs typeface="Fira Sans"/>
                          <a:sym typeface="Fira Sans"/>
                        </a:rPr>
                        <a:t>B</a:t>
                      </a:r>
                      <a:endParaRPr sz="2000" b="1">
                        <a:latin typeface="Fira Sans"/>
                        <a:ea typeface="Fira Sans"/>
                        <a:cs typeface="Fira Sans"/>
                        <a:sym typeface="Fira Sans"/>
                      </a:endParaRPr>
                    </a:p>
                  </a:txBody>
                  <a:tcPr marL="68569" marR="68569"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C</a:t>
                      </a:r>
                      <a:endParaRPr sz="2000" b="1">
                        <a:latin typeface="Fira Sans"/>
                        <a:ea typeface="Fira Sans"/>
                        <a:cs typeface="Fira Sans"/>
                        <a:sym typeface="Fira Sans"/>
                      </a:endParaRPr>
                    </a:p>
                  </a:txBody>
                  <a:tcPr marL="68569" marR="68569"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D</a:t>
                      </a:r>
                      <a:endParaRPr sz="2000" b="1">
                        <a:latin typeface="Fira Sans"/>
                        <a:ea typeface="Fira Sans"/>
                        <a:cs typeface="Fira Sans"/>
                        <a:sym typeface="Fira Sans"/>
                      </a:endParaRPr>
                    </a:p>
                  </a:txBody>
                  <a:tcPr marL="68569" marR="68569"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F</a:t>
                      </a:r>
                      <a:endParaRPr sz="2000" b="1">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endParaRPr sz="2000" b="1" dirty="0">
                        <a:latin typeface="Fira Sans"/>
                        <a:ea typeface="Fira Sans"/>
                        <a:cs typeface="Fira Sans"/>
                        <a:sym typeface="Fira Sans"/>
                      </a:endParaRPr>
                    </a:p>
                  </a:txBody>
                  <a:tcPr marL="68569" marR="68569" marT="91425" marB="91425"/>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0</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dirty="0">
                          <a:latin typeface="Fira Sans"/>
                          <a:ea typeface="Fira Sans"/>
                          <a:cs typeface="Fira Sans"/>
                          <a:sym typeface="Fira Sans"/>
                        </a:rPr>
                        <a:t>0</a:t>
                      </a:r>
                      <a:endParaRPr sz="2000"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1</a:t>
                      </a:r>
                      <a:endParaRPr sz="2000" b="1">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tcPr>
                </a:tc>
                <a:tc rowSpan="2">
                  <a:txBody>
                    <a:bodyPr/>
                    <a:lstStyle/>
                    <a:p>
                      <a:pPr marL="0" marR="0" lvl="0" indent="0" algn="ctr" rtl="0">
                        <a:lnSpc>
                          <a:spcPct val="100000"/>
                        </a:lnSpc>
                        <a:spcBef>
                          <a:spcPts val="0"/>
                        </a:spcBef>
                        <a:spcAft>
                          <a:spcPts val="0"/>
                        </a:spcAft>
                        <a:buNone/>
                      </a:pPr>
                      <a:r>
                        <a:rPr lang="en-US" sz="2000" b="1">
                          <a:latin typeface="Fira Sans"/>
                          <a:ea typeface="Fira Sans"/>
                          <a:cs typeface="Fira Sans"/>
                          <a:sym typeface="Fira Sans"/>
                        </a:rPr>
                        <a:t>D’</a:t>
                      </a:r>
                      <a:endParaRPr sz="2000" b="1">
                        <a:latin typeface="Fira Sans"/>
                        <a:ea typeface="Fira Sans"/>
                        <a:cs typeface="Fira Sans"/>
                        <a:sym typeface="Fira Sans"/>
                      </a:endParaRPr>
                    </a:p>
                  </a:txBody>
                  <a:tcPr marL="68569" marR="68569" marT="91425" marB="91425" anchor="ct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0</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0</a:t>
                      </a:r>
                      <a:endParaRPr sz="2000" b="1">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tcPr>
                </a:tc>
                <a:tc vMerge="1">
                  <a:txBody>
                    <a:bodyPr/>
                    <a:lstStyle/>
                    <a:p>
                      <a:endParaRPr lang="en-US"/>
                    </a:p>
                  </a:txBody>
                  <a:tcP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0</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1</a:t>
                      </a:r>
                      <a:endParaRPr sz="2000" b="1">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tcPr>
                </a:tc>
                <a:tc rowSpan="2">
                  <a:txBody>
                    <a:bodyPr/>
                    <a:lstStyle/>
                    <a:p>
                      <a:pPr marL="0" marR="0" lvl="0" indent="0" algn="ctr" rtl="0">
                        <a:lnSpc>
                          <a:spcPct val="100000"/>
                        </a:lnSpc>
                        <a:spcBef>
                          <a:spcPts val="0"/>
                        </a:spcBef>
                        <a:spcAft>
                          <a:spcPts val="0"/>
                        </a:spcAft>
                        <a:buNone/>
                      </a:pPr>
                      <a:r>
                        <a:rPr lang="en-US" sz="2000" b="1">
                          <a:latin typeface="Fira Sans"/>
                          <a:ea typeface="Fira Sans"/>
                          <a:cs typeface="Fira Sans"/>
                          <a:sym typeface="Fira Sans"/>
                        </a:rPr>
                        <a:t>D’</a:t>
                      </a:r>
                      <a:endParaRPr sz="2000" b="1">
                        <a:latin typeface="Fira Sans"/>
                        <a:ea typeface="Fira Sans"/>
                        <a:cs typeface="Fira Sans"/>
                        <a:sym typeface="Fira Sans"/>
                      </a:endParaRPr>
                    </a:p>
                  </a:txBody>
                  <a:tcPr marL="68569" marR="68569" marT="91425" marB="91425" anchor="ct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0</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0</a:t>
                      </a:r>
                      <a:endParaRPr sz="2000" b="1">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tcPr>
                </a:tc>
                <a:tc vMerge="1">
                  <a:txBody>
                    <a:bodyPr/>
                    <a:lstStyle/>
                    <a:p>
                      <a:endParaRPr lang="en-US"/>
                    </a:p>
                  </a:txBody>
                  <a:tcP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0</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0</a:t>
                      </a:r>
                      <a:endParaRPr sz="2000" b="1">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tcPr>
                </a:tc>
                <a:tc rowSpan="2">
                  <a:txBody>
                    <a:bodyPr/>
                    <a:lstStyle/>
                    <a:p>
                      <a:pPr marL="0" marR="0" lvl="0" indent="0" algn="ctr" rtl="0">
                        <a:lnSpc>
                          <a:spcPct val="100000"/>
                        </a:lnSpc>
                        <a:spcBef>
                          <a:spcPts val="0"/>
                        </a:spcBef>
                        <a:spcAft>
                          <a:spcPts val="0"/>
                        </a:spcAft>
                        <a:buNone/>
                      </a:pPr>
                      <a:r>
                        <a:rPr lang="en-US" sz="2000" b="1">
                          <a:latin typeface="Fira Sans"/>
                          <a:ea typeface="Fira Sans"/>
                          <a:cs typeface="Fira Sans"/>
                          <a:sym typeface="Fira Sans"/>
                        </a:rPr>
                        <a:t>D</a:t>
                      </a:r>
                      <a:endParaRPr sz="2000" b="1">
                        <a:latin typeface="Fira Sans"/>
                        <a:ea typeface="Fira Sans"/>
                        <a:cs typeface="Fira Sans"/>
                        <a:sym typeface="Fira Sans"/>
                      </a:endParaRPr>
                    </a:p>
                  </a:txBody>
                  <a:tcPr marL="68569" marR="68569" marT="91425" marB="91425" anchor="ct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0</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1</a:t>
                      </a:r>
                      <a:endParaRPr sz="2000" b="1">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tcPr>
                </a:tc>
                <a:tc vMerge="1">
                  <a:txBody>
                    <a:bodyPr/>
                    <a:lstStyle/>
                    <a:p>
                      <a:endParaRPr lang="en-US"/>
                    </a:p>
                  </a:txBody>
                  <a:tcP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0</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0</a:t>
                      </a:r>
                      <a:endParaRPr sz="2000" b="1">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tcPr>
                </a:tc>
                <a:tc rowSpan="2">
                  <a:txBody>
                    <a:bodyPr/>
                    <a:lstStyle/>
                    <a:p>
                      <a:pPr marL="0" marR="0" lvl="0" indent="0" algn="ctr" rtl="0">
                        <a:lnSpc>
                          <a:spcPct val="100000"/>
                        </a:lnSpc>
                        <a:spcBef>
                          <a:spcPts val="0"/>
                        </a:spcBef>
                        <a:spcAft>
                          <a:spcPts val="0"/>
                        </a:spcAft>
                        <a:buNone/>
                      </a:pPr>
                      <a:r>
                        <a:rPr lang="en-US" sz="2000" b="1">
                          <a:latin typeface="Fira Sans"/>
                          <a:ea typeface="Fira Sans"/>
                          <a:cs typeface="Fira Sans"/>
                          <a:sym typeface="Fira Sans"/>
                        </a:rPr>
                        <a:t>D</a:t>
                      </a:r>
                      <a:endParaRPr sz="2000" b="1">
                        <a:latin typeface="Fira Sans"/>
                        <a:ea typeface="Fira Sans"/>
                        <a:cs typeface="Fira Sans"/>
                        <a:sym typeface="Fira Sans"/>
                      </a:endParaRPr>
                    </a:p>
                  </a:txBody>
                  <a:tcPr marL="68569" marR="68569" marT="91425" marB="91425" anchor="ct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0</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latin typeface="Fira Sans"/>
                          <a:ea typeface="Fira Sans"/>
                          <a:cs typeface="Fira Sans"/>
                          <a:sym typeface="Fira Sans"/>
                        </a:rPr>
                        <a:t>1</a:t>
                      </a:r>
                      <a:endParaRPr sz="2000" b="1"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tcPr>
                </a:tc>
                <a:tc vMerge="1">
                  <a:txBody>
                    <a:bodyPr/>
                    <a:lstStyle/>
                    <a:p>
                      <a:endParaRPr lang="en-US"/>
                    </a:p>
                  </a:txBody>
                  <a:tcPr/>
                </a:tc>
              </a:tr>
            </a:tbl>
          </a:graphicData>
        </a:graphic>
      </p:graphicFrame>
      <p:graphicFrame>
        <p:nvGraphicFramePr>
          <p:cNvPr id="272" name="Google Shape;272;p30"/>
          <p:cNvGraphicFramePr/>
          <p:nvPr>
            <p:extLst>
              <p:ext uri="{D42A27DB-BD31-4B8C-83A1-F6EECF244321}">
                <p14:modId xmlns:p14="http://schemas.microsoft.com/office/powerpoint/2010/main" val="2886432656"/>
              </p:ext>
            </p:extLst>
          </p:nvPr>
        </p:nvGraphicFramePr>
        <p:xfrm>
          <a:off x="6444208" y="890825"/>
          <a:ext cx="2589078" cy="4388850"/>
        </p:xfrm>
        <a:graphic>
          <a:graphicData uri="http://schemas.openxmlformats.org/drawingml/2006/table">
            <a:tbl>
              <a:tblPr>
                <a:noFill/>
              </a:tblPr>
              <a:tblGrid>
                <a:gridCol w="431513"/>
                <a:gridCol w="431513"/>
                <a:gridCol w="431513"/>
                <a:gridCol w="431513"/>
                <a:gridCol w="431513"/>
                <a:gridCol w="431513"/>
              </a:tblGrid>
              <a:tr h="419450">
                <a:tc>
                  <a:txBody>
                    <a:bodyPr/>
                    <a:lstStyle/>
                    <a:p>
                      <a:pPr marL="0" lvl="0" indent="0" algn="ctr" rtl="0">
                        <a:spcBef>
                          <a:spcPts val="0"/>
                        </a:spcBef>
                        <a:spcAft>
                          <a:spcPts val="0"/>
                        </a:spcAft>
                        <a:buNone/>
                      </a:pPr>
                      <a:r>
                        <a:rPr lang="en-US" sz="2000" b="1">
                          <a:latin typeface="Fira Sans"/>
                          <a:ea typeface="Fira Sans"/>
                          <a:cs typeface="Fira Sans"/>
                          <a:sym typeface="Fira Sans"/>
                        </a:rPr>
                        <a:t>A</a:t>
                      </a:r>
                      <a:endParaRPr sz="2000" b="1">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000" b="1">
                          <a:latin typeface="Fira Sans"/>
                          <a:ea typeface="Fira Sans"/>
                          <a:cs typeface="Fira Sans"/>
                          <a:sym typeface="Fira Sans"/>
                        </a:rPr>
                        <a:t>B</a:t>
                      </a:r>
                      <a:endParaRPr sz="2000" b="1">
                        <a:latin typeface="Fira Sans"/>
                        <a:ea typeface="Fira Sans"/>
                        <a:cs typeface="Fira Sans"/>
                        <a:sym typeface="Fira Sans"/>
                      </a:endParaRPr>
                    </a:p>
                  </a:txBody>
                  <a:tcPr marL="68569" marR="68569"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C</a:t>
                      </a:r>
                      <a:endParaRPr sz="2000" b="1">
                        <a:latin typeface="Fira Sans"/>
                        <a:ea typeface="Fira Sans"/>
                        <a:cs typeface="Fira Sans"/>
                        <a:sym typeface="Fira Sans"/>
                      </a:endParaRPr>
                    </a:p>
                  </a:txBody>
                  <a:tcPr marL="68569" marR="68569"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D</a:t>
                      </a:r>
                      <a:endParaRPr sz="2000" b="1">
                        <a:latin typeface="Fira Sans"/>
                        <a:ea typeface="Fira Sans"/>
                        <a:cs typeface="Fira Sans"/>
                        <a:sym typeface="Fira Sans"/>
                      </a:endParaRPr>
                    </a:p>
                  </a:txBody>
                  <a:tcPr marL="68569" marR="68569"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F</a:t>
                      </a:r>
                      <a:endParaRPr sz="2000" b="1">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endParaRPr sz="2000" b="1">
                        <a:latin typeface="Fira Sans"/>
                        <a:ea typeface="Fira Sans"/>
                        <a:cs typeface="Fira Sans"/>
                        <a:sym typeface="Fira Sans"/>
                      </a:endParaRPr>
                    </a:p>
                  </a:txBody>
                  <a:tcPr marL="68569" marR="68569" marT="91425" marB="91425"/>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1</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1</a:t>
                      </a:r>
                      <a:endParaRPr sz="2000" b="1">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tcPr>
                </a:tc>
                <a:tc rowSpan="2">
                  <a:txBody>
                    <a:bodyPr/>
                    <a:lstStyle/>
                    <a:p>
                      <a:pPr marL="0" marR="0" lvl="0" indent="0" algn="ctr" rtl="0">
                        <a:lnSpc>
                          <a:spcPct val="100000"/>
                        </a:lnSpc>
                        <a:spcBef>
                          <a:spcPts val="0"/>
                        </a:spcBef>
                        <a:spcAft>
                          <a:spcPts val="0"/>
                        </a:spcAft>
                        <a:buNone/>
                      </a:pPr>
                      <a:r>
                        <a:rPr lang="en-US" sz="2000" b="1">
                          <a:latin typeface="Fira Sans"/>
                          <a:ea typeface="Fira Sans"/>
                          <a:cs typeface="Fira Sans"/>
                          <a:sym typeface="Fira Sans"/>
                        </a:rPr>
                        <a:t>D’</a:t>
                      </a:r>
                      <a:endParaRPr sz="2000" b="1">
                        <a:latin typeface="Fira Sans"/>
                        <a:ea typeface="Fira Sans"/>
                        <a:cs typeface="Fira Sans"/>
                        <a:sym typeface="Fira Sans"/>
                      </a:endParaRPr>
                    </a:p>
                  </a:txBody>
                  <a:tcPr marL="68569" marR="68569" marT="91425" marB="91425" anchor="ct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1</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0</a:t>
                      </a:r>
                      <a:endParaRPr sz="2000" b="1">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tcPr>
                </a:tc>
                <a:tc vMerge="1">
                  <a:txBody>
                    <a:bodyPr/>
                    <a:lstStyle/>
                    <a:p>
                      <a:endParaRPr lang="en-US"/>
                    </a:p>
                  </a:txBody>
                  <a:tcP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1</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1</a:t>
                      </a:r>
                      <a:endParaRPr sz="2000" b="1">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tcPr>
                </a:tc>
                <a:tc rowSpan="2">
                  <a:txBody>
                    <a:bodyPr/>
                    <a:lstStyle/>
                    <a:p>
                      <a:pPr marL="0" marR="0" lvl="0" indent="0" algn="ctr" rtl="0">
                        <a:lnSpc>
                          <a:spcPct val="100000"/>
                        </a:lnSpc>
                        <a:spcBef>
                          <a:spcPts val="0"/>
                        </a:spcBef>
                        <a:spcAft>
                          <a:spcPts val="0"/>
                        </a:spcAft>
                        <a:buNone/>
                      </a:pPr>
                      <a:r>
                        <a:rPr lang="en-US" sz="2000" b="1">
                          <a:latin typeface="Fira Sans"/>
                          <a:ea typeface="Fira Sans"/>
                          <a:cs typeface="Fira Sans"/>
                          <a:sym typeface="Fira Sans"/>
                        </a:rPr>
                        <a:t>D’</a:t>
                      </a:r>
                      <a:endParaRPr sz="2000" b="1">
                        <a:latin typeface="Fira Sans"/>
                        <a:ea typeface="Fira Sans"/>
                        <a:cs typeface="Fira Sans"/>
                        <a:sym typeface="Fira Sans"/>
                      </a:endParaRPr>
                    </a:p>
                  </a:txBody>
                  <a:tcPr marL="68569" marR="68569" marT="91425" marB="91425" anchor="ct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1</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0</a:t>
                      </a:r>
                      <a:endParaRPr sz="2000" b="1">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tcPr>
                </a:tc>
                <a:tc vMerge="1">
                  <a:txBody>
                    <a:bodyPr/>
                    <a:lstStyle/>
                    <a:p>
                      <a:endParaRPr lang="en-US"/>
                    </a:p>
                  </a:txBody>
                  <a:tcP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1</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0</a:t>
                      </a:r>
                      <a:endParaRPr sz="2000" b="1">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tcPr>
                </a:tc>
                <a:tc rowSpan="2">
                  <a:txBody>
                    <a:bodyPr/>
                    <a:lstStyle/>
                    <a:p>
                      <a:pPr marL="0" marR="0" lvl="0" indent="0" algn="ctr" rtl="0">
                        <a:lnSpc>
                          <a:spcPct val="100000"/>
                        </a:lnSpc>
                        <a:spcBef>
                          <a:spcPts val="0"/>
                        </a:spcBef>
                        <a:spcAft>
                          <a:spcPts val="0"/>
                        </a:spcAft>
                        <a:buNone/>
                      </a:pPr>
                      <a:r>
                        <a:rPr lang="en-US" sz="2000" b="1">
                          <a:latin typeface="Fira Sans"/>
                          <a:ea typeface="Fira Sans"/>
                          <a:cs typeface="Fira Sans"/>
                          <a:sym typeface="Fira Sans"/>
                        </a:rPr>
                        <a:t>D</a:t>
                      </a:r>
                      <a:endParaRPr sz="2000" b="1">
                        <a:latin typeface="Fira Sans"/>
                        <a:ea typeface="Fira Sans"/>
                        <a:cs typeface="Fira Sans"/>
                        <a:sym typeface="Fira Sans"/>
                      </a:endParaRPr>
                    </a:p>
                  </a:txBody>
                  <a:tcPr marL="68569" marR="68569" marT="91425" marB="91425" anchor="ct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1</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1</a:t>
                      </a:r>
                      <a:endParaRPr sz="2000" b="1">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tcPr>
                </a:tc>
                <a:tc vMerge="1">
                  <a:txBody>
                    <a:bodyPr/>
                    <a:lstStyle/>
                    <a:p>
                      <a:endParaRPr lang="en-US"/>
                    </a:p>
                  </a:txBody>
                  <a:tcP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1</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0</a:t>
                      </a:r>
                      <a:endParaRPr sz="2000" b="1">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tcPr>
                </a:tc>
                <a:tc rowSpan="2">
                  <a:txBody>
                    <a:bodyPr/>
                    <a:lstStyle/>
                    <a:p>
                      <a:pPr marL="0" marR="0" lvl="0" indent="0" algn="ctr" rtl="0">
                        <a:lnSpc>
                          <a:spcPct val="100000"/>
                        </a:lnSpc>
                        <a:spcBef>
                          <a:spcPts val="0"/>
                        </a:spcBef>
                        <a:spcAft>
                          <a:spcPts val="0"/>
                        </a:spcAft>
                        <a:buNone/>
                      </a:pPr>
                      <a:r>
                        <a:rPr lang="en-US" sz="2000" b="1">
                          <a:latin typeface="Fira Sans"/>
                          <a:ea typeface="Fira Sans"/>
                          <a:cs typeface="Fira Sans"/>
                          <a:sym typeface="Fira Sans"/>
                        </a:rPr>
                        <a:t>D</a:t>
                      </a:r>
                      <a:endParaRPr sz="2000" b="1">
                        <a:latin typeface="Fira Sans"/>
                        <a:ea typeface="Fira Sans"/>
                        <a:cs typeface="Fira Sans"/>
                        <a:sym typeface="Fira Sans"/>
                      </a:endParaRPr>
                    </a:p>
                  </a:txBody>
                  <a:tcPr marL="68569" marR="68569" marT="91425" marB="91425" anchor="ct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1</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latin typeface="Fira Sans"/>
                          <a:ea typeface="Fira Sans"/>
                          <a:cs typeface="Fira Sans"/>
                          <a:sym typeface="Fira Sans"/>
                        </a:rPr>
                        <a:t>1</a:t>
                      </a:r>
                      <a:endParaRPr sz="2000" b="1"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tcPr>
                </a:tc>
                <a:tc vMerge="1">
                  <a:txBody>
                    <a:bodyPr/>
                    <a:lstStyle/>
                    <a:p>
                      <a:endParaRPr lang="en-US"/>
                    </a:p>
                  </a:txBody>
                  <a:tcPr/>
                </a:tc>
              </a:tr>
            </a:tbl>
          </a:graphicData>
        </a:graphic>
      </p:graphicFrame>
      <p:pic>
        <p:nvPicPr>
          <p:cNvPr id="10" name="Picture 9"/>
          <p:cNvPicPr/>
          <p:nvPr/>
        </p:nvPicPr>
        <p:blipFill>
          <a:blip r:embed="rId6">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Tree>
    <p:extLst>
      <p:ext uri="{BB962C8B-B14F-4D97-AF65-F5344CB8AC3E}">
        <p14:creationId xmlns:p14="http://schemas.microsoft.com/office/powerpoint/2010/main" val="147192633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1"/>
          <p:cNvSpPr txBox="1">
            <a:spLocks noGrp="1"/>
          </p:cNvSpPr>
          <p:nvPr>
            <p:ph type="title"/>
          </p:nvPr>
        </p:nvSpPr>
        <p:spPr>
          <a:xfrm>
            <a:off x="300791" y="191861"/>
            <a:ext cx="8546850" cy="721800"/>
          </a:xfrm>
          <a:prstGeom prst="rect">
            <a:avLst/>
          </a:prstGeom>
          <a:noFill/>
          <a:ln>
            <a:noFill/>
          </a:ln>
        </p:spPr>
        <p:txBody>
          <a:bodyPr spcFirstLastPara="1" wrap="square" lIns="91425" tIns="45700" rIns="91425" bIns="45700" anchor="ctr" anchorCtr="0">
            <a:noAutofit/>
          </a:bodyPr>
          <a:lstStyle/>
          <a:p>
            <a:pPr marL="457200" lvl="0" indent="0" algn="ctr" rtl="0">
              <a:lnSpc>
                <a:spcPct val="90000"/>
              </a:lnSpc>
              <a:spcBef>
                <a:spcPts val="0"/>
              </a:spcBef>
              <a:spcAft>
                <a:spcPts val="0"/>
              </a:spcAft>
              <a:buNone/>
            </a:pPr>
            <a:r>
              <a:rPr lang="en-US" sz="3600">
                <a:solidFill>
                  <a:srgbClr val="C00000"/>
                </a:solidFill>
                <a:latin typeface="Marcellus"/>
                <a:ea typeface="Marcellus"/>
                <a:cs typeface="Marcellus"/>
                <a:sym typeface="Marcellus"/>
              </a:rPr>
              <a:t>Function Implementation using Multiplexer</a:t>
            </a:r>
            <a:endParaRPr sz="3600"/>
          </a:p>
        </p:txBody>
      </p:sp>
      <p:pic>
        <p:nvPicPr>
          <p:cNvPr id="278" name="Google Shape;278;p31"/>
          <p:cNvPicPr preferRelativeResize="0"/>
          <p:nvPr/>
        </p:nvPicPr>
        <p:blipFill rotWithShape="1">
          <a:blip r:embed="rId3">
            <a:alphaModFix/>
          </a:blip>
          <a:srcRect/>
          <a:stretch/>
        </p:blipFill>
        <p:spPr>
          <a:xfrm rot="5400000">
            <a:off x="4362258" y="2097119"/>
            <a:ext cx="385984" cy="9177497"/>
          </a:xfrm>
          <a:prstGeom prst="rect">
            <a:avLst/>
          </a:prstGeom>
          <a:noFill/>
          <a:ln>
            <a:noFill/>
          </a:ln>
        </p:spPr>
      </p:pic>
      <p:pic>
        <p:nvPicPr>
          <p:cNvPr id="279" name="Google Shape;279;p31"/>
          <p:cNvPicPr preferRelativeResize="0"/>
          <p:nvPr/>
        </p:nvPicPr>
        <p:blipFill rotWithShape="1">
          <a:blip r:embed="rId4">
            <a:alphaModFix/>
          </a:blip>
          <a:srcRect/>
          <a:stretch/>
        </p:blipFill>
        <p:spPr>
          <a:xfrm rot="5400000">
            <a:off x="3378189" y="2920767"/>
            <a:ext cx="176409" cy="6999785"/>
          </a:xfrm>
          <a:prstGeom prst="rect">
            <a:avLst/>
          </a:prstGeom>
          <a:noFill/>
          <a:ln>
            <a:noFill/>
          </a:ln>
        </p:spPr>
      </p:pic>
      <p:pic>
        <p:nvPicPr>
          <p:cNvPr id="280" name="Google Shape;280;p31"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00" cy="721800"/>
          </a:xfrm>
          <a:prstGeom prst="rect">
            <a:avLst/>
          </a:prstGeom>
          <a:noFill/>
          <a:ln>
            <a:noFill/>
          </a:ln>
        </p:spPr>
      </p:pic>
      <p:sp>
        <p:nvSpPr>
          <p:cNvPr id="282" name="Google Shape;282;p31"/>
          <p:cNvSpPr txBox="1"/>
          <p:nvPr/>
        </p:nvSpPr>
        <p:spPr>
          <a:xfrm>
            <a:off x="702675" y="809825"/>
            <a:ext cx="3509285" cy="455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2400" b="1" dirty="0">
                <a:solidFill>
                  <a:schemeClr val="dk1"/>
                </a:solidFill>
                <a:latin typeface="Fira Sans"/>
                <a:ea typeface="Fira Sans"/>
                <a:cs typeface="Fira Sans"/>
                <a:sym typeface="Fira Sans"/>
              </a:rPr>
              <a:t>F= </a:t>
            </a:r>
            <a:r>
              <a:rPr lang="en-US" sz="2400" b="1" dirty="0" err="1">
                <a:solidFill>
                  <a:schemeClr val="dk1"/>
                </a:solidFill>
                <a:latin typeface="Fira Sans"/>
                <a:ea typeface="Fira Sans"/>
                <a:cs typeface="Fira Sans"/>
                <a:sym typeface="Fira Sans"/>
              </a:rPr>
              <a:t>Σm</a:t>
            </a:r>
            <a:r>
              <a:rPr lang="en-US" sz="2400" b="1" dirty="0">
                <a:solidFill>
                  <a:schemeClr val="dk1"/>
                </a:solidFill>
                <a:latin typeface="Fira Sans"/>
                <a:ea typeface="Fira Sans"/>
                <a:cs typeface="Fira Sans"/>
                <a:sym typeface="Fira Sans"/>
              </a:rPr>
              <a:t>(0,2,5,7,8,10,13,15) </a:t>
            </a:r>
            <a:endParaRPr sz="2400" b="1" dirty="0">
              <a:solidFill>
                <a:schemeClr val="dk1"/>
              </a:solidFill>
              <a:latin typeface="Fira Sans"/>
              <a:ea typeface="Fira Sans"/>
              <a:cs typeface="Fira Sans"/>
              <a:sym typeface="Fira Sans"/>
            </a:endParaRPr>
          </a:p>
          <a:p>
            <a:pPr marL="0" lvl="0" indent="0" algn="l" rtl="0">
              <a:spcBef>
                <a:spcPts val="1000"/>
              </a:spcBef>
              <a:spcAft>
                <a:spcPts val="0"/>
              </a:spcAft>
              <a:buNone/>
            </a:pPr>
            <a:r>
              <a:rPr lang="en-US" sz="2400" b="1" dirty="0" smtClean="0">
                <a:solidFill>
                  <a:schemeClr val="dk1"/>
                </a:solidFill>
                <a:latin typeface="Fira Sans"/>
                <a:ea typeface="Fira Sans"/>
                <a:cs typeface="Fira Sans"/>
                <a:sym typeface="Fira Sans"/>
              </a:rPr>
              <a:t>Implement </a:t>
            </a:r>
            <a:r>
              <a:rPr lang="en-US" sz="2400" b="1" dirty="0">
                <a:solidFill>
                  <a:schemeClr val="dk1"/>
                </a:solidFill>
                <a:latin typeface="Fira Sans"/>
                <a:ea typeface="Fira Sans"/>
                <a:cs typeface="Fira Sans"/>
                <a:sym typeface="Fira Sans"/>
              </a:rPr>
              <a:t>using 4:1 mux</a:t>
            </a:r>
            <a:endParaRPr sz="2400" b="1" dirty="0">
              <a:solidFill>
                <a:schemeClr val="dk1"/>
              </a:solidFill>
              <a:latin typeface="Fira Sans"/>
              <a:ea typeface="Fira Sans"/>
              <a:cs typeface="Fira Sans"/>
              <a:sym typeface="Fira Sans"/>
            </a:endParaRPr>
          </a:p>
          <a:p>
            <a:pPr marL="0" lvl="0" indent="0" algn="l" rtl="0">
              <a:spcBef>
                <a:spcPts val="1000"/>
              </a:spcBef>
              <a:spcAft>
                <a:spcPts val="0"/>
              </a:spcAft>
              <a:buNone/>
            </a:pPr>
            <a:endParaRPr sz="2400" b="1" dirty="0">
              <a:solidFill>
                <a:schemeClr val="dk1"/>
              </a:solidFill>
              <a:latin typeface="Fira Sans"/>
              <a:ea typeface="Fira Sans"/>
              <a:cs typeface="Fira Sans"/>
              <a:sym typeface="Fira Sans"/>
            </a:endParaRPr>
          </a:p>
          <a:p>
            <a:pPr marL="0" lvl="0" indent="0" algn="l" rtl="0">
              <a:spcBef>
                <a:spcPts val="1000"/>
              </a:spcBef>
              <a:spcAft>
                <a:spcPts val="0"/>
              </a:spcAft>
              <a:buClr>
                <a:schemeClr val="dk1"/>
              </a:buClr>
              <a:buSzPts val="1100"/>
              <a:buFont typeface="Arial"/>
              <a:buNone/>
            </a:pPr>
            <a:r>
              <a:rPr lang="en-US" sz="2400" b="1" dirty="0">
                <a:solidFill>
                  <a:schemeClr val="dk1"/>
                </a:solidFill>
                <a:latin typeface="Fira Sans"/>
                <a:ea typeface="Fira Sans"/>
                <a:cs typeface="Fira Sans"/>
                <a:sym typeface="Fira Sans"/>
              </a:rPr>
              <a:t>Use select Lines as AB </a:t>
            </a:r>
            <a:endParaRPr sz="2400" b="1" dirty="0">
              <a:solidFill>
                <a:schemeClr val="dk1"/>
              </a:solidFill>
              <a:latin typeface="Fira Sans"/>
              <a:ea typeface="Fira Sans"/>
              <a:cs typeface="Fira Sans"/>
              <a:sym typeface="Fira Sans"/>
            </a:endParaRPr>
          </a:p>
          <a:p>
            <a:pPr marL="0" lvl="0" indent="0" algn="l" rtl="0">
              <a:spcBef>
                <a:spcPts val="1000"/>
              </a:spcBef>
              <a:spcAft>
                <a:spcPts val="1000"/>
              </a:spcAft>
              <a:buClr>
                <a:schemeClr val="dk1"/>
              </a:buClr>
              <a:buSzPts val="1100"/>
              <a:buFont typeface="Arial"/>
              <a:buNone/>
            </a:pPr>
            <a:endParaRPr sz="2400" b="1" dirty="0">
              <a:solidFill>
                <a:schemeClr val="dk1"/>
              </a:solidFill>
              <a:latin typeface="Fira Sans"/>
              <a:ea typeface="Fira Sans"/>
              <a:cs typeface="Fira Sans"/>
              <a:sym typeface="Fira Sans"/>
            </a:endParaRPr>
          </a:p>
        </p:txBody>
      </p:sp>
      <p:graphicFrame>
        <p:nvGraphicFramePr>
          <p:cNvPr id="283" name="Google Shape;283;p31"/>
          <p:cNvGraphicFramePr/>
          <p:nvPr>
            <p:extLst>
              <p:ext uri="{D42A27DB-BD31-4B8C-83A1-F6EECF244321}">
                <p14:modId xmlns:p14="http://schemas.microsoft.com/office/powerpoint/2010/main" val="2500931609"/>
              </p:ext>
            </p:extLst>
          </p:nvPr>
        </p:nvGraphicFramePr>
        <p:xfrm>
          <a:off x="4860031" y="1530513"/>
          <a:ext cx="3888431" cy="3535500"/>
        </p:xfrm>
        <a:graphic>
          <a:graphicData uri="http://schemas.openxmlformats.org/drawingml/2006/table">
            <a:tbl>
              <a:tblPr>
                <a:noFill/>
              </a:tblPr>
              <a:tblGrid>
                <a:gridCol w="1145199"/>
                <a:gridCol w="731529"/>
                <a:gridCol w="670568"/>
                <a:gridCol w="670568"/>
                <a:gridCol w="670567"/>
              </a:tblGrid>
              <a:tr h="463650">
                <a:tc>
                  <a:txBody>
                    <a:bodyPr/>
                    <a:lstStyle/>
                    <a:p>
                      <a:pPr marL="0" lvl="0" indent="0" algn="ctr" rtl="0">
                        <a:spcBef>
                          <a:spcPts val="0"/>
                        </a:spcBef>
                        <a:spcAft>
                          <a:spcPts val="0"/>
                        </a:spcAft>
                        <a:buNone/>
                      </a:pPr>
                      <a:r>
                        <a:rPr lang="en-US" sz="2000" dirty="0" smtClean="0">
                          <a:latin typeface="Fira Sans"/>
                          <a:ea typeface="Fira Sans"/>
                          <a:cs typeface="Fira Sans"/>
                          <a:sym typeface="Fira Sans"/>
                        </a:rPr>
                        <a:t>AB / </a:t>
                      </a:r>
                      <a:endParaRPr sz="2000" dirty="0">
                        <a:latin typeface="Fira Sans"/>
                        <a:ea typeface="Fira Sans"/>
                        <a:cs typeface="Fira Sans"/>
                        <a:sym typeface="Fira Sans"/>
                      </a:endParaRPr>
                    </a:p>
                    <a:p>
                      <a:pPr marL="0" lvl="0" indent="0" algn="ctr" rtl="0">
                        <a:spcBef>
                          <a:spcPts val="0"/>
                        </a:spcBef>
                        <a:spcAft>
                          <a:spcPts val="0"/>
                        </a:spcAft>
                        <a:buNone/>
                      </a:pPr>
                      <a:r>
                        <a:rPr lang="en-US" sz="2000" dirty="0">
                          <a:latin typeface="Fira Sans"/>
                          <a:ea typeface="Fira Sans"/>
                          <a:cs typeface="Fira Sans"/>
                          <a:sym typeface="Fira Sans"/>
                        </a:rPr>
                        <a:t>CD</a:t>
                      </a:r>
                      <a:endParaRPr sz="2000"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400" dirty="0">
                          <a:latin typeface="Fira Sans"/>
                          <a:ea typeface="Fira Sans"/>
                          <a:cs typeface="Fira Sans"/>
                          <a:sym typeface="Fira Sans"/>
                        </a:rPr>
                        <a:t>00</a:t>
                      </a:r>
                      <a:endParaRPr sz="2400"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400">
                          <a:latin typeface="Fira Sans"/>
                          <a:ea typeface="Fira Sans"/>
                          <a:cs typeface="Fira Sans"/>
                          <a:sym typeface="Fira Sans"/>
                        </a:rPr>
                        <a:t>01</a:t>
                      </a:r>
                      <a:endParaRPr sz="24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400">
                          <a:latin typeface="Fira Sans"/>
                          <a:ea typeface="Fira Sans"/>
                          <a:cs typeface="Fira Sans"/>
                          <a:sym typeface="Fira Sans"/>
                        </a:rPr>
                        <a:t>10</a:t>
                      </a:r>
                      <a:endParaRPr sz="24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400">
                          <a:latin typeface="Fira Sans"/>
                          <a:ea typeface="Fira Sans"/>
                          <a:cs typeface="Fira Sans"/>
                          <a:sym typeface="Fira Sans"/>
                        </a:rPr>
                        <a:t>11</a:t>
                      </a:r>
                      <a:endParaRPr sz="2400">
                        <a:latin typeface="Fira Sans"/>
                        <a:ea typeface="Fira Sans"/>
                        <a:cs typeface="Fira Sans"/>
                        <a:sym typeface="Fira Sans"/>
                      </a:endParaRPr>
                    </a:p>
                  </a:txBody>
                  <a:tcPr marL="68569" marR="68569" marT="91425" marB="91425"/>
                </a:tc>
              </a:tr>
              <a:tr h="463650">
                <a:tc>
                  <a:txBody>
                    <a:bodyPr/>
                    <a:lstStyle/>
                    <a:p>
                      <a:pPr marL="0" lvl="0" indent="0" algn="ctr" rtl="0">
                        <a:spcBef>
                          <a:spcPts val="0"/>
                        </a:spcBef>
                        <a:spcAft>
                          <a:spcPts val="0"/>
                        </a:spcAft>
                        <a:buNone/>
                      </a:pPr>
                      <a:r>
                        <a:rPr lang="en-US" sz="2400">
                          <a:latin typeface="Fira Sans"/>
                          <a:ea typeface="Fira Sans"/>
                          <a:cs typeface="Fira Sans"/>
                          <a:sym typeface="Fira Sans"/>
                        </a:rPr>
                        <a:t>00</a:t>
                      </a:r>
                      <a:endParaRPr sz="24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400">
                          <a:latin typeface="Fira Sans"/>
                          <a:ea typeface="Fira Sans"/>
                          <a:cs typeface="Fira Sans"/>
                          <a:sym typeface="Fira Sans"/>
                        </a:rPr>
                        <a:t>1</a:t>
                      </a:r>
                      <a:endParaRPr sz="24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endParaRPr sz="24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400">
                          <a:latin typeface="Fira Sans"/>
                          <a:ea typeface="Fira Sans"/>
                          <a:cs typeface="Fira Sans"/>
                          <a:sym typeface="Fira Sans"/>
                        </a:rPr>
                        <a:t>1</a:t>
                      </a:r>
                      <a:endParaRPr sz="24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endParaRPr sz="2400">
                        <a:latin typeface="Fira Sans"/>
                        <a:ea typeface="Fira Sans"/>
                        <a:cs typeface="Fira Sans"/>
                        <a:sym typeface="Fira Sans"/>
                      </a:endParaRPr>
                    </a:p>
                  </a:txBody>
                  <a:tcPr marL="68569" marR="68569" marT="91425" marB="91425"/>
                </a:tc>
              </a:tr>
              <a:tr h="463650">
                <a:tc>
                  <a:txBody>
                    <a:bodyPr/>
                    <a:lstStyle/>
                    <a:p>
                      <a:pPr marL="0" lvl="0" indent="0" algn="ctr" rtl="0">
                        <a:spcBef>
                          <a:spcPts val="0"/>
                        </a:spcBef>
                        <a:spcAft>
                          <a:spcPts val="0"/>
                        </a:spcAft>
                        <a:buNone/>
                      </a:pPr>
                      <a:r>
                        <a:rPr lang="en-US" sz="2400" dirty="0">
                          <a:latin typeface="Fira Sans"/>
                          <a:ea typeface="Fira Sans"/>
                          <a:cs typeface="Fira Sans"/>
                          <a:sym typeface="Fira Sans"/>
                        </a:rPr>
                        <a:t>01</a:t>
                      </a:r>
                      <a:endParaRPr sz="2400"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endParaRPr sz="24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400">
                          <a:latin typeface="Fira Sans"/>
                          <a:ea typeface="Fira Sans"/>
                          <a:cs typeface="Fira Sans"/>
                          <a:sym typeface="Fira Sans"/>
                        </a:rPr>
                        <a:t>1</a:t>
                      </a:r>
                      <a:endParaRPr sz="24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endParaRPr sz="24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400">
                          <a:latin typeface="Fira Sans"/>
                          <a:ea typeface="Fira Sans"/>
                          <a:cs typeface="Fira Sans"/>
                          <a:sym typeface="Fira Sans"/>
                        </a:rPr>
                        <a:t>1</a:t>
                      </a:r>
                      <a:endParaRPr sz="2400">
                        <a:latin typeface="Fira Sans"/>
                        <a:ea typeface="Fira Sans"/>
                        <a:cs typeface="Fira Sans"/>
                        <a:sym typeface="Fira Sans"/>
                      </a:endParaRPr>
                    </a:p>
                  </a:txBody>
                  <a:tcPr marL="68569" marR="68569" marT="91425" marB="91425"/>
                </a:tc>
              </a:tr>
              <a:tr h="463650">
                <a:tc>
                  <a:txBody>
                    <a:bodyPr/>
                    <a:lstStyle/>
                    <a:p>
                      <a:pPr marL="0" lvl="0" indent="0" algn="ctr" rtl="0">
                        <a:spcBef>
                          <a:spcPts val="0"/>
                        </a:spcBef>
                        <a:spcAft>
                          <a:spcPts val="0"/>
                        </a:spcAft>
                        <a:buNone/>
                      </a:pPr>
                      <a:r>
                        <a:rPr lang="en-US" sz="2400">
                          <a:latin typeface="Fira Sans"/>
                          <a:ea typeface="Fira Sans"/>
                          <a:cs typeface="Fira Sans"/>
                          <a:sym typeface="Fira Sans"/>
                        </a:rPr>
                        <a:t>10</a:t>
                      </a:r>
                      <a:endParaRPr sz="24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400">
                          <a:latin typeface="Fira Sans"/>
                          <a:ea typeface="Fira Sans"/>
                          <a:cs typeface="Fira Sans"/>
                          <a:sym typeface="Fira Sans"/>
                        </a:rPr>
                        <a:t>1</a:t>
                      </a:r>
                      <a:endParaRPr sz="24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endParaRPr sz="24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400">
                          <a:latin typeface="Fira Sans"/>
                          <a:ea typeface="Fira Sans"/>
                          <a:cs typeface="Fira Sans"/>
                          <a:sym typeface="Fira Sans"/>
                        </a:rPr>
                        <a:t>1</a:t>
                      </a:r>
                      <a:endParaRPr sz="24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endParaRPr sz="2400">
                        <a:latin typeface="Fira Sans"/>
                        <a:ea typeface="Fira Sans"/>
                        <a:cs typeface="Fira Sans"/>
                        <a:sym typeface="Fira Sans"/>
                      </a:endParaRPr>
                    </a:p>
                  </a:txBody>
                  <a:tcPr marL="68569" marR="68569" marT="91425" marB="91425"/>
                </a:tc>
              </a:tr>
              <a:tr h="463650">
                <a:tc>
                  <a:txBody>
                    <a:bodyPr/>
                    <a:lstStyle/>
                    <a:p>
                      <a:pPr marL="0" lvl="0" indent="0" algn="ctr" rtl="0">
                        <a:spcBef>
                          <a:spcPts val="0"/>
                        </a:spcBef>
                        <a:spcAft>
                          <a:spcPts val="0"/>
                        </a:spcAft>
                        <a:buNone/>
                      </a:pPr>
                      <a:r>
                        <a:rPr lang="en-US" sz="2400">
                          <a:latin typeface="Fira Sans"/>
                          <a:ea typeface="Fira Sans"/>
                          <a:cs typeface="Fira Sans"/>
                          <a:sym typeface="Fira Sans"/>
                        </a:rPr>
                        <a:t>11</a:t>
                      </a:r>
                      <a:endParaRPr sz="24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endParaRPr sz="24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400">
                          <a:latin typeface="Fira Sans"/>
                          <a:ea typeface="Fira Sans"/>
                          <a:cs typeface="Fira Sans"/>
                          <a:sym typeface="Fira Sans"/>
                        </a:rPr>
                        <a:t>1</a:t>
                      </a:r>
                      <a:endParaRPr sz="24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endParaRPr sz="24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400">
                          <a:latin typeface="Fira Sans"/>
                          <a:ea typeface="Fira Sans"/>
                          <a:cs typeface="Fira Sans"/>
                          <a:sym typeface="Fira Sans"/>
                        </a:rPr>
                        <a:t>1</a:t>
                      </a:r>
                      <a:endParaRPr sz="2400">
                        <a:latin typeface="Fira Sans"/>
                        <a:ea typeface="Fira Sans"/>
                        <a:cs typeface="Fira Sans"/>
                        <a:sym typeface="Fira Sans"/>
                      </a:endParaRPr>
                    </a:p>
                  </a:txBody>
                  <a:tcPr marL="68569" marR="68569" marT="91425" marB="91425"/>
                </a:tc>
              </a:tr>
              <a:tr h="463650">
                <a:tc>
                  <a:txBody>
                    <a:bodyPr/>
                    <a:lstStyle/>
                    <a:p>
                      <a:pPr marL="0" lvl="0" indent="0" algn="ctr" rtl="0">
                        <a:spcBef>
                          <a:spcPts val="0"/>
                        </a:spcBef>
                        <a:spcAft>
                          <a:spcPts val="0"/>
                        </a:spcAft>
                        <a:buNone/>
                      </a:pPr>
                      <a:endParaRPr sz="240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400" b="1" dirty="0">
                          <a:latin typeface="Fira Sans"/>
                          <a:ea typeface="Fira Sans"/>
                          <a:cs typeface="Fira Sans"/>
                          <a:sym typeface="Fira Sans"/>
                        </a:rPr>
                        <a:t>D’</a:t>
                      </a:r>
                      <a:endParaRPr sz="2400" b="1"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400" b="1" kern="1200" dirty="0" smtClean="0">
                          <a:solidFill>
                            <a:schemeClr val="tx1"/>
                          </a:solidFill>
                          <a:latin typeface="Fira Sans"/>
                          <a:ea typeface="Fira Sans"/>
                          <a:cs typeface="Fira Sans"/>
                          <a:sym typeface="Fira Sans"/>
                        </a:rPr>
                        <a:t>D</a:t>
                      </a:r>
                      <a:endParaRPr sz="2400" b="1" kern="1200" dirty="0">
                        <a:solidFill>
                          <a:schemeClr val="tx1"/>
                        </a:solidFill>
                        <a:latin typeface="Fira Sans"/>
                        <a:ea typeface="Fira Sans"/>
                        <a:cs typeface="Fira Sans"/>
                      </a:endParaRPr>
                    </a:p>
                  </a:txBody>
                  <a:tcPr marL="68569" marR="68569" marT="91425" marB="91425"/>
                </a:tc>
                <a:tc>
                  <a:txBody>
                    <a:bodyPr/>
                    <a:lstStyle/>
                    <a:p>
                      <a:pPr marL="0" lvl="0" indent="0" algn="ctr" rtl="0">
                        <a:spcBef>
                          <a:spcPts val="0"/>
                        </a:spcBef>
                        <a:spcAft>
                          <a:spcPts val="0"/>
                        </a:spcAft>
                        <a:buNone/>
                      </a:pPr>
                      <a:r>
                        <a:rPr lang="en-US" sz="2400" b="1" dirty="0">
                          <a:latin typeface="Fira Sans"/>
                          <a:ea typeface="Fira Sans"/>
                          <a:cs typeface="Fira Sans"/>
                          <a:sym typeface="Fira Sans"/>
                        </a:rPr>
                        <a:t>D’</a:t>
                      </a:r>
                      <a:endParaRPr sz="2400" b="1"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400" b="1" kern="1200" dirty="0" smtClean="0">
                          <a:solidFill>
                            <a:schemeClr val="tx1"/>
                          </a:solidFill>
                          <a:latin typeface="Fira Sans"/>
                          <a:ea typeface="Fira Sans"/>
                          <a:cs typeface="Fira Sans"/>
                          <a:sym typeface="Fira Sans"/>
                        </a:rPr>
                        <a:t>D</a:t>
                      </a:r>
                      <a:endParaRPr sz="2400" b="1" kern="1200" dirty="0">
                        <a:solidFill>
                          <a:schemeClr val="tx1"/>
                        </a:solidFill>
                        <a:latin typeface="Fira Sans"/>
                        <a:ea typeface="Fira Sans"/>
                        <a:cs typeface="Fira Sans"/>
                      </a:endParaRPr>
                    </a:p>
                  </a:txBody>
                  <a:tcPr marL="68569" marR="68569" marT="91425" marB="91425"/>
                </a:tc>
              </a:tr>
            </a:tbl>
          </a:graphicData>
        </a:graphic>
      </p:graphicFrame>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0" y="5642501"/>
            <a:ext cx="2231371" cy="594811"/>
          </a:xfrm>
          <a:prstGeom prst="rect">
            <a:avLst/>
          </a:prstGeom>
        </p:spPr>
      </p:pic>
    </p:spTree>
    <p:extLst>
      <p:ext uri="{BB962C8B-B14F-4D97-AF65-F5344CB8AC3E}">
        <p14:creationId xmlns:p14="http://schemas.microsoft.com/office/powerpoint/2010/main" val="201705795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2"/>
          <p:cNvSpPr txBox="1">
            <a:spLocks noGrp="1"/>
          </p:cNvSpPr>
          <p:nvPr>
            <p:ph type="title"/>
          </p:nvPr>
        </p:nvSpPr>
        <p:spPr>
          <a:xfrm>
            <a:off x="300791" y="191861"/>
            <a:ext cx="8546850" cy="721800"/>
          </a:xfrm>
          <a:prstGeom prst="rect">
            <a:avLst/>
          </a:prstGeom>
          <a:noFill/>
          <a:ln>
            <a:noFill/>
          </a:ln>
        </p:spPr>
        <p:txBody>
          <a:bodyPr spcFirstLastPara="1" wrap="square" lIns="91425" tIns="45700" rIns="91425" bIns="45700" anchor="ctr" anchorCtr="0">
            <a:noAutofit/>
          </a:bodyPr>
          <a:lstStyle/>
          <a:p>
            <a:pPr marL="457200" lvl="0" indent="0" algn="ctr" rtl="0">
              <a:lnSpc>
                <a:spcPct val="90000"/>
              </a:lnSpc>
              <a:spcBef>
                <a:spcPts val="0"/>
              </a:spcBef>
              <a:spcAft>
                <a:spcPts val="0"/>
              </a:spcAft>
              <a:buNone/>
            </a:pPr>
            <a:r>
              <a:rPr lang="en-US" sz="3600">
                <a:solidFill>
                  <a:srgbClr val="C00000"/>
                </a:solidFill>
                <a:latin typeface="Marcellus"/>
                <a:ea typeface="Marcellus"/>
                <a:cs typeface="Marcellus"/>
                <a:sym typeface="Marcellus"/>
              </a:rPr>
              <a:t>Function Implementation using Multiplexer</a:t>
            </a:r>
            <a:endParaRPr sz="3600"/>
          </a:p>
        </p:txBody>
      </p:sp>
      <p:pic>
        <p:nvPicPr>
          <p:cNvPr id="289" name="Google Shape;289;p32"/>
          <p:cNvPicPr preferRelativeResize="0"/>
          <p:nvPr/>
        </p:nvPicPr>
        <p:blipFill rotWithShape="1">
          <a:blip r:embed="rId3">
            <a:alphaModFix/>
          </a:blip>
          <a:srcRect/>
          <a:stretch/>
        </p:blipFill>
        <p:spPr>
          <a:xfrm rot="5400000">
            <a:off x="4362258" y="2097119"/>
            <a:ext cx="385984" cy="9177497"/>
          </a:xfrm>
          <a:prstGeom prst="rect">
            <a:avLst/>
          </a:prstGeom>
          <a:noFill/>
          <a:ln>
            <a:noFill/>
          </a:ln>
        </p:spPr>
      </p:pic>
      <p:pic>
        <p:nvPicPr>
          <p:cNvPr id="290" name="Google Shape;290;p32"/>
          <p:cNvPicPr preferRelativeResize="0"/>
          <p:nvPr/>
        </p:nvPicPr>
        <p:blipFill rotWithShape="1">
          <a:blip r:embed="rId4">
            <a:alphaModFix/>
          </a:blip>
          <a:srcRect/>
          <a:stretch/>
        </p:blipFill>
        <p:spPr>
          <a:xfrm rot="5400000">
            <a:off x="3378189" y="2920767"/>
            <a:ext cx="176409" cy="6999785"/>
          </a:xfrm>
          <a:prstGeom prst="rect">
            <a:avLst/>
          </a:prstGeom>
          <a:noFill/>
          <a:ln>
            <a:noFill/>
          </a:ln>
        </p:spPr>
      </p:pic>
      <p:pic>
        <p:nvPicPr>
          <p:cNvPr id="291" name="Google Shape;291;p32"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00" cy="721800"/>
          </a:xfrm>
          <a:prstGeom prst="rect">
            <a:avLst/>
          </a:prstGeom>
          <a:noFill/>
          <a:ln>
            <a:noFill/>
          </a:ln>
        </p:spPr>
      </p:pic>
      <p:sp>
        <p:nvSpPr>
          <p:cNvPr id="293" name="Google Shape;293;p32"/>
          <p:cNvSpPr txBox="1"/>
          <p:nvPr/>
        </p:nvSpPr>
        <p:spPr>
          <a:xfrm>
            <a:off x="300788" y="809900"/>
            <a:ext cx="3047076" cy="455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solidFill>
                  <a:schemeClr val="dk1"/>
                </a:solidFill>
                <a:latin typeface="Fira Sans"/>
                <a:ea typeface="Fira Sans"/>
                <a:cs typeface="Fira Sans"/>
                <a:sym typeface="Fira Sans"/>
              </a:rPr>
              <a:t>F= </a:t>
            </a:r>
            <a:r>
              <a:rPr lang="en-US" sz="2400" b="1" dirty="0" err="1">
                <a:solidFill>
                  <a:schemeClr val="dk1"/>
                </a:solidFill>
                <a:latin typeface="Fira Sans"/>
                <a:ea typeface="Fira Sans"/>
                <a:cs typeface="Fira Sans"/>
                <a:sym typeface="Fira Sans"/>
              </a:rPr>
              <a:t>Σm</a:t>
            </a:r>
            <a:r>
              <a:rPr lang="en-US" sz="2400" b="1" dirty="0">
                <a:solidFill>
                  <a:schemeClr val="dk1"/>
                </a:solidFill>
                <a:latin typeface="Fira Sans"/>
                <a:ea typeface="Fira Sans"/>
                <a:cs typeface="Fira Sans"/>
                <a:sym typeface="Fira Sans"/>
              </a:rPr>
              <a:t>(0,1,4,6,8,10,12,15) </a:t>
            </a:r>
            <a:endParaRPr sz="2400" b="1" dirty="0">
              <a:solidFill>
                <a:schemeClr val="dk1"/>
              </a:solidFill>
              <a:latin typeface="Fira Sans"/>
              <a:ea typeface="Fira Sans"/>
              <a:cs typeface="Fira Sans"/>
              <a:sym typeface="Fira Sans"/>
            </a:endParaRPr>
          </a:p>
          <a:p>
            <a:pPr marL="0" lvl="0" indent="0" algn="l" rtl="0">
              <a:spcBef>
                <a:spcPts val="1000"/>
              </a:spcBef>
              <a:spcAft>
                <a:spcPts val="0"/>
              </a:spcAft>
              <a:buNone/>
            </a:pPr>
            <a:r>
              <a:rPr lang="en-US" sz="2400" b="1" dirty="0">
                <a:solidFill>
                  <a:schemeClr val="dk1"/>
                </a:solidFill>
                <a:latin typeface="Fira Sans"/>
                <a:ea typeface="Fira Sans"/>
                <a:cs typeface="Fira Sans"/>
                <a:sym typeface="Fira Sans"/>
              </a:rPr>
              <a:t>Implement using 8: 1 mux</a:t>
            </a:r>
            <a:endParaRPr sz="2400" b="1" dirty="0">
              <a:solidFill>
                <a:schemeClr val="dk1"/>
              </a:solidFill>
              <a:latin typeface="Fira Sans"/>
              <a:ea typeface="Fira Sans"/>
              <a:cs typeface="Fira Sans"/>
              <a:sym typeface="Fira Sans"/>
            </a:endParaRPr>
          </a:p>
          <a:p>
            <a:pPr marL="0" lvl="0" indent="0" algn="l" rtl="0">
              <a:spcBef>
                <a:spcPts val="1000"/>
              </a:spcBef>
              <a:spcAft>
                <a:spcPts val="0"/>
              </a:spcAft>
              <a:buNone/>
            </a:pPr>
            <a:r>
              <a:rPr lang="en-US" sz="2400" b="1" dirty="0">
                <a:solidFill>
                  <a:schemeClr val="dk1"/>
                </a:solidFill>
                <a:latin typeface="Fira Sans"/>
                <a:ea typeface="Fira Sans"/>
                <a:cs typeface="Fira Sans"/>
                <a:sym typeface="Fira Sans"/>
              </a:rPr>
              <a:t>Implement using 4:1 mux</a:t>
            </a:r>
            <a:endParaRPr sz="2400" b="1" dirty="0">
              <a:solidFill>
                <a:schemeClr val="dk1"/>
              </a:solidFill>
              <a:latin typeface="Fira Sans"/>
              <a:ea typeface="Fira Sans"/>
              <a:cs typeface="Fira Sans"/>
              <a:sym typeface="Fira Sans"/>
            </a:endParaRPr>
          </a:p>
          <a:p>
            <a:pPr marL="0" lvl="0" indent="0" algn="l" rtl="0">
              <a:spcBef>
                <a:spcPts val="1000"/>
              </a:spcBef>
              <a:spcAft>
                <a:spcPts val="0"/>
              </a:spcAft>
              <a:buNone/>
            </a:pPr>
            <a:endParaRPr sz="2400" b="1" dirty="0">
              <a:solidFill>
                <a:schemeClr val="dk1"/>
              </a:solidFill>
              <a:latin typeface="Fira Sans"/>
              <a:ea typeface="Fira Sans"/>
              <a:cs typeface="Fira Sans"/>
              <a:sym typeface="Fira Sans"/>
            </a:endParaRPr>
          </a:p>
          <a:p>
            <a:pPr marL="0" lvl="0" indent="0" algn="l" rtl="0">
              <a:spcBef>
                <a:spcPts val="1000"/>
              </a:spcBef>
              <a:spcAft>
                <a:spcPts val="0"/>
              </a:spcAft>
              <a:buNone/>
            </a:pPr>
            <a:r>
              <a:rPr lang="en-US" sz="2400" dirty="0">
                <a:solidFill>
                  <a:schemeClr val="dk1"/>
                </a:solidFill>
                <a:latin typeface="Fira Sans"/>
                <a:ea typeface="Fira Sans"/>
                <a:cs typeface="Fira Sans"/>
                <a:sym typeface="Fira Sans"/>
              </a:rPr>
              <a:t>Using 8:1 Mux </a:t>
            </a:r>
            <a:endParaRPr sz="2400" dirty="0">
              <a:solidFill>
                <a:schemeClr val="dk1"/>
              </a:solidFill>
              <a:latin typeface="Fira Sans"/>
              <a:ea typeface="Fira Sans"/>
              <a:cs typeface="Fira Sans"/>
              <a:sym typeface="Fira Sans"/>
            </a:endParaRPr>
          </a:p>
          <a:p>
            <a:pPr marL="0" lvl="0" indent="0" algn="l" rtl="0">
              <a:spcBef>
                <a:spcPts val="0"/>
              </a:spcBef>
              <a:spcAft>
                <a:spcPts val="0"/>
              </a:spcAft>
              <a:buNone/>
            </a:pPr>
            <a:r>
              <a:rPr lang="en-US" sz="2400" dirty="0">
                <a:solidFill>
                  <a:schemeClr val="dk1"/>
                </a:solidFill>
                <a:latin typeface="Fira Sans"/>
                <a:ea typeface="Fira Sans"/>
                <a:cs typeface="Fira Sans"/>
                <a:sym typeface="Fira Sans"/>
              </a:rPr>
              <a:t>ABC are select Lines </a:t>
            </a:r>
            <a:endParaRPr sz="2400" dirty="0">
              <a:solidFill>
                <a:schemeClr val="dk1"/>
              </a:solidFill>
              <a:latin typeface="Fira Sans"/>
              <a:ea typeface="Fira Sans"/>
              <a:cs typeface="Fira Sans"/>
              <a:sym typeface="Fira Sans"/>
            </a:endParaRPr>
          </a:p>
          <a:p>
            <a:pPr marL="0" lvl="0" indent="0" algn="l" rtl="0">
              <a:spcBef>
                <a:spcPts val="0"/>
              </a:spcBef>
              <a:spcAft>
                <a:spcPts val="0"/>
              </a:spcAft>
              <a:buNone/>
            </a:pPr>
            <a:endParaRPr sz="2400" dirty="0">
              <a:solidFill>
                <a:schemeClr val="dk1"/>
              </a:solidFill>
              <a:latin typeface="Fira Sans"/>
              <a:ea typeface="Fira Sans"/>
              <a:cs typeface="Fira Sans"/>
              <a:sym typeface="Fira Sans"/>
            </a:endParaRPr>
          </a:p>
        </p:txBody>
      </p:sp>
      <p:graphicFrame>
        <p:nvGraphicFramePr>
          <p:cNvPr id="294" name="Google Shape;294;p32"/>
          <p:cNvGraphicFramePr/>
          <p:nvPr>
            <p:extLst>
              <p:ext uri="{D42A27DB-BD31-4B8C-83A1-F6EECF244321}">
                <p14:modId xmlns:p14="http://schemas.microsoft.com/office/powerpoint/2010/main" val="683356692"/>
              </p:ext>
            </p:extLst>
          </p:nvPr>
        </p:nvGraphicFramePr>
        <p:xfrm>
          <a:off x="3635896" y="939169"/>
          <a:ext cx="2692914" cy="4388850"/>
        </p:xfrm>
        <a:graphic>
          <a:graphicData uri="http://schemas.openxmlformats.org/drawingml/2006/table">
            <a:tbl>
              <a:tblPr>
                <a:noFill/>
              </a:tblPr>
              <a:tblGrid>
                <a:gridCol w="448819"/>
                <a:gridCol w="448819"/>
                <a:gridCol w="448819"/>
                <a:gridCol w="448819"/>
                <a:gridCol w="448819"/>
                <a:gridCol w="448819"/>
              </a:tblGrid>
              <a:tr h="419450">
                <a:tc>
                  <a:txBody>
                    <a:bodyPr/>
                    <a:lstStyle/>
                    <a:p>
                      <a:pPr marL="0" lvl="0" indent="0" algn="ctr" rtl="0">
                        <a:spcBef>
                          <a:spcPts val="0"/>
                        </a:spcBef>
                        <a:spcAft>
                          <a:spcPts val="0"/>
                        </a:spcAft>
                        <a:buNone/>
                      </a:pPr>
                      <a:r>
                        <a:rPr lang="en-US" sz="2000" b="1" dirty="0">
                          <a:latin typeface="Fira Sans"/>
                          <a:ea typeface="Fira Sans"/>
                          <a:cs typeface="Fira Sans"/>
                          <a:sym typeface="Fira Sans"/>
                        </a:rPr>
                        <a:t>A</a:t>
                      </a:r>
                      <a:endParaRPr sz="2000" b="1"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000" b="1">
                          <a:latin typeface="Fira Sans"/>
                          <a:ea typeface="Fira Sans"/>
                          <a:cs typeface="Fira Sans"/>
                          <a:sym typeface="Fira Sans"/>
                        </a:rPr>
                        <a:t>B</a:t>
                      </a:r>
                      <a:endParaRPr sz="2000" b="1">
                        <a:latin typeface="Fira Sans"/>
                        <a:ea typeface="Fira Sans"/>
                        <a:cs typeface="Fira Sans"/>
                        <a:sym typeface="Fira Sans"/>
                      </a:endParaRPr>
                    </a:p>
                  </a:txBody>
                  <a:tcPr marL="68569" marR="68569"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C</a:t>
                      </a:r>
                      <a:endParaRPr sz="2000" b="1">
                        <a:latin typeface="Fira Sans"/>
                        <a:ea typeface="Fira Sans"/>
                        <a:cs typeface="Fira Sans"/>
                        <a:sym typeface="Fira Sans"/>
                      </a:endParaRPr>
                    </a:p>
                  </a:txBody>
                  <a:tcPr marL="68569" marR="68569"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D</a:t>
                      </a:r>
                      <a:endParaRPr sz="2000" b="1">
                        <a:latin typeface="Fira Sans"/>
                        <a:ea typeface="Fira Sans"/>
                        <a:cs typeface="Fira Sans"/>
                        <a:sym typeface="Fira Sans"/>
                      </a:endParaRPr>
                    </a:p>
                  </a:txBody>
                  <a:tcPr marL="68569" marR="68569"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F</a:t>
                      </a:r>
                      <a:endParaRPr sz="2000" b="1">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endParaRPr sz="2000" b="1">
                        <a:latin typeface="Fira Sans"/>
                        <a:ea typeface="Fira Sans"/>
                        <a:cs typeface="Fira Sans"/>
                        <a:sym typeface="Fira Sans"/>
                      </a:endParaRPr>
                    </a:p>
                  </a:txBody>
                  <a:tcPr marL="68569" marR="68569" marT="91425" marB="91425"/>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0</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68569" marR="68569" marT="91425" marB="91425">
                    <a:lnL w="9525" cap="flat" cmpd="sng">
                      <a:solidFill>
                        <a:srgbClr val="9E9E9E"/>
                      </a:solidFill>
                      <a:prstDash val="solid"/>
                      <a:round/>
                      <a:headEnd type="none" w="sm" len="sm"/>
                      <a:tailEnd type="none" w="sm" len="sm"/>
                    </a:lnL>
                  </a:tcPr>
                </a:tc>
                <a:tc rowSpan="2">
                  <a:txBody>
                    <a:bodyPr/>
                    <a:lstStyle/>
                    <a:p>
                      <a:pPr marL="0" lvl="0" indent="0" algn="l" rtl="0">
                        <a:spcBef>
                          <a:spcPts val="0"/>
                        </a:spcBef>
                        <a:spcAft>
                          <a:spcPts val="0"/>
                        </a:spcAft>
                        <a:buNone/>
                      </a:pPr>
                      <a:endParaRPr/>
                    </a:p>
                  </a:txBody>
                  <a:tcPr marL="68569" marR="68569" marT="91425" marB="91425" anchor="ct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0</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68569" marR="68569" marT="91425" marB="91425">
                    <a:lnL w="9525" cap="flat" cmpd="sng">
                      <a:solidFill>
                        <a:srgbClr val="9E9E9E"/>
                      </a:solidFill>
                      <a:prstDash val="solid"/>
                      <a:round/>
                      <a:headEnd type="none" w="sm" len="sm"/>
                      <a:tailEnd type="none" w="sm" len="sm"/>
                    </a:lnL>
                  </a:tcPr>
                </a:tc>
                <a:tc vMerge="1">
                  <a:txBody>
                    <a:bodyPr/>
                    <a:lstStyle/>
                    <a:p>
                      <a:endParaRPr lang="en-US"/>
                    </a:p>
                  </a:txBody>
                  <a:tcP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0</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68569" marR="68569" marT="91425" marB="91425">
                    <a:lnL w="9525" cap="flat" cmpd="sng">
                      <a:solidFill>
                        <a:srgbClr val="9E9E9E"/>
                      </a:solidFill>
                      <a:prstDash val="solid"/>
                      <a:round/>
                      <a:headEnd type="none" w="sm" len="sm"/>
                      <a:tailEnd type="none" w="sm" len="sm"/>
                    </a:lnL>
                  </a:tcPr>
                </a:tc>
                <a:tc rowSpan="2">
                  <a:txBody>
                    <a:bodyPr/>
                    <a:lstStyle/>
                    <a:p>
                      <a:pPr marL="0" lvl="0" indent="0" algn="l" rtl="0">
                        <a:spcBef>
                          <a:spcPts val="0"/>
                        </a:spcBef>
                        <a:spcAft>
                          <a:spcPts val="0"/>
                        </a:spcAft>
                        <a:buNone/>
                      </a:pPr>
                      <a:endParaRPr/>
                    </a:p>
                  </a:txBody>
                  <a:tcPr marL="68569" marR="68569" marT="91425" marB="91425" anchor="ct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0</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68569" marR="68569" marT="91425" marB="91425">
                    <a:lnL w="9525" cap="flat" cmpd="sng">
                      <a:solidFill>
                        <a:srgbClr val="9E9E9E"/>
                      </a:solidFill>
                      <a:prstDash val="solid"/>
                      <a:round/>
                      <a:headEnd type="none" w="sm" len="sm"/>
                      <a:tailEnd type="none" w="sm" len="sm"/>
                    </a:lnL>
                  </a:tcPr>
                </a:tc>
                <a:tc vMerge="1">
                  <a:txBody>
                    <a:bodyPr/>
                    <a:lstStyle/>
                    <a:p>
                      <a:endParaRPr lang="en-US"/>
                    </a:p>
                  </a:txBody>
                  <a:tcP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0</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68569" marR="68569" marT="91425" marB="91425">
                    <a:lnL w="9525" cap="flat" cmpd="sng">
                      <a:solidFill>
                        <a:srgbClr val="9E9E9E"/>
                      </a:solidFill>
                      <a:prstDash val="solid"/>
                      <a:round/>
                      <a:headEnd type="none" w="sm" len="sm"/>
                      <a:tailEnd type="none" w="sm" len="sm"/>
                    </a:lnL>
                  </a:tcPr>
                </a:tc>
                <a:tc rowSpan="2">
                  <a:txBody>
                    <a:bodyPr/>
                    <a:lstStyle/>
                    <a:p>
                      <a:pPr marL="0" lvl="0" indent="0" algn="l" rtl="0">
                        <a:spcBef>
                          <a:spcPts val="0"/>
                        </a:spcBef>
                        <a:spcAft>
                          <a:spcPts val="0"/>
                        </a:spcAft>
                        <a:buNone/>
                      </a:pPr>
                      <a:endParaRPr/>
                    </a:p>
                  </a:txBody>
                  <a:tcPr marL="68569" marR="68569" marT="91425" marB="91425" anchor="ct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0</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68569" marR="68569" marT="91425" marB="91425">
                    <a:lnL w="9525" cap="flat" cmpd="sng">
                      <a:solidFill>
                        <a:srgbClr val="9E9E9E"/>
                      </a:solidFill>
                      <a:prstDash val="solid"/>
                      <a:round/>
                      <a:headEnd type="none" w="sm" len="sm"/>
                      <a:tailEnd type="none" w="sm" len="sm"/>
                    </a:lnL>
                  </a:tcPr>
                </a:tc>
                <a:tc vMerge="1">
                  <a:txBody>
                    <a:bodyPr/>
                    <a:lstStyle/>
                    <a:p>
                      <a:endParaRPr lang="en-US"/>
                    </a:p>
                  </a:txBody>
                  <a:tcP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0</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68569" marR="68569" marT="91425" marB="91425">
                    <a:lnL w="9525" cap="flat" cmpd="sng">
                      <a:solidFill>
                        <a:srgbClr val="9E9E9E"/>
                      </a:solidFill>
                      <a:prstDash val="solid"/>
                      <a:round/>
                      <a:headEnd type="none" w="sm" len="sm"/>
                      <a:tailEnd type="none" w="sm" len="sm"/>
                    </a:lnL>
                  </a:tcPr>
                </a:tc>
                <a:tc rowSpan="2">
                  <a:txBody>
                    <a:bodyPr/>
                    <a:lstStyle/>
                    <a:p>
                      <a:pPr marL="0" lvl="0" indent="0" algn="l" rtl="0">
                        <a:spcBef>
                          <a:spcPts val="0"/>
                        </a:spcBef>
                        <a:spcAft>
                          <a:spcPts val="0"/>
                        </a:spcAft>
                        <a:buNone/>
                      </a:pPr>
                      <a:endParaRPr/>
                    </a:p>
                  </a:txBody>
                  <a:tcPr marL="68569" marR="68569" marT="91425" marB="91425" anchor="ct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0</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endParaRPr sz="2000" b="1" dirty="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tcPr>
                </a:tc>
                <a:tc vMerge="1">
                  <a:txBody>
                    <a:bodyPr/>
                    <a:lstStyle/>
                    <a:p>
                      <a:endParaRPr lang="en-US"/>
                    </a:p>
                  </a:txBody>
                  <a:tcPr/>
                </a:tc>
              </a:tr>
            </a:tbl>
          </a:graphicData>
        </a:graphic>
      </p:graphicFrame>
      <p:graphicFrame>
        <p:nvGraphicFramePr>
          <p:cNvPr id="295" name="Google Shape;295;p32"/>
          <p:cNvGraphicFramePr/>
          <p:nvPr>
            <p:extLst>
              <p:ext uri="{D42A27DB-BD31-4B8C-83A1-F6EECF244321}">
                <p14:modId xmlns:p14="http://schemas.microsoft.com/office/powerpoint/2010/main" val="98578146"/>
              </p:ext>
            </p:extLst>
          </p:nvPr>
        </p:nvGraphicFramePr>
        <p:xfrm>
          <a:off x="6444208" y="890825"/>
          <a:ext cx="2589078" cy="4388850"/>
        </p:xfrm>
        <a:graphic>
          <a:graphicData uri="http://schemas.openxmlformats.org/drawingml/2006/table">
            <a:tbl>
              <a:tblPr>
                <a:noFill/>
              </a:tblPr>
              <a:tblGrid>
                <a:gridCol w="431513"/>
                <a:gridCol w="431513"/>
                <a:gridCol w="431513"/>
                <a:gridCol w="431513"/>
                <a:gridCol w="431513"/>
                <a:gridCol w="431513"/>
              </a:tblGrid>
              <a:tr h="419450">
                <a:tc>
                  <a:txBody>
                    <a:bodyPr/>
                    <a:lstStyle/>
                    <a:p>
                      <a:pPr marL="0" lvl="0" indent="0" algn="ctr" rtl="0">
                        <a:spcBef>
                          <a:spcPts val="0"/>
                        </a:spcBef>
                        <a:spcAft>
                          <a:spcPts val="0"/>
                        </a:spcAft>
                        <a:buNone/>
                      </a:pPr>
                      <a:r>
                        <a:rPr lang="en-US" sz="2000" b="1" dirty="0">
                          <a:latin typeface="Fira Sans"/>
                          <a:ea typeface="Fira Sans"/>
                          <a:cs typeface="Fira Sans"/>
                          <a:sym typeface="Fira Sans"/>
                        </a:rPr>
                        <a:t>A</a:t>
                      </a:r>
                      <a:endParaRPr sz="2000" b="1" dirty="0">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r>
                        <a:rPr lang="en-US" sz="2000" b="1">
                          <a:latin typeface="Fira Sans"/>
                          <a:ea typeface="Fira Sans"/>
                          <a:cs typeface="Fira Sans"/>
                          <a:sym typeface="Fira Sans"/>
                        </a:rPr>
                        <a:t>B</a:t>
                      </a:r>
                      <a:endParaRPr sz="2000" b="1">
                        <a:latin typeface="Fira Sans"/>
                        <a:ea typeface="Fira Sans"/>
                        <a:cs typeface="Fira Sans"/>
                        <a:sym typeface="Fira Sans"/>
                      </a:endParaRPr>
                    </a:p>
                  </a:txBody>
                  <a:tcPr marL="68569" marR="68569"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C</a:t>
                      </a:r>
                      <a:endParaRPr sz="2000" b="1">
                        <a:latin typeface="Fira Sans"/>
                        <a:ea typeface="Fira Sans"/>
                        <a:cs typeface="Fira Sans"/>
                        <a:sym typeface="Fira Sans"/>
                      </a:endParaRPr>
                    </a:p>
                  </a:txBody>
                  <a:tcPr marL="68569" marR="68569"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D</a:t>
                      </a:r>
                      <a:endParaRPr sz="2000" b="1">
                        <a:latin typeface="Fira Sans"/>
                        <a:ea typeface="Fira Sans"/>
                        <a:cs typeface="Fira Sans"/>
                        <a:sym typeface="Fira Sans"/>
                      </a:endParaRPr>
                    </a:p>
                  </a:txBody>
                  <a:tcPr marL="68569" marR="68569"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latin typeface="Fira Sans"/>
                          <a:ea typeface="Fira Sans"/>
                          <a:cs typeface="Fira Sans"/>
                          <a:sym typeface="Fira Sans"/>
                        </a:rPr>
                        <a:t>F</a:t>
                      </a:r>
                      <a:endParaRPr sz="2000" b="1">
                        <a:latin typeface="Fira Sans"/>
                        <a:ea typeface="Fira Sans"/>
                        <a:cs typeface="Fira Sans"/>
                        <a:sym typeface="Fira Sans"/>
                      </a:endParaRPr>
                    </a:p>
                  </a:txBody>
                  <a:tcPr marL="68569" marR="68569" marT="91425" marB="91425"/>
                </a:tc>
                <a:tc>
                  <a:txBody>
                    <a:bodyPr/>
                    <a:lstStyle/>
                    <a:p>
                      <a:pPr marL="0" lvl="0" indent="0" algn="ctr" rtl="0">
                        <a:spcBef>
                          <a:spcPts val="0"/>
                        </a:spcBef>
                        <a:spcAft>
                          <a:spcPts val="0"/>
                        </a:spcAft>
                        <a:buNone/>
                      </a:pPr>
                      <a:endParaRPr sz="2000" b="1">
                        <a:latin typeface="Fira Sans"/>
                        <a:ea typeface="Fira Sans"/>
                        <a:cs typeface="Fira Sans"/>
                        <a:sym typeface="Fira Sans"/>
                      </a:endParaRPr>
                    </a:p>
                  </a:txBody>
                  <a:tcPr marL="68569" marR="68569" marT="91425" marB="91425"/>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1</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68569" marR="68569" marT="91425" marB="91425">
                    <a:lnL w="9525" cap="flat" cmpd="sng">
                      <a:solidFill>
                        <a:srgbClr val="9E9E9E"/>
                      </a:solidFill>
                      <a:prstDash val="solid"/>
                      <a:round/>
                      <a:headEnd type="none" w="sm" len="sm"/>
                      <a:tailEnd type="none" w="sm" len="sm"/>
                    </a:lnL>
                  </a:tcPr>
                </a:tc>
                <a:tc rowSpan="2">
                  <a:txBody>
                    <a:bodyPr/>
                    <a:lstStyle/>
                    <a:p>
                      <a:pPr marL="0" lvl="0" indent="0" algn="l" rtl="0">
                        <a:spcBef>
                          <a:spcPts val="0"/>
                        </a:spcBef>
                        <a:spcAft>
                          <a:spcPts val="0"/>
                        </a:spcAft>
                        <a:buNone/>
                      </a:pPr>
                      <a:endParaRPr/>
                    </a:p>
                  </a:txBody>
                  <a:tcPr marL="68569" marR="68569" marT="91425" marB="91425" anchor="ct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1</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68569" marR="68569" marT="91425" marB="91425">
                    <a:lnL w="9525" cap="flat" cmpd="sng">
                      <a:solidFill>
                        <a:srgbClr val="9E9E9E"/>
                      </a:solidFill>
                      <a:prstDash val="solid"/>
                      <a:round/>
                      <a:headEnd type="none" w="sm" len="sm"/>
                      <a:tailEnd type="none" w="sm" len="sm"/>
                    </a:lnL>
                  </a:tcPr>
                </a:tc>
                <a:tc vMerge="1">
                  <a:txBody>
                    <a:bodyPr/>
                    <a:lstStyle/>
                    <a:p>
                      <a:endParaRPr lang="en-US"/>
                    </a:p>
                  </a:txBody>
                  <a:tcP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1</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68569" marR="68569" marT="91425" marB="91425">
                    <a:lnL w="9525" cap="flat" cmpd="sng">
                      <a:solidFill>
                        <a:srgbClr val="9E9E9E"/>
                      </a:solidFill>
                      <a:prstDash val="solid"/>
                      <a:round/>
                      <a:headEnd type="none" w="sm" len="sm"/>
                      <a:tailEnd type="none" w="sm" len="sm"/>
                    </a:lnL>
                  </a:tcPr>
                </a:tc>
                <a:tc rowSpan="2">
                  <a:txBody>
                    <a:bodyPr/>
                    <a:lstStyle/>
                    <a:p>
                      <a:pPr marL="0" lvl="0" indent="0" algn="l" rtl="0">
                        <a:spcBef>
                          <a:spcPts val="0"/>
                        </a:spcBef>
                        <a:spcAft>
                          <a:spcPts val="0"/>
                        </a:spcAft>
                        <a:buNone/>
                      </a:pPr>
                      <a:endParaRPr/>
                    </a:p>
                  </a:txBody>
                  <a:tcPr marL="68569" marR="68569" marT="91425" marB="91425" anchor="ct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1</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68569" marR="68569" marT="91425" marB="91425">
                    <a:lnL w="9525" cap="flat" cmpd="sng">
                      <a:solidFill>
                        <a:srgbClr val="9E9E9E"/>
                      </a:solidFill>
                      <a:prstDash val="solid"/>
                      <a:round/>
                      <a:headEnd type="none" w="sm" len="sm"/>
                      <a:tailEnd type="none" w="sm" len="sm"/>
                    </a:lnL>
                  </a:tcPr>
                </a:tc>
                <a:tc vMerge="1">
                  <a:txBody>
                    <a:bodyPr/>
                    <a:lstStyle/>
                    <a:p>
                      <a:endParaRPr lang="en-US"/>
                    </a:p>
                  </a:txBody>
                  <a:tcP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1</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68569" marR="68569" marT="91425" marB="91425">
                    <a:lnL w="9525" cap="flat" cmpd="sng">
                      <a:solidFill>
                        <a:srgbClr val="9E9E9E"/>
                      </a:solidFill>
                      <a:prstDash val="solid"/>
                      <a:round/>
                      <a:headEnd type="none" w="sm" len="sm"/>
                      <a:tailEnd type="none" w="sm" len="sm"/>
                    </a:lnL>
                  </a:tcPr>
                </a:tc>
                <a:tc rowSpan="2">
                  <a:txBody>
                    <a:bodyPr/>
                    <a:lstStyle/>
                    <a:p>
                      <a:pPr marL="0" lvl="0" indent="0" algn="l" rtl="0">
                        <a:spcBef>
                          <a:spcPts val="0"/>
                        </a:spcBef>
                        <a:spcAft>
                          <a:spcPts val="0"/>
                        </a:spcAft>
                        <a:buNone/>
                      </a:pPr>
                      <a:endParaRPr/>
                    </a:p>
                  </a:txBody>
                  <a:tcPr marL="68569" marR="68569" marT="91425" marB="91425" anchor="ct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1</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68569" marR="68569" marT="91425" marB="91425">
                    <a:lnL w="9525" cap="flat" cmpd="sng">
                      <a:solidFill>
                        <a:srgbClr val="9E9E9E"/>
                      </a:solidFill>
                      <a:prstDash val="solid"/>
                      <a:round/>
                      <a:headEnd type="none" w="sm" len="sm"/>
                      <a:tailEnd type="none" w="sm" len="sm"/>
                    </a:lnL>
                  </a:tcPr>
                </a:tc>
                <a:tc vMerge="1">
                  <a:txBody>
                    <a:bodyPr/>
                    <a:lstStyle/>
                    <a:p>
                      <a:endParaRPr lang="en-US"/>
                    </a:p>
                  </a:txBody>
                  <a:tcP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1</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0</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68569" marR="68569" marT="91425" marB="91425">
                    <a:lnL w="9525" cap="flat" cmpd="sng">
                      <a:solidFill>
                        <a:srgbClr val="9E9E9E"/>
                      </a:solidFill>
                      <a:prstDash val="solid"/>
                      <a:round/>
                      <a:headEnd type="none" w="sm" len="sm"/>
                      <a:tailEnd type="none" w="sm" len="sm"/>
                    </a:lnL>
                  </a:tcPr>
                </a:tc>
                <a:tc rowSpan="2">
                  <a:txBody>
                    <a:bodyPr/>
                    <a:lstStyle/>
                    <a:p>
                      <a:pPr marL="0" lvl="0" indent="0" algn="l" rtl="0">
                        <a:spcBef>
                          <a:spcPts val="0"/>
                        </a:spcBef>
                        <a:spcAft>
                          <a:spcPts val="0"/>
                        </a:spcAft>
                        <a:buNone/>
                      </a:pPr>
                      <a:endParaRPr/>
                    </a:p>
                  </a:txBody>
                  <a:tcPr marL="68569" marR="68569" marT="91425" marB="91425" anchor="ctr"/>
                </a:tc>
              </a:tr>
              <a:tr h="419450">
                <a:tc>
                  <a:txBody>
                    <a:bodyPr/>
                    <a:lstStyle/>
                    <a:p>
                      <a:pPr marL="0" lvl="0" indent="0" algn="ctr" rtl="0">
                        <a:spcBef>
                          <a:spcPts val="0"/>
                        </a:spcBef>
                        <a:spcAft>
                          <a:spcPts val="0"/>
                        </a:spcAft>
                        <a:buNone/>
                      </a:pPr>
                      <a:r>
                        <a:rPr lang="en-US" sz="2000">
                          <a:solidFill>
                            <a:schemeClr val="dk1"/>
                          </a:solidFill>
                          <a:latin typeface="Fira Sans"/>
                          <a:ea typeface="Fira Sans"/>
                          <a:cs typeface="Fira Sans"/>
                          <a:sym typeface="Fira Sans"/>
                        </a:rPr>
                        <a:t>1</a:t>
                      </a:r>
                      <a:endParaRPr/>
                    </a:p>
                  </a:txBody>
                  <a:tcPr marL="68569" marR="68569"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a:latin typeface="Fira Sans"/>
                          <a:ea typeface="Fira Sans"/>
                          <a:cs typeface="Fira Sans"/>
                          <a:sym typeface="Fira Sans"/>
                        </a:rPr>
                        <a:t>1</a:t>
                      </a:r>
                      <a:endParaRPr sz="2000">
                        <a:latin typeface="Fira Sans"/>
                        <a:ea typeface="Fira Sans"/>
                        <a:cs typeface="Fira Sans"/>
                        <a:sym typeface="Fira Sans"/>
                      </a:endParaRPr>
                    </a:p>
                  </a:txBody>
                  <a:tcPr marL="68569" marR="68569"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68569" marR="68569" marT="91425" marB="91425">
                    <a:lnL w="9525" cap="flat" cmpd="sng">
                      <a:solidFill>
                        <a:srgbClr val="9E9E9E"/>
                      </a:solidFill>
                      <a:prstDash val="solid"/>
                      <a:round/>
                      <a:headEnd type="none" w="sm" len="sm"/>
                      <a:tailEnd type="none" w="sm" len="sm"/>
                    </a:lnL>
                  </a:tcPr>
                </a:tc>
                <a:tc vMerge="1">
                  <a:txBody>
                    <a:bodyPr/>
                    <a:lstStyle/>
                    <a:p>
                      <a:endParaRPr lang="en-US"/>
                    </a:p>
                  </a:txBody>
                  <a:tcPr/>
                </a:tc>
              </a:tr>
            </a:tbl>
          </a:graphicData>
        </a:graphic>
      </p:graphicFrame>
      <p:pic>
        <p:nvPicPr>
          <p:cNvPr id="10" name="Picture 9"/>
          <p:cNvPicPr/>
          <p:nvPr/>
        </p:nvPicPr>
        <p:blipFill>
          <a:blip r:embed="rId6">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Tree>
    <p:extLst>
      <p:ext uri="{BB962C8B-B14F-4D97-AF65-F5344CB8AC3E}">
        <p14:creationId xmlns:p14="http://schemas.microsoft.com/office/powerpoint/2010/main" val="29108021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3"/>
          <p:cNvSpPr txBox="1">
            <a:spLocks noGrp="1"/>
          </p:cNvSpPr>
          <p:nvPr>
            <p:ph type="title"/>
          </p:nvPr>
        </p:nvSpPr>
        <p:spPr>
          <a:xfrm>
            <a:off x="300791" y="191861"/>
            <a:ext cx="8546850" cy="721800"/>
          </a:xfrm>
          <a:prstGeom prst="rect">
            <a:avLst/>
          </a:prstGeom>
          <a:noFill/>
          <a:ln>
            <a:noFill/>
          </a:ln>
        </p:spPr>
        <p:txBody>
          <a:bodyPr spcFirstLastPara="1" wrap="square" lIns="91425" tIns="45700" rIns="91425" bIns="45700" anchor="ctr" anchorCtr="0">
            <a:noAutofit/>
          </a:bodyPr>
          <a:lstStyle/>
          <a:p>
            <a:pPr marL="457200" lvl="0" indent="0" algn="ctr" rtl="0">
              <a:lnSpc>
                <a:spcPct val="90000"/>
              </a:lnSpc>
              <a:spcBef>
                <a:spcPts val="0"/>
              </a:spcBef>
              <a:spcAft>
                <a:spcPts val="0"/>
              </a:spcAft>
              <a:buNone/>
            </a:pPr>
            <a:r>
              <a:rPr lang="en-US" sz="3600">
                <a:solidFill>
                  <a:srgbClr val="C00000"/>
                </a:solidFill>
                <a:latin typeface="Marcellus"/>
                <a:ea typeface="Marcellus"/>
                <a:cs typeface="Marcellus"/>
                <a:sym typeface="Marcellus"/>
              </a:rPr>
              <a:t>Function Implementation using Decoder </a:t>
            </a:r>
            <a:endParaRPr sz="3600"/>
          </a:p>
        </p:txBody>
      </p:sp>
      <p:pic>
        <p:nvPicPr>
          <p:cNvPr id="301" name="Google Shape;301;p33"/>
          <p:cNvPicPr preferRelativeResize="0"/>
          <p:nvPr/>
        </p:nvPicPr>
        <p:blipFill rotWithShape="1">
          <a:blip r:embed="rId3">
            <a:alphaModFix/>
          </a:blip>
          <a:srcRect/>
          <a:stretch/>
        </p:blipFill>
        <p:spPr>
          <a:xfrm rot="5400000">
            <a:off x="4362258" y="2097119"/>
            <a:ext cx="385984" cy="9177497"/>
          </a:xfrm>
          <a:prstGeom prst="rect">
            <a:avLst/>
          </a:prstGeom>
          <a:noFill/>
          <a:ln>
            <a:noFill/>
          </a:ln>
        </p:spPr>
      </p:pic>
      <p:pic>
        <p:nvPicPr>
          <p:cNvPr id="302" name="Google Shape;302;p33"/>
          <p:cNvPicPr preferRelativeResize="0"/>
          <p:nvPr/>
        </p:nvPicPr>
        <p:blipFill rotWithShape="1">
          <a:blip r:embed="rId4">
            <a:alphaModFix/>
          </a:blip>
          <a:srcRect/>
          <a:stretch/>
        </p:blipFill>
        <p:spPr>
          <a:xfrm rot="5400000">
            <a:off x="3378189" y="2920767"/>
            <a:ext cx="176409" cy="6999785"/>
          </a:xfrm>
          <a:prstGeom prst="rect">
            <a:avLst/>
          </a:prstGeom>
          <a:noFill/>
          <a:ln>
            <a:noFill/>
          </a:ln>
        </p:spPr>
      </p:pic>
      <p:pic>
        <p:nvPicPr>
          <p:cNvPr id="303" name="Google Shape;303;p3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00" cy="721800"/>
          </a:xfrm>
          <a:prstGeom prst="rect">
            <a:avLst/>
          </a:prstGeom>
          <a:noFill/>
          <a:ln>
            <a:noFill/>
          </a:ln>
        </p:spPr>
      </p:pic>
      <p:sp>
        <p:nvSpPr>
          <p:cNvPr id="305" name="Google Shape;305;p33"/>
          <p:cNvSpPr txBox="1"/>
          <p:nvPr/>
        </p:nvSpPr>
        <p:spPr>
          <a:xfrm>
            <a:off x="300788" y="809900"/>
            <a:ext cx="7738650" cy="455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solidFill>
                  <a:schemeClr val="dk1"/>
                </a:solidFill>
                <a:latin typeface="Fira Sans"/>
                <a:ea typeface="Fira Sans"/>
                <a:cs typeface="Fira Sans"/>
                <a:sym typeface="Fira Sans"/>
              </a:rPr>
              <a:t>F= </a:t>
            </a:r>
            <a:r>
              <a:rPr lang="en-US" sz="2400" b="1" dirty="0" err="1">
                <a:solidFill>
                  <a:schemeClr val="dk1"/>
                </a:solidFill>
                <a:latin typeface="Fira Sans"/>
                <a:ea typeface="Fira Sans"/>
                <a:cs typeface="Fira Sans"/>
                <a:sym typeface="Fira Sans"/>
              </a:rPr>
              <a:t>Σm</a:t>
            </a:r>
            <a:r>
              <a:rPr lang="en-US" sz="2400" b="1" dirty="0">
                <a:solidFill>
                  <a:schemeClr val="dk1"/>
                </a:solidFill>
                <a:latin typeface="Fira Sans"/>
                <a:ea typeface="Fira Sans"/>
                <a:cs typeface="Fira Sans"/>
                <a:sym typeface="Fira Sans"/>
              </a:rPr>
              <a:t>(0,1,4,6, 7) </a:t>
            </a:r>
            <a:endParaRPr sz="2400" b="1" dirty="0">
              <a:solidFill>
                <a:schemeClr val="dk1"/>
              </a:solidFill>
              <a:latin typeface="Fira Sans"/>
              <a:ea typeface="Fira Sans"/>
              <a:cs typeface="Fira Sans"/>
              <a:sym typeface="Fira Sans"/>
            </a:endParaRPr>
          </a:p>
          <a:p>
            <a:pPr marL="0" lvl="0" indent="0" algn="l" rtl="0">
              <a:spcBef>
                <a:spcPts val="1000"/>
              </a:spcBef>
              <a:spcAft>
                <a:spcPts val="0"/>
              </a:spcAft>
              <a:buNone/>
            </a:pPr>
            <a:r>
              <a:rPr lang="en-US" sz="2400" b="1" dirty="0">
                <a:solidFill>
                  <a:schemeClr val="dk1"/>
                </a:solidFill>
                <a:latin typeface="Fira Sans"/>
                <a:ea typeface="Fira Sans"/>
                <a:cs typeface="Fira Sans"/>
                <a:sym typeface="Fira Sans"/>
              </a:rPr>
              <a:t>Implement using 3: 8 </a:t>
            </a:r>
            <a:r>
              <a:rPr lang="en-US" sz="2400" b="1" dirty="0" smtClean="0">
                <a:solidFill>
                  <a:schemeClr val="dk1"/>
                </a:solidFill>
                <a:latin typeface="Fira Sans"/>
                <a:ea typeface="Fira Sans"/>
                <a:cs typeface="Fira Sans"/>
                <a:sym typeface="Fira Sans"/>
              </a:rPr>
              <a:t>decoder( Active High Output) </a:t>
            </a:r>
            <a:endParaRPr sz="2400" b="1" dirty="0">
              <a:solidFill>
                <a:schemeClr val="dk1"/>
              </a:solidFill>
              <a:latin typeface="Fira Sans"/>
              <a:ea typeface="Fira Sans"/>
              <a:cs typeface="Fira Sans"/>
              <a:sym typeface="Fira Sans"/>
            </a:endParaRPr>
          </a:p>
          <a:p>
            <a:pPr marL="0" lvl="0" indent="0" algn="l" rtl="0">
              <a:spcBef>
                <a:spcPts val="1000"/>
              </a:spcBef>
              <a:spcAft>
                <a:spcPts val="0"/>
              </a:spcAft>
              <a:buNone/>
            </a:pPr>
            <a:endParaRPr sz="2400" b="1" dirty="0">
              <a:solidFill>
                <a:schemeClr val="dk1"/>
              </a:solidFill>
              <a:latin typeface="Fira Sans"/>
              <a:ea typeface="Fira Sans"/>
              <a:cs typeface="Fira Sans"/>
              <a:sym typeface="Fira Sans"/>
            </a:endParaRPr>
          </a:p>
          <a:p>
            <a:pPr marL="0" lvl="0" indent="0" algn="l" rtl="0">
              <a:spcBef>
                <a:spcPts val="1000"/>
              </a:spcBef>
              <a:spcAft>
                <a:spcPts val="0"/>
              </a:spcAft>
              <a:buNone/>
            </a:pPr>
            <a:endParaRPr sz="2400" dirty="0">
              <a:solidFill>
                <a:schemeClr val="dk1"/>
              </a:solidFill>
              <a:latin typeface="Fira Sans"/>
              <a:ea typeface="Fira Sans"/>
              <a:cs typeface="Fira Sans"/>
              <a:sym typeface="Fira Sans"/>
            </a:endParaRPr>
          </a:p>
        </p:txBody>
      </p:sp>
      <p:pic>
        <p:nvPicPr>
          <p:cNvPr id="306" name="Google Shape;306;p33"/>
          <p:cNvPicPr preferRelativeResize="0"/>
          <p:nvPr/>
        </p:nvPicPr>
        <p:blipFill rotWithShape="1">
          <a:blip r:embed="rId6">
            <a:alphaModFix/>
          </a:blip>
          <a:srcRect l="30646" t="23082" r="8060" b="32502"/>
          <a:stretch/>
        </p:blipFill>
        <p:spPr>
          <a:xfrm>
            <a:off x="1014863" y="2029726"/>
            <a:ext cx="5604806" cy="3044575"/>
          </a:xfrm>
          <a:prstGeom prst="rect">
            <a:avLst/>
          </a:prstGeom>
          <a:noFill/>
          <a:ln>
            <a:noFill/>
          </a:ln>
        </p:spPr>
      </p:pic>
      <p:pic>
        <p:nvPicPr>
          <p:cNvPr id="9" name="Picture 8"/>
          <p:cNvPicPr/>
          <p:nvPr/>
        </p:nvPicPr>
        <p:blipFill>
          <a:blip r:embed="rId7">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Tree>
    <p:extLst>
      <p:ext uri="{BB962C8B-B14F-4D97-AF65-F5344CB8AC3E}">
        <p14:creationId xmlns:p14="http://schemas.microsoft.com/office/powerpoint/2010/main" val="15661860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5"/>
          <p:cNvSpPr txBox="1">
            <a:spLocks noGrp="1"/>
          </p:cNvSpPr>
          <p:nvPr>
            <p:ph type="title"/>
          </p:nvPr>
        </p:nvSpPr>
        <p:spPr>
          <a:xfrm>
            <a:off x="300791" y="191861"/>
            <a:ext cx="8546850" cy="721800"/>
          </a:xfrm>
          <a:prstGeom prst="rect">
            <a:avLst/>
          </a:prstGeom>
          <a:noFill/>
          <a:ln>
            <a:noFill/>
          </a:ln>
        </p:spPr>
        <p:txBody>
          <a:bodyPr spcFirstLastPara="1" wrap="square" lIns="91425" tIns="45700" rIns="91425" bIns="45700" anchor="ctr" anchorCtr="0">
            <a:noAutofit/>
          </a:bodyPr>
          <a:lstStyle/>
          <a:p>
            <a:pPr marL="457200" lvl="0" indent="0" algn="ctr" rtl="0">
              <a:lnSpc>
                <a:spcPct val="90000"/>
              </a:lnSpc>
              <a:spcBef>
                <a:spcPts val="0"/>
              </a:spcBef>
              <a:spcAft>
                <a:spcPts val="0"/>
              </a:spcAft>
              <a:buNone/>
            </a:pPr>
            <a:r>
              <a:rPr lang="en-US" sz="3600">
                <a:solidFill>
                  <a:srgbClr val="C00000"/>
                </a:solidFill>
                <a:latin typeface="Marcellus"/>
                <a:ea typeface="Marcellus"/>
                <a:cs typeface="Marcellus"/>
                <a:sym typeface="Marcellus"/>
              </a:rPr>
              <a:t>Function Implementation using Decoder</a:t>
            </a:r>
            <a:endParaRPr sz="3600"/>
          </a:p>
        </p:txBody>
      </p:sp>
      <p:pic>
        <p:nvPicPr>
          <p:cNvPr id="323" name="Google Shape;323;p35"/>
          <p:cNvPicPr preferRelativeResize="0"/>
          <p:nvPr/>
        </p:nvPicPr>
        <p:blipFill rotWithShape="1">
          <a:blip r:embed="rId3">
            <a:alphaModFix/>
          </a:blip>
          <a:srcRect/>
          <a:stretch/>
        </p:blipFill>
        <p:spPr>
          <a:xfrm rot="5400000">
            <a:off x="4362258" y="2097119"/>
            <a:ext cx="385984" cy="9177497"/>
          </a:xfrm>
          <a:prstGeom prst="rect">
            <a:avLst/>
          </a:prstGeom>
          <a:noFill/>
          <a:ln>
            <a:noFill/>
          </a:ln>
        </p:spPr>
      </p:pic>
      <p:pic>
        <p:nvPicPr>
          <p:cNvPr id="324" name="Google Shape;324;p35"/>
          <p:cNvPicPr preferRelativeResize="0"/>
          <p:nvPr/>
        </p:nvPicPr>
        <p:blipFill rotWithShape="1">
          <a:blip r:embed="rId4">
            <a:alphaModFix/>
          </a:blip>
          <a:srcRect/>
          <a:stretch/>
        </p:blipFill>
        <p:spPr>
          <a:xfrm rot="5400000">
            <a:off x="3378189" y="2920767"/>
            <a:ext cx="176409" cy="6999785"/>
          </a:xfrm>
          <a:prstGeom prst="rect">
            <a:avLst/>
          </a:prstGeom>
          <a:noFill/>
          <a:ln>
            <a:noFill/>
          </a:ln>
        </p:spPr>
      </p:pic>
      <p:pic>
        <p:nvPicPr>
          <p:cNvPr id="325" name="Google Shape;325;p35"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00" cy="721800"/>
          </a:xfrm>
          <a:prstGeom prst="rect">
            <a:avLst/>
          </a:prstGeom>
          <a:noFill/>
          <a:ln>
            <a:noFill/>
          </a:ln>
        </p:spPr>
      </p:pic>
      <p:sp>
        <p:nvSpPr>
          <p:cNvPr id="327" name="Google Shape;327;p35"/>
          <p:cNvSpPr txBox="1"/>
          <p:nvPr/>
        </p:nvSpPr>
        <p:spPr>
          <a:xfrm>
            <a:off x="300788" y="809900"/>
            <a:ext cx="7738650" cy="455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a:solidFill>
                  <a:schemeClr val="dk1"/>
                </a:solidFill>
                <a:latin typeface="Fira Sans"/>
                <a:ea typeface="Fira Sans"/>
                <a:cs typeface="Fira Sans"/>
                <a:sym typeface="Fira Sans"/>
              </a:rPr>
              <a:t>F= Σm(0,1,4,6,8,10,12,15) </a:t>
            </a:r>
            <a:endParaRPr sz="2400" b="1">
              <a:solidFill>
                <a:schemeClr val="dk1"/>
              </a:solidFill>
              <a:latin typeface="Fira Sans"/>
              <a:ea typeface="Fira Sans"/>
              <a:cs typeface="Fira Sans"/>
              <a:sym typeface="Fira Sans"/>
            </a:endParaRPr>
          </a:p>
          <a:p>
            <a:pPr marL="0" lvl="0" indent="0" algn="l" rtl="0">
              <a:spcBef>
                <a:spcPts val="1000"/>
              </a:spcBef>
              <a:spcAft>
                <a:spcPts val="0"/>
              </a:spcAft>
              <a:buNone/>
            </a:pPr>
            <a:r>
              <a:rPr lang="en-US" sz="2400" b="1">
                <a:solidFill>
                  <a:schemeClr val="dk1"/>
                </a:solidFill>
                <a:latin typeface="Fira Sans"/>
                <a:ea typeface="Fira Sans"/>
                <a:cs typeface="Fira Sans"/>
                <a:sym typeface="Fira Sans"/>
              </a:rPr>
              <a:t>Implement 4: 16 decoder </a:t>
            </a:r>
            <a:endParaRPr sz="2400" b="1">
              <a:solidFill>
                <a:schemeClr val="dk1"/>
              </a:solidFill>
              <a:latin typeface="Fira Sans"/>
              <a:ea typeface="Fira Sans"/>
              <a:cs typeface="Fira Sans"/>
              <a:sym typeface="Fira Sans"/>
            </a:endParaRPr>
          </a:p>
          <a:p>
            <a:pPr marL="0" lvl="0" indent="0" algn="l" rtl="0">
              <a:spcBef>
                <a:spcPts val="1000"/>
              </a:spcBef>
              <a:spcAft>
                <a:spcPts val="0"/>
              </a:spcAft>
              <a:buNone/>
            </a:pPr>
            <a:endParaRPr sz="2400" b="1">
              <a:solidFill>
                <a:schemeClr val="dk1"/>
              </a:solidFill>
              <a:latin typeface="Fira Sans"/>
              <a:ea typeface="Fira Sans"/>
              <a:cs typeface="Fira Sans"/>
              <a:sym typeface="Fira Sans"/>
            </a:endParaRPr>
          </a:p>
          <a:p>
            <a:pPr marL="0" lvl="0" indent="0" algn="l" rtl="0">
              <a:spcBef>
                <a:spcPts val="1000"/>
              </a:spcBef>
              <a:spcAft>
                <a:spcPts val="0"/>
              </a:spcAft>
              <a:buNone/>
            </a:pPr>
            <a:endParaRPr sz="2400">
              <a:solidFill>
                <a:schemeClr val="dk1"/>
              </a:solidFill>
              <a:latin typeface="Fira Sans"/>
              <a:ea typeface="Fira Sans"/>
              <a:cs typeface="Fira Sans"/>
              <a:sym typeface="Fira Sans"/>
            </a:endParaRPr>
          </a:p>
        </p:txBody>
      </p:sp>
      <p:pic>
        <p:nvPicPr>
          <p:cNvPr id="8" name="Picture 7"/>
          <p:cNvPicPr/>
          <p:nvPr/>
        </p:nvPicPr>
        <p:blipFill>
          <a:blip r:embed="rId6">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Tree>
    <p:extLst>
      <p:ext uri="{BB962C8B-B14F-4D97-AF65-F5344CB8AC3E}">
        <p14:creationId xmlns:p14="http://schemas.microsoft.com/office/powerpoint/2010/main" val="28852610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281843" y="191854"/>
            <a:ext cx="8546813" cy="721750"/>
          </a:xfrm>
          <a:prstGeom prst="rect">
            <a:avLst/>
          </a:prstGeom>
          <a:noFill/>
          <a:ln>
            <a:noFill/>
          </a:ln>
        </p:spPr>
        <p:txBody>
          <a:bodyPr spcFirstLastPara="1" wrap="square" lIns="76790" tIns="38395" rIns="76790" bIns="38395" anchor="ctr" anchorCtr="0">
            <a:noAutofit/>
          </a:bodyPr>
          <a:lstStyle/>
          <a:p>
            <a:pPr marL="382270"/>
            <a:r>
              <a:rPr lang="en-US" sz="3000" b="1" dirty="0" smtClean="0">
                <a:solidFill>
                  <a:srgbClr val="C00000"/>
                </a:solidFill>
                <a:latin typeface="Marcellus" charset="0"/>
              </a:rPr>
              <a:t>1 bit Comparator</a:t>
            </a:r>
            <a:endParaRPr sz="3000" b="1" dirty="0">
              <a:solidFill>
                <a:srgbClr val="C00000"/>
              </a:solidFill>
              <a:latin typeface="Marcellus" charset="0"/>
            </a:endParaRPr>
          </a:p>
        </p:txBody>
      </p:sp>
      <p:pic>
        <p:nvPicPr>
          <p:cNvPr id="45" name="Google Shape;45;p3"/>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46" name="Google Shape;46;p3"/>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47" name="Google Shape;47;p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sp>
        <p:nvSpPr>
          <p:cNvPr id="49" name="Google Shape;49;p3"/>
          <p:cNvSpPr txBox="1"/>
          <p:nvPr/>
        </p:nvSpPr>
        <p:spPr>
          <a:xfrm>
            <a:off x="668094" y="814938"/>
            <a:ext cx="2997188" cy="2839500"/>
          </a:xfrm>
          <a:prstGeom prst="rect">
            <a:avLst/>
          </a:prstGeom>
          <a:noFill/>
          <a:ln>
            <a:noFill/>
          </a:ln>
        </p:spPr>
        <p:txBody>
          <a:bodyPr spcFirstLastPara="1" wrap="square" lIns="76790" tIns="76790" rIns="76790" bIns="76790" anchor="t" anchorCtr="0">
            <a:noAutofit/>
          </a:bodyPr>
          <a:lstStyle/>
          <a:p>
            <a:pPr marL="320040" indent="320040" algn="just">
              <a:buClr>
                <a:srgbClr val="000000"/>
              </a:buClr>
              <a:buSzPts val="2900"/>
            </a:pPr>
            <a:endParaRPr sz="2000" b="1" dirty="0">
              <a:solidFill>
                <a:schemeClr val="dk1"/>
              </a:solidFill>
              <a:latin typeface="Fira Sans"/>
              <a:ea typeface="Fira Sans"/>
              <a:cs typeface="Fira Sans"/>
              <a:sym typeface="Fira Sans"/>
            </a:endParaRPr>
          </a:p>
          <a:p>
            <a:pPr marL="320040" indent="320040" algn="just">
              <a:buClr>
                <a:srgbClr val="000000"/>
              </a:buClr>
              <a:buSzPts val="2900"/>
            </a:pPr>
            <a:endParaRPr sz="2000" b="1" dirty="0">
              <a:solidFill>
                <a:schemeClr val="dk1"/>
              </a:solidFill>
              <a:latin typeface="Fira Sans"/>
              <a:ea typeface="Fira Sans"/>
              <a:cs typeface="Fira Sans"/>
              <a:sym typeface="Fira Sans"/>
            </a:endParaRPr>
          </a:p>
        </p:txBody>
      </p:sp>
      <p:sp>
        <p:nvSpPr>
          <p:cNvPr id="50" name="Google Shape;50;p3"/>
          <p:cNvSpPr txBox="1"/>
          <p:nvPr/>
        </p:nvSpPr>
        <p:spPr>
          <a:xfrm>
            <a:off x="467544" y="1018919"/>
            <a:ext cx="7572484" cy="4602500"/>
          </a:xfrm>
          <a:prstGeom prst="rect">
            <a:avLst/>
          </a:prstGeom>
          <a:noFill/>
          <a:ln>
            <a:noFill/>
          </a:ln>
        </p:spPr>
        <p:txBody>
          <a:bodyPr spcFirstLastPara="1" wrap="square" lIns="76790" tIns="76790" rIns="76790" bIns="76790" anchor="t" anchorCtr="0">
            <a:noAutofit/>
          </a:bodyPr>
          <a:lstStyle/>
          <a:p>
            <a:pPr marL="320040" algn="just">
              <a:buClr>
                <a:srgbClr val="000000"/>
              </a:buClr>
              <a:buSzPts val="2900"/>
            </a:pPr>
            <a:r>
              <a:rPr lang="en-US" sz="2000" b="1" dirty="0" smtClean="0">
                <a:solidFill>
                  <a:schemeClr val="dk1"/>
                </a:solidFill>
                <a:latin typeface="Fira Sans"/>
                <a:ea typeface="Fira Sans"/>
                <a:cs typeface="Fira Sans"/>
                <a:sym typeface="Fira Sans"/>
              </a:rPr>
              <a:t>(A&lt;B) = A’B</a:t>
            </a:r>
          </a:p>
          <a:p>
            <a:pPr marL="320040" algn="just">
              <a:buClr>
                <a:srgbClr val="000000"/>
              </a:buClr>
              <a:buSzPts val="2900"/>
            </a:pPr>
            <a:r>
              <a:rPr lang="en-US" sz="2000" b="1" dirty="0" smtClean="0">
                <a:solidFill>
                  <a:schemeClr val="dk1"/>
                </a:solidFill>
                <a:latin typeface="Fira Sans"/>
                <a:ea typeface="Fira Sans"/>
                <a:cs typeface="Fira Sans"/>
                <a:sym typeface="Fira Sans"/>
              </a:rPr>
              <a:t>( A=B) = A XNOR B</a:t>
            </a:r>
          </a:p>
          <a:p>
            <a:pPr marL="320040" algn="just">
              <a:buClr>
                <a:srgbClr val="000000"/>
              </a:buClr>
              <a:buSzPts val="2900"/>
            </a:pPr>
            <a:r>
              <a:rPr lang="en-US" sz="2000" b="1" dirty="0" smtClean="0">
                <a:solidFill>
                  <a:schemeClr val="dk1"/>
                </a:solidFill>
                <a:latin typeface="Fira Sans"/>
                <a:ea typeface="Fira Sans"/>
                <a:cs typeface="Fira Sans"/>
                <a:sym typeface="Fira Sans"/>
              </a:rPr>
              <a:t>(A&gt;B) = AB’ </a:t>
            </a:r>
            <a:endParaRPr sz="2000" b="1" dirty="0">
              <a:solidFill>
                <a:schemeClr val="dk1"/>
              </a:solidFill>
              <a:latin typeface="Fira Sans"/>
              <a:ea typeface="Fira Sans"/>
              <a:cs typeface="Fira Sans"/>
              <a:sym typeface="Fira Sans"/>
            </a:endParaRPr>
          </a:p>
        </p:txBody>
      </p:sp>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pic>
        <p:nvPicPr>
          <p:cNvPr id="2" name="Picture 1"/>
          <p:cNvPicPr>
            <a:picLocks noChangeAspect="1"/>
          </p:cNvPicPr>
          <p:nvPr/>
        </p:nvPicPr>
        <p:blipFill rotWithShape="1">
          <a:blip r:embed="rId7">
            <a:extLst>
              <a:ext uri="{28A0092B-C50C-407E-A947-70E740481C1C}">
                <a14:useLocalDpi xmlns:a14="http://schemas.microsoft.com/office/drawing/2010/main" val="0"/>
              </a:ext>
            </a:extLst>
          </a:blip>
          <a:srcRect l="29646" t="17589" r="29646" b="23766"/>
          <a:stretch/>
        </p:blipFill>
        <p:spPr>
          <a:xfrm>
            <a:off x="467544" y="2247147"/>
            <a:ext cx="4752528" cy="3059514"/>
          </a:xfrm>
          <a:prstGeom prst="rect">
            <a:avLst/>
          </a:prstGeom>
        </p:spPr>
      </p:pic>
      <p:graphicFrame>
        <p:nvGraphicFramePr>
          <p:cNvPr id="10" name="Google Shape;174;p21"/>
          <p:cNvGraphicFramePr/>
          <p:nvPr>
            <p:extLst>
              <p:ext uri="{D42A27DB-BD31-4B8C-83A1-F6EECF244321}">
                <p14:modId xmlns:p14="http://schemas.microsoft.com/office/powerpoint/2010/main" val="884376367"/>
              </p:ext>
            </p:extLst>
          </p:nvPr>
        </p:nvGraphicFramePr>
        <p:xfrm>
          <a:off x="5191383" y="1124744"/>
          <a:ext cx="3024334" cy="2430425"/>
        </p:xfrm>
        <a:graphic>
          <a:graphicData uri="http://schemas.openxmlformats.org/drawingml/2006/table">
            <a:tbl>
              <a:tblPr>
                <a:noFill/>
              </a:tblPr>
              <a:tblGrid>
                <a:gridCol w="432046"/>
                <a:gridCol w="432048"/>
                <a:gridCol w="720080"/>
                <a:gridCol w="720082"/>
                <a:gridCol w="720078"/>
              </a:tblGrid>
              <a:tr h="479825">
                <a:tc>
                  <a:txBody>
                    <a:bodyPr/>
                    <a:lstStyle/>
                    <a:p>
                      <a:pPr marL="0" lvl="0" indent="0" algn="ctr" rtl="0">
                        <a:spcBef>
                          <a:spcPts val="0"/>
                        </a:spcBef>
                        <a:spcAft>
                          <a:spcPts val="0"/>
                        </a:spcAft>
                        <a:buNone/>
                      </a:pPr>
                      <a:r>
                        <a:rPr lang="en-US" sz="1800" b="1" dirty="0" smtClean="0">
                          <a:solidFill>
                            <a:srgbClr val="CC0000"/>
                          </a:solidFill>
                          <a:latin typeface="Fira Sans"/>
                          <a:ea typeface="Fira Sans"/>
                          <a:cs typeface="Fira Sans"/>
                          <a:sym typeface="Fira Sans"/>
                        </a:rPr>
                        <a:t>A</a:t>
                      </a:r>
                      <a:endParaRPr sz="18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b="1" dirty="0" smtClean="0">
                          <a:solidFill>
                            <a:srgbClr val="CC0000"/>
                          </a:solidFill>
                          <a:latin typeface="Fira Sans"/>
                          <a:ea typeface="Fira Sans"/>
                          <a:cs typeface="Fira Sans"/>
                          <a:sym typeface="Fira Sans"/>
                        </a:rPr>
                        <a:t>B</a:t>
                      </a:r>
                      <a:endParaRPr sz="18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b="1" dirty="0" smtClean="0">
                          <a:solidFill>
                            <a:srgbClr val="CC0000"/>
                          </a:solidFill>
                          <a:latin typeface="Fira Sans"/>
                          <a:ea typeface="Fira Sans"/>
                          <a:cs typeface="Fira Sans"/>
                          <a:sym typeface="Fira Sans"/>
                        </a:rPr>
                        <a:t>A&lt;B</a:t>
                      </a:r>
                      <a:endParaRPr sz="18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b="1" dirty="0" smtClean="0">
                          <a:solidFill>
                            <a:srgbClr val="CC0000"/>
                          </a:solidFill>
                          <a:latin typeface="Fira Sans"/>
                          <a:ea typeface="Fira Sans"/>
                          <a:cs typeface="Fira Sans"/>
                          <a:sym typeface="Fira Sans"/>
                        </a:rPr>
                        <a:t>A=B</a:t>
                      </a:r>
                      <a:endParaRPr sz="18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b="1" dirty="0" smtClean="0">
                          <a:solidFill>
                            <a:srgbClr val="CC0000"/>
                          </a:solidFill>
                          <a:latin typeface="Fira Sans"/>
                          <a:ea typeface="Fira Sans"/>
                          <a:cs typeface="Fira Sans"/>
                          <a:sym typeface="Fira Sans"/>
                        </a:rPr>
                        <a:t>A&gt;B</a:t>
                      </a:r>
                      <a:endParaRPr sz="18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448454">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1</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479825">
                <a:tc>
                  <a:txBody>
                    <a:bodyPr/>
                    <a:lstStyle/>
                    <a:p>
                      <a:pPr marL="0" lvl="0" indent="0" algn="ctr" rtl="0">
                        <a:spcBef>
                          <a:spcPts val="0"/>
                        </a:spcBef>
                        <a:spcAft>
                          <a:spcPts val="0"/>
                        </a:spcAft>
                        <a:buNone/>
                      </a:pPr>
                      <a:r>
                        <a:rPr lang="en-US" sz="2000" b="1" dirty="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latin typeface="Fira Sans"/>
                          <a:ea typeface="Fira Sans"/>
                          <a:cs typeface="Fira Sans"/>
                          <a:sym typeface="Fira Sans"/>
                        </a:rPr>
                        <a:t>1</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1</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479825">
                <a:tc>
                  <a:txBody>
                    <a:bodyPr/>
                    <a:lstStyle/>
                    <a:p>
                      <a:pPr marL="0" lvl="0" indent="0" algn="ctr" rtl="0">
                        <a:spcBef>
                          <a:spcPts val="0"/>
                        </a:spcBef>
                        <a:spcAft>
                          <a:spcPts val="0"/>
                        </a:spcAft>
                        <a:buNone/>
                      </a:pPr>
                      <a:r>
                        <a:rPr lang="en-US" sz="2000" b="1" dirty="0">
                          <a:latin typeface="Fira Sans"/>
                          <a:ea typeface="Fira Sans"/>
                          <a:cs typeface="Fira Sans"/>
                          <a:sym typeface="Fira Sans"/>
                        </a:rPr>
                        <a:t>1</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1</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479825">
                <a:tc>
                  <a:txBody>
                    <a:bodyPr/>
                    <a:lstStyle/>
                    <a:p>
                      <a:pPr marL="0" lvl="0" indent="0" algn="ctr" rtl="0">
                        <a:spcBef>
                          <a:spcPts val="0"/>
                        </a:spcBef>
                        <a:spcAft>
                          <a:spcPts val="0"/>
                        </a:spcAft>
                        <a:buNone/>
                      </a:pPr>
                      <a:r>
                        <a:rPr lang="en-US" sz="2000" b="1" dirty="0">
                          <a:latin typeface="Fira Sans"/>
                          <a:ea typeface="Fira Sans"/>
                          <a:cs typeface="Fira Sans"/>
                          <a:sym typeface="Fira Sans"/>
                        </a:rPr>
                        <a:t>1</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a:latin typeface="Fira Sans"/>
                          <a:ea typeface="Fira Sans"/>
                          <a:cs typeface="Fira Sans"/>
                          <a:sym typeface="Fira Sans"/>
                        </a:rPr>
                        <a:t>1</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1</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dirty="0" smtClean="0">
                          <a:latin typeface="Fira Sans"/>
                          <a:ea typeface="Fira Sans"/>
                          <a:cs typeface="Fira Sans"/>
                          <a:sym typeface="Fira Sans"/>
                        </a:rPr>
                        <a:t>0</a:t>
                      </a:r>
                      <a:endParaRPr sz="20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21964259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281843" y="191854"/>
            <a:ext cx="8546813" cy="721750"/>
          </a:xfrm>
          <a:prstGeom prst="rect">
            <a:avLst/>
          </a:prstGeom>
          <a:noFill/>
          <a:ln>
            <a:noFill/>
          </a:ln>
        </p:spPr>
        <p:txBody>
          <a:bodyPr spcFirstLastPara="1" wrap="square" lIns="76790" tIns="38395" rIns="76790" bIns="38395" anchor="ctr" anchorCtr="0">
            <a:noAutofit/>
          </a:bodyPr>
          <a:lstStyle/>
          <a:p>
            <a:pPr marL="382270"/>
            <a:r>
              <a:rPr lang="en-US" sz="3000" b="1" dirty="0" smtClean="0">
                <a:solidFill>
                  <a:srgbClr val="C00000"/>
                </a:solidFill>
                <a:latin typeface="Marcellus" charset="0"/>
              </a:rPr>
              <a:t> 2 bit Comparator</a:t>
            </a:r>
            <a:endParaRPr sz="3000" b="1" dirty="0">
              <a:solidFill>
                <a:srgbClr val="C00000"/>
              </a:solidFill>
              <a:latin typeface="Marcellus" charset="0"/>
            </a:endParaRPr>
          </a:p>
        </p:txBody>
      </p:sp>
      <p:pic>
        <p:nvPicPr>
          <p:cNvPr id="45" name="Google Shape;45;p3"/>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46" name="Google Shape;46;p3"/>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47" name="Google Shape;47;p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sp>
        <p:nvSpPr>
          <p:cNvPr id="49" name="Google Shape;49;p3"/>
          <p:cNvSpPr txBox="1"/>
          <p:nvPr/>
        </p:nvSpPr>
        <p:spPr>
          <a:xfrm>
            <a:off x="668094" y="814938"/>
            <a:ext cx="2997188" cy="2839500"/>
          </a:xfrm>
          <a:prstGeom prst="rect">
            <a:avLst/>
          </a:prstGeom>
          <a:noFill/>
          <a:ln>
            <a:noFill/>
          </a:ln>
        </p:spPr>
        <p:txBody>
          <a:bodyPr spcFirstLastPara="1" wrap="square" lIns="76790" tIns="76790" rIns="76790" bIns="76790" anchor="t" anchorCtr="0">
            <a:noAutofit/>
          </a:bodyPr>
          <a:lstStyle/>
          <a:p>
            <a:pPr marL="320040" indent="320040" algn="just">
              <a:buClr>
                <a:srgbClr val="000000"/>
              </a:buClr>
              <a:buSzPts val="2900"/>
            </a:pPr>
            <a:endParaRPr sz="2000" b="1" dirty="0">
              <a:solidFill>
                <a:schemeClr val="dk1"/>
              </a:solidFill>
              <a:latin typeface="Fira Sans"/>
              <a:ea typeface="Fira Sans"/>
              <a:cs typeface="Fira Sans"/>
              <a:sym typeface="Fira Sans"/>
            </a:endParaRPr>
          </a:p>
          <a:p>
            <a:pPr marL="320040" indent="320040" algn="just">
              <a:buClr>
                <a:srgbClr val="000000"/>
              </a:buClr>
              <a:buSzPts val="2900"/>
            </a:pPr>
            <a:endParaRPr sz="2000" b="1" dirty="0">
              <a:solidFill>
                <a:schemeClr val="dk1"/>
              </a:solidFill>
              <a:latin typeface="Fira Sans"/>
              <a:ea typeface="Fira Sans"/>
              <a:cs typeface="Fira Sans"/>
              <a:sym typeface="Fira Sans"/>
            </a:endParaRPr>
          </a:p>
        </p:txBody>
      </p:sp>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graphicFrame>
        <p:nvGraphicFramePr>
          <p:cNvPr id="10" name="Google Shape;174;p21"/>
          <p:cNvGraphicFramePr/>
          <p:nvPr>
            <p:extLst>
              <p:ext uri="{D42A27DB-BD31-4B8C-83A1-F6EECF244321}">
                <p14:modId xmlns:p14="http://schemas.microsoft.com/office/powerpoint/2010/main" val="1477711250"/>
              </p:ext>
            </p:extLst>
          </p:nvPr>
        </p:nvGraphicFramePr>
        <p:xfrm>
          <a:off x="755576" y="1124744"/>
          <a:ext cx="3485072" cy="3703050"/>
        </p:xfrm>
        <a:graphic>
          <a:graphicData uri="http://schemas.openxmlformats.org/drawingml/2006/table">
            <a:tbl>
              <a:tblPr>
                <a:noFill/>
              </a:tblPr>
              <a:tblGrid>
                <a:gridCol w="460737"/>
                <a:gridCol w="432048"/>
                <a:gridCol w="432048"/>
                <a:gridCol w="432048"/>
                <a:gridCol w="576064"/>
                <a:gridCol w="576064"/>
                <a:gridCol w="576063"/>
              </a:tblGrid>
              <a:tr h="397432">
                <a:tc>
                  <a:txBody>
                    <a:bodyPr/>
                    <a:lstStyle/>
                    <a:p>
                      <a:pPr marL="0" lvl="0" indent="0" algn="ctr" rtl="0">
                        <a:spcBef>
                          <a:spcPts val="0"/>
                        </a:spcBef>
                        <a:spcAft>
                          <a:spcPts val="0"/>
                        </a:spcAft>
                        <a:buNone/>
                      </a:pPr>
                      <a:r>
                        <a:rPr lang="en-US" sz="1500" b="1" dirty="0" smtClean="0">
                          <a:solidFill>
                            <a:srgbClr val="CC0000"/>
                          </a:solidFill>
                          <a:latin typeface="Fira Sans"/>
                          <a:ea typeface="Fira Sans"/>
                          <a:cs typeface="Fira Sans"/>
                          <a:sym typeface="Fira Sans"/>
                        </a:rPr>
                        <a:t>A1</a:t>
                      </a:r>
                      <a:endParaRPr sz="15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solidFill>
                            <a:srgbClr val="CC0000"/>
                          </a:solidFill>
                          <a:latin typeface="Fira Sans"/>
                          <a:ea typeface="Fira Sans"/>
                          <a:cs typeface="Fira Sans"/>
                          <a:sym typeface="Fira Sans"/>
                        </a:rPr>
                        <a:t>A0</a:t>
                      </a:r>
                      <a:endParaRPr sz="1500" b="1" dirty="0">
                        <a:solidFill>
                          <a:srgbClr val="CC0000"/>
                        </a:solidFill>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solidFill>
                            <a:srgbClr val="CC0000"/>
                          </a:solidFill>
                          <a:latin typeface="Fira Sans"/>
                          <a:ea typeface="Fira Sans"/>
                          <a:cs typeface="Fira Sans"/>
                          <a:sym typeface="Fira Sans"/>
                        </a:rPr>
                        <a:t>B1</a:t>
                      </a:r>
                      <a:endParaRPr sz="15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solidFill>
                            <a:srgbClr val="CC0000"/>
                          </a:solidFill>
                          <a:latin typeface="Fira Sans"/>
                          <a:ea typeface="Fira Sans"/>
                          <a:cs typeface="Fira Sans"/>
                          <a:sym typeface="Fira Sans"/>
                        </a:rPr>
                        <a:t>B0</a:t>
                      </a:r>
                      <a:endParaRPr sz="1500" b="1" dirty="0">
                        <a:solidFill>
                          <a:srgbClr val="CC0000"/>
                        </a:solidFill>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solidFill>
                            <a:srgbClr val="CC0000"/>
                          </a:solidFill>
                          <a:latin typeface="Fira Sans"/>
                          <a:ea typeface="Fira Sans"/>
                          <a:cs typeface="Fira Sans"/>
                          <a:sym typeface="Fira Sans"/>
                        </a:rPr>
                        <a:t>A&lt;B</a:t>
                      </a:r>
                      <a:endParaRPr sz="15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solidFill>
                            <a:srgbClr val="CC0000"/>
                          </a:solidFill>
                          <a:latin typeface="Fira Sans"/>
                          <a:ea typeface="Fira Sans"/>
                          <a:cs typeface="Fira Sans"/>
                          <a:sym typeface="Fira Sans"/>
                        </a:rPr>
                        <a:t>A=B</a:t>
                      </a:r>
                      <a:endParaRPr sz="15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solidFill>
                            <a:srgbClr val="CC0000"/>
                          </a:solidFill>
                          <a:latin typeface="Fira Sans"/>
                          <a:ea typeface="Fira Sans"/>
                          <a:cs typeface="Fira Sans"/>
                          <a:sym typeface="Fira Sans"/>
                        </a:rPr>
                        <a:t>A&gt;B</a:t>
                      </a:r>
                      <a:endParaRPr sz="15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274014">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r>
              <a:tr h="294612">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53459">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230041">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r>
              <a:tr h="230041">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r>
              <a:tr h="230041">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r>
              <a:tr h="230041">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r>
              <a:tr h="230041">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11" name="Google Shape;174;p21"/>
          <p:cNvGraphicFramePr/>
          <p:nvPr>
            <p:extLst>
              <p:ext uri="{D42A27DB-BD31-4B8C-83A1-F6EECF244321}">
                <p14:modId xmlns:p14="http://schemas.microsoft.com/office/powerpoint/2010/main" val="3633272038"/>
              </p:ext>
            </p:extLst>
          </p:nvPr>
        </p:nvGraphicFramePr>
        <p:xfrm>
          <a:off x="4788024" y="1124744"/>
          <a:ext cx="3485072" cy="3703050"/>
        </p:xfrm>
        <a:graphic>
          <a:graphicData uri="http://schemas.openxmlformats.org/drawingml/2006/table">
            <a:tbl>
              <a:tblPr>
                <a:noFill/>
              </a:tblPr>
              <a:tblGrid>
                <a:gridCol w="460737"/>
                <a:gridCol w="432048"/>
                <a:gridCol w="432048"/>
                <a:gridCol w="432048"/>
                <a:gridCol w="576064"/>
                <a:gridCol w="576064"/>
                <a:gridCol w="576063"/>
              </a:tblGrid>
              <a:tr h="397432">
                <a:tc>
                  <a:txBody>
                    <a:bodyPr/>
                    <a:lstStyle/>
                    <a:p>
                      <a:pPr marL="0" lvl="0" indent="0" algn="ctr" rtl="0">
                        <a:spcBef>
                          <a:spcPts val="0"/>
                        </a:spcBef>
                        <a:spcAft>
                          <a:spcPts val="0"/>
                        </a:spcAft>
                        <a:buNone/>
                      </a:pPr>
                      <a:r>
                        <a:rPr lang="en-US" sz="1500" b="1" dirty="0" smtClean="0">
                          <a:solidFill>
                            <a:srgbClr val="CC0000"/>
                          </a:solidFill>
                          <a:latin typeface="Fira Sans"/>
                          <a:ea typeface="Fira Sans"/>
                          <a:cs typeface="Fira Sans"/>
                          <a:sym typeface="Fira Sans"/>
                        </a:rPr>
                        <a:t>A1</a:t>
                      </a:r>
                      <a:endParaRPr sz="15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solidFill>
                            <a:srgbClr val="CC0000"/>
                          </a:solidFill>
                          <a:latin typeface="Fira Sans"/>
                          <a:ea typeface="Fira Sans"/>
                          <a:cs typeface="Fira Sans"/>
                          <a:sym typeface="Fira Sans"/>
                        </a:rPr>
                        <a:t>A0</a:t>
                      </a:r>
                      <a:endParaRPr sz="1500" b="1" dirty="0">
                        <a:solidFill>
                          <a:srgbClr val="CC0000"/>
                        </a:solidFill>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solidFill>
                            <a:srgbClr val="CC0000"/>
                          </a:solidFill>
                          <a:latin typeface="Fira Sans"/>
                          <a:ea typeface="Fira Sans"/>
                          <a:cs typeface="Fira Sans"/>
                          <a:sym typeface="Fira Sans"/>
                        </a:rPr>
                        <a:t>B1</a:t>
                      </a:r>
                      <a:endParaRPr sz="15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solidFill>
                            <a:srgbClr val="CC0000"/>
                          </a:solidFill>
                          <a:latin typeface="Fira Sans"/>
                          <a:ea typeface="Fira Sans"/>
                          <a:cs typeface="Fira Sans"/>
                          <a:sym typeface="Fira Sans"/>
                        </a:rPr>
                        <a:t>B0</a:t>
                      </a:r>
                      <a:endParaRPr sz="1500" b="1" dirty="0">
                        <a:solidFill>
                          <a:srgbClr val="CC0000"/>
                        </a:solidFill>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solidFill>
                            <a:srgbClr val="CC0000"/>
                          </a:solidFill>
                          <a:latin typeface="Fira Sans"/>
                          <a:ea typeface="Fira Sans"/>
                          <a:cs typeface="Fira Sans"/>
                          <a:sym typeface="Fira Sans"/>
                        </a:rPr>
                        <a:t>A&lt;B</a:t>
                      </a:r>
                      <a:endParaRPr sz="15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solidFill>
                            <a:srgbClr val="CC0000"/>
                          </a:solidFill>
                          <a:latin typeface="Fira Sans"/>
                          <a:ea typeface="Fira Sans"/>
                          <a:cs typeface="Fira Sans"/>
                          <a:sym typeface="Fira Sans"/>
                        </a:rPr>
                        <a:t>A=B</a:t>
                      </a:r>
                      <a:endParaRPr sz="15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solidFill>
                            <a:srgbClr val="CC0000"/>
                          </a:solidFill>
                          <a:latin typeface="Fira Sans"/>
                          <a:ea typeface="Fira Sans"/>
                          <a:cs typeface="Fira Sans"/>
                          <a:sym typeface="Fira Sans"/>
                        </a:rPr>
                        <a:t>A&gt;B</a:t>
                      </a:r>
                      <a:endParaRPr sz="1500" b="1" dirty="0">
                        <a:solidFill>
                          <a:srgbClr val="CC0000"/>
                        </a:solidFill>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r>
              <a:tr h="274014">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r>
              <a:tr h="294612">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53459">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230041">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r>
              <a:tr h="230041">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r>
              <a:tr h="230041">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r>
              <a:tr h="230041">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r>
              <a:tr h="230041">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1</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smtClean="0">
                          <a:latin typeface="Fira Sans"/>
                          <a:ea typeface="Fira Sans"/>
                          <a:cs typeface="Fira Sans"/>
                          <a:sym typeface="Fira Sans"/>
                        </a:rPr>
                        <a:t>0</a:t>
                      </a:r>
                      <a:endParaRPr sz="1500" b="1" dirty="0">
                        <a:latin typeface="Fira Sans"/>
                        <a:ea typeface="Fira Sans"/>
                        <a:cs typeface="Fira Sans"/>
                        <a:sym typeface="Fira Sans"/>
                      </a:endParaRPr>
                    </a:p>
                  </a:txBody>
                  <a:tcPr marL="91425" marR="91425" marT="91425" marB="914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350176796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281843" y="191854"/>
            <a:ext cx="8546813" cy="721750"/>
          </a:xfrm>
          <a:prstGeom prst="rect">
            <a:avLst/>
          </a:prstGeom>
          <a:noFill/>
          <a:ln>
            <a:noFill/>
          </a:ln>
        </p:spPr>
        <p:txBody>
          <a:bodyPr spcFirstLastPara="1" wrap="square" lIns="76790" tIns="38395" rIns="76790" bIns="38395" anchor="ctr" anchorCtr="0">
            <a:noAutofit/>
          </a:bodyPr>
          <a:lstStyle/>
          <a:p>
            <a:pPr marL="382270"/>
            <a:r>
              <a:rPr lang="en-US" sz="3000" b="1" dirty="0" smtClean="0">
                <a:solidFill>
                  <a:srgbClr val="C00000"/>
                </a:solidFill>
                <a:latin typeface="Marcellus" charset="0"/>
              </a:rPr>
              <a:t> 2 bit Comparator</a:t>
            </a:r>
            <a:endParaRPr sz="3000" b="1" dirty="0">
              <a:solidFill>
                <a:srgbClr val="C00000"/>
              </a:solidFill>
              <a:latin typeface="Marcellus" charset="0"/>
            </a:endParaRPr>
          </a:p>
        </p:txBody>
      </p:sp>
      <p:pic>
        <p:nvPicPr>
          <p:cNvPr id="45" name="Google Shape;45;p3"/>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46" name="Google Shape;46;p3"/>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47" name="Google Shape;47;p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sp>
        <p:nvSpPr>
          <p:cNvPr id="49" name="Google Shape;49;p3"/>
          <p:cNvSpPr txBox="1"/>
          <p:nvPr/>
        </p:nvSpPr>
        <p:spPr>
          <a:xfrm>
            <a:off x="668094" y="814938"/>
            <a:ext cx="2997188" cy="2839500"/>
          </a:xfrm>
          <a:prstGeom prst="rect">
            <a:avLst/>
          </a:prstGeom>
          <a:noFill/>
          <a:ln>
            <a:noFill/>
          </a:ln>
        </p:spPr>
        <p:txBody>
          <a:bodyPr spcFirstLastPara="1" wrap="square" lIns="76790" tIns="76790" rIns="76790" bIns="76790" anchor="t" anchorCtr="0">
            <a:noAutofit/>
          </a:bodyPr>
          <a:lstStyle/>
          <a:p>
            <a:pPr marL="320040" indent="320040" algn="just">
              <a:buClr>
                <a:srgbClr val="000000"/>
              </a:buClr>
              <a:buSzPts val="2900"/>
            </a:pPr>
            <a:endParaRPr sz="2000" b="1" dirty="0">
              <a:solidFill>
                <a:schemeClr val="dk1"/>
              </a:solidFill>
              <a:latin typeface="Fira Sans"/>
              <a:ea typeface="Fira Sans"/>
              <a:cs typeface="Fira Sans"/>
              <a:sym typeface="Fira Sans"/>
            </a:endParaRPr>
          </a:p>
          <a:p>
            <a:pPr marL="320040" indent="320040" algn="just">
              <a:buClr>
                <a:srgbClr val="000000"/>
              </a:buClr>
              <a:buSzPts val="2900"/>
            </a:pPr>
            <a:endParaRPr sz="2000" b="1" dirty="0">
              <a:solidFill>
                <a:schemeClr val="dk1"/>
              </a:solidFill>
              <a:latin typeface="Fira Sans"/>
              <a:ea typeface="Fira Sans"/>
              <a:cs typeface="Fira Sans"/>
              <a:sym typeface="Fira Sans"/>
            </a:endParaRPr>
          </a:p>
        </p:txBody>
      </p:sp>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pic>
        <p:nvPicPr>
          <p:cNvPr id="2" name="Picture 1"/>
          <p:cNvPicPr>
            <a:picLocks noChangeAspect="1"/>
          </p:cNvPicPr>
          <p:nvPr/>
        </p:nvPicPr>
        <p:blipFill rotWithShape="1">
          <a:blip r:embed="rId7">
            <a:extLst>
              <a:ext uri="{28A0092B-C50C-407E-A947-70E740481C1C}">
                <a14:useLocalDpi xmlns:a14="http://schemas.microsoft.com/office/drawing/2010/main" val="0"/>
              </a:ext>
            </a:extLst>
          </a:blip>
          <a:srcRect l="21226" t="11107" r="19616" b="15631"/>
          <a:stretch/>
        </p:blipFill>
        <p:spPr>
          <a:xfrm>
            <a:off x="668094" y="1145205"/>
            <a:ext cx="7994990" cy="4424577"/>
          </a:xfrm>
          <a:prstGeom prst="rect">
            <a:avLst/>
          </a:prstGeom>
        </p:spPr>
      </p:pic>
    </p:spTree>
    <p:extLst>
      <p:ext uri="{BB962C8B-B14F-4D97-AF65-F5344CB8AC3E}">
        <p14:creationId xmlns:p14="http://schemas.microsoft.com/office/powerpoint/2010/main" val="272683107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281843" y="191854"/>
            <a:ext cx="8546813" cy="721750"/>
          </a:xfrm>
          <a:prstGeom prst="rect">
            <a:avLst/>
          </a:prstGeom>
          <a:noFill/>
          <a:ln>
            <a:noFill/>
          </a:ln>
        </p:spPr>
        <p:txBody>
          <a:bodyPr spcFirstLastPara="1" wrap="square" lIns="76790" tIns="38395" rIns="76790" bIns="38395" anchor="ctr" anchorCtr="0">
            <a:noAutofit/>
          </a:bodyPr>
          <a:lstStyle/>
          <a:p>
            <a:pPr marL="382270"/>
            <a:r>
              <a:rPr lang="en-US" sz="3000" b="1" dirty="0" smtClean="0">
                <a:solidFill>
                  <a:srgbClr val="C00000"/>
                </a:solidFill>
                <a:latin typeface="Marcellus" charset="0"/>
              </a:rPr>
              <a:t>4 bit Comparator</a:t>
            </a:r>
            <a:endParaRPr sz="3000" b="1" dirty="0">
              <a:solidFill>
                <a:srgbClr val="C00000"/>
              </a:solidFill>
              <a:latin typeface="Marcellus" charset="0"/>
            </a:endParaRPr>
          </a:p>
        </p:txBody>
      </p:sp>
      <p:pic>
        <p:nvPicPr>
          <p:cNvPr id="45" name="Google Shape;45;p3"/>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46" name="Google Shape;46;p3"/>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47" name="Google Shape;47;p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sp>
        <p:nvSpPr>
          <p:cNvPr id="49" name="Google Shape;49;p3"/>
          <p:cNvSpPr txBox="1"/>
          <p:nvPr/>
        </p:nvSpPr>
        <p:spPr>
          <a:xfrm>
            <a:off x="668094" y="814938"/>
            <a:ext cx="2997188" cy="2839500"/>
          </a:xfrm>
          <a:prstGeom prst="rect">
            <a:avLst/>
          </a:prstGeom>
          <a:noFill/>
          <a:ln>
            <a:noFill/>
          </a:ln>
        </p:spPr>
        <p:txBody>
          <a:bodyPr spcFirstLastPara="1" wrap="square" lIns="76790" tIns="76790" rIns="76790" bIns="76790" anchor="t" anchorCtr="0">
            <a:noAutofit/>
          </a:bodyPr>
          <a:lstStyle/>
          <a:p>
            <a:pPr marL="320040" indent="320040" algn="just">
              <a:buClr>
                <a:srgbClr val="000000"/>
              </a:buClr>
              <a:buSzPts val="2900"/>
            </a:pPr>
            <a:endParaRPr sz="2000" b="1" dirty="0">
              <a:solidFill>
                <a:schemeClr val="dk1"/>
              </a:solidFill>
              <a:latin typeface="Fira Sans"/>
              <a:ea typeface="Fira Sans"/>
              <a:cs typeface="Fira Sans"/>
              <a:sym typeface="Fira Sans"/>
            </a:endParaRPr>
          </a:p>
          <a:p>
            <a:pPr marL="320040" indent="320040" algn="just">
              <a:buClr>
                <a:srgbClr val="000000"/>
              </a:buClr>
              <a:buSzPts val="2900"/>
            </a:pPr>
            <a:endParaRPr sz="2000" b="1" dirty="0">
              <a:solidFill>
                <a:schemeClr val="dk1"/>
              </a:solidFill>
              <a:latin typeface="Fira Sans"/>
              <a:ea typeface="Fira Sans"/>
              <a:cs typeface="Fira Sans"/>
              <a:sym typeface="Fira Sans"/>
            </a:endParaRPr>
          </a:p>
        </p:txBody>
      </p:sp>
      <p:sp>
        <p:nvSpPr>
          <p:cNvPr id="50" name="Google Shape;50;p3"/>
          <p:cNvSpPr txBox="1"/>
          <p:nvPr/>
        </p:nvSpPr>
        <p:spPr>
          <a:xfrm>
            <a:off x="955110" y="913604"/>
            <a:ext cx="7572484" cy="4602500"/>
          </a:xfrm>
          <a:prstGeom prst="rect">
            <a:avLst/>
          </a:prstGeom>
          <a:noFill/>
          <a:ln>
            <a:noFill/>
          </a:ln>
        </p:spPr>
        <p:txBody>
          <a:bodyPr spcFirstLastPara="1" wrap="square" lIns="76790" tIns="76790" rIns="76790" bIns="76790" anchor="t" anchorCtr="0">
            <a:noAutofit/>
          </a:bodyPr>
          <a:lstStyle/>
          <a:p>
            <a:pPr marL="320040" algn="just">
              <a:buClr>
                <a:srgbClr val="000000"/>
              </a:buClr>
              <a:buSzPts val="2900"/>
            </a:pPr>
            <a:r>
              <a:rPr lang="en-US" sz="2400" b="1" dirty="0" smtClean="0">
                <a:solidFill>
                  <a:schemeClr val="dk1"/>
                </a:solidFill>
                <a:latin typeface="Fira Sans"/>
                <a:ea typeface="Fira Sans"/>
                <a:cs typeface="Fira Sans"/>
                <a:sym typeface="Fira Sans"/>
              </a:rPr>
              <a:t>IC 7485 comparator</a:t>
            </a:r>
          </a:p>
          <a:p>
            <a:pPr marL="320040" algn="just">
              <a:buClr>
                <a:srgbClr val="000000"/>
              </a:buClr>
              <a:buSzPts val="2900"/>
            </a:pPr>
            <a:endParaRPr lang="en-US" sz="2400" b="1" dirty="0">
              <a:solidFill>
                <a:schemeClr val="dk1"/>
              </a:solidFill>
              <a:latin typeface="Fira Sans"/>
              <a:ea typeface="Fira Sans"/>
              <a:cs typeface="Fira Sans"/>
              <a:sym typeface="Fira Sans"/>
            </a:endParaRPr>
          </a:p>
          <a:p>
            <a:pPr marL="320040" algn="just">
              <a:buClr>
                <a:srgbClr val="000000"/>
              </a:buClr>
              <a:buSzPts val="2900"/>
            </a:pPr>
            <a:r>
              <a:rPr lang="en-US" sz="2400" b="1" dirty="0" smtClean="0">
                <a:solidFill>
                  <a:schemeClr val="dk1"/>
                </a:solidFill>
                <a:latin typeface="Fira Sans"/>
                <a:ea typeface="Fira Sans"/>
                <a:cs typeface="Fira Sans"/>
                <a:sym typeface="Fira Sans"/>
              </a:rPr>
              <a:t>			</a:t>
            </a:r>
            <a:endParaRPr sz="2400" b="1" dirty="0">
              <a:solidFill>
                <a:schemeClr val="dk1"/>
              </a:solidFill>
              <a:latin typeface="Fira Sans"/>
              <a:ea typeface="Fira Sans"/>
              <a:cs typeface="Fira Sans"/>
              <a:sym typeface="Fira Sans"/>
            </a:endParaRPr>
          </a:p>
        </p:txBody>
      </p:sp>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pic>
        <p:nvPicPr>
          <p:cNvPr id="2050" name="Picture 2" descr="Pin Diagram of 7485 4-Bit Magnitude Comparator IC"/>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4066" y="1628800"/>
            <a:ext cx="3225494" cy="348911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able Listing Pin Configuration of 7485 IC"/>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37369" y="919532"/>
            <a:ext cx="3642474" cy="5057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64259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281843" y="34528"/>
            <a:ext cx="8400063" cy="514152"/>
          </a:xfrm>
          <a:prstGeom prst="rect">
            <a:avLst/>
          </a:prstGeom>
          <a:noFill/>
          <a:ln>
            <a:noFill/>
          </a:ln>
        </p:spPr>
        <p:txBody>
          <a:bodyPr spcFirstLastPara="1" wrap="square" lIns="76790" tIns="38395" rIns="76790" bIns="38395" anchor="ctr" anchorCtr="0">
            <a:noAutofit/>
          </a:bodyPr>
          <a:lstStyle/>
          <a:p>
            <a:pPr marL="324000"/>
            <a:r>
              <a:rPr lang="en-US" sz="3000" b="1" dirty="0" smtClean="0">
                <a:solidFill>
                  <a:srgbClr val="C00000"/>
                </a:solidFill>
                <a:latin typeface="Marcellus" charset="0"/>
              </a:rPr>
              <a:t>4 bit Comparator</a:t>
            </a:r>
            <a:endParaRPr sz="3000" b="1" dirty="0">
              <a:solidFill>
                <a:srgbClr val="C00000"/>
              </a:solidFill>
              <a:latin typeface="Marcellus" charset="0"/>
            </a:endParaRPr>
          </a:p>
        </p:txBody>
      </p:sp>
      <p:pic>
        <p:nvPicPr>
          <p:cNvPr id="45" name="Google Shape;45;p3"/>
          <p:cNvPicPr preferRelativeResize="0"/>
          <p:nvPr/>
        </p:nvPicPr>
        <p:blipFill rotWithShape="1">
          <a:blip r:embed="rId3">
            <a:alphaModFix/>
          </a:blip>
          <a:srcRect/>
          <a:stretch/>
        </p:blipFill>
        <p:spPr>
          <a:xfrm rot="5400000">
            <a:off x="4362258" y="2097118"/>
            <a:ext cx="385984" cy="9177498"/>
          </a:xfrm>
          <a:prstGeom prst="rect">
            <a:avLst/>
          </a:prstGeom>
          <a:noFill/>
          <a:ln>
            <a:noFill/>
          </a:ln>
        </p:spPr>
      </p:pic>
      <p:pic>
        <p:nvPicPr>
          <p:cNvPr id="46" name="Google Shape;46;p3"/>
          <p:cNvPicPr preferRelativeResize="0"/>
          <p:nvPr/>
        </p:nvPicPr>
        <p:blipFill rotWithShape="1">
          <a:blip r:embed="rId4">
            <a:alphaModFix/>
          </a:blip>
          <a:srcRect/>
          <a:stretch/>
        </p:blipFill>
        <p:spPr>
          <a:xfrm rot="5400000">
            <a:off x="3378189" y="2920766"/>
            <a:ext cx="176409" cy="6999786"/>
          </a:xfrm>
          <a:prstGeom prst="rect">
            <a:avLst/>
          </a:prstGeom>
          <a:noFill/>
          <a:ln>
            <a:noFill/>
          </a:ln>
        </p:spPr>
      </p:pic>
      <p:pic>
        <p:nvPicPr>
          <p:cNvPr id="47" name="Google Shape;47;p3" descr="A close up of a sign&#10;&#10;Description automatically generated"/>
          <p:cNvPicPr preferRelativeResize="0">
            <a:picLocks noGrp="1"/>
          </p:cNvPicPr>
          <p:nvPr>
            <p:ph type="body" idx="1"/>
          </p:nvPr>
        </p:nvPicPr>
        <p:blipFill rotWithShape="1">
          <a:blip r:embed="rId5">
            <a:alphaModFix/>
          </a:blip>
          <a:srcRect/>
          <a:stretch/>
        </p:blipFill>
        <p:spPr>
          <a:xfrm>
            <a:off x="8121316" y="5610533"/>
            <a:ext cx="726375" cy="721750"/>
          </a:xfrm>
          <a:prstGeom prst="rect">
            <a:avLst/>
          </a:prstGeom>
          <a:noFill/>
          <a:ln>
            <a:noFill/>
          </a:ln>
        </p:spPr>
      </p:pic>
      <p:sp>
        <p:nvSpPr>
          <p:cNvPr id="49" name="Google Shape;49;p3"/>
          <p:cNvSpPr txBox="1"/>
          <p:nvPr/>
        </p:nvSpPr>
        <p:spPr>
          <a:xfrm>
            <a:off x="668094" y="814938"/>
            <a:ext cx="2997188" cy="2839500"/>
          </a:xfrm>
          <a:prstGeom prst="rect">
            <a:avLst/>
          </a:prstGeom>
          <a:noFill/>
          <a:ln>
            <a:noFill/>
          </a:ln>
        </p:spPr>
        <p:txBody>
          <a:bodyPr spcFirstLastPara="1" wrap="square" lIns="76790" tIns="76790" rIns="76790" bIns="76790" anchor="t" anchorCtr="0">
            <a:noAutofit/>
          </a:bodyPr>
          <a:lstStyle/>
          <a:p>
            <a:pPr marL="320040" indent="320040" algn="just">
              <a:buClr>
                <a:srgbClr val="000000"/>
              </a:buClr>
              <a:buSzPts val="2900"/>
            </a:pPr>
            <a:endParaRPr sz="2000" b="1" dirty="0">
              <a:solidFill>
                <a:schemeClr val="dk1"/>
              </a:solidFill>
              <a:latin typeface="Fira Sans"/>
              <a:ea typeface="Fira Sans"/>
              <a:cs typeface="Fira Sans"/>
              <a:sym typeface="Fira Sans"/>
            </a:endParaRPr>
          </a:p>
          <a:p>
            <a:pPr marL="320040" indent="320040" algn="just">
              <a:buClr>
                <a:srgbClr val="000000"/>
              </a:buClr>
              <a:buSzPts val="2900"/>
            </a:pPr>
            <a:endParaRPr sz="2000" b="1" dirty="0">
              <a:solidFill>
                <a:schemeClr val="dk1"/>
              </a:solidFill>
              <a:latin typeface="Fira Sans"/>
              <a:ea typeface="Fira Sans"/>
              <a:cs typeface="Fira Sans"/>
              <a:sym typeface="Fira Sans"/>
            </a:endParaRPr>
          </a:p>
        </p:txBody>
      </p:sp>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pic>
        <p:nvPicPr>
          <p:cNvPr id="1026" name="Picture 2"/>
          <p:cNvPicPr>
            <a:picLocks noChangeAspect="1" noChangeArrowheads="1"/>
          </p:cNvPicPr>
          <p:nvPr/>
        </p:nvPicPr>
        <p:blipFill rotWithShape="1">
          <a:blip r:embed="rId7">
            <a:extLst>
              <a:ext uri="{28A0092B-C50C-407E-A947-70E740481C1C}">
                <a14:useLocalDpi xmlns:a14="http://schemas.microsoft.com/office/drawing/2010/main" val="0"/>
              </a:ext>
            </a:extLst>
          </a:blip>
          <a:srcRect l="2022" t="17978" r="36208" b="33483"/>
          <a:stretch/>
        </p:blipFill>
        <p:spPr bwMode="auto">
          <a:xfrm>
            <a:off x="428594" y="548680"/>
            <a:ext cx="8253312" cy="3648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rotWithShape="1">
          <a:blip r:embed="rId8">
            <a:extLst>
              <a:ext uri="{28A0092B-C50C-407E-A947-70E740481C1C}">
                <a14:useLocalDpi xmlns:a14="http://schemas.microsoft.com/office/drawing/2010/main" val="0"/>
              </a:ext>
            </a:extLst>
          </a:blip>
          <a:srcRect l="11292" t="30561" r="42862" b="40225"/>
          <a:stretch/>
        </p:blipFill>
        <p:spPr bwMode="auto">
          <a:xfrm>
            <a:off x="2051720" y="4099389"/>
            <a:ext cx="5589550" cy="20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64259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5;p2"/>
          <p:cNvSpPr txBox="1">
            <a:spLocks/>
          </p:cNvSpPr>
          <p:nvPr/>
        </p:nvSpPr>
        <p:spPr>
          <a:xfrm>
            <a:off x="281843" y="2588907"/>
            <a:ext cx="8546813" cy="1020113"/>
          </a:xfrm>
          <a:prstGeom prst="rect">
            <a:avLst/>
          </a:prstGeom>
          <a:noFill/>
          <a:ln>
            <a:noFill/>
          </a:ln>
        </p:spPr>
        <p:txBody>
          <a:bodyPr spcFirstLastPara="1" wrap="square" lIns="76790" tIns="38395" rIns="76790" bIns="3839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3000" b="1" dirty="0" smtClean="0">
                <a:solidFill>
                  <a:srgbClr val="C00000"/>
                </a:solidFill>
                <a:latin typeface="Marcellus"/>
                <a:ea typeface="Marcellus"/>
                <a:cs typeface="Marcellus"/>
                <a:sym typeface="Marcellus"/>
              </a:rPr>
              <a:t>Encoders</a:t>
            </a:r>
            <a:endParaRPr lang="en-IN" sz="3000" b="1" dirty="0">
              <a:solidFill>
                <a:srgbClr val="C00000"/>
              </a:solidFill>
              <a:latin typeface="Marcellus"/>
              <a:ea typeface="Marcellus"/>
              <a:cs typeface="Marcellus"/>
              <a:sym typeface="Marcellus"/>
            </a:endParaRPr>
          </a:p>
        </p:txBody>
      </p:sp>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Tree>
    <p:extLst>
      <p:ext uri="{BB962C8B-B14F-4D97-AF65-F5344CB8AC3E}">
        <p14:creationId xmlns:p14="http://schemas.microsoft.com/office/powerpoint/2010/main" val="279473777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681189498"/>
              </p:ext>
            </p:extLst>
          </p:nvPr>
        </p:nvGraphicFramePr>
        <p:xfrm>
          <a:off x="1270213" y="4058387"/>
          <a:ext cx="6851103" cy="1524000"/>
        </p:xfrm>
        <a:graphic>
          <a:graphicData uri="http://schemas.openxmlformats.org/drawingml/2006/table">
            <a:tbl>
              <a:tblPr/>
              <a:tblGrid>
                <a:gridCol w="2283701"/>
                <a:gridCol w="2283701"/>
                <a:gridCol w="2283701"/>
              </a:tblGrid>
              <a:tr h="244827">
                <a:tc>
                  <a:txBody>
                    <a:bodyPr/>
                    <a:lstStyle/>
                    <a:p>
                      <a:r>
                        <a:rPr lang="en-US" sz="1400" b="1" dirty="0">
                          <a:latin typeface="Times New Roman" pitchFamily="18" charset="0"/>
                          <a:cs typeface="Times New Roman" pitchFamily="18" charset="0"/>
                        </a:rPr>
                        <a:t>Active Input</a:t>
                      </a:r>
                    </a:p>
                  </a:txBody>
                  <a:tcPr anchor="ctr">
                    <a:lnL>
                      <a:noFill/>
                    </a:lnL>
                    <a:lnR>
                      <a:noFill/>
                    </a:lnR>
                    <a:lnT>
                      <a:noFill/>
                    </a:lnT>
                    <a:lnB>
                      <a:noFill/>
                    </a:lnB>
                  </a:tcPr>
                </a:tc>
                <a:tc>
                  <a:txBody>
                    <a:bodyPr/>
                    <a:lstStyle/>
                    <a:p>
                      <a:r>
                        <a:rPr lang="en-US" sz="1400" b="1" dirty="0" smtClean="0">
                          <a:latin typeface="Times New Roman" pitchFamily="18" charset="0"/>
                          <a:cs typeface="Times New Roman" pitchFamily="18" charset="0"/>
                        </a:rPr>
                        <a:t>A1</a:t>
                      </a:r>
                      <a:endParaRPr lang="en-US" sz="1400" b="1" dirty="0">
                        <a:latin typeface="Times New Roman" pitchFamily="18" charset="0"/>
                        <a:cs typeface="Times New Roman" pitchFamily="18" charset="0"/>
                      </a:endParaRPr>
                    </a:p>
                  </a:txBody>
                  <a:tcPr anchor="ctr">
                    <a:lnL>
                      <a:noFill/>
                    </a:lnL>
                    <a:lnR>
                      <a:noFill/>
                    </a:lnR>
                    <a:lnT>
                      <a:noFill/>
                    </a:lnT>
                    <a:lnB>
                      <a:noFill/>
                    </a:lnB>
                  </a:tcPr>
                </a:tc>
                <a:tc>
                  <a:txBody>
                    <a:bodyPr/>
                    <a:lstStyle/>
                    <a:p>
                      <a:r>
                        <a:rPr lang="en-US" sz="1400" b="1" dirty="0" smtClean="0">
                          <a:latin typeface="Times New Roman" pitchFamily="18" charset="0"/>
                          <a:cs typeface="Times New Roman" pitchFamily="18" charset="0"/>
                        </a:rPr>
                        <a:t>A0</a:t>
                      </a:r>
                      <a:endParaRPr lang="en-US" sz="1400" b="1" dirty="0">
                        <a:latin typeface="Times New Roman" pitchFamily="18" charset="0"/>
                        <a:cs typeface="Times New Roman" pitchFamily="18" charset="0"/>
                      </a:endParaRPr>
                    </a:p>
                  </a:txBody>
                  <a:tcPr anchor="ctr">
                    <a:lnL>
                      <a:noFill/>
                    </a:lnL>
                    <a:lnR>
                      <a:noFill/>
                    </a:lnR>
                    <a:lnT>
                      <a:noFill/>
                    </a:lnT>
                    <a:lnB>
                      <a:noFill/>
                    </a:lnB>
                  </a:tcPr>
                </a:tc>
              </a:tr>
              <a:tr h="244827">
                <a:tc>
                  <a:txBody>
                    <a:bodyPr/>
                    <a:lstStyle/>
                    <a:p>
                      <a:r>
                        <a:rPr lang="en-US" sz="1400" b="1" dirty="0" smtClean="0">
                          <a:latin typeface="Times New Roman" pitchFamily="18" charset="0"/>
                          <a:cs typeface="Times New Roman" pitchFamily="18" charset="0"/>
                        </a:rPr>
                        <a:t>Y0 </a:t>
                      </a:r>
                      <a:r>
                        <a:rPr lang="en-US" sz="1400" b="1" dirty="0">
                          <a:latin typeface="Times New Roman" pitchFamily="18" charset="0"/>
                          <a:cs typeface="Times New Roman" pitchFamily="18" charset="0"/>
                        </a:rPr>
                        <a:t>= 1</a:t>
                      </a:r>
                    </a:p>
                  </a:txBody>
                  <a:tcPr anchor="ctr">
                    <a:lnL>
                      <a:noFill/>
                    </a:lnL>
                    <a:lnR>
                      <a:noFill/>
                    </a:lnR>
                    <a:lnT>
                      <a:noFill/>
                    </a:lnT>
                    <a:lnB>
                      <a:noFill/>
                    </a:lnB>
                  </a:tcPr>
                </a:tc>
                <a:tc>
                  <a:txBody>
                    <a:bodyPr/>
                    <a:lstStyle/>
                    <a:p>
                      <a:r>
                        <a:rPr lang="en-US" sz="1400" b="1">
                          <a:latin typeface="Times New Roman" pitchFamily="18" charset="0"/>
                          <a:cs typeface="Times New Roman" pitchFamily="18" charset="0"/>
                        </a:rPr>
                        <a:t>0</a:t>
                      </a:r>
                    </a:p>
                  </a:txBody>
                  <a:tcPr anchor="ctr">
                    <a:lnL>
                      <a:noFill/>
                    </a:lnL>
                    <a:lnR>
                      <a:noFill/>
                    </a:lnR>
                    <a:lnT>
                      <a:noFill/>
                    </a:lnT>
                    <a:lnB>
                      <a:noFill/>
                    </a:lnB>
                  </a:tcPr>
                </a:tc>
                <a:tc>
                  <a:txBody>
                    <a:bodyPr/>
                    <a:lstStyle/>
                    <a:p>
                      <a:r>
                        <a:rPr lang="en-US" sz="1400" b="1">
                          <a:latin typeface="Times New Roman" pitchFamily="18" charset="0"/>
                          <a:cs typeface="Times New Roman" pitchFamily="18" charset="0"/>
                        </a:rPr>
                        <a:t>0</a:t>
                      </a:r>
                    </a:p>
                  </a:txBody>
                  <a:tcPr anchor="ctr">
                    <a:lnL>
                      <a:noFill/>
                    </a:lnL>
                    <a:lnR>
                      <a:noFill/>
                    </a:lnR>
                    <a:lnT>
                      <a:noFill/>
                    </a:lnT>
                    <a:lnB>
                      <a:noFill/>
                    </a:lnB>
                  </a:tcPr>
                </a:tc>
              </a:tr>
              <a:tr h="244827">
                <a:tc>
                  <a:txBody>
                    <a:bodyPr/>
                    <a:lstStyle/>
                    <a:p>
                      <a:r>
                        <a:rPr lang="en-US" sz="1400" b="1" dirty="0" smtClean="0">
                          <a:latin typeface="Times New Roman" pitchFamily="18" charset="0"/>
                          <a:cs typeface="Times New Roman" pitchFamily="18" charset="0"/>
                        </a:rPr>
                        <a:t>Y1 </a:t>
                      </a:r>
                      <a:r>
                        <a:rPr lang="en-US" sz="1400" b="1" dirty="0">
                          <a:latin typeface="Times New Roman" pitchFamily="18" charset="0"/>
                          <a:cs typeface="Times New Roman" pitchFamily="18" charset="0"/>
                        </a:rPr>
                        <a:t>= 1</a:t>
                      </a:r>
                    </a:p>
                  </a:txBody>
                  <a:tcPr anchor="ctr">
                    <a:lnL>
                      <a:noFill/>
                    </a:lnL>
                    <a:lnR>
                      <a:noFill/>
                    </a:lnR>
                    <a:lnT>
                      <a:noFill/>
                    </a:lnT>
                    <a:lnB>
                      <a:noFill/>
                    </a:lnB>
                  </a:tcPr>
                </a:tc>
                <a:tc>
                  <a:txBody>
                    <a:bodyPr/>
                    <a:lstStyle/>
                    <a:p>
                      <a:r>
                        <a:rPr lang="en-US" sz="1400" b="1">
                          <a:latin typeface="Times New Roman" pitchFamily="18" charset="0"/>
                          <a:cs typeface="Times New Roman" pitchFamily="18" charset="0"/>
                        </a:rPr>
                        <a:t>0</a:t>
                      </a:r>
                    </a:p>
                  </a:txBody>
                  <a:tcPr anchor="ctr">
                    <a:lnL>
                      <a:noFill/>
                    </a:lnL>
                    <a:lnR>
                      <a:noFill/>
                    </a:lnR>
                    <a:lnT>
                      <a:noFill/>
                    </a:lnT>
                    <a:lnB>
                      <a:noFill/>
                    </a:lnB>
                  </a:tcPr>
                </a:tc>
                <a:tc>
                  <a:txBody>
                    <a:bodyPr/>
                    <a:lstStyle/>
                    <a:p>
                      <a:r>
                        <a:rPr lang="en-US" sz="1400" b="1">
                          <a:latin typeface="Times New Roman" pitchFamily="18" charset="0"/>
                          <a:cs typeface="Times New Roman" pitchFamily="18" charset="0"/>
                        </a:rPr>
                        <a:t>1</a:t>
                      </a:r>
                    </a:p>
                  </a:txBody>
                  <a:tcPr anchor="ctr">
                    <a:lnL>
                      <a:noFill/>
                    </a:lnL>
                    <a:lnR>
                      <a:noFill/>
                    </a:lnR>
                    <a:lnT>
                      <a:noFill/>
                    </a:lnT>
                    <a:lnB>
                      <a:noFill/>
                    </a:lnB>
                  </a:tcPr>
                </a:tc>
              </a:tr>
              <a:tr h="244827">
                <a:tc>
                  <a:txBody>
                    <a:bodyPr/>
                    <a:lstStyle/>
                    <a:p>
                      <a:r>
                        <a:rPr lang="en-US" sz="1400" b="1" dirty="0" smtClean="0">
                          <a:latin typeface="Times New Roman" pitchFamily="18" charset="0"/>
                          <a:cs typeface="Times New Roman" pitchFamily="18" charset="0"/>
                        </a:rPr>
                        <a:t>Y2 </a:t>
                      </a:r>
                      <a:r>
                        <a:rPr lang="en-US" sz="1400" b="1" dirty="0">
                          <a:latin typeface="Times New Roman" pitchFamily="18" charset="0"/>
                          <a:cs typeface="Times New Roman" pitchFamily="18" charset="0"/>
                        </a:rPr>
                        <a:t>= 1</a:t>
                      </a:r>
                    </a:p>
                  </a:txBody>
                  <a:tcPr anchor="ctr">
                    <a:lnL>
                      <a:noFill/>
                    </a:lnL>
                    <a:lnR>
                      <a:noFill/>
                    </a:lnR>
                    <a:lnT>
                      <a:noFill/>
                    </a:lnT>
                    <a:lnB>
                      <a:noFill/>
                    </a:lnB>
                  </a:tcPr>
                </a:tc>
                <a:tc>
                  <a:txBody>
                    <a:bodyPr/>
                    <a:lstStyle/>
                    <a:p>
                      <a:r>
                        <a:rPr lang="en-US" sz="1400" b="1">
                          <a:latin typeface="Times New Roman" pitchFamily="18" charset="0"/>
                          <a:cs typeface="Times New Roman" pitchFamily="18" charset="0"/>
                        </a:rPr>
                        <a:t>1</a:t>
                      </a:r>
                    </a:p>
                  </a:txBody>
                  <a:tcPr anchor="ctr">
                    <a:lnL>
                      <a:noFill/>
                    </a:lnL>
                    <a:lnR>
                      <a:noFill/>
                    </a:lnR>
                    <a:lnT>
                      <a:noFill/>
                    </a:lnT>
                    <a:lnB>
                      <a:noFill/>
                    </a:lnB>
                  </a:tcPr>
                </a:tc>
                <a:tc>
                  <a:txBody>
                    <a:bodyPr/>
                    <a:lstStyle/>
                    <a:p>
                      <a:r>
                        <a:rPr lang="en-US" sz="1400" b="1">
                          <a:latin typeface="Times New Roman" pitchFamily="18" charset="0"/>
                          <a:cs typeface="Times New Roman" pitchFamily="18" charset="0"/>
                        </a:rPr>
                        <a:t>0</a:t>
                      </a:r>
                    </a:p>
                  </a:txBody>
                  <a:tcPr anchor="ctr">
                    <a:lnL>
                      <a:noFill/>
                    </a:lnL>
                    <a:lnR>
                      <a:noFill/>
                    </a:lnR>
                    <a:lnT>
                      <a:noFill/>
                    </a:lnT>
                    <a:lnB>
                      <a:noFill/>
                    </a:lnB>
                  </a:tcPr>
                </a:tc>
              </a:tr>
              <a:tr h="244827">
                <a:tc>
                  <a:txBody>
                    <a:bodyPr/>
                    <a:lstStyle/>
                    <a:p>
                      <a:r>
                        <a:rPr lang="en-US" sz="1400" b="1" dirty="0" smtClean="0">
                          <a:latin typeface="Times New Roman" pitchFamily="18" charset="0"/>
                          <a:cs typeface="Times New Roman" pitchFamily="18" charset="0"/>
                        </a:rPr>
                        <a:t>Y3 </a:t>
                      </a:r>
                      <a:r>
                        <a:rPr lang="en-US" sz="1400" b="1" dirty="0">
                          <a:latin typeface="Times New Roman" pitchFamily="18" charset="0"/>
                          <a:cs typeface="Times New Roman" pitchFamily="18" charset="0"/>
                        </a:rPr>
                        <a:t>= 1</a:t>
                      </a:r>
                    </a:p>
                  </a:txBody>
                  <a:tcPr anchor="ctr">
                    <a:lnL>
                      <a:noFill/>
                    </a:lnL>
                    <a:lnR>
                      <a:noFill/>
                    </a:lnR>
                    <a:lnT>
                      <a:noFill/>
                    </a:lnT>
                    <a:lnB>
                      <a:noFill/>
                    </a:lnB>
                  </a:tcPr>
                </a:tc>
                <a:tc>
                  <a:txBody>
                    <a:bodyPr/>
                    <a:lstStyle/>
                    <a:p>
                      <a:r>
                        <a:rPr lang="en-US" sz="1400" b="1">
                          <a:latin typeface="Times New Roman" pitchFamily="18" charset="0"/>
                          <a:cs typeface="Times New Roman" pitchFamily="18" charset="0"/>
                        </a:rPr>
                        <a:t>1</a:t>
                      </a:r>
                    </a:p>
                  </a:txBody>
                  <a:tcPr anchor="ctr">
                    <a:lnL>
                      <a:noFill/>
                    </a:lnL>
                    <a:lnR>
                      <a:noFill/>
                    </a:lnR>
                    <a:lnT>
                      <a:noFill/>
                    </a:lnT>
                    <a:lnB>
                      <a:noFill/>
                    </a:lnB>
                  </a:tcPr>
                </a:tc>
                <a:tc>
                  <a:txBody>
                    <a:bodyPr/>
                    <a:lstStyle/>
                    <a:p>
                      <a:r>
                        <a:rPr lang="en-US" sz="1400" b="1" dirty="0">
                          <a:latin typeface="Times New Roman" pitchFamily="18" charset="0"/>
                          <a:cs typeface="Times New Roman" pitchFamily="18" charset="0"/>
                        </a:rPr>
                        <a:t>1</a:t>
                      </a:r>
                    </a:p>
                  </a:txBody>
                  <a:tcPr anchor="ctr">
                    <a:lnL>
                      <a:noFill/>
                    </a:lnL>
                    <a:lnR>
                      <a:noFill/>
                    </a:lnR>
                    <a:lnT>
                      <a:noFill/>
                    </a:lnT>
                    <a:lnB>
                      <a:noFill/>
                    </a:lnB>
                  </a:tcPr>
                </a:tc>
              </a:tr>
            </a:tbl>
          </a:graphicData>
        </a:graphic>
      </p:graphicFrame>
      <p:sp>
        <p:nvSpPr>
          <p:cNvPr id="3" name="Rectangle 1"/>
          <p:cNvSpPr>
            <a:spLocks noChangeArrowheads="1"/>
          </p:cNvSpPr>
          <p:nvPr/>
        </p:nvSpPr>
        <p:spPr bwMode="auto">
          <a:xfrm>
            <a:off x="323528" y="476672"/>
            <a:ext cx="8208912"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itchFamily="18" charset="0"/>
                <a:cs typeface="Times New Roman" pitchFamily="18" charset="0"/>
              </a:rPr>
              <a:t>Definition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An </a:t>
            </a:r>
            <a:r>
              <a:rPr kumimoji="0" lang="en-US" sz="2000" b="1" i="0" u="none" strike="noStrike" cap="none" normalizeH="0" baseline="0" dirty="0" smtClean="0">
                <a:ln>
                  <a:noFill/>
                </a:ln>
                <a:solidFill>
                  <a:schemeClr val="tx1"/>
                </a:solidFill>
                <a:effectLst/>
                <a:latin typeface="Times New Roman" pitchFamily="18" charset="0"/>
                <a:cs typeface="Times New Roman" pitchFamily="18" charset="0"/>
              </a:rPr>
              <a:t>encoder</a:t>
            </a: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 is a combinational circuit that converts </a:t>
            </a:r>
            <a:r>
              <a:rPr kumimoji="0" lang="en-US" sz="2000" b="1" i="0" u="none" strike="noStrike" cap="none" normalizeH="0" baseline="0" dirty="0" smtClean="0">
                <a:ln>
                  <a:noFill/>
                </a:ln>
                <a:solidFill>
                  <a:schemeClr val="tx1"/>
                </a:solidFill>
                <a:effectLst/>
                <a:latin typeface="Times New Roman" pitchFamily="18" charset="0"/>
                <a:cs typeface="Times New Roman" pitchFamily="18" charset="0"/>
              </a:rPr>
              <a:t>2ⁿ input lines into n output lines</a:t>
            </a: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a:t>
            </a:r>
            <a:r>
              <a:rPr kumimoji="0" lang="en-US" sz="2000" b="0" i="0" u="none" strike="noStrike" cap="none" normalizeH="0" dirty="0" smtClean="0">
                <a:ln>
                  <a:noFill/>
                </a:ln>
                <a:solidFill>
                  <a:schemeClr val="tx1"/>
                </a:solidFill>
                <a:effectLst/>
                <a:latin typeface="Times New Roman" pitchFamily="18" charset="0"/>
                <a:cs typeface="Times New Roman" pitchFamily="18" charset="0"/>
              </a:rPr>
              <a:t> </a:t>
            </a: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Only </a:t>
            </a:r>
            <a:r>
              <a:rPr kumimoji="0" lang="en-US" sz="2000" b="1" i="0" u="none" strike="noStrike" cap="none" normalizeH="0" baseline="0" dirty="0" smtClean="0">
                <a:ln>
                  <a:noFill/>
                </a:ln>
                <a:solidFill>
                  <a:schemeClr val="tx1"/>
                </a:solidFill>
                <a:effectLst/>
                <a:latin typeface="Times New Roman" pitchFamily="18" charset="0"/>
                <a:cs typeface="Times New Roman" pitchFamily="18" charset="0"/>
              </a:rPr>
              <a:t>one input should be HIGH (1)</a:t>
            </a: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 at a time.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Example: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4-to-2 encoder → 4 inputs, 2 outputs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8-to-3 encoder → 8 inputs, 3 outputs</a:t>
            </a:r>
          </a:p>
        </p:txBody>
      </p:sp>
      <p:sp>
        <p:nvSpPr>
          <p:cNvPr id="5" name="Rectangle 3"/>
          <p:cNvSpPr>
            <a:spLocks noChangeArrowheads="1"/>
          </p:cNvSpPr>
          <p:nvPr/>
        </p:nvSpPr>
        <p:spPr bwMode="auto">
          <a:xfrm>
            <a:off x="457200" y="2887656"/>
            <a:ext cx="293221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itchFamily="18" charset="0"/>
                <a:cs typeface="Times New Roman" pitchFamily="18" charset="0"/>
              </a:rPr>
              <a:t>Example: 4-to-2 Encoder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itchFamily="18" charset="0"/>
                <a:cs typeface="Times New Roman" pitchFamily="18" charset="0"/>
              </a:rPr>
              <a:t>Inputs:</a:t>
            </a: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 Y0, Y1, Y2, Y3</a:t>
            </a:r>
            <a:b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br>
            <a:r>
              <a:rPr kumimoji="0" lang="en-US" sz="2000" b="1" i="0" u="none" strike="noStrike" cap="none" normalizeH="0" baseline="0" dirty="0" smtClean="0">
                <a:ln>
                  <a:noFill/>
                </a:ln>
                <a:solidFill>
                  <a:schemeClr val="tx1"/>
                </a:solidFill>
                <a:effectLst/>
                <a:latin typeface="Times New Roman" pitchFamily="18" charset="0"/>
                <a:cs typeface="Times New Roman" pitchFamily="18" charset="0"/>
              </a:rPr>
              <a:t>Outputs:</a:t>
            </a: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 A1, A0</a:t>
            </a:r>
          </a:p>
        </p:txBody>
      </p:sp>
      <p:pic>
        <p:nvPicPr>
          <p:cNvPr id="6"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7"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8"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9" name="Picture 8"/>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pic>
        <p:nvPicPr>
          <p:cNvPr id="102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11871" y="1839631"/>
            <a:ext cx="4566360" cy="1733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252435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990691" y="925701"/>
            <a:ext cx="7183505"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fontAlgn="base">
              <a:spcBef>
                <a:spcPct val="0"/>
              </a:spcBef>
              <a:spcAft>
                <a:spcPct val="0"/>
              </a:spcAft>
              <a:buFont typeface="Arial" pitchFamily="34" charset="0"/>
              <a:buChar char="•"/>
            </a:pPr>
            <a:r>
              <a:rPr lang="en-US" sz="2000" b="1" dirty="0">
                <a:latin typeface="Times New Roman" pitchFamily="18" charset="0"/>
                <a:cs typeface="Times New Roman" pitchFamily="18" charset="0"/>
              </a:rPr>
              <a:t>Boolean </a:t>
            </a:r>
            <a:r>
              <a:rPr lang="en-US" sz="2000" b="1" dirty="0" smtClean="0">
                <a:latin typeface="Times New Roman" pitchFamily="18" charset="0"/>
                <a:cs typeface="Times New Roman" pitchFamily="18" charset="0"/>
              </a:rPr>
              <a:t>Expressions:</a:t>
            </a:r>
          </a:p>
          <a:p>
            <a:pPr algn="just" fontAlgn="base">
              <a:spcBef>
                <a:spcPct val="0"/>
              </a:spcBef>
              <a:spcAft>
                <a:spcPct val="0"/>
              </a:spcAft>
            </a:pPr>
            <a:endParaRPr lang="en-US" sz="2000" b="1" dirty="0">
              <a:latin typeface="Times New Roman" pitchFamily="18" charset="0"/>
              <a:cs typeface="Times New Roman" pitchFamily="18" charset="0"/>
            </a:endParaRPr>
          </a:p>
          <a:p>
            <a:pPr algn="just" fontAlgn="base">
              <a:spcBef>
                <a:spcPct val="0"/>
              </a:spcBef>
              <a:spcAft>
                <a:spcPct val="0"/>
              </a:spcAft>
            </a:pPr>
            <a:r>
              <a:rPr lang="en-US" sz="2000" b="1" dirty="0" smtClean="0">
                <a:latin typeface="Times New Roman" pitchFamily="18" charset="0"/>
                <a:cs typeface="Times New Roman" pitchFamily="18" charset="0"/>
              </a:rPr>
              <a:t>A1 </a:t>
            </a:r>
            <a:r>
              <a:rPr lang="en-US" sz="2000" b="1" dirty="0">
                <a:latin typeface="Times New Roman" pitchFamily="18" charset="0"/>
                <a:cs typeface="Times New Roman" pitchFamily="18" charset="0"/>
              </a:rPr>
              <a:t>= </a:t>
            </a:r>
            <a:r>
              <a:rPr lang="en-US" sz="2000" b="1" dirty="0" smtClean="0">
                <a:latin typeface="Times New Roman" pitchFamily="18" charset="0"/>
                <a:cs typeface="Times New Roman" pitchFamily="18" charset="0"/>
              </a:rPr>
              <a:t>Y2 </a:t>
            </a:r>
            <a:r>
              <a:rPr lang="en-US" sz="2000" b="1" dirty="0">
                <a:latin typeface="Times New Roman" pitchFamily="18" charset="0"/>
                <a:cs typeface="Times New Roman" pitchFamily="18" charset="0"/>
              </a:rPr>
              <a:t>+ </a:t>
            </a:r>
            <a:r>
              <a:rPr lang="en-US" sz="2000" b="1" dirty="0" smtClean="0">
                <a:latin typeface="Times New Roman" pitchFamily="18" charset="0"/>
                <a:cs typeface="Times New Roman" pitchFamily="18" charset="0"/>
              </a:rPr>
              <a:t>Y3</a:t>
            </a:r>
          </a:p>
          <a:p>
            <a:pPr algn="just" fontAlgn="base">
              <a:spcBef>
                <a:spcPct val="0"/>
              </a:spcBef>
              <a:spcAft>
                <a:spcPct val="0"/>
              </a:spcAft>
            </a:pPr>
            <a:endParaRPr lang="en-US" sz="2000" b="1" dirty="0" smtClean="0">
              <a:latin typeface="Times New Roman" pitchFamily="18" charset="0"/>
              <a:cs typeface="Times New Roman" pitchFamily="18" charset="0"/>
            </a:endParaRPr>
          </a:p>
          <a:p>
            <a:pPr algn="just" fontAlgn="base">
              <a:spcBef>
                <a:spcPct val="0"/>
              </a:spcBef>
              <a:spcAft>
                <a:spcPct val="0"/>
              </a:spcAft>
            </a:pPr>
            <a:r>
              <a:rPr lang="en-US" sz="2000" b="1" dirty="0" smtClean="0">
                <a:latin typeface="Times New Roman" pitchFamily="18" charset="0"/>
                <a:cs typeface="Times New Roman" pitchFamily="18" charset="0"/>
              </a:rPr>
              <a:t>A0=Y1+Y3 </a:t>
            </a:r>
            <a:endParaRPr lang="en-US" sz="2000" b="1" dirty="0">
              <a:latin typeface="Times New Roman" pitchFamily="18" charset="0"/>
              <a:cs typeface="Times New Roman" pitchFamily="18" charset="0"/>
            </a:endParaRPr>
          </a:p>
        </p:txBody>
      </p:sp>
      <p:sp>
        <p:nvSpPr>
          <p:cNvPr id="4" name="Rectangle 3"/>
          <p:cNvSpPr>
            <a:spLocks noChangeArrowheads="1"/>
          </p:cNvSpPr>
          <p:nvPr/>
        </p:nvSpPr>
        <p:spPr bwMode="auto">
          <a:xfrm>
            <a:off x="956794" y="2780928"/>
            <a:ext cx="698477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fontAlgn="base">
              <a:spcBef>
                <a:spcPct val="0"/>
              </a:spcBef>
              <a:spcAft>
                <a:spcPct val="0"/>
              </a:spcAft>
              <a:buFont typeface="Arial" pitchFamily="34" charset="0"/>
              <a:buChar char="•"/>
            </a:pPr>
            <a:r>
              <a:rPr lang="en-US" sz="2000" b="1" dirty="0" smtClean="0">
                <a:latin typeface="Times New Roman" pitchFamily="18" charset="0"/>
                <a:cs typeface="Times New Roman" pitchFamily="18" charset="0"/>
              </a:rPr>
              <a:t>Applications:</a:t>
            </a:r>
          </a:p>
          <a:p>
            <a:pPr algn="just" fontAlgn="base">
              <a:spcBef>
                <a:spcPct val="0"/>
              </a:spcBef>
              <a:spcAft>
                <a:spcPct val="0"/>
              </a:spcAft>
            </a:pPr>
            <a:endParaRPr lang="en-US" sz="2000" b="1" dirty="0">
              <a:latin typeface="Times New Roman" pitchFamily="18" charset="0"/>
              <a:cs typeface="Times New Roman" pitchFamily="18" charset="0"/>
            </a:endParaRPr>
          </a:p>
          <a:p>
            <a:pPr algn="just" fontAlgn="base">
              <a:spcBef>
                <a:spcPct val="0"/>
              </a:spcBef>
              <a:spcAft>
                <a:spcPct val="0"/>
              </a:spcAft>
            </a:pPr>
            <a:r>
              <a:rPr lang="en-US" sz="2000" b="1" dirty="0">
                <a:latin typeface="Times New Roman" pitchFamily="18" charset="0"/>
                <a:cs typeface="Times New Roman" pitchFamily="18" charset="0"/>
              </a:rPr>
              <a:t>Keyboard encoding</a:t>
            </a:r>
          </a:p>
          <a:p>
            <a:pPr algn="just" fontAlgn="base">
              <a:spcBef>
                <a:spcPct val="0"/>
              </a:spcBef>
              <a:spcAft>
                <a:spcPct val="0"/>
              </a:spcAft>
            </a:pPr>
            <a:r>
              <a:rPr lang="en-US" sz="2000" b="1" dirty="0">
                <a:latin typeface="Times New Roman" pitchFamily="18" charset="0"/>
                <a:cs typeface="Times New Roman" pitchFamily="18" charset="0"/>
              </a:rPr>
              <a:t>Interrupt handling</a:t>
            </a:r>
          </a:p>
          <a:p>
            <a:pPr algn="just" fontAlgn="base">
              <a:spcBef>
                <a:spcPct val="0"/>
              </a:spcBef>
              <a:spcAft>
                <a:spcPct val="0"/>
              </a:spcAft>
            </a:pPr>
            <a:r>
              <a:rPr lang="en-US" sz="2000" b="1" dirty="0">
                <a:latin typeface="Times New Roman" pitchFamily="18" charset="0"/>
                <a:cs typeface="Times New Roman" pitchFamily="18" charset="0"/>
              </a:rPr>
              <a:t>Data compression</a:t>
            </a:r>
          </a:p>
          <a:p>
            <a:pPr algn="just" fontAlgn="base">
              <a:spcBef>
                <a:spcPct val="0"/>
              </a:spcBef>
              <a:spcAft>
                <a:spcPct val="0"/>
              </a:spcAft>
            </a:pPr>
            <a:r>
              <a:rPr lang="en-US" sz="2000" b="1" dirty="0">
                <a:latin typeface="Times New Roman" pitchFamily="18" charset="0"/>
                <a:cs typeface="Times New Roman" pitchFamily="18" charset="0"/>
              </a:rPr>
              <a:t>Microprocessor input </a:t>
            </a:r>
            <a:r>
              <a:rPr lang="en-US" sz="2000" b="1" dirty="0" smtClean="0">
                <a:latin typeface="Times New Roman" pitchFamily="18" charset="0"/>
                <a:cs typeface="Times New Roman" pitchFamily="18" charset="0"/>
              </a:rPr>
              <a:t>systems</a:t>
            </a:r>
            <a:endParaRPr lang="en-US" sz="2000" b="1" dirty="0">
              <a:latin typeface="Times New Roman" pitchFamily="18" charset="0"/>
              <a:cs typeface="Times New Roman" pitchFamily="18" charset="0"/>
            </a:endParaRPr>
          </a:p>
        </p:txBody>
      </p:sp>
      <p:pic>
        <p:nvPicPr>
          <p:cNvPr id="5"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6"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7"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8" name="Picture 7"/>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pic>
        <p:nvPicPr>
          <p:cNvPr id="2052"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7944" y="1052736"/>
            <a:ext cx="4617674" cy="3008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3734730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3"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4"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5" name="Picture 4"/>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
        <p:nvSpPr>
          <p:cNvPr id="8" name="Rectangle 7"/>
          <p:cNvSpPr/>
          <p:nvPr/>
        </p:nvSpPr>
        <p:spPr>
          <a:xfrm>
            <a:off x="798817" y="404664"/>
            <a:ext cx="7512866" cy="2246769"/>
          </a:xfrm>
          <a:prstGeom prst="rect">
            <a:avLst/>
          </a:prstGeom>
        </p:spPr>
        <p:txBody>
          <a:bodyPr wrap="square">
            <a:spAutoFit/>
          </a:bodyPr>
          <a:lstStyle/>
          <a:p>
            <a:pPr algn="ctr"/>
            <a:r>
              <a:rPr lang="en-US" sz="2000" b="1" dirty="0">
                <a:latin typeface="Times New Roman" pitchFamily="18" charset="0"/>
                <a:cs typeface="Times New Roman" pitchFamily="18" charset="0"/>
              </a:rPr>
              <a:t>Octal to Binary Encoder (8 to 3 Encoder</a:t>
            </a:r>
            <a:r>
              <a:rPr lang="en-US" sz="2000" b="1" dirty="0" smtClean="0">
                <a:latin typeface="Times New Roman" pitchFamily="18" charset="0"/>
                <a:cs typeface="Times New Roman" pitchFamily="18" charset="0"/>
              </a:rPr>
              <a:t>)</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The 8 to 3 Encoder or octal to Binary encoder consists of 8 inputs: Y7 to Y0 and 3 outputs: A2, A1 &amp; A0. Each input line corresponds to each octal digit value and three outputs generate corresponding binary code. </a:t>
            </a:r>
            <a:endParaRPr lang="en-US" sz="2000" dirty="0" smtClean="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figure below shows the logic symbol of octal to the binary encoder</a:t>
            </a:r>
            <a:r>
              <a:rPr lang="en-US" sz="2000" dirty="0" smtClean="0">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pic>
        <p:nvPicPr>
          <p:cNvPr id="3075"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3728" y="2996952"/>
            <a:ext cx="4460708" cy="2362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3734730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3"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4"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5" name="Picture 4"/>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2786595089"/>
              </p:ext>
            </p:extLst>
          </p:nvPr>
        </p:nvGraphicFramePr>
        <p:xfrm>
          <a:off x="457200" y="764704"/>
          <a:ext cx="8291264" cy="4792980"/>
        </p:xfrm>
        <a:graphic>
          <a:graphicData uri="http://schemas.openxmlformats.org/drawingml/2006/table">
            <a:tbl>
              <a:tblPr/>
              <a:tblGrid>
                <a:gridCol w="4454946"/>
                <a:gridCol w="3836318"/>
              </a:tblGrid>
              <a:tr h="253515">
                <a:tc>
                  <a:txBody>
                    <a:bodyPr/>
                    <a:lstStyle/>
                    <a:p>
                      <a:pPr algn="ctr" fontAlgn="base"/>
                      <a:r>
                        <a:rPr lang="en-US" sz="1800" b="1" dirty="0">
                          <a:effectLst/>
                          <a:latin typeface="Times New Roman" pitchFamily="18" charset="0"/>
                          <a:cs typeface="Times New Roman" pitchFamily="18" charset="0"/>
                        </a:rPr>
                        <a:t>INPUTS(Y</a:t>
                      </a:r>
                      <a:r>
                        <a:rPr lang="en-US" sz="1800" b="1" baseline="-25000" dirty="0">
                          <a:effectLst/>
                          <a:latin typeface="Times New Roman" pitchFamily="18" charset="0"/>
                          <a:cs typeface="Times New Roman" pitchFamily="18" charset="0"/>
                        </a:rPr>
                        <a:t>7</a:t>
                      </a:r>
                      <a:r>
                        <a:rPr lang="en-US" sz="1800" b="1" dirty="0">
                          <a:effectLst/>
                          <a:latin typeface="Times New Roman" pitchFamily="18" charset="0"/>
                          <a:cs typeface="Times New Roman" pitchFamily="18" charset="0"/>
                        </a:rPr>
                        <a:t>Y</a:t>
                      </a:r>
                      <a:r>
                        <a:rPr lang="en-US" sz="1800" b="1" baseline="-25000" dirty="0">
                          <a:effectLst/>
                          <a:latin typeface="Times New Roman" pitchFamily="18" charset="0"/>
                          <a:cs typeface="Times New Roman" pitchFamily="18" charset="0"/>
                        </a:rPr>
                        <a:t>6</a:t>
                      </a:r>
                      <a:r>
                        <a:rPr lang="en-US" sz="1800" b="1" dirty="0">
                          <a:effectLst/>
                          <a:latin typeface="Times New Roman" pitchFamily="18" charset="0"/>
                          <a:cs typeface="Times New Roman" pitchFamily="18" charset="0"/>
                        </a:rPr>
                        <a:t>Y</a:t>
                      </a:r>
                      <a:r>
                        <a:rPr lang="en-US" sz="1800" b="1" baseline="-25000" dirty="0">
                          <a:effectLst/>
                          <a:latin typeface="Times New Roman" pitchFamily="18" charset="0"/>
                          <a:cs typeface="Times New Roman" pitchFamily="18" charset="0"/>
                        </a:rPr>
                        <a:t>5</a:t>
                      </a:r>
                      <a:r>
                        <a:rPr lang="en-US" sz="1800" b="1" dirty="0">
                          <a:effectLst/>
                          <a:latin typeface="Times New Roman" pitchFamily="18" charset="0"/>
                          <a:cs typeface="Times New Roman" pitchFamily="18" charset="0"/>
                        </a:rPr>
                        <a:t>Y</a:t>
                      </a:r>
                      <a:r>
                        <a:rPr lang="en-US" sz="1800" b="1" baseline="-25000" dirty="0">
                          <a:effectLst/>
                          <a:latin typeface="Times New Roman" pitchFamily="18" charset="0"/>
                          <a:cs typeface="Times New Roman" pitchFamily="18" charset="0"/>
                        </a:rPr>
                        <a:t>4</a:t>
                      </a:r>
                      <a:r>
                        <a:rPr lang="en-US" sz="1800" b="1" dirty="0">
                          <a:effectLst/>
                          <a:latin typeface="Times New Roman" pitchFamily="18" charset="0"/>
                          <a:cs typeface="Times New Roman" pitchFamily="18" charset="0"/>
                        </a:rPr>
                        <a:t>Y</a:t>
                      </a:r>
                      <a:r>
                        <a:rPr lang="en-US" sz="1800" b="1" baseline="-25000" dirty="0">
                          <a:effectLst/>
                          <a:latin typeface="Times New Roman" pitchFamily="18" charset="0"/>
                          <a:cs typeface="Times New Roman" pitchFamily="18" charset="0"/>
                        </a:rPr>
                        <a:t>3</a:t>
                      </a:r>
                      <a:r>
                        <a:rPr lang="en-US" sz="1800" b="1" dirty="0">
                          <a:effectLst/>
                          <a:latin typeface="Times New Roman" pitchFamily="18" charset="0"/>
                          <a:cs typeface="Times New Roman" pitchFamily="18" charset="0"/>
                        </a:rPr>
                        <a:t>Y</a:t>
                      </a:r>
                      <a:r>
                        <a:rPr lang="en-US" sz="1800" b="1" baseline="-25000" dirty="0">
                          <a:effectLst/>
                          <a:latin typeface="Times New Roman" pitchFamily="18" charset="0"/>
                          <a:cs typeface="Times New Roman" pitchFamily="18" charset="0"/>
                        </a:rPr>
                        <a:t>2</a:t>
                      </a:r>
                      <a:r>
                        <a:rPr lang="en-US" sz="1800" b="1" dirty="0">
                          <a:effectLst/>
                          <a:latin typeface="Times New Roman" pitchFamily="18" charset="0"/>
                          <a:cs typeface="Times New Roman" pitchFamily="18" charset="0"/>
                        </a:rPr>
                        <a:t>Y</a:t>
                      </a:r>
                      <a:r>
                        <a:rPr lang="en-US" sz="1800" b="1" baseline="-25000" dirty="0">
                          <a:effectLst/>
                          <a:latin typeface="Times New Roman" pitchFamily="18" charset="0"/>
                          <a:cs typeface="Times New Roman" pitchFamily="18" charset="0"/>
                        </a:rPr>
                        <a:t>1</a:t>
                      </a:r>
                      <a:r>
                        <a:rPr lang="en-US" sz="1800" b="1" dirty="0">
                          <a:effectLst/>
                          <a:latin typeface="Times New Roman" pitchFamily="18" charset="0"/>
                          <a:cs typeface="Times New Roman" pitchFamily="18" charset="0"/>
                        </a:rPr>
                        <a:t>Y</a:t>
                      </a:r>
                      <a:r>
                        <a:rPr lang="en-US" sz="1800" b="1" baseline="-25000" dirty="0">
                          <a:effectLst/>
                          <a:latin typeface="Times New Roman" pitchFamily="18" charset="0"/>
                          <a:cs typeface="Times New Roman" pitchFamily="18" charset="0"/>
                        </a:rPr>
                        <a:t>0</a:t>
                      </a:r>
                      <a:r>
                        <a:rPr lang="en-US" sz="1800" b="1" dirty="0">
                          <a:effectLst/>
                          <a:latin typeface="Times New Roman" pitchFamily="18" charset="0"/>
                          <a:cs typeface="Times New Roman" pitchFamily="18" charset="0"/>
                        </a:rPr>
                        <a:t>)</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US" sz="1800" b="1">
                          <a:effectLst/>
                          <a:latin typeface="Times New Roman" pitchFamily="18" charset="0"/>
                          <a:cs typeface="Times New Roman" pitchFamily="18" charset="0"/>
                        </a:rPr>
                        <a:t>OUTPUTS(A</a:t>
                      </a:r>
                      <a:r>
                        <a:rPr lang="en-US" sz="1800" b="1" baseline="-25000">
                          <a:effectLst/>
                          <a:latin typeface="Times New Roman" pitchFamily="18" charset="0"/>
                          <a:cs typeface="Times New Roman" pitchFamily="18" charset="0"/>
                        </a:rPr>
                        <a:t>2</a:t>
                      </a:r>
                      <a:r>
                        <a:rPr lang="en-US" sz="1800" b="1">
                          <a:effectLst/>
                          <a:latin typeface="Times New Roman" pitchFamily="18" charset="0"/>
                          <a:cs typeface="Times New Roman" pitchFamily="18" charset="0"/>
                        </a:rPr>
                        <a:t>A</a:t>
                      </a:r>
                      <a:r>
                        <a:rPr lang="en-US" sz="1800" b="1" baseline="-25000">
                          <a:effectLst/>
                          <a:latin typeface="Times New Roman" pitchFamily="18" charset="0"/>
                          <a:cs typeface="Times New Roman" pitchFamily="18" charset="0"/>
                        </a:rPr>
                        <a:t>1</a:t>
                      </a:r>
                      <a:r>
                        <a:rPr lang="en-US" sz="1800" b="1">
                          <a:effectLst/>
                          <a:latin typeface="Times New Roman" pitchFamily="18" charset="0"/>
                          <a:cs typeface="Times New Roman" pitchFamily="18" charset="0"/>
                        </a:rPr>
                        <a:t>A</a:t>
                      </a:r>
                      <a:r>
                        <a:rPr lang="en-US" sz="1800" b="1" baseline="-25000">
                          <a:effectLst/>
                          <a:latin typeface="Times New Roman" pitchFamily="18" charset="0"/>
                          <a:cs typeface="Times New Roman" pitchFamily="18" charset="0"/>
                        </a:rPr>
                        <a:t>0</a:t>
                      </a:r>
                      <a:r>
                        <a:rPr lang="en-US" sz="1800" b="1">
                          <a:effectLst/>
                          <a:latin typeface="Times New Roman" pitchFamily="18" charset="0"/>
                          <a:cs typeface="Times New Roman" pitchFamily="18" charset="0"/>
                        </a:rPr>
                        <a:t>)</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r>
              <a:tr h="301348">
                <a:tc>
                  <a:txBody>
                    <a:bodyPr/>
                    <a:lstStyle/>
                    <a:p>
                      <a:pPr algn="ctr" fontAlgn="ctr"/>
                      <a:r>
                        <a:rPr lang="en-US" sz="1800" b="0" dirty="0">
                          <a:effectLst/>
                          <a:latin typeface="Times New Roman" pitchFamily="18" charset="0"/>
                          <a:cs typeface="Times New Roman" pitchFamily="18" charset="0"/>
                        </a:rPr>
                        <a:t>00000001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dirty="0">
                          <a:effectLst/>
                          <a:latin typeface="Times New Roman" pitchFamily="18" charset="0"/>
                          <a:cs typeface="Times New Roman" pitchFamily="18" charset="0"/>
                        </a:rPr>
                        <a:t>000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301348">
                <a:tc>
                  <a:txBody>
                    <a:bodyPr/>
                    <a:lstStyle/>
                    <a:p>
                      <a:pPr algn="ctr" fontAlgn="ctr"/>
                      <a:r>
                        <a:rPr lang="en-US" sz="1800" b="0">
                          <a:effectLst/>
                          <a:latin typeface="Times New Roman" pitchFamily="18" charset="0"/>
                          <a:cs typeface="Times New Roman" pitchFamily="18" charset="0"/>
                        </a:rPr>
                        <a:t>00000010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dirty="0">
                          <a:effectLst/>
                          <a:latin typeface="Times New Roman" pitchFamily="18" charset="0"/>
                          <a:cs typeface="Times New Roman" pitchFamily="18" charset="0"/>
                        </a:rPr>
                        <a:t>001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301348">
                <a:tc>
                  <a:txBody>
                    <a:bodyPr/>
                    <a:lstStyle/>
                    <a:p>
                      <a:pPr algn="ctr" fontAlgn="ctr"/>
                      <a:r>
                        <a:rPr lang="en-US" sz="1800" b="0">
                          <a:effectLst/>
                          <a:latin typeface="Times New Roman" pitchFamily="18" charset="0"/>
                          <a:cs typeface="Times New Roman" pitchFamily="18" charset="0"/>
                        </a:rPr>
                        <a:t>00000100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dirty="0">
                          <a:effectLst/>
                          <a:latin typeface="Times New Roman" pitchFamily="18" charset="0"/>
                          <a:cs typeface="Times New Roman" pitchFamily="18" charset="0"/>
                        </a:rPr>
                        <a:t>010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301348">
                <a:tc>
                  <a:txBody>
                    <a:bodyPr/>
                    <a:lstStyle/>
                    <a:p>
                      <a:pPr algn="ctr" fontAlgn="ctr"/>
                      <a:r>
                        <a:rPr lang="en-US" sz="1800" b="0">
                          <a:effectLst/>
                          <a:latin typeface="Times New Roman" pitchFamily="18" charset="0"/>
                          <a:cs typeface="Times New Roman" pitchFamily="18" charset="0"/>
                        </a:rPr>
                        <a:t>00001000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dirty="0">
                          <a:effectLst/>
                          <a:latin typeface="Times New Roman" pitchFamily="18" charset="0"/>
                          <a:cs typeface="Times New Roman" pitchFamily="18" charset="0"/>
                        </a:rPr>
                        <a:t>011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301348">
                <a:tc>
                  <a:txBody>
                    <a:bodyPr/>
                    <a:lstStyle/>
                    <a:p>
                      <a:pPr algn="ctr" fontAlgn="ctr"/>
                      <a:r>
                        <a:rPr lang="en-US" sz="1800" b="0">
                          <a:effectLst/>
                          <a:latin typeface="Times New Roman" pitchFamily="18" charset="0"/>
                          <a:cs typeface="Times New Roman" pitchFamily="18" charset="0"/>
                        </a:rPr>
                        <a:t>00010000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dirty="0">
                          <a:effectLst/>
                          <a:latin typeface="Times New Roman" pitchFamily="18" charset="0"/>
                          <a:cs typeface="Times New Roman" pitchFamily="18" charset="0"/>
                        </a:rPr>
                        <a:t>100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301348">
                <a:tc>
                  <a:txBody>
                    <a:bodyPr/>
                    <a:lstStyle/>
                    <a:p>
                      <a:pPr algn="ctr" fontAlgn="ctr"/>
                      <a:r>
                        <a:rPr lang="en-US" sz="1800" b="0">
                          <a:effectLst/>
                          <a:latin typeface="Times New Roman" pitchFamily="18" charset="0"/>
                          <a:cs typeface="Times New Roman" pitchFamily="18" charset="0"/>
                        </a:rPr>
                        <a:t>00100000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dirty="0">
                          <a:effectLst/>
                          <a:latin typeface="Times New Roman" pitchFamily="18" charset="0"/>
                          <a:cs typeface="Times New Roman" pitchFamily="18" charset="0"/>
                        </a:rPr>
                        <a:t>101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301348">
                <a:tc>
                  <a:txBody>
                    <a:bodyPr/>
                    <a:lstStyle/>
                    <a:p>
                      <a:pPr algn="ctr" fontAlgn="ctr"/>
                      <a:r>
                        <a:rPr lang="en-US" sz="1800" b="0" dirty="0">
                          <a:effectLst/>
                          <a:latin typeface="Times New Roman" pitchFamily="18" charset="0"/>
                          <a:cs typeface="Times New Roman" pitchFamily="18" charset="0"/>
                        </a:rPr>
                        <a:t>01000000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dirty="0">
                          <a:effectLst/>
                          <a:latin typeface="Times New Roman" pitchFamily="18" charset="0"/>
                          <a:cs typeface="Times New Roman" pitchFamily="18" charset="0"/>
                        </a:rPr>
                        <a:t>110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301348">
                <a:tc>
                  <a:txBody>
                    <a:bodyPr/>
                    <a:lstStyle/>
                    <a:p>
                      <a:pPr algn="ctr" fontAlgn="ctr"/>
                      <a:r>
                        <a:rPr lang="en-US" sz="1800" b="0" dirty="0">
                          <a:effectLst/>
                          <a:latin typeface="Times New Roman" pitchFamily="18" charset="0"/>
                          <a:cs typeface="Times New Roman" pitchFamily="18" charset="0"/>
                        </a:rPr>
                        <a:t>10000000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dirty="0">
                          <a:effectLst/>
                          <a:latin typeface="Times New Roman" pitchFamily="18" charset="0"/>
                          <a:cs typeface="Times New Roman" pitchFamily="18" charset="0"/>
                        </a:rPr>
                        <a:t>111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bl>
          </a:graphicData>
        </a:graphic>
      </p:graphicFrame>
      <p:sp>
        <p:nvSpPr>
          <p:cNvPr id="7" name="Rectangle 1"/>
          <p:cNvSpPr>
            <a:spLocks noChangeArrowheads="1"/>
          </p:cNvSpPr>
          <p:nvPr/>
        </p:nvSpPr>
        <p:spPr bwMode="auto">
          <a:xfrm>
            <a:off x="457200" y="361782"/>
            <a:ext cx="8291264"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sng" strike="noStrike" cap="none" normalizeH="0" baseline="0" dirty="0" smtClean="0">
                <a:ln>
                  <a:noFill/>
                </a:ln>
                <a:solidFill>
                  <a:srgbClr val="C00000"/>
                </a:solidFill>
                <a:effectLst/>
                <a:latin typeface="Times New Roman" pitchFamily="18" charset="0"/>
                <a:cs typeface="Times New Roman" pitchFamily="18" charset="0"/>
              </a:rPr>
              <a:t>Truth Table</a:t>
            </a:r>
            <a:endParaRPr kumimoji="0" lang="en-US" b="0" i="0" u="sng" strike="noStrike" cap="none" normalizeH="0" baseline="0" dirty="0" smtClean="0">
              <a:ln>
                <a:noFill/>
              </a:ln>
              <a:solidFill>
                <a:srgbClr val="C00000"/>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193734730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pic>
        <p:nvPicPr>
          <p:cNvPr id="512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5250" y="1806446"/>
            <a:ext cx="76200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2269250" y="332656"/>
            <a:ext cx="4572000" cy="1200329"/>
          </a:xfrm>
          <a:prstGeom prst="rect">
            <a:avLst/>
          </a:prstGeom>
        </p:spPr>
        <p:txBody>
          <a:bodyPr>
            <a:spAutoFit/>
          </a:bodyPr>
          <a:lstStyle/>
          <a:p>
            <a:pPr lvl="0" algn="ctr" eaLnBrk="0" fontAlgn="base" hangingPunct="0">
              <a:spcBef>
                <a:spcPct val="0"/>
              </a:spcBef>
              <a:spcAft>
                <a:spcPct val="0"/>
              </a:spcAft>
            </a:pPr>
            <a:r>
              <a:rPr lang="en-US" b="1" dirty="0">
                <a:solidFill>
                  <a:srgbClr val="273239"/>
                </a:solidFill>
                <a:latin typeface="Times New Roman" pitchFamily="18" charset="0"/>
                <a:cs typeface="Times New Roman" pitchFamily="18" charset="0"/>
              </a:rPr>
              <a:t>Logical expression for A</a:t>
            </a:r>
            <a:r>
              <a:rPr lang="en-US" b="1" baseline="-30000" dirty="0">
                <a:solidFill>
                  <a:srgbClr val="273239"/>
                </a:solidFill>
                <a:latin typeface="Times New Roman" pitchFamily="18" charset="0"/>
                <a:cs typeface="Times New Roman" pitchFamily="18" charset="0"/>
              </a:rPr>
              <a:t>2</a:t>
            </a:r>
            <a:r>
              <a:rPr lang="en-US" b="1" dirty="0">
                <a:solidFill>
                  <a:srgbClr val="273239"/>
                </a:solidFill>
                <a:latin typeface="Times New Roman" pitchFamily="18" charset="0"/>
                <a:cs typeface="Times New Roman" pitchFamily="18" charset="0"/>
              </a:rPr>
              <a:t>, A</a:t>
            </a:r>
            <a:r>
              <a:rPr lang="en-US" b="1" baseline="-30000" dirty="0">
                <a:solidFill>
                  <a:srgbClr val="273239"/>
                </a:solidFill>
                <a:latin typeface="Times New Roman" pitchFamily="18" charset="0"/>
                <a:cs typeface="Times New Roman" pitchFamily="18" charset="0"/>
              </a:rPr>
              <a:t>1</a:t>
            </a:r>
            <a:r>
              <a:rPr lang="en-US" b="1" dirty="0">
                <a:solidFill>
                  <a:srgbClr val="273239"/>
                </a:solidFill>
                <a:latin typeface="Times New Roman" pitchFamily="18" charset="0"/>
                <a:cs typeface="Times New Roman" pitchFamily="18" charset="0"/>
              </a:rPr>
              <a:t>, and A</a:t>
            </a:r>
            <a:r>
              <a:rPr lang="en-US" b="1" baseline="-30000" dirty="0">
                <a:solidFill>
                  <a:srgbClr val="273239"/>
                </a:solidFill>
                <a:latin typeface="Times New Roman" pitchFamily="18" charset="0"/>
                <a:cs typeface="Times New Roman" pitchFamily="18" charset="0"/>
              </a:rPr>
              <a:t>0</a:t>
            </a:r>
            <a:r>
              <a:rPr lang="en-US" b="1" dirty="0">
                <a:solidFill>
                  <a:srgbClr val="273239"/>
                </a:solidFill>
                <a:latin typeface="Times New Roman" pitchFamily="18" charset="0"/>
                <a:cs typeface="Times New Roman" pitchFamily="18" charset="0"/>
              </a:rPr>
              <a:t>:</a:t>
            </a:r>
            <a:endParaRPr lang="en-US" b="1" dirty="0">
              <a:latin typeface="Times New Roman" pitchFamily="18" charset="0"/>
              <a:cs typeface="Times New Roman" pitchFamily="18" charset="0"/>
            </a:endParaRPr>
          </a:p>
          <a:p>
            <a:pPr lvl="0" algn="ctr" eaLnBrk="0" fontAlgn="base" hangingPunct="0">
              <a:spcBef>
                <a:spcPct val="0"/>
              </a:spcBef>
              <a:spcAft>
                <a:spcPct val="0"/>
              </a:spcAft>
            </a:pPr>
            <a:r>
              <a:rPr lang="en-US" b="1" dirty="0">
                <a:solidFill>
                  <a:srgbClr val="273239"/>
                </a:solidFill>
                <a:latin typeface="Times New Roman" pitchFamily="18" charset="0"/>
                <a:cs typeface="Times New Roman" pitchFamily="18" charset="0"/>
              </a:rPr>
              <a:t>A</a:t>
            </a:r>
            <a:r>
              <a:rPr lang="en-US" b="1" baseline="-30000" dirty="0">
                <a:solidFill>
                  <a:srgbClr val="273239"/>
                </a:solidFill>
                <a:latin typeface="Times New Roman" pitchFamily="18" charset="0"/>
                <a:cs typeface="Times New Roman" pitchFamily="18" charset="0"/>
              </a:rPr>
              <a:t>2</a:t>
            </a:r>
            <a:r>
              <a:rPr lang="en-US" b="1" dirty="0">
                <a:solidFill>
                  <a:srgbClr val="273239"/>
                </a:solidFill>
                <a:latin typeface="Times New Roman" pitchFamily="18" charset="0"/>
                <a:cs typeface="Times New Roman" pitchFamily="18" charset="0"/>
              </a:rPr>
              <a:t> = Y</a:t>
            </a:r>
            <a:r>
              <a:rPr lang="en-US" b="1" baseline="-30000" dirty="0">
                <a:solidFill>
                  <a:srgbClr val="273239"/>
                </a:solidFill>
                <a:latin typeface="Times New Roman" pitchFamily="18" charset="0"/>
                <a:cs typeface="Times New Roman" pitchFamily="18" charset="0"/>
              </a:rPr>
              <a:t>7 </a:t>
            </a:r>
            <a:r>
              <a:rPr lang="en-US" b="1" dirty="0">
                <a:solidFill>
                  <a:srgbClr val="273239"/>
                </a:solidFill>
                <a:latin typeface="Times New Roman" pitchFamily="18" charset="0"/>
                <a:cs typeface="Times New Roman" pitchFamily="18" charset="0"/>
              </a:rPr>
              <a:t>+ Y</a:t>
            </a:r>
            <a:r>
              <a:rPr lang="en-US" b="1" baseline="-30000" dirty="0">
                <a:solidFill>
                  <a:srgbClr val="273239"/>
                </a:solidFill>
                <a:latin typeface="Times New Roman" pitchFamily="18" charset="0"/>
                <a:cs typeface="Times New Roman" pitchFamily="18" charset="0"/>
              </a:rPr>
              <a:t>6</a:t>
            </a:r>
            <a:r>
              <a:rPr lang="en-US" b="1" dirty="0">
                <a:solidFill>
                  <a:srgbClr val="273239"/>
                </a:solidFill>
                <a:latin typeface="Times New Roman" pitchFamily="18" charset="0"/>
                <a:cs typeface="Times New Roman" pitchFamily="18" charset="0"/>
              </a:rPr>
              <a:t> + Y</a:t>
            </a:r>
            <a:r>
              <a:rPr lang="en-US" b="1" baseline="-30000" dirty="0">
                <a:solidFill>
                  <a:srgbClr val="273239"/>
                </a:solidFill>
                <a:latin typeface="Times New Roman" pitchFamily="18" charset="0"/>
                <a:cs typeface="Times New Roman" pitchFamily="18" charset="0"/>
              </a:rPr>
              <a:t>5</a:t>
            </a:r>
            <a:r>
              <a:rPr lang="en-US" b="1" dirty="0">
                <a:solidFill>
                  <a:srgbClr val="273239"/>
                </a:solidFill>
                <a:latin typeface="Times New Roman" pitchFamily="18" charset="0"/>
                <a:cs typeface="Times New Roman" pitchFamily="18" charset="0"/>
              </a:rPr>
              <a:t> + Y</a:t>
            </a:r>
            <a:r>
              <a:rPr lang="en-US" b="1" baseline="-30000" dirty="0">
                <a:solidFill>
                  <a:srgbClr val="273239"/>
                </a:solidFill>
                <a:latin typeface="Times New Roman" pitchFamily="18" charset="0"/>
                <a:cs typeface="Times New Roman" pitchFamily="18" charset="0"/>
              </a:rPr>
              <a:t>4</a:t>
            </a:r>
            <a:r>
              <a:rPr lang="en-US" b="1" dirty="0">
                <a:solidFill>
                  <a:srgbClr val="273239"/>
                </a:solidFill>
                <a:latin typeface="Times New Roman" pitchFamily="18" charset="0"/>
                <a:cs typeface="Times New Roman" pitchFamily="18" charset="0"/>
              </a:rPr>
              <a:t/>
            </a:r>
            <a:br>
              <a:rPr lang="en-US" b="1" dirty="0">
                <a:solidFill>
                  <a:srgbClr val="273239"/>
                </a:solidFill>
                <a:latin typeface="Times New Roman" pitchFamily="18" charset="0"/>
                <a:cs typeface="Times New Roman" pitchFamily="18" charset="0"/>
              </a:rPr>
            </a:br>
            <a:r>
              <a:rPr lang="en-US" b="1" dirty="0">
                <a:solidFill>
                  <a:srgbClr val="273239"/>
                </a:solidFill>
                <a:latin typeface="Times New Roman" pitchFamily="18" charset="0"/>
                <a:cs typeface="Times New Roman" pitchFamily="18" charset="0"/>
              </a:rPr>
              <a:t>A</a:t>
            </a:r>
            <a:r>
              <a:rPr lang="en-US" b="1" baseline="-30000" dirty="0">
                <a:solidFill>
                  <a:srgbClr val="273239"/>
                </a:solidFill>
                <a:latin typeface="Times New Roman" pitchFamily="18" charset="0"/>
                <a:cs typeface="Times New Roman" pitchFamily="18" charset="0"/>
              </a:rPr>
              <a:t>1 </a:t>
            </a:r>
            <a:r>
              <a:rPr lang="en-US" b="1" dirty="0">
                <a:solidFill>
                  <a:srgbClr val="273239"/>
                </a:solidFill>
                <a:latin typeface="Times New Roman" pitchFamily="18" charset="0"/>
                <a:cs typeface="Times New Roman" pitchFamily="18" charset="0"/>
              </a:rPr>
              <a:t>= Y</a:t>
            </a:r>
            <a:r>
              <a:rPr lang="en-US" b="1" baseline="-30000" dirty="0">
                <a:solidFill>
                  <a:srgbClr val="273239"/>
                </a:solidFill>
                <a:latin typeface="Times New Roman" pitchFamily="18" charset="0"/>
                <a:cs typeface="Times New Roman" pitchFamily="18" charset="0"/>
              </a:rPr>
              <a:t>7</a:t>
            </a:r>
            <a:r>
              <a:rPr lang="en-US" b="1" dirty="0">
                <a:solidFill>
                  <a:srgbClr val="273239"/>
                </a:solidFill>
                <a:latin typeface="Times New Roman" pitchFamily="18" charset="0"/>
                <a:cs typeface="Times New Roman" pitchFamily="18" charset="0"/>
              </a:rPr>
              <a:t> + Y</a:t>
            </a:r>
            <a:r>
              <a:rPr lang="en-US" b="1" baseline="-30000" dirty="0">
                <a:solidFill>
                  <a:srgbClr val="273239"/>
                </a:solidFill>
                <a:latin typeface="Times New Roman" pitchFamily="18" charset="0"/>
                <a:cs typeface="Times New Roman" pitchFamily="18" charset="0"/>
              </a:rPr>
              <a:t>6 +</a:t>
            </a:r>
            <a:r>
              <a:rPr lang="en-US" b="1" dirty="0">
                <a:solidFill>
                  <a:srgbClr val="273239"/>
                </a:solidFill>
                <a:latin typeface="Times New Roman" pitchFamily="18" charset="0"/>
                <a:cs typeface="Times New Roman" pitchFamily="18" charset="0"/>
              </a:rPr>
              <a:t> Y</a:t>
            </a:r>
            <a:r>
              <a:rPr lang="en-US" b="1" baseline="-30000" dirty="0">
                <a:solidFill>
                  <a:srgbClr val="273239"/>
                </a:solidFill>
                <a:latin typeface="Times New Roman" pitchFamily="18" charset="0"/>
                <a:cs typeface="Times New Roman" pitchFamily="18" charset="0"/>
              </a:rPr>
              <a:t>3</a:t>
            </a:r>
            <a:r>
              <a:rPr lang="en-US" b="1" dirty="0">
                <a:solidFill>
                  <a:srgbClr val="273239"/>
                </a:solidFill>
                <a:latin typeface="Times New Roman" pitchFamily="18" charset="0"/>
                <a:cs typeface="Times New Roman" pitchFamily="18" charset="0"/>
              </a:rPr>
              <a:t> + Y</a:t>
            </a:r>
            <a:r>
              <a:rPr lang="en-US" b="1" baseline="-30000" dirty="0">
                <a:solidFill>
                  <a:srgbClr val="273239"/>
                </a:solidFill>
                <a:latin typeface="Times New Roman" pitchFamily="18" charset="0"/>
                <a:cs typeface="Times New Roman" pitchFamily="18" charset="0"/>
              </a:rPr>
              <a:t>2</a:t>
            </a:r>
            <a:r>
              <a:rPr lang="en-US" b="1" dirty="0">
                <a:solidFill>
                  <a:srgbClr val="273239"/>
                </a:solidFill>
                <a:latin typeface="Times New Roman" pitchFamily="18" charset="0"/>
                <a:cs typeface="Times New Roman" pitchFamily="18" charset="0"/>
              </a:rPr>
              <a:t/>
            </a:r>
            <a:br>
              <a:rPr lang="en-US" b="1" dirty="0">
                <a:solidFill>
                  <a:srgbClr val="273239"/>
                </a:solidFill>
                <a:latin typeface="Times New Roman" pitchFamily="18" charset="0"/>
                <a:cs typeface="Times New Roman" pitchFamily="18" charset="0"/>
              </a:rPr>
            </a:br>
            <a:r>
              <a:rPr lang="en-US" b="1" dirty="0">
                <a:solidFill>
                  <a:srgbClr val="273239"/>
                </a:solidFill>
                <a:latin typeface="Times New Roman" pitchFamily="18" charset="0"/>
                <a:cs typeface="Times New Roman" pitchFamily="18" charset="0"/>
              </a:rPr>
              <a:t>A</a:t>
            </a:r>
            <a:r>
              <a:rPr lang="en-US" b="1" baseline="-30000" dirty="0">
                <a:solidFill>
                  <a:srgbClr val="273239"/>
                </a:solidFill>
                <a:latin typeface="Times New Roman" pitchFamily="18" charset="0"/>
                <a:cs typeface="Times New Roman" pitchFamily="18" charset="0"/>
              </a:rPr>
              <a:t>0</a:t>
            </a:r>
            <a:r>
              <a:rPr lang="en-US" b="1" dirty="0">
                <a:solidFill>
                  <a:srgbClr val="273239"/>
                </a:solidFill>
                <a:latin typeface="Times New Roman" pitchFamily="18" charset="0"/>
                <a:cs typeface="Times New Roman" pitchFamily="18" charset="0"/>
              </a:rPr>
              <a:t> = Y</a:t>
            </a:r>
            <a:r>
              <a:rPr lang="en-US" b="1" baseline="-30000" dirty="0">
                <a:solidFill>
                  <a:srgbClr val="273239"/>
                </a:solidFill>
                <a:latin typeface="Times New Roman" pitchFamily="18" charset="0"/>
                <a:cs typeface="Times New Roman" pitchFamily="18" charset="0"/>
              </a:rPr>
              <a:t>7</a:t>
            </a:r>
            <a:r>
              <a:rPr lang="en-US" b="1" dirty="0">
                <a:solidFill>
                  <a:srgbClr val="273239"/>
                </a:solidFill>
                <a:latin typeface="Times New Roman" pitchFamily="18" charset="0"/>
                <a:cs typeface="Times New Roman" pitchFamily="18" charset="0"/>
              </a:rPr>
              <a:t> + Y</a:t>
            </a:r>
            <a:r>
              <a:rPr lang="en-US" b="1" baseline="-30000" dirty="0">
                <a:solidFill>
                  <a:srgbClr val="273239"/>
                </a:solidFill>
                <a:latin typeface="Times New Roman" pitchFamily="18" charset="0"/>
                <a:cs typeface="Times New Roman" pitchFamily="18" charset="0"/>
              </a:rPr>
              <a:t>5</a:t>
            </a:r>
            <a:r>
              <a:rPr lang="en-US" b="1" dirty="0">
                <a:solidFill>
                  <a:srgbClr val="273239"/>
                </a:solidFill>
                <a:latin typeface="Times New Roman" pitchFamily="18" charset="0"/>
                <a:cs typeface="Times New Roman" pitchFamily="18" charset="0"/>
              </a:rPr>
              <a:t> + Y</a:t>
            </a:r>
            <a:r>
              <a:rPr lang="en-US" b="1" baseline="-30000" dirty="0">
                <a:solidFill>
                  <a:srgbClr val="273239"/>
                </a:solidFill>
                <a:latin typeface="Times New Roman" pitchFamily="18" charset="0"/>
                <a:cs typeface="Times New Roman" pitchFamily="18" charset="0"/>
              </a:rPr>
              <a:t>3 </a:t>
            </a:r>
            <a:r>
              <a:rPr lang="en-US" b="1" dirty="0">
                <a:solidFill>
                  <a:srgbClr val="273239"/>
                </a:solidFill>
                <a:latin typeface="Times New Roman" pitchFamily="18" charset="0"/>
                <a:cs typeface="Times New Roman" pitchFamily="18" charset="0"/>
              </a:rPr>
              <a:t>+ Y</a:t>
            </a:r>
            <a:r>
              <a:rPr lang="en-US" b="1" baseline="-30000" dirty="0">
                <a:solidFill>
                  <a:srgbClr val="273239"/>
                </a:solidFill>
                <a:latin typeface="Times New Roman" pitchFamily="18" charset="0"/>
                <a:cs typeface="Times New Roman" pitchFamily="18" charset="0"/>
              </a:rPr>
              <a:t>1</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120056643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
        <p:nvSpPr>
          <p:cNvPr id="2" name="Rectangle 1"/>
          <p:cNvSpPr/>
          <p:nvPr/>
        </p:nvSpPr>
        <p:spPr>
          <a:xfrm>
            <a:off x="395536" y="404664"/>
            <a:ext cx="8088930" cy="2246769"/>
          </a:xfrm>
          <a:prstGeom prst="rect">
            <a:avLst/>
          </a:prstGeom>
        </p:spPr>
        <p:txBody>
          <a:bodyPr wrap="square">
            <a:spAutoFit/>
          </a:bodyPr>
          <a:lstStyle/>
          <a:p>
            <a:pPr algn="ctr"/>
            <a:r>
              <a:rPr lang="en-US" sz="2000" b="1" dirty="0">
                <a:latin typeface="Times New Roman" pitchFamily="18" charset="0"/>
                <a:cs typeface="Times New Roman" pitchFamily="18" charset="0"/>
              </a:rPr>
              <a:t>Decimal to BCD </a:t>
            </a:r>
            <a:r>
              <a:rPr lang="en-US" sz="2000" b="1" dirty="0" smtClean="0">
                <a:latin typeface="Times New Roman" pitchFamily="18" charset="0"/>
                <a:cs typeface="Times New Roman" pitchFamily="18" charset="0"/>
              </a:rPr>
              <a:t>Encoder (16:4)</a:t>
            </a:r>
            <a:endParaRPr lang="en-US" sz="2000" b="1"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The decimal-to-binary encoder usually consists of </a:t>
            </a:r>
            <a:r>
              <a:rPr lang="en-US" sz="2000" dirty="0" smtClean="0">
                <a:latin typeface="Times New Roman" pitchFamily="18" charset="0"/>
                <a:cs typeface="Times New Roman" pitchFamily="18" charset="0"/>
              </a:rPr>
              <a:t>16 </a:t>
            </a:r>
            <a:r>
              <a:rPr lang="en-US" sz="2000" dirty="0">
                <a:latin typeface="Times New Roman" pitchFamily="18" charset="0"/>
                <a:cs typeface="Times New Roman" pitchFamily="18" charset="0"/>
              </a:rPr>
              <a:t>input lines and 4 output lines. Each input line corresponds to each decimal digit and 4 outputs correspond to the BCD code. This encoder accepts the decoded decimal data as an input and encodes it to the BCD output which is available on the output lines. The figure below shows the logic symbol of the decimal to BCD encoder</a:t>
            </a:r>
            <a:r>
              <a:rPr lang="en-US" sz="2000" dirty="0" smtClean="0">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pic>
        <p:nvPicPr>
          <p:cNvPr id="614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30898" y="2564904"/>
            <a:ext cx="5819775" cy="318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570635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2883542403"/>
              </p:ext>
            </p:extLst>
          </p:nvPr>
        </p:nvGraphicFramePr>
        <p:xfrm>
          <a:off x="812494" y="693622"/>
          <a:ext cx="7485511" cy="5281376"/>
        </p:xfrm>
        <a:graphic>
          <a:graphicData uri="http://schemas.openxmlformats.org/drawingml/2006/table">
            <a:tbl>
              <a:tblPr/>
              <a:tblGrid>
                <a:gridCol w="4517118"/>
                <a:gridCol w="2968393"/>
              </a:tblGrid>
              <a:tr h="367345">
                <a:tc>
                  <a:txBody>
                    <a:bodyPr/>
                    <a:lstStyle/>
                    <a:p>
                      <a:pPr algn="ctr" fontAlgn="base"/>
                      <a:r>
                        <a:rPr lang="en-US" sz="1600" b="1">
                          <a:effectLst/>
                          <a:latin typeface="Times New Roman" pitchFamily="18" charset="0"/>
                          <a:cs typeface="Times New Roman" pitchFamily="18" charset="0"/>
                        </a:rPr>
                        <a:t>INPUTS(Y</a:t>
                      </a:r>
                      <a:r>
                        <a:rPr lang="en-US" sz="1600" b="1" baseline="-25000">
                          <a:effectLst/>
                          <a:latin typeface="Times New Roman" pitchFamily="18" charset="0"/>
                          <a:cs typeface="Times New Roman" pitchFamily="18" charset="0"/>
                        </a:rPr>
                        <a:t>9</a:t>
                      </a:r>
                      <a:r>
                        <a:rPr lang="en-US" sz="1600" b="1">
                          <a:effectLst/>
                          <a:latin typeface="Times New Roman" pitchFamily="18" charset="0"/>
                          <a:cs typeface="Times New Roman" pitchFamily="18" charset="0"/>
                        </a:rPr>
                        <a:t>Y</a:t>
                      </a:r>
                      <a:r>
                        <a:rPr lang="en-US" sz="1600" b="1" baseline="-25000">
                          <a:effectLst/>
                          <a:latin typeface="Times New Roman" pitchFamily="18" charset="0"/>
                          <a:cs typeface="Times New Roman" pitchFamily="18" charset="0"/>
                        </a:rPr>
                        <a:t>8</a:t>
                      </a:r>
                      <a:r>
                        <a:rPr lang="en-US" sz="1600" b="1">
                          <a:effectLst/>
                          <a:latin typeface="Times New Roman" pitchFamily="18" charset="0"/>
                          <a:cs typeface="Times New Roman" pitchFamily="18" charset="0"/>
                        </a:rPr>
                        <a:t>Y</a:t>
                      </a:r>
                      <a:r>
                        <a:rPr lang="en-US" sz="1600" b="1" baseline="-25000">
                          <a:effectLst/>
                          <a:latin typeface="Times New Roman" pitchFamily="18" charset="0"/>
                          <a:cs typeface="Times New Roman" pitchFamily="18" charset="0"/>
                        </a:rPr>
                        <a:t>7</a:t>
                      </a:r>
                      <a:r>
                        <a:rPr lang="en-US" sz="1600" b="1">
                          <a:effectLst/>
                          <a:latin typeface="Times New Roman" pitchFamily="18" charset="0"/>
                          <a:cs typeface="Times New Roman" pitchFamily="18" charset="0"/>
                        </a:rPr>
                        <a:t>Y</a:t>
                      </a:r>
                      <a:r>
                        <a:rPr lang="en-US" sz="1600" b="1" baseline="-25000">
                          <a:effectLst/>
                          <a:latin typeface="Times New Roman" pitchFamily="18" charset="0"/>
                          <a:cs typeface="Times New Roman" pitchFamily="18" charset="0"/>
                        </a:rPr>
                        <a:t>6</a:t>
                      </a:r>
                      <a:r>
                        <a:rPr lang="en-US" sz="1600" b="1">
                          <a:effectLst/>
                          <a:latin typeface="Times New Roman" pitchFamily="18" charset="0"/>
                          <a:cs typeface="Times New Roman" pitchFamily="18" charset="0"/>
                        </a:rPr>
                        <a:t>Y</a:t>
                      </a:r>
                      <a:r>
                        <a:rPr lang="en-US" sz="1600" b="1" baseline="-25000">
                          <a:effectLst/>
                          <a:latin typeface="Times New Roman" pitchFamily="18" charset="0"/>
                          <a:cs typeface="Times New Roman" pitchFamily="18" charset="0"/>
                        </a:rPr>
                        <a:t>5</a:t>
                      </a:r>
                      <a:r>
                        <a:rPr lang="en-US" sz="1600" b="1">
                          <a:effectLst/>
                          <a:latin typeface="Times New Roman" pitchFamily="18" charset="0"/>
                          <a:cs typeface="Times New Roman" pitchFamily="18" charset="0"/>
                        </a:rPr>
                        <a:t>Y</a:t>
                      </a:r>
                      <a:r>
                        <a:rPr lang="en-US" sz="1600" b="1" baseline="-25000">
                          <a:effectLst/>
                          <a:latin typeface="Times New Roman" pitchFamily="18" charset="0"/>
                          <a:cs typeface="Times New Roman" pitchFamily="18" charset="0"/>
                        </a:rPr>
                        <a:t>4</a:t>
                      </a:r>
                      <a:r>
                        <a:rPr lang="en-US" sz="1600" b="1">
                          <a:effectLst/>
                          <a:latin typeface="Times New Roman" pitchFamily="18" charset="0"/>
                          <a:cs typeface="Times New Roman" pitchFamily="18" charset="0"/>
                        </a:rPr>
                        <a:t>Y</a:t>
                      </a:r>
                      <a:r>
                        <a:rPr lang="en-US" sz="1600" b="1" baseline="-25000">
                          <a:effectLst/>
                          <a:latin typeface="Times New Roman" pitchFamily="18" charset="0"/>
                          <a:cs typeface="Times New Roman" pitchFamily="18" charset="0"/>
                        </a:rPr>
                        <a:t>3</a:t>
                      </a:r>
                      <a:r>
                        <a:rPr lang="en-US" sz="1600" b="1">
                          <a:effectLst/>
                          <a:latin typeface="Times New Roman" pitchFamily="18" charset="0"/>
                          <a:cs typeface="Times New Roman" pitchFamily="18" charset="0"/>
                        </a:rPr>
                        <a:t>Y</a:t>
                      </a:r>
                      <a:r>
                        <a:rPr lang="en-US" sz="1600" b="1" baseline="-25000">
                          <a:effectLst/>
                          <a:latin typeface="Times New Roman" pitchFamily="18" charset="0"/>
                          <a:cs typeface="Times New Roman" pitchFamily="18" charset="0"/>
                        </a:rPr>
                        <a:t>2</a:t>
                      </a:r>
                      <a:r>
                        <a:rPr lang="en-US" sz="1600" b="1">
                          <a:effectLst/>
                          <a:latin typeface="Times New Roman" pitchFamily="18" charset="0"/>
                          <a:cs typeface="Times New Roman" pitchFamily="18" charset="0"/>
                        </a:rPr>
                        <a:t>Y</a:t>
                      </a:r>
                      <a:r>
                        <a:rPr lang="en-US" sz="1600" b="1" baseline="-25000">
                          <a:effectLst/>
                          <a:latin typeface="Times New Roman" pitchFamily="18" charset="0"/>
                          <a:cs typeface="Times New Roman" pitchFamily="18" charset="0"/>
                        </a:rPr>
                        <a:t>1</a:t>
                      </a:r>
                      <a:r>
                        <a:rPr lang="en-US" sz="1600" b="1">
                          <a:effectLst/>
                          <a:latin typeface="Times New Roman" pitchFamily="18" charset="0"/>
                          <a:cs typeface="Times New Roman" pitchFamily="18" charset="0"/>
                        </a:rPr>
                        <a:t>Y</a:t>
                      </a:r>
                      <a:r>
                        <a:rPr lang="en-US" sz="1600" b="1" baseline="-25000">
                          <a:effectLst/>
                          <a:latin typeface="Times New Roman" pitchFamily="18" charset="0"/>
                          <a:cs typeface="Times New Roman" pitchFamily="18" charset="0"/>
                        </a:rPr>
                        <a:t>0</a:t>
                      </a:r>
                      <a:r>
                        <a:rPr lang="en-US" sz="1600" b="1">
                          <a:effectLst/>
                          <a:latin typeface="Times New Roman" pitchFamily="18" charset="0"/>
                          <a:cs typeface="Times New Roman" pitchFamily="18" charset="0"/>
                        </a:rPr>
                        <a:t>)</a:t>
                      </a:r>
                    </a:p>
                  </a:txBody>
                  <a:tcPr marL="34655" marR="34655" marT="86638" marB="8663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US" sz="1600" b="1">
                          <a:effectLst/>
                          <a:latin typeface="Times New Roman" pitchFamily="18" charset="0"/>
                          <a:cs typeface="Times New Roman" pitchFamily="18" charset="0"/>
                        </a:rPr>
                        <a:t>OUTPUTS(A</a:t>
                      </a:r>
                      <a:r>
                        <a:rPr lang="en-US" sz="1600" b="1" baseline="-25000">
                          <a:effectLst/>
                          <a:latin typeface="Times New Roman" pitchFamily="18" charset="0"/>
                          <a:cs typeface="Times New Roman" pitchFamily="18" charset="0"/>
                        </a:rPr>
                        <a:t>3</a:t>
                      </a:r>
                      <a:r>
                        <a:rPr lang="en-US" sz="1600" b="1">
                          <a:effectLst/>
                          <a:latin typeface="Times New Roman" pitchFamily="18" charset="0"/>
                          <a:cs typeface="Times New Roman" pitchFamily="18" charset="0"/>
                        </a:rPr>
                        <a:t>A</a:t>
                      </a:r>
                      <a:r>
                        <a:rPr lang="en-US" sz="1600" b="1" baseline="-25000">
                          <a:effectLst/>
                          <a:latin typeface="Times New Roman" pitchFamily="18" charset="0"/>
                          <a:cs typeface="Times New Roman" pitchFamily="18" charset="0"/>
                        </a:rPr>
                        <a:t>2</a:t>
                      </a:r>
                      <a:r>
                        <a:rPr lang="en-US" sz="1600" b="1">
                          <a:effectLst/>
                          <a:latin typeface="Times New Roman" pitchFamily="18" charset="0"/>
                          <a:cs typeface="Times New Roman" pitchFamily="18" charset="0"/>
                        </a:rPr>
                        <a:t>A</a:t>
                      </a:r>
                      <a:r>
                        <a:rPr lang="en-US" sz="1600" b="1" baseline="-25000">
                          <a:effectLst/>
                          <a:latin typeface="Times New Roman" pitchFamily="18" charset="0"/>
                          <a:cs typeface="Times New Roman" pitchFamily="18" charset="0"/>
                        </a:rPr>
                        <a:t>1</a:t>
                      </a:r>
                      <a:r>
                        <a:rPr lang="en-US" sz="1600" b="1">
                          <a:effectLst/>
                          <a:latin typeface="Times New Roman" pitchFamily="18" charset="0"/>
                          <a:cs typeface="Times New Roman" pitchFamily="18" charset="0"/>
                        </a:rPr>
                        <a:t>A</a:t>
                      </a:r>
                      <a:r>
                        <a:rPr lang="en-US" sz="1600" b="1" baseline="-25000">
                          <a:effectLst/>
                          <a:latin typeface="Times New Roman" pitchFamily="18" charset="0"/>
                          <a:cs typeface="Times New Roman" pitchFamily="18" charset="0"/>
                        </a:rPr>
                        <a:t>0</a:t>
                      </a:r>
                      <a:r>
                        <a:rPr lang="en-US" sz="1600" b="1">
                          <a:effectLst/>
                          <a:latin typeface="Times New Roman" pitchFamily="18" charset="0"/>
                          <a:cs typeface="Times New Roman" pitchFamily="18" charset="0"/>
                        </a:rPr>
                        <a:t>)</a:t>
                      </a:r>
                    </a:p>
                  </a:txBody>
                  <a:tcPr marL="86638" marR="86638" marT="86638" marB="8663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r>
              <a:tr h="415862">
                <a:tc>
                  <a:txBody>
                    <a:bodyPr/>
                    <a:lstStyle/>
                    <a:p>
                      <a:pPr algn="ctr" fontAlgn="ctr"/>
                      <a:r>
                        <a:rPr lang="en-US" sz="1600" b="0">
                          <a:effectLst/>
                          <a:latin typeface="Times New Roman" pitchFamily="18" charset="0"/>
                          <a:cs typeface="Times New Roman" pitchFamily="18" charset="0"/>
                        </a:rPr>
                        <a:t>0000000001</a:t>
                      </a:r>
                    </a:p>
                  </a:txBody>
                  <a:tcPr marL="86638" marR="86638" marT="121293" marB="1212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latin typeface="Times New Roman" pitchFamily="18" charset="0"/>
                          <a:cs typeface="Times New Roman" pitchFamily="18" charset="0"/>
                        </a:rPr>
                        <a:t>0000</a:t>
                      </a:r>
                    </a:p>
                  </a:txBody>
                  <a:tcPr marL="86638" marR="86638" marT="121293" marB="1212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415862">
                <a:tc>
                  <a:txBody>
                    <a:bodyPr/>
                    <a:lstStyle/>
                    <a:p>
                      <a:pPr algn="ctr" fontAlgn="ctr"/>
                      <a:r>
                        <a:rPr lang="en-US" sz="1600" b="0">
                          <a:effectLst/>
                          <a:latin typeface="Times New Roman" pitchFamily="18" charset="0"/>
                          <a:cs typeface="Times New Roman" pitchFamily="18" charset="0"/>
                        </a:rPr>
                        <a:t>0000000010</a:t>
                      </a:r>
                    </a:p>
                  </a:txBody>
                  <a:tcPr marL="86638" marR="86638" marT="121293" marB="1212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latin typeface="Times New Roman" pitchFamily="18" charset="0"/>
                          <a:cs typeface="Times New Roman" pitchFamily="18" charset="0"/>
                        </a:rPr>
                        <a:t>0001</a:t>
                      </a:r>
                    </a:p>
                  </a:txBody>
                  <a:tcPr marL="86638" marR="86638" marT="121293" marB="1212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415862">
                <a:tc>
                  <a:txBody>
                    <a:bodyPr/>
                    <a:lstStyle/>
                    <a:p>
                      <a:pPr algn="ctr" fontAlgn="ctr"/>
                      <a:r>
                        <a:rPr lang="en-US" sz="1600" b="0">
                          <a:effectLst/>
                          <a:latin typeface="Times New Roman" pitchFamily="18" charset="0"/>
                          <a:cs typeface="Times New Roman" pitchFamily="18" charset="0"/>
                        </a:rPr>
                        <a:t>0000000100</a:t>
                      </a:r>
                    </a:p>
                  </a:txBody>
                  <a:tcPr marL="86638" marR="86638" marT="121293" marB="1212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latin typeface="Times New Roman" pitchFamily="18" charset="0"/>
                          <a:cs typeface="Times New Roman" pitchFamily="18" charset="0"/>
                        </a:rPr>
                        <a:t>0010</a:t>
                      </a:r>
                    </a:p>
                  </a:txBody>
                  <a:tcPr marL="86638" marR="86638" marT="121293" marB="1212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415862">
                <a:tc>
                  <a:txBody>
                    <a:bodyPr/>
                    <a:lstStyle/>
                    <a:p>
                      <a:pPr algn="ctr" fontAlgn="ctr"/>
                      <a:r>
                        <a:rPr lang="en-US" sz="1600" b="0">
                          <a:effectLst/>
                          <a:latin typeface="Times New Roman" pitchFamily="18" charset="0"/>
                          <a:cs typeface="Times New Roman" pitchFamily="18" charset="0"/>
                        </a:rPr>
                        <a:t>0000001000</a:t>
                      </a:r>
                    </a:p>
                  </a:txBody>
                  <a:tcPr marL="86638" marR="86638" marT="121293" marB="1212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latin typeface="Times New Roman" pitchFamily="18" charset="0"/>
                          <a:cs typeface="Times New Roman" pitchFamily="18" charset="0"/>
                        </a:rPr>
                        <a:t>0011</a:t>
                      </a:r>
                    </a:p>
                  </a:txBody>
                  <a:tcPr marL="86638" marR="86638" marT="121293" marB="1212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415862">
                <a:tc>
                  <a:txBody>
                    <a:bodyPr/>
                    <a:lstStyle/>
                    <a:p>
                      <a:pPr algn="ctr" fontAlgn="ctr"/>
                      <a:r>
                        <a:rPr lang="en-US" sz="1600" b="0">
                          <a:effectLst/>
                          <a:latin typeface="Times New Roman" pitchFamily="18" charset="0"/>
                          <a:cs typeface="Times New Roman" pitchFamily="18" charset="0"/>
                        </a:rPr>
                        <a:t>0000010000</a:t>
                      </a:r>
                    </a:p>
                  </a:txBody>
                  <a:tcPr marL="86638" marR="86638" marT="121293" marB="1212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latin typeface="Times New Roman" pitchFamily="18" charset="0"/>
                          <a:cs typeface="Times New Roman" pitchFamily="18" charset="0"/>
                        </a:rPr>
                        <a:t>0100</a:t>
                      </a:r>
                    </a:p>
                  </a:txBody>
                  <a:tcPr marL="86638" marR="86638" marT="121293" marB="1212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415862">
                <a:tc>
                  <a:txBody>
                    <a:bodyPr/>
                    <a:lstStyle/>
                    <a:p>
                      <a:pPr algn="ctr" fontAlgn="ctr"/>
                      <a:r>
                        <a:rPr lang="en-US" sz="1600" b="0">
                          <a:effectLst/>
                          <a:latin typeface="Times New Roman" pitchFamily="18" charset="0"/>
                          <a:cs typeface="Times New Roman" pitchFamily="18" charset="0"/>
                        </a:rPr>
                        <a:t>0000100000</a:t>
                      </a:r>
                    </a:p>
                  </a:txBody>
                  <a:tcPr marL="86638" marR="86638" marT="121293" marB="1212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latin typeface="Times New Roman" pitchFamily="18" charset="0"/>
                          <a:cs typeface="Times New Roman" pitchFamily="18" charset="0"/>
                        </a:rPr>
                        <a:t>0101</a:t>
                      </a:r>
                    </a:p>
                  </a:txBody>
                  <a:tcPr marL="86638" marR="86638" marT="121293" marB="1212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415862">
                <a:tc>
                  <a:txBody>
                    <a:bodyPr/>
                    <a:lstStyle/>
                    <a:p>
                      <a:pPr algn="ctr" fontAlgn="ctr"/>
                      <a:r>
                        <a:rPr lang="en-US" sz="1600" b="0">
                          <a:effectLst/>
                          <a:latin typeface="Times New Roman" pitchFamily="18" charset="0"/>
                          <a:cs typeface="Times New Roman" pitchFamily="18" charset="0"/>
                        </a:rPr>
                        <a:t>0001000000</a:t>
                      </a:r>
                    </a:p>
                  </a:txBody>
                  <a:tcPr marL="86638" marR="86638" marT="121293" marB="1212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latin typeface="Times New Roman" pitchFamily="18" charset="0"/>
                          <a:cs typeface="Times New Roman" pitchFamily="18" charset="0"/>
                        </a:rPr>
                        <a:t>0110</a:t>
                      </a:r>
                    </a:p>
                  </a:txBody>
                  <a:tcPr marL="86638" marR="86638" marT="121293" marB="1212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415862">
                <a:tc>
                  <a:txBody>
                    <a:bodyPr/>
                    <a:lstStyle/>
                    <a:p>
                      <a:pPr algn="ctr" fontAlgn="ctr"/>
                      <a:r>
                        <a:rPr lang="en-US" sz="1600" b="0">
                          <a:effectLst/>
                          <a:latin typeface="Times New Roman" pitchFamily="18" charset="0"/>
                          <a:cs typeface="Times New Roman" pitchFamily="18" charset="0"/>
                        </a:rPr>
                        <a:t>0010000000</a:t>
                      </a:r>
                    </a:p>
                  </a:txBody>
                  <a:tcPr marL="86638" marR="86638" marT="121293" marB="1212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latin typeface="Times New Roman" pitchFamily="18" charset="0"/>
                          <a:cs typeface="Times New Roman" pitchFamily="18" charset="0"/>
                        </a:rPr>
                        <a:t>0111</a:t>
                      </a:r>
                    </a:p>
                  </a:txBody>
                  <a:tcPr marL="86638" marR="86638" marT="121293" marB="1212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415862">
                <a:tc>
                  <a:txBody>
                    <a:bodyPr/>
                    <a:lstStyle/>
                    <a:p>
                      <a:pPr algn="ctr" fontAlgn="ctr"/>
                      <a:r>
                        <a:rPr lang="en-US" sz="1600" b="0">
                          <a:effectLst/>
                          <a:latin typeface="Times New Roman" pitchFamily="18" charset="0"/>
                          <a:cs typeface="Times New Roman" pitchFamily="18" charset="0"/>
                        </a:rPr>
                        <a:t>0100000000</a:t>
                      </a:r>
                    </a:p>
                  </a:txBody>
                  <a:tcPr marL="86638" marR="86638" marT="121293" marB="1212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latin typeface="Times New Roman" pitchFamily="18" charset="0"/>
                          <a:cs typeface="Times New Roman" pitchFamily="18" charset="0"/>
                        </a:rPr>
                        <a:t>1000</a:t>
                      </a:r>
                    </a:p>
                  </a:txBody>
                  <a:tcPr marL="86638" marR="86638" marT="121293" marB="1212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415862">
                <a:tc>
                  <a:txBody>
                    <a:bodyPr/>
                    <a:lstStyle/>
                    <a:p>
                      <a:pPr algn="ctr" fontAlgn="ctr"/>
                      <a:r>
                        <a:rPr lang="en-US" sz="1600" b="0">
                          <a:effectLst/>
                          <a:latin typeface="Times New Roman" pitchFamily="18" charset="0"/>
                          <a:cs typeface="Times New Roman" pitchFamily="18" charset="0"/>
                        </a:rPr>
                        <a:t>1000000000</a:t>
                      </a:r>
                    </a:p>
                  </a:txBody>
                  <a:tcPr marL="86638" marR="86638" marT="121293" marB="1212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latin typeface="Times New Roman" pitchFamily="18" charset="0"/>
                          <a:cs typeface="Times New Roman" pitchFamily="18" charset="0"/>
                        </a:rPr>
                        <a:t>1001</a:t>
                      </a:r>
                    </a:p>
                  </a:txBody>
                  <a:tcPr marL="86638" marR="86638" marT="121293" marB="1212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bl>
          </a:graphicData>
        </a:graphic>
      </p:graphicFrame>
      <p:sp>
        <p:nvSpPr>
          <p:cNvPr id="8" name="Rectangle 1"/>
          <p:cNvSpPr>
            <a:spLocks noChangeArrowheads="1"/>
          </p:cNvSpPr>
          <p:nvPr/>
        </p:nvSpPr>
        <p:spPr bwMode="auto">
          <a:xfrm>
            <a:off x="457200" y="361782"/>
            <a:ext cx="8291264"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sng" strike="noStrike" cap="none" normalizeH="0" baseline="0" dirty="0" smtClean="0">
                <a:ln>
                  <a:noFill/>
                </a:ln>
                <a:solidFill>
                  <a:srgbClr val="C00000"/>
                </a:solidFill>
                <a:effectLst/>
                <a:latin typeface="Times New Roman" pitchFamily="18" charset="0"/>
                <a:cs typeface="Times New Roman" pitchFamily="18" charset="0"/>
              </a:rPr>
              <a:t>Truth Table</a:t>
            </a:r>
            <a:endParaRPr kumimoji="0" lang="en-US" b="0" i="0" u="sng" strike="noStrike" cap="none" normalizeH="0" baseline="0" dirty="0" smtClean="0">
              <a:ln>
                <a:noFill/>
              </a:ln>
              <a:solidFill>
                <a:srgbClr val="C00000"/>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104570635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
        <p:nvSpPr>
          <p:cNvPr id="2" name="Rectangle 1"/>
          <p:cNvSpPr/>
          <p:nvPr/>
        </p:nvSpPr>
        <p:spPr>
          <a:xfrm>
            <a:off x="323528" y="404664"/>
            <a:ext cx="8524088" cy="1977464"/>
          </a:xfrm>
          <a:prstGeom prst="rect">
            <a:avLst/>
          </a:prstGeom>
        </p:spPr>
        <p:txBody>
          <a:bodyPr wrap="square">
            <a:spAutoFit/>
          </a:bodyPr>
          <a:lstStyle/>
          <a:p>
            <a:pPr algn="ctr" eaLnBrk="0" fontAlgn="base" hangingPunct="0">
              <a:spcBef>
                <a:spcPct val="0"/>
              </a:spcBef>
              <a:spcAft>
                <a:spcPct val="0"/>
              </a:spcAft>
            </a:pPr>
            <a:r>
              <a:rPr lang="en-US" sz="1600" b="1" dirty="0">
                <a:solidFill>
                  <a:srgbClr val="273239"/>
                </a:solidFill>
                <a:latin typeface="Times New Roman" pitchFamily="18" charset="0"/>
                <a:cs typeface="Times New Roman" pitchFamily="18" charset="0"/>
              </a:rPr>
              <a:t>Logical expression for A3, A2, A1, and A0:</a:t>
            </a:r>
          </a:p>
          <a:p>
            <a:pPr algn="ctr" eaLnBrk="0" fontAlgn="base" hangingPunct="0">
              <a:spcBef>
                <a:spcPct val="0"/>
              </a:spcBef>
              <a:spcAft>
                <a:spcPct val="0"/>
              </a:spcAft>
            </a:pPr>
            <a:r>
              <a:rPr lang="en-US" sz="1600" b="1" dirty="0">
                <a:solidFill>
                  <a:srgbClr val="273239"/>
                </a:solidFill>
                <a:latin typeface="Times New Roman" pitchFamily="18" charset="0"/>
                <a:cs typeface="Times New Roman" pitchFamily="18" charset="0"/>
              </a:rPr>
              <a:t>A3 = </a:t>
            </a:r>
            <a:r>
              <a:rPr lang="en-US" sz="1600" b="1" dirty="0" smtClean="0">
                <a:solidFill>
                  <a:srgbClr val="273239"/>
                </a:solidFill>
                <a:latin typeface="Times New Roman" pitchFamily="18" charset="0"/>
                <a:cs typeface="Times New Roman" pitchFamily="18" charset="0"/>
              </a:rPr>
              <a:t>Y15+Y14+Y13+Y12+Y11+Y10+Y9</a:t>
            </a:r>
            <a:r>
              <a:rPr lang="en-US" sz="1600" b="1" dirty="0">
                <a:solidFill>
                  <a:srgbClr val="273239"/>
                </a:solidFill>
                <a:latin typeface="Times New Roman" pitchFamily="18" charset="0"/>
                <a:cs typeface="Times New Roman" pitchFamily="18" charset="0"/>
              </a:rPr>
              <a:t> + Y8</a:t>
            </a:r>
            <a:br>
              <a:rPr lang="en-US" sz="1600" b="1" dirty="0">
                <a:solidFill>
                  <a:srgbClr val="273239"/>
                </a:solidFill>
                <a:latin typeface="Times New Roman" pitchFamily="18" charset="0"/>
                <a:cs typeface="Times New Roman" pitchFamily="18" charset="0"/>
              </a:rPr>
            </a:br>
            <a:r>
              <a:rPr lang="en-US" sz="1600" b="1" dirty="0">
                <a:solidFill>
                  <a:srgbClr val="273239"/>
                </a:solidFill>
                <a:latin typeface="Times New Roman" pitchFamily="18" charset="0"/>
                <a:cs typeface="Times New Roman" pitchFamily="18" charset="0"/>
              </a:rPr>
              <a:t>A2 = </a:t>
            </a:r>
            <a:r>
              <a:rPr lang="en-US" sz="1600" b="1" dirty="0" smtClean="0">
                <a:solidFill>
                  <a:srgbClr val="273239"/>
                </a:solidFill>
                <a:latin typeface="Times New Roman" pitchFamily="18" charset="0"/>
                <a:cs typeface="Times New Roman" pitchFamily="18" charset="0"/>
              </a:rPr>
              <a:t>Y15+Y14+Y13+Y12+Y7</a:t>
            </a:r>
            <a:r>
              <a:rPr lang="en-US" sz="1600" b="1" dirty="0">
                <a:solidFill>
                  <a:srgbClr val="273239"/>
                </a:solidFill>
                <a:latin typeface="Times New Roman" pitchFamily="18" charset="0"/>
                <a:cs typeface="Times New Roman" pitchFamily="18" charset="0"/>
              </a:rPr>
              <a:t> + Y6 + Y5 +Y4</a:t>
            </a:r>
            <a:br>
              <a:rPr lang="en-US" sz="1600" b="1" dirty="0">
                <a:solidFill>
                  <a:srgbClr val="273239"/>
                </a:solidFill>
                <a:latin typeface="Times New Roman" pitchFamily="18" charset="0"/>
                <a:cs typeface="Times New Roman" pitchFamily="18" charset="0"/>
              </a:rPr>
            </a:br>
            <a:r>
              <a:rPr lang="en-US" sz="1600" b="1" dirty="0">
                <a:solidFill>
                  <a:srgbClr val="273239"/>
                </a:solidFill>
                <a:latin typeface="Times New Roman" pitchFamily="18" charset="0"/>
                <a:cs typeface="Times New Roman" pitchFamily="18" charset="0"/>
              </a:rPr>
              <a:t>A1 = </a:t>
            </a:r>
            <a:r>
              <a:rPr lang="en-US" sz="1600" b="1" dirty="0" smtClean="0">
                <a:solidFill>
                  <a:srgbClr val="273239"/>
                </a:solidFill>
                <a:latin typeface="Times New Roman" pitchFamily="18" charset="0"/>
                <a:cs typeface="Times New Roman" pitchFamily="18" charset="0"/>
              </a:rPr>
              <a:t>Y15+Y14+Y11+Y10+Y7</a:t>
            </a:r>
            <a:r>
              <a:rPr lang="en-US" sz="1600" b="1" dirty="0">
                <a:solidFill>
                  <a:srgbClr val="273239"/>
                </a:solidFill>
                <a:latin typeface="Times New Roman" pitchFamily="18" charset="0"/>
                <a:cs typeface="Times New Roman" pitchFamily="18" charset="0"/>
              </a:rPr>
              <a:t> + Y6 + Y3 +Y2</a:t>
            </a:r>
            <a:br>
              <a:rPr lang="en-US" sz="1600" b="1" dirty="0">
                <a:solidFill>
                  <a:srgbClr val="273239"/>
                </a:solidFill>
                <a:latin typeface="Times New Roman" pitchFamily="18" charset="0"/>
                <a:cs typeface="Times New Roman" pitchFamily="18" charset="0"/>
              </a:rPr>
            </a:br>
            <a:r>
              <a:rPr lang="en-US" sz="1600" b="1" dirty="0">
                <a:solidFill>
                  <a:srgbClr val="273239"/>
                </a:solidFill>
                <a:latin typeface="Times New Roman" pitchFamily="18" charset="0"/>
                <a:cs typeface="Times New Roman" pitchFamily="18" charset="0"/>
              </a:rPr>
              <a:t>A0 = </a:t>
            </a:r>
            <a:r>
              <a:rPr lang="en-US" sz="1600" b="1" dirty="0" smtClean="0">
                <a:solidFill>
                  <a:srgbClr val="273239"/>
                </a:solidFill>
                <a:latin typeface="Times New Roman" pitchFamily="18" charset="0"/>
                <a:cs typeface="Times New Roman" pitchFamily="18" charset="0"/>
              </a:rPr>
              <a:t>Y15+Y13_Y11+Y9</a:t>
            </a:r>
            <a:r>
              <a:rPr lang="en-US" sz="1600" b="1" dirty="0">
                <a:solidFill>
                  <a:srgbClr val="273239"/>
                </a:solidFill>
                <a:latin typeface="Times New Roman" pitchFamily="18" charset="0"/>
                <a:cs typeface="Times New Roman" pitchFamily="18" charset="0"/>
              </a:rPr>
              <a:t> + Y7 +Y5 +Y3 + Y1</a:t>
            </a:r>
          </a:p>
          <a:p>
            <a:pPr algn="ctr" eaLnBrk="0" fontAlgn="base" hangingPunct="0">
              <a:spcBef>
                <a:spcPct val="0"/>
              </a:spcBef>
              <a:spcAft>
                <a:spcPct val="0"/>
              </a:spcAft>
            </a:pPr>
            <a:endParaRPr lang="en-US" sz="1050" b="1" dirty="0" smtClean="0">
              <a:solidFill>
                <a:srgbClr val="273239"/>
              </a:solidFill>
              <a:latin typeface="Times New Roman" pitchFamily="18" charset="0"/>
              <a:cs typeface="Times New Roman" pitchFamily="18" charset="0"/>
            </a:endParaRPr>
          </a:p>
          <a:p>
            <a:pPr algn="just" eaLnBrk="0" fontAlgn="base" hangingPunct="0">
              <a:spcBef>
                <a:spcPct val="0"/>
              </a:spcBef>
              <a:spcAft>
                <a:spcPct val="0"/>
              </a:spcAft>
            </a:pPr>
            <a:r>
              <a:rPr lang="en-US" sz="1600" b="1" dirty="0" smtClean="0">
                <a:solidFill>
                  <a:srgbClr val="273239"/>
                </a:solidFill>
                <a:latin typeface="Times New Roman" pitchFamily="18" charset="0"/>
                <a:cs typeface="Times New Roman" pitchFamily="18" charset="0"/>
              </a:rPr>
              <a:t>Circuit </a:t>
            </a:r>
            <a:r>
              <a:rPr lang="en-US" sz="1600" b="1" dirty="0">
                <a:solidFill>
                  <a:srgbClr val="273239"/>
                </a:solidFill>
                <a:latin typeface="Times New Roman" pitchFamily="18" charset="0"/>
                <a:cs typeface="Times New Roman" pitchFamily="18" charset="0"/>
              </a:rPr>
              <a:t>Diagram</a:t>
            </a:r>
          </a:p>
          <a:p>
            <a:pPr algn="just" eaLnBrk="0" fontAlgn="base" hangingPunct="0">
              <a:spcBef>
                <a:spcPct val="0"/>
              </a:spcBef>
              <a:spcAft>
                <a:spcPct val="0"/>
              </a:spcAft>
            </a:pPr>
            <a:r>
              <a:rPr lang="en-US" sz="1600" b="1" dirty="0">
                <a:solidFill>
                  <a:srgbClr val="273239"/>
                </a:solidFill>
                <a:latin typeface="Times New Roman" pitchFamily="18" charset="0"/>
                <a:cs typeface="Times New Roman" pitchFamily="18" charset="0"/>
              </a:rPr>
              <a:t>The above two Boolean functions can be implemented using OR gates:</a:t>
            </a:r>
          </a:p>
        </p:txBody>
      </p:sp>
      <p:pic>
        <p:nvPicPr>
          <p:cNvPr id="819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664" y="2661784"/>
            <a:ext cx="5826224" cy="2913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570635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5;p2"/>
          <p:cNvSpPr txBox="1">
            <a:spLocks/>
          </p:cNvSpPr>
          <p:nvPr/>
        </p:nvSpPr>
        <p:spPr>
          <a:xfrm>
            <a:off x="281843" y="2588907"/>
            <a:ext cx="8546813" cy="1020113"/>
          </a:xfrm>
          <a:prstGeom prst="rect">
            <a:avLst/>
          </a:prstGeom>
          <a:noFill/>
          <a:ln>
            <a:noFill/>
          </a:ln>
        </p:spPr>
        <p:txBody>
          <a:bodyPr spcFirstLastPara="1" wrap="square" lIns="76790" tIns="38395" rIns="76790" bIns="3839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3000" b="1" dirty="0" smtClean="0">
                <a:solidFill>
                  <a:srgbClr val="C00000"/>
                </a:solidFill>
                <a:latin typeface="Marcellus"/>
                <a:ea typeface="Marcellus"/>
                <a:cs typeface="Marcellus"/>
                <a:sym typeface="Marcellus"/>
              </a:rPr>
              <a:t>Priority Encoders</a:t>
            </a:r>
            <a:endParaRPr lang="en-IN" sz="3000" b="1" dirty="0">
              <a:solidFill>
                <a:srgbClr val="C00000"/>
              </a:solidFill>
              <a:latin typeface="Marcellus"/>
              <a:ea typeface="Marcellus"/>
              <a:cs typeface="Marcellus"/>
              <a:sym typeface="Marcellus"/>
            </a:endParaRPr>
          </a:p>
        </p:txBody>
      </p:sp>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Tree>
    <p:extLst>
      <p:ext uri="{BB962C8B-B14F-4D97-AF65-F5344CB8AC3E}">
        <p14:creationId xmlns:p14="http://schemas.microsoft.com/office/powerpoint/2010/main" val="220311461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
        <p:nvSpPr>
          <p:cNvPr id="2" name="Rectangle 1"/>
          <p:cNvSpPr/>
          <p:nvPr/>
        </p:nvSpPr>
        <p:spPr>
          <a:xfrm>
            <a:off x="708268" y="332656"/>
            <a:ext cx="7776864" cy="2554545"/>
          </a:xfrm>
          <a:prstGeom prst="rect">
            <a:avLst/>
          </a:prstGeom>
        </p:spPr>
        <p:txBody>
          <a:bodyPr wrap="square">
            <a:spAutoFit/>
          </a:bodyPr>
          <a:lstStyle/>
          <a:p>
            <a:pPr algn="ctr"/>
            <a:r>
              <a:rPr lang="en-US" sz="1600" b="1" dirty="0" smtClean="0">
                <a:latin typeface="Times New Roman" pitchFamily="18" charset="0"/>
                <a:cs typeface="Times New Roman" pitchFamily="18" charset="0"/>
              </a:rPr>
              <a:t>Definition</a:t>
            </a:r>
          </a:p>
          <a:p>
            <a:pPr algn="just"/>
            <a:endParaRPr lang="en-US" sz="1600" dirty="0" smtClean="0">
              <a:latin typeface="Times New Roman" pitchFamily="18" charset="0"/>
              <a:cs typeface="Times New Roman" pitchFamily="18" charset="0"/>
            </a:endParaRPr>
          </a:p>
          <a:p>
            <a:pPr algn="just"/>
            <a:r>
              <a:rPr lang="en-US" sz="1600" dirty="0" smtClean="0">
                <a:latin typeface="Times New Roman" pitchFamily="18" charset="0"/>
                <a:cs typeface="Times New Roman" pitchFamily="18" charset="0"/>
              </a:rPr>
              <a:t>A </a:t>
            </a:r>
            <a:r>
              <a:rPr lang="en-US" sz="1600" b="1" dirty="0">
                <a:latin typeface="Times New Roman" pitchFamily="18" charset="0"/>
                <a:cs typeface="Times New Roman" pitchFamily="18" charset="0"/>
              </a:rPr>
              <a:t>priority encoder</a:t>
            </a:r>
            <a:r>
              <a:rPr lang="en-US" sz="1600" dirty="0">
                <a:latin typeface="Times New Roman" pitchFamily="18" charset="0"/>
                <a:cs typeface="Times New Roman" pitchFamily="18" charset="0"/>
              </a:rPr>
              <a:t> is an encoder that assigns </a:t>
            </a:r>
            <a:r>
              <a:rPr lang="en-US" sz="1600" b="1" dirty="0">
                <a:latin typeface="Times New Roman" pitchFamily="18" charset="0"/>
                <a:cs typeface="Times New Roman" pitchFamily="18" charset="0"/>
              </a:rPr>
              <a:t>priority to inputs</a:t>
            </a:r>
            <a:r>
              <a:rPr lang="en-US" sz="1600" dirty="0">
                <a:latin typeface="Times New Roman" pitchFamily="18" charset="0"/>
                <a:cs typeface="Times New Roman" pitchFamily="18" charset="0"/>
              </a:rPr>
              <a:t>.</a:t>
            </a:r>
          </a:p>
          <a:p>
            <a:pPr algn="just"/>
            <a:r>
              <a:rPr lang="en-US" sz="1600" dirty="0">
                <a:latin typeface="Times New Roman" pitchFamily="18" charset="0"/>
                <a:cs typeface="Times New Roman" pitchFamily="18" charset="0"/>
              </a:rPr>
              <a:t>If </a:t>
            </a:r>
            <a:r>
              <a:rPr lang="en-US" sz="1600" b="1" dirty="0">
                <a:latin typeface="Times New Roman" pitchFamily="18" charset="0"/>
                <a:cs typeface="Times New Roman" pitchFamily="18" charset="0"/>
              </a:rPr>
              <a:t>multiple inputs are HIGH at the same time</a:t>
            </a:r>
            <a:r>
              <a:rPr lang="en-US" sz="1600" dirty="0">
                <a:latin typeface="Times New Roman" pitchFamily="18" charset="0"/>
                <a:cs typeface="Times New Roman" pitchFamily="18" charset="0"/>
              </a:rPr>
              <a:t>, the encoder outputs the code of the </a:t>
            </a:r>
            <a:r>
              <a:rPr lang="en-US" sz="1600" b="1" dirty="0">
                <a:latin typeface="Times New Roman" pitchFamily="18" charset="0"/>
                <a:cs typeface="Times New Roman" pitchFamily="18" charset="0"/>
              </a:rPr>
              <a:t>highest priority input</a:t>
            </a:r>
            <a:r>
              <a:rPr lang="en-US" sz="1600" dirty="0" smtClean="0">
                <a:latin typeface="Times New Roman" pitchFamily="18" charset="0"/>
                <a:cs typeface="Times New Roman" pitchFamily="18" charset="0"/>
              </a:rPr>
              <a:t>. </a:t>
            </a:r>
          </a:p>
          <a:p>
            <a:pPr algn="just"/>
            <a:r>
              <a:rPr lang="en-US" sz="1600" dirty="0" smtClean="0">
                <a:latin typeface="Times New Roman" pitchFamily="18" charset="0"/>
                <a:cs typeface="Times New Roman" pitchFamily="18" charset="0"/>
              </a:rPr>
              <a:t>Usually</a:t>
            </a:r>
            <a:r>
              <a:rPr lang="en-US" sz="1600" dirty="0">
                <a:latin typeface="Times New Roman" pitchFamily="18" charset="0"/>
                <a:cs typeface="Times New Roman" pitchFamily="18" charset="0"/>
              </a:rPr>
              <a:t>, the highest-numbered input has the highest priority</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A 4 to 2 priority encoder has 4 inputs: Y</a:t>
            </a:r>
            <a:r>
              <a:rPr lang="en-US" sz="1600" baseline="-25000" dirty="0">
                <a:latin typeface="Times New Roman" pitchFamily="18" charset="0"/>
                <a:cs typeface="Times New Roman" pitchFamily="18" charset="0"/>
              </a:rPr>
              <a:t>3</a:t>
            </a:r>
            <a:r>
              <a:rPr lang="en-US" sz="1600" dirty="0">
                <a:latin typeface="Times New Roman" pitchFamily="18" charset="0"/>
                <a:cs typeface="Times New Roman" pitchFamily="18" charset="0"/>
              </a:rPr>
              <a:t>, Y</a:t>
            </a:r>
            <a:r>
              <a:rPr lang="en-US" sz="1600" baseline="-25000" dirty="0">
                <a:latin typeface="Times New Roman" pitchFamily="18" charset="0"/>
                <a:cs typeface="Times New Roman" pitchFamily="18" charset="0"/>
              </a:rPr>
              <a:t>2</a:t>
            </a:r>
            <a:r>
              <a:rPr lang="en-US" sz="1600" dirty="0">
                <a:latin typeface="Times New Roman" pitchFamily="18" charset="0"/>
                <a:cs typeface="Times New Roman" pitchFamily="18" charset="0"/>
              </a:rPr>
              <a:t>, Y</a:t>
            </a:r>
            <a:r>
              <a:rPr lang="en-US" sz="1600" baseline="-25000" dirty="0">
                <a:latin typeface="Times New Roman" pitchFamily="18" charset="0"/>
                <a:cs typeface="Times New Roman" pitchFamily="18" charset="0"/>
              </a:rPr>
              <a:t>1</a:t>
            </a:r>
            <a:r>
              <a:rPr lang="en-US" sz="1600" dirty="0">
                <a:latin typeface="Times New Roman" pitchFamily="18" charset="0"/>
                <a:cs typeface="Times New Roman" pitchFamily="18" charset="0"/>
              </a:rPr>
              <a:t> &amp; Y</a:t>
            </a:r>
            <a:r>
              <a:rPr lang="en-US" sz="1600" baseline="-25000" dirty="0">
                <a:latin typeface="Times New Roman" pitchFamily="18" charset="0"/>
                <a:cs typeface="Times New Roman" pitchFamily="18" charset="0"/>
              </a:rPr>
              <a:t>0</a:t>
            </a:r>
            <a:r>
              <a:rPr lang="en-US" sz="1600" dirty="0">
                <a:latin typeface="Times New Roman" pitchFamily="18" charset="0"/>
                <a:cs typeface="Times New Roman" pitchFamily="18" charset="0"/>
              </a:rPr>
              <a:t>, and 2 outputs: A</a:t>
            </a:r>
            <a:r>
              <a:rPr lang="en-US" sz="1600" baseline="-25000" dirty="0">
                <a:latin typeface="Times New Roman" pitchFamily="18" charset="0"/>
                <a:cs typeface="Times New Roman" pitchFamily="18" charset="0"/>
              </a:rPr>
              <a:t>1</a:t>
            </a:r>
            <a:r>
              <a:rPr lang="en-US" sz="1600" dirty="0">
                <a:latin typeface="Times New Roman" pitchFamily="18" charset="0"/>
                <a:cs typeface="Times New Roman" pitchFamily="18" charset="0"/>
              </a:rPr>
              <a:t> &amp; A</a:t>
            </a:r>
            <a:r>
              <a:rPr lang="en-US" sz="1600" baseline="-25000" dirty="0">
                <a:latin typeface="Times New Roman" pitchFamily="18" charset="0"/>
                <a:cs typeface="Times New Roman" pitchFamily="18" charset="0"/>
              </a:rPr>
              <a:t>0</a:t>
            </a:r>
            <a:r>
              <a:rPr lang="en-US" sz="1600" dirty="0">
                <a:latin typeface="Times New Roman" pitchFamily="18" charset="0"/>
                <a:cs typeface="Times New Roman" pitchFamily="18" charset="0"/>
              </a:rPr>
              <a:t>. Here, the input, Y</a:t>
            </a:r>
            <a:r>
              <a:rPr lang="en-US" sz="1600" baseline="-25000" dirty="0">
                <a:latin typeface="Times New Roman" pitchFamily="18" charset="0"/>
                <a:cs typeface="Times New Roman" pitchFamily="18" charset="0"/>
              </a:rPr>
              <a:t>3</a:t>
            </a:r>
            <a:r>
              <a:rPr lang="en-US" sz="1600" dirty="0">
                <a:latin typeface="Times New Roman" pitchFamily="18" charset="0"/>
                <a:cs typeface="Times New Roman" pitchFamily="18" charset="0"/>
              </a:rPr>
              <a:t> has the highest priority, whereas the input, Y</a:t>
            </a:r>
            <a:r>
              <a:rPr lang="en-US" sz="1600" baseline="-25000" dirty="0">
                <a:latin typeface="Times New Roman" pitchFamily="18" charset="0"/>
                <a:cs typeface="Times New Roman" pitchFamily="18" charset="0"/>
              </a:rPr>
              <a:t>0</a:t>
            </a:r>
            <a:r>
              <a:rPr lang="en-US" sz="1600" dirty="0">
                <a:latin typeface="Times New Roman" pitchFamily="18" charset="0"/>
                <a:cs typeface="Times New Roman" pitchFamily="18" charset="0"/>
              </a:rPr>
              <a:t> has the lowest priority. In this case, even if more than one input is ‘1’ at the same time, the output will be the (binary) code corresponding to the input, which is having higher priority.</a:t>
            </a:r>
          </a:p>
        </p:txBody>
      </p:sp>
      <p:graphicFrame>
        <p:nvGraphicFramePr>
          <p:cNvPr id="7" name="Table 6"/>
          <p:cNvGraphicFramePr>
            <a:graphicFrameLocks noGrp="1"/>
          </p:cNvGraphicFramePr>
          <p:nvPr>
            <p:extLst>
              <p:ext uri="{D42A27DB-BD31-4B8C-83A1-F6EECF244321}">
                <p14:modId xmlns:p14="http://schemas.microsoft.com/office/powerpoint/2010/main" val="4037978402"/>
              </p:ext>
            </p:extLst>
          </p:nvPr>
        </p:nvGraphicFramePr>
        <p:xfrm>
          <a:off x="440450" y="4077072"/>
          <a:ext cx="8229600" cy="1828800"/>
        </p:xfrm>
        <a:graphic>
          <a:graphicData uri="http://schemas.openxmlformats.org/drawingml/2006/table">
            <a:tbl>
              <a:tblPr/>
              <a:tblGrid>
                <a:gridCol w="4114800"/>
                <a:gridCol w="4114800"/>
              </a:tblGrid>
              <a:tr h="0">
                <a:tc>
                  <a:txBody>
                    <a:bodyPr/>
                    <a:lstStyle/>
                    <a:p>
                      <a:pPr algn="ctr"/>
                      <a:r>
                        <a:rPr lang="en-US" b="1" dirty="0">
                          <a:latin typeface="Times New Roman" pitchFamily="18" charset="0"/>
                          <a:cs typeface="Times New Roman" pitchFamily="18" charset="0"/>
                        </a:rPr>
                        <a:t>Inputs</a:t>
                      </a:r>
                    </a:p>
                  </a:txBody>
                  <a:tcPr anchor="ctr">
                    <a:lnL>
                      <a:noFill/>
                    </a:lnL>
                    <a:lnR>
                      <a:noFill/>
                    </a:lnR>
                    <a:lnT>
                      <a:noFill/>
                    </a:lnT>
                    <a:lnB>
                      <a:noFill/>
                    </a:lnB>
                  </a:tcPr>
                </a:tc>
                <a:tc>
                  <a:txBody>
                    <a:bodyPr/>
                    <a:lstStyle/>
                    <a:p>
                      <a:pPr algn="ctr"/>
                      <a:r>
                        <a:rPr lang="en-US" b="1" dirty="0">
                          <a:latin typeface="Times New Roman" pitchFamily="18" charset="0"/>
                          <a:cs typeface="Times New Roman" pitchFamily="18" charset="0"/>
                        </a:rPr>
                        <a:t>Output </a:t>
                      </a:r>
                      <a:r>
                        <a:rPr lang="en-US" b="1" dirty="0" smtClean="0">
                          <a:latin typeface="Times New Roman" pitchFamily="18" charset="0"/>
                          <a:cs typeface="Times New Roman" pitchFamily="18" charset="0"/>
                        </a:rPr>
                        <a:t>(A1 A0</a:t>
                      </a:r>
                      <a:r>
                        <a:rPr lang="en-US" b="1" dirty="0">
                          <a:latin typeface="Times New Roman" pitchFamily="18" charset="0"/>
                          <a:cs typeface="Times New Roman" pitchFamily="18" charset="0"/>
                        </a:rPr>
                        <a:t>)</a:t>
                      </a:r>
                    </a:p>
                  </a:txBody>
                  <a:tcPr anchor="ctr">
                    <a:lnL>
                      <a:noFill/>
                    </a:lnL>
                    <a:lnR>
                      <a:noFill/>
                    </a:lnR>
                    <a:lnT>
                      <a:noFill/>
                    </a:lnT>
                    <a:lnB>
                      <a:noFill/>
                    </a:lnB>
                  </a:tcPr>
                </a:tc>
              </a:tr>
              <a:tr h="0">
                <a:tc>
                  <a:txBody>
                    <a:bodyPr/>
                    <a:lstStyle/>
                    <a:p>
                      <a:pPr algn="ctr"/>
                      <a:r>
                        <a:rPr lang="en-US" b="1" dirty="0">
                          <a:latin typeface="Times New Roman" pitchFamily="18" charset="0"/>
                          <a:cs typeface="Times New Roman" pitchFamily="18" charset="0"/>
                        </a:rPr>
                        <a:t>1xxx</a:t>
                      </a:r>
                    </a:p>
                  </a:txBody>
                  <a:tcPr anchor="ctr">
                    <a:lnL>
                      <a:noFill/>
                    </a:lnL>
                    <a:lnR>
                      <a:noFill/>
                    </a:lnR>
                    <a:lnT>
                      <a:noFill/>
                    </a:lnT>
                    <a:lnB>
                      <a:noFill/>
                    </a:lnB>
                  </a:tcPr>
                </a:tc>
                <a:tc>
                  <a:txBody>
                    <a:bodyPr/>
                    <a:lstStyle/>
                    <a:p>
                      <a:pPr algn="ctr"/>
                      <a:r>
                        <a:rPr lang="en-US" b="1">
                          <a:latin typeface="Times New Roman" pitchFamily="18" charset="0"/>
                          <a:cs typeface="Times New Roman" pitchFamily="18" charset="0"/>
                        </a:rPr>
                        <a:t>11</a:t>
                      </a:r>
                    </a:p>
                  </a:txBody>
                  <a:tcPr anchor="ctr">
                    <a:lnL>
                      <a:noFill/>
                    </a:lnL>
                    <a:lnR>
                      <a:noFill/>
                    </a:lnR>
                    <a:lnT>
                      <a:noFill/>
                    </a:lnT>
                    <a:lnB>
                      <a:noFill/>
                    </a:lnB>
                  </a:tcPr>
                </a:tc>
              </a:tr>
              <a:tr h="0">
                <a:tc>
                  <a:txBody>
                    <a:bodyPr/>
                    <a:lstStyle/>
                    <a:p>
                      <a:pPr algn="ctr"/>
                      <a:r>
                        <a:rPr lang="en-US" b="1" dirty="0">
                          <a:latin typeface="Times New Roman" pitchFamily="18" charset="0"/>
                          <a:cs typeface="Times New Roman" pitchFamily="18" charset="0"/>
                        </a:rPr>
                        <a:t>01xx</a:t>
                      </a:r>
                    </a:p>
                  </a:txBody>
                  <a:tcPr anchor="ctr">
                    <a:lnL>
                      <a:noFill/>
                    </a:lnL>
                    <a:lnR>
                      <a:noFill/>
                    </a:lnR>
                    <a:lnT>
                      <a:noFill/>
                    </a:lnT>
                    <a:lnB>
                      <a:noFill/>
                    </a:lnB>
                  </a:tcPr>
                </a:tc>
                <a:tc>
                  <a:txBody>
                    <a:bodyPr/>
                    <a:lstStyle/>
                    <a:p>
                      <a:pPr algn="ctr"/>
                      <a:r>
                        <a:rPr lang="en-US" b="1" dirty="0">
                          <a:latin typeface="Times New Roman" pitchFamily="18" charset="0"/>
                          <a:cs typeface="Times New Roman" pitchFamily="18" charset="0"/>
                        </a:rPr>
                        <a:t>10</a:t>
                      </a:r>
                    </a:p>
                  </a:txBody>
                  <a:tcPr anchor="ctr">
                    <a:lnL>
                      <a:noFill/>
                    </a:lnL>
                    <a:lnR>
                      <a:noFill/>
                    </a:lnR>
                    <a:lnT>
                      <a:noFill/>
                    </a:lnT>
                    <a:lnB>
                      <a:noFill/>
                    </a:lnB>
                  </a:tcPr>
                </a:tc>
              </a:tr>
              <a:tr h="0">
                <a:tc>
                  <a:txBody>
                    <a:bodyPr/>
                    <a:lstStyle/>
                    <a:p>
                      <a:pPr algn="ctr"/>
                      <a:r>
                        <a:rPr lang="en-US" b="1">
                          <a:latin typeface="Times New Roman" pitchFamily="18" charset="0"/>
                          <a:cs typeface="Times New Roman" pitchFamily="18" charset="0"/>
                        </a:rPr>
                        <a:t>001x</a:t>
                      </a:r>
                    </a:p>
                  </a:txBody>
                  <a:tcPr anchor="ctr">
                    <a:lnL>
                      <a:noFill/>
                    </a:lnL>
                    <a:lnR>
                      <a:noFill/>
                    </a:lnR>
                    <a:lnT>
                      <a:noFill/>
                    </a:lnT>
                    <a:lnB>
                      <a:noFill/>
                    </a:lnB>
                  </a:tcPr>
                </a:tc>
                <a:tc>
                  <a:txBody>
                    <a:bodyPr/>
                    <a:lstStyle/>
                    <a:p>
                      <a:pPr algn="ctr"/>
                      <a:r>
                        <a:rPr lang="en-US" b="1" dirty="0">
                          <a:latin typeface="Times New Roman" pitchFamily="18" charset="0"/>
                          <a:cs typeface="Times New Roman" pitchFamily="18" charset="0"/>
                        </a:rPr>
                        <a:t>01</a:t>
                      </a:r>
                    </a:p>
                  </a:txBody>
                  <a:tcPr anchor="ctr">
                    <a:lnL>
                      <a:noFill/>
                    </a:lnL>
                    <a:lnR>
                      <a:noFill/>
                    </a:lnR>
                    <a:lnT>
                      <a:noFill/>
                    </a:lnT>
                    <a:lnB>
                      <a:noFill/>
                    </a:lnB>
                  </a:tcPr>
                </a:tc>
              </a:tr>
              <a:tr h="0">
                <a:tc>
                  <a:txBody>
                    <a:bodyPr/>
                    <a:lstStyle/>
                    <a:p>
                      <a:pPr algn="ctr"/>
                      <a:r>
                        <a:rPr lang="en-US" b="1" dirty="0">
                          <a:latin typeface="Times New Roman" pitchFamily="18" charset="0"/>
                          <a:cs typeface="Times New Roman" pitchFamily="18" charset="0"/>
                        </a:rPr>
                        <a:t>0001</a:t>
                      </a:r>
                    </a:p>
                  </a:txBody>
                  <a:tcPr anchor="ctr">
                    <a:lnL>
                      <a:noFill/>
                    </a:lnL>
                    <a:lnR>
                      <a:noFill/>
                    </a:lnR>
                    <a:lnT>
                      <a:noFill/>
                    </a:lnT>
                    <a:lnB>
                      <a:noFill/>
                    </a:lnB>
                  </a:tcPr>
                </a:tc>
                <a:tc>
                  <a:txBody>
                    <a:bodyPr/>
                    <a:lstStyle/>
                    <a:p>
                      <a:pPr algn="ctr"/>
                      <a:r>
                        <a:rPr lang="en-US" b="1" dirty="0">
                          <a:latin typeface="Times New Roman" pitchFamily="18" charset="0"/>
                          <a:cs typeface="Times New Roman" pitchFamily="18" charset="0"/>
                        </a:rPr>
                        <a:t>00</a:t>
                      </a:r>
                    </a:p>
                  </a:txBody>
                  <a:tcPr anchor="ctr">
                    <a:lnL>
                      <a:noFill/>
                    </a:lnL>
                    <a:lnR>
                      <a:noFill/>
                    </a:lnR>
                    <a:lnT>
                      <a:noFill/>
                    </a:lnT>
                    <a:lnB>
                      <a:noFill/>
                    </a:lnB>
                  </a:tcPr>
                </a:tc>
              </a:tr>
            </a:tbl>
          </a:graphicData>
        </a:graphic>
      </p:graphicFrame>
      <p:sp>
        <p:nvSpPr>
          <p:cNvPr id="8" name="Rectangle 1"/>
          <p:cNvSpPr>
            <a:spLocks noChangeArrowheads="1"/>
          </p:cNvSpPr>
          <p:nvPr/>
        </p:nvSpPr>
        <p:spPr bwMode="auto">
          <a:xfrm>
            <a:off x="827584" y="2924944"/>
            <a:ext cx="6552728"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Times New Roman" pitchFamily="18" charset="0"/>
                <a:cs typeface="Times New Roman" pitchFamily="18" charset="0"/>
              </a:rPr>
              <a:t>Example: 4-to-2 Priority Encoder</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Times New Roman" pitchFamily="18" charset="0"/>
                <a:cs typeface="Times New Roman" pitchFamily="18" charset="0"/>
              </a:rPr>
              <a:t>Priority Order:</a:t>
            </a:r>
            <a:br>
              <a:rPr kumimoji="0" lang="en-US" sz="1400" b="1" i="0" u="none" strike="noStrike" cap="none" normalizeH="0" baseline="0" dirty="0" smtClean="0">
                <a:ln>
                  <a:noFill/>
                </a:ln>
                <a:solidFill>
                  <a:schemeClr val="tx1"/>
                </a:solidFill>
                <a:effectLst/>
                <a:latin typeface="Times New Roman" pitchFamily="18" charset="0"/>
                <a:cs typeface="Times New Roman" pitchFamily="18" charset="0"/>
              </a:rPr>
            </a:br>
            <a:r>
              <a:rPr kumimoji="0" lang="en-US" sz="1400" b="1" i="0" u="none" strike="noStrike" cap="none" normalizeH="0" baseline="0" dirty="0" smtClean="0">
                <a:ln>
                  <a:noFill/>
                </a:ln>
                <a:solidFill>
                  <a:schemeClr val="tx1"/>
                </a:solidFill>
                <a:effectLst/>
                <a:latin typeface="Times New Roman" pitchFamily="18" charset="0"/>
                <a:cs typeface="Times New Roman" pitchFamily="18" charset="0"/>
              </a:rPr>
              <a:t>Y3 &gt; Y2 &gt; Y1 &gt; Y0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Times New Roman" pitchFamily="18" charset="0"/>
                <a:cs typeface="Times New Roman" pitchFamily="18" charset="0"/>
              </a:rPr>
              <a:t>(x = don’t care)</a:t>
            </a:r>
          </a:p>
        </p:txBody>
      </p:sp>
    </p:spTree>
    <p:extLst>
      <p:ext uri="{BB962C8B-B14F-4D97-AF65-F5344CB8AC3E}">
        <p14:creationId xmlns:p14="http://schemas.microsoft.com/office/powerpoint/2010/main" val="104570635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
        <p:nvSpPr>
          <p:cNvPr id="7" name="Rectangle 6"/>
          <p:cNvSpPr/>
          <p:nvPr/>
        </p:nvSpPr>
        <p:spPr>
          <a:xfrm>
            <a:off x="477199" y="1412776"/>
            <a:ext cx="3478622" cy="707886"/>
          </a:xfrm>
          <a:prstGeom prst="rect">
            <a:avLst/>
          </a:prstGeom>
        </p:spPr>
        <p:txBody>
          <a:bodyPr wrap="square">
            <a:spAutoFit/>
          </a:bodyPr>
          <a:lstStyle/>
          <a:p>
            <a:pPr fontAlgn="base"/>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logical expression for A</a:t>
            </a:r>
            <a:r>
              <a:rPr lang="en-US" sz="2000" baseline="-25000" dirty="0">
                <a:latin typeface="Times New Roman" pitchFamily="18" charset="0"/>
                <a:cs typeface="Times New Roman" pitchFamily="18" charset="0"/>
              </a:rPr>
              <a:t>1</a:t>
            </a:r>
            <a:r>
              <a:rPr lang="en-US" sz="2000" dirty="0">
                <a:latin typeface="Times New Roman" pitchFamily="18" charset="0"/>
                <a:cs typeface="Times New Roman" pitchFamily="18" charset="0"/>
              </a:rPr>
              <a:t> is shown below:</a:t>
            </a:r>
          </a:p>
        </p:txBody>
      </p:sp>
      <p:pic>
        <p:nvPicPr>
          <p:cNvPr id="1024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7199" y="2348880"/>
            <a:ext cx="3352431" cy="2853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4775288" y="1412776"/>
            <a:ext cx="4053372" cy="707886"/>
          </a:xfrm>
          <a:prstGeom prst="rect">
            <a:avLst/>
          </a:prstGeom>
        </p:spPr>
        <p:txBody>
          <a:bodyPr wrap="square">
            <a:spAutoFit/>
          </a:bodyPr>
          <a:lstStyle/>
          <a:p>
            <a:pPr fontAlgn="base"/>
            <a:r>
              <a:rPr lang="en-US" sz="2000" dirty="0">
                <a:latin typeface="Times New Roman" pitchFamily="18" charset="0"/>
                <a:cs typeface="Times New Roman" pitchFamily="18" charset="0"/>
              </a:rPr>
              <a:t>The Logical Expression for A0 is shown below:</a:t>
            </a:r>
          </a:p>
        </p:txBody>
      </p:sp>
      <p:sp>
        <p:nvSpPr>
          <p:cNvPr id="9" name="Rectangle 8"/>
          <p:cNvSpPr/>
          <p:nvPr/>
        </p:nvSpPr>
        <p:spPr>
          <a:xfrm>
            <a:off x="2396874" y="476672"/>
            <a:ext cx="4616200" cy="461665"/>
          </a:xfrm>
          <a:prstGeom prst="rect">
            <a:avLst/>
          </a:prstGeom>
        </p:spPr>
        <p:txBody>
          <a:bodyPr wrap="none">
            <a:spAutoFit/>
          </a:bodyPr>
          <a:lstStyle/>
          <a:p>
            <a:pPr fontAlgn="base"/>
            <a:r>
              <a:rPr lang="en-US" sz="2400" b="1" dirty="0">
                <a:latin typeface="Times New Roman" pitchFamily="18" charset="0"/>
                <a:cs typeface="Times New Roman" pitchFamily="18" charset="0"/>
              </a:rPr>
              <a:t>Logical Expressions using K-Map</a:t>
            </a:r>
            <a:endParaRPr lang="en-US" sz="2400" dirty="0">
              <a:latin typeface="Times New Roman" pitchFamily="18" charset="0"/>
              <a:cs typeface="Times New Roman" pitchFamily="18" charset="0"/>
            </a:endParaRPr>
          </a:p>
        </p:txBody>
      </p:sp>
      <p:pic>
        <p:nvPicPr>
          <p:cNvPr id="10243"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04048" y="2370348"/>
            <a:ext cx="3318495" cy="2824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570635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
        <p:nvSpPr>
          <p:cNvPr id="2" name="Rectangle 1"/>
          <p:cNvSpPr/>
          <p:nvPr/>
        </p:nvSpPr>
        <p:spPr>
          <a:xfrm>
            <a:off x="2699792" y="4449489"/>
            <a:ext cx="4572000" cy="1754326"/>
          </a:xfrm>
          <a:prstGeom prst="rect">
            <a:avLst/>
          </a:prstGeom>
        </p:spPr>
        <p:txBody>
          <a:bodyPr wrap="square">
            <a:spAutoFit/>
          </a:bodyPr>
          <a:lstStyle/>
          <a:p>
            <a:pPr algn="just"/>
            <a:r>
              <a:rPr lang="en-US" b="1" dirty="0">
                <a:latin typeface="Times New Roman" pitchFamily="18" charset="0"/>
                <a:cs typeface="Times New Roman" pitchFamily="18" charset="0"/>
              </a:rPr>
              <a:t>Applications of Priority </a:t>
            </a:r>
            <a:r>
              <a:rPr lang="en-US" b="1" dirty="0" smtClean="0">
                <a:latin typeface="Times New Roman" pitchFamily="18" charset="0"/>
                <a:cs typeface="Times New Roman" pitchFamily="18" charset="0"/>
              </a:rPr>
              <a:t>Encoder:</a:t>
            </a:r>
          </a:p>
          <a:p>
            <a:pPr algn="just"/>
            <a:endParaRPr lang="en-US" b="1"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Interrupt controllers</a:t>
            </a:r>
          </a:p>
          <a:p>
            <a:pPr algn="just"/>
            <a:r>
              <a:rPr lang="en-US" b="1" dirty="0">
                <a:latin typeface="Times New Roman" pitchFamily="18" charset="0"/>
                <a:cs typeface="Times New Roman" pitchFamily="18" charset="0"/>
              </a:rPr>
              <a:t>CPU scheduling</a:t>
            </a:r>
          </a:p>
          <a:p>
            <a:pPr algn="just"/>
            <a:r>
              <a:rPr lang="en-US" b="1" dirty="0">
                <a:latin typeface="Times New Roman" pitchFamily="18" charset="0"/>
                <a:cs typeface="Times New Roman" pitchFamily="18" charset="0"/>
              </a:rPr>
              <a:t>Bus arbitration</a:t>
            </a:r>
          </a:p>
          <a:p>
            <a:pPr algn="just"/>
            <a:r>
              <a:rPr lang="en-US" b="1" dirty="0">
                <a:latin typeface="Times New Roman" pitchFamily="18" charset="0"/>
                <a:cs typeface="Times New Roman" pitchFamily="18" charset="0"/>
              </a:rPr>
              <a:t>Resource allocation systems</a:t>
            </a:r>
          </a:p>
        </p:txBody>
      </p:sp>
      <p:sp>
        <p:nvSpPr>
          <p:cNvPr id="7" name="Rectangle 6"/>
          <p:cNvSpPr/>
          <p:nvPr/>
        </p:nvSpPr>
        <p:spPr>
          <a:xfrm>
            <a:off x="539552" y="404664"/>
            <a:ext cx="8208912" cy="369332"/>
          </a:xfrm>
          <a:prstGeom prst="rect">
            <a:avLst/>
          </a:prstGeom>
        </p:spPr>
        <p:txBody>
          <a:bodyPr wrap="square">
            <a:spAutoFit/>
          </a:bodyPr>
          <a:lstStyle/>
          <a:p>
            <a:pPr fontAlgn="base"/>
            <a:r>
              <a:rPr lang="en-US" b="1" dirty="0">
                <a:latin typeface="Times New Roman" pitchFamily="18" charset="0"/>
                <a:cs typeface="Times New Roman" pitchFamily="18" charset="0"/>
              </a:rPr>
              <a:t>Circuit </a:t>
            </a:r>
            <a:r>
              <a:rPr lang="en-US" b="1" dirty="0" smtClean="0">
                <a:latin typeface="Times New Roman" pitchFamily="18" charset="0"/>
                <a:cs typeface="Times New Roman" pitchFamily="18" charset="0"/>
              </a:rPr>
              <a:t>Diagram: </a:t>
            </a: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above two Boolean functions can be implemented as:</a:t>
            </a:r>
          </a:p>
        </p:txBody>
      </p:sp>
      <p:pic>
        <p:nvPicPr>
          <p:cNvPr id="1126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01233" y="1052736"/>
            <a:ext cx="5435063" cy="3183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1766450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5;p2"/>
          <p:cNvSpPr txBox="1">
            <a:spLocks/>
          </p:cNvSpPr>
          <p:nvPr/>
        </p:nvSpPr>
        <p:spPr>
          <a:xfrm>
            <a:off x="281843" y="2588907"/>
            <a:ext cx="8546813" cy="1020113"/>
          </a:xfrm>
          <a:prstGeom prst="rect">
            <a:avLst/>
          </a:prstGeom>
          <a:noFill/>
          <a:ln>
            <a:noFill/>
          </a:ln>
        </p:spPr>
        <p:txBody>
          <a:bodyPr spcFirstLastPara="1" wrap="square" lIns="76790" tIns="38395" rIns="76790" bIns="3839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000" b="1" dirty="0" smtClean="0">
                <a:solidFill>
                  <a:srgbClr val="C00000"/>
                </a:solidFill>
                <a:latin typeface="Marcellus"/>
                <a:ea typeface="Marcellus"/>
                <a:cs typeface="Marcellus"/>
              </a:rPr>
              <a:t>De- multiplexer (DEMUX)</a:t>
            </a:r>
            <a:endParaRPr lang="en-US" sz="3000" b="1" dirty="0">
              <a:solidFill>
                <a:srgbClr val="C00000"/>
              </a:solidFill>
              <a:latin typeface="Marcellus"/>
              <a:ea typeface="Marcellus"/>
              <a:cs typeface="Marcellus"/>
            </a:endParaRPr>
          </a:p>
        </p:txBody>
      </p:sp>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Tree>
    <p:extLst>
      <p:ext uri="{BB962C8B-B14F-4D97-AF65-F5344CB8AC3E}">
        <p14:creationId xmlns:p14="http://schemas.microsoft.com/office/powerpoint/2010/main" val="54897556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055" y="188640"/>
            <a:ext cx="8308064" cy="2246769"/>
          </a:xfrm>
          <a:prstGeom prst="rect">
            <a:avLst/>
          </a:prstGeom>
        </p:spPr>
        <p:txBody>
          <a:bodyPr wrap="square">
            <a:spAutoFit/>
          </a:bodyPr>
          <a:lstStyle/>
          <a:p>
            <a:pPr algn="ctr"/>
            <a:r>
              <a:rPr lang="en-US" sz="2000" b="1" dirty="0" smtClean="0">
                <a:latin typeface="Times New Roman" pitchFamily="18" charset="0"/>
                <a:cs typeface="Times New Roman" pitchFamily="18" charset="0"/>
              </a:rPr>
              <a:t>De-multiplexer (</a:t>
            </a:r>
            <a:r>
              <a:rPr lang="en-US" sz="2000" b="1" dirty="0">
                <a:latin typeface="Times New Roman" pitchFamily="18" charset="0"/>
                <a:cs typeface="Times New Roman" pitchFamily="18" charset="0"/>
              </a:rPr>
              <a:t>DEMUX)</a:t>
            </a:r>
          </a:p>
          <a:p>
            <a:pPr marL="342900" indent="-342900" algn="just" fontAlgn="base">
              <a:buFont typeface="Arial" pitchFamily="34" charset="0"/>
              <a:buChar char="•"/>
            </a:pPr>
            <a:r>
              <a:rPr lang="en-US" sz="2000" dirty="0" smtClean="0">
                <a:latin typeface="Times New Roman" pitchFamily="18" charset="0"/>
                <a:cs typeface="Times New Roman" pitchFamily="18" charset="0"/>
              </a:rPr>
              <a:t>The</a:t>
            </a:r>
            <a:r>
              <a:rPr lang="en-US" sz="2000" dirty="0">
                <a:latin typeface="Times New Roman" pitchFamily="18" charset="0"/>
                <a:cs typeface="Times New Roman" pitchFamily="18" charset="0"/>
              </a:rPr>
              <a:t> </a:t>
            </a:r>
            <a:r>
              <a:rPr lang="en-US" sz="2000" u="sng" dirty="0">
                <a:latin typeface="Times New Roman" pitchFamily="18" charset="0"/>
                <a:cs typeface="Times New Roman" pitchFamily="18" charset="0"/>
                <a:hlinkClick r:id="rId2"/>
              </a:rPr>
              <a:t>DEMUX</a:t>
            </a:r>
            <a:r>
              <a:rPr lang="en-US" sz="2000" dirty="0">
                <a:latin typeface="Times New Roman" pitchFamily="18" charset="0"/>
                <a:cs typeface="Times New Roman" pitchFamily="18" charset="0"/>
              </a:rPr>
              <a:t> is a digital information processor. It takes input from one source and also converts the data to transmit towards various sources. The </a:t>
            </a:r>
            <a:r>
              <a:rPr lang="en-US" sz="2000" dirty="0" err="1">
                <a:latin typeface="Times New Roman" pitchFamily="18" charset="0"/>
                <a:cs typeface="Times New Roman" pitchFamily="18" charset="0"/>
              </a:rPr>
              <a:t>demultiplexer</a:t>
            </a:r>
            <a:r>
              <a:rPr lang="en-US" sz="2000" dirty="0">
                <a:latin typeface="Times New Roman" pitchFamily="18" charset="0"/>
                <a:cs typeface="Times New Roman" pitchFamily="18" charset="0"/>
              </a:rPr>
              <a:t> has one data input line. </a:t>
            </a:r>
            <a:endParaRPr lang="en-US" sz="2000" dirty="0" smtClean="0">
              <a:latin typeface="Times New Roman" pitchFamily="18" charset="0"/>
              <a:cs typeface="Times New Roman" pitchFamily="18" charset="0"/>
            </a:endParaRPr>
          </a:p>
          <a:p>
            <a:pPr marL="342900" indent="-342900" algn="just" fontAlgn="base">
              <a:buFont typeface="Arial" pitchFamily="34" charset="0"/>
              <a:buChar char="•"/>
            </a:pPr>
            <a:r>
              <a:rPr lang="en-US" sz="2000" dirty="0" smtClean="0">
                <a:latin typeface="Times New Roman" pitchFamily="18" charset="0"/>
                <a:cs typeface="Times New Roman" pitchFamily="18" charset="0"/>
              </a:rPr>
              <a:t>The </a:t>
            </a:r>
            <a:r>
              <a:rPr lang="en-US" sz="2000" dirty="0" err="1">
                <a:latin typeface="Times New Roman" pitchFamily="18" charset="0"/>
                <a:cs typeface="Times New Roman" pitchFamily="18" charset="0"/>
              </a:rPr>
              <a:t>demultiplexer</a:t>
            </a:r>
            <a:r>
              <a:rPr lang="en-US" sz="2000" dirty="0">
                <a:latin typeface="Times New Roman" pitchFamily="18" charset="0"/>
                <a:cs typeface="Times New Roman" pitchFamily="18" charset="0"/>
              </a:rPr>
              <a:t> has several control lines (also known as select lines). These lines determine to which output the input data should be sent. The number of control lines determines the number of output lines.</a:t>
            </a:r>
          </a:p>
        </p:txBody>
      </p:sp>
      <p:pic>
        <p:nvPicPr>
          <p:cNvPr id="3" name="Google Shape;301;p33"/>
          <p:cNvPicPr preferRelativeResize="0"/>
          <p:nvPr/>
        </p:nvPicPr>
        <p:blipFill rotWithShape="1">
          <a:blip r:embed="rId3">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4">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5">
            <a:alphaModFix/>
          </a:blip>
          <a:srcRect/>
          <a:stretch/>
        </p:blipFill>
        <p:spPr>
          <a:xfrm>
            <a:off x="8121316" y="5610533"/>
            <a:ext cx="726300" cy="721800"/>
          </a:xfrm>
          <a:prstGeom prst="rect">
            <a:avLst/>
          </a:prstGeom>
          <a:noFill/>
          <a:ln>
            <a:noFill/>
          </a:ln>
        </p:spPr>
      </p:pic>
      <p:pic>
        <p:nvPicPr>
          <p:cNvPr id="6" name="Picture 5"/>
          <p:cNvPicPr/>
          <p:nvPr/>
        </p:nvPicPr>
        <p:blipFill>
          <a:blip r:embed="rId6">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pic>
        <p:nvPicPr>
          <p:cNvPr id="8"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32763" y="2595305"/>
            <a:ext cx="5832648" cy="3272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78615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
        <p:nvSpPr>
          <p:cNvPr id="7" name="Rectangle 6"/>
          <p:cNvSpPr/>
          <p:nvPr/>
        </p:nvSpPr>
        <p:spPr>
          <a:xfrm>
            <a:off x="323528" y="476672"/>
            <a:ext cx="8524088" cy="1477328"/>
          </a:xfrm>
          <a:prstGeom prst="rect">
            <a:avLst/>
          </a:prstGeom>
        </p:spPr>
        <p:txBody>
          <a:bodyPr wrap="square">
            <a:spAutoFit/>
          </a:bodyPr>
          <a:lstStyle/>
          <a:p>
            <a:pPr algn="ctr"/>
            <a:r>
              <a:rPr lang="en-US" b="1" dirty="0">
                <a:latin typeface="Times New Roman" pitchFamily="18" charset="0"/>
                <a:cs typeface="Times New Roman" pitchFamily="18" charset="0"/>
              </a:rPr>
              <a:t>Truth Table Of A 1X4 </a:t>
            </a:r>
            <a:r>
              <a:rPr lang="en-US" b="1" dirty="0" smtClean="0">
                <a:latin typeface="Times New Roman" pitchFamily="18" charset="0"/>
                <a:cs typeface="Times New Roman" pitchFamily="18" charset="0"/>
              </a:rPr>
              <a:t>DEMUX</a:t>
            </a:r>
          </a:p>
          <a:p>
            <a:pPr algn="ctr"/>
            <a:endParaRPr lang="en-US" b="1"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A 1x4 DEMUX has only one input which is denoted as I. There are two selection lines i.e. S1 and S0. At last, the DEMUX has output lines including Y3, Y2, Y1 &amp;Y0. Here is the 1x4 DEMUX with diagram as mentioned </a:t>
            </a:r>
            <a:r>
              <a:rPr lang="en-US" dirty="0" smtClean="0">
                <a:latin typeface="Times New Roman" pitchFamily="18" charset="0"/>
                <a:cs typeface="Times New Roman" pitchFamily="18" charset="0"/>
              </a:rPr>
              <a:t>below.</a:t>
            </a:r>
            <a:endParaRPr lang="en-US"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66297" y="2424223"/>
            <a:ext cx="3638550" cy="318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823921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pic>
        <p:nvPicPr>
          <p:cNvPr id="7170" name="Picture 2" descr="https://www.poriyaan.in/media/imgPori/images12/3ZOY1hR.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270" y="908720"/>
            <a:ext cx="8646039" cy="4392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622439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
        <p:nvSpPr>
          <p:cNvPr id="2" name="Rectangle 1"/>
          <p:cNvSpPr/>
          <p:nvPr/>
        </p:nvSpPr>
        <p:spPr>
          <a:xfrm>
            <a:off x="467544" y="1926076"/>
            <a:ext cx="8208912" cy="1477328"/>
          </a:xfrm>
          <a:prstGeom prst="rect">
            <a:avLst/>
          </a:prstGeom>
        </p:spPr>
        <p:txBody>
          <a:bodyPr wrap="square">
            <a:spAutoFit/>
          </a:bodyPr>
          <a:lstStyle/>
          <a:p>
            <a:pPr algn="ctr"/>
            <a:r>
              <a:rPr lang="en-US" b="1" dirty="0">
                <a:latin typeface="Times New Roman" pitchFamily="18" charset="0"/>
                <a:cs typeface="Times New Roman" pitchFamily="18" charset="0"/>
              </a:rPr>
              <a:t>Truth Table Of A 1x8 </a:t>
            </a:r>
            <a:r>
              <a:rPr lang="en-US" b="1" dirty="0" smtClean="0">
                <a:latin typeface="Times New Roman" pitchFamily="18" charset="0"/>
                <a:cs typeface="Times New Roman" pitchFamily="18" charset="0"/>
              </a:rPr>
              <a:t>De-Multiplexer</a:t>
            </a:r>
          </a:p>
          <a:p>
            <a:pPr algn="ctr"/>
            <a:endParaRPr lang="en-US" b="1"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The 1x8 DEMUX was designed by using two DEMUX. They are the two 1x4 DEMUX and one 1x2 DEMUX. The 1x8 DEMUX contains two input lines with four outputs. Let us see the block diagram of the 1x8 DEMUX as mentioned below.</a:t>
            </a:r>
          </a:p>
        </p:txBody>
      </p:sp>
    </p:spTree>
    <p:extLst>
      <p:ext uri="{BB962C8B-B14F-4D97-AF65-F5344CB8AC3E}">
        <p14:creationId xmlns:p14="http://schemas.microsoft.com/office/powerpoint/2010/main" val="33537907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pic>
        <p:nvPicPr>
          <p:cNvPr id="8194" name="Picture 2" descr="https://www.poriyaan.in/media/imgPori/images12/14ZXygY.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688" y="108936"/>
            <a:ext cx="6038850" cy="62003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732715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
        <p:nvSpPr>
          <p:cNvPr id="2" name="Rectangle 1"/>
          <p:cNvSpPr/>
          <p:nvPr/>
        </p:nvSpPr>
        <p:spPr>
          <a:xfrm>
            <a:off x="541444" y="260648"/>
            <a:ext cx="8280920" cy="1477328"/>
          </a:xfrm>
          <a:prstGeom prst="rect">
            <a:avLst/>
          </a:prstGeom>
        </p:spPr>
        <p:txBody>
          <a:bodyPr wrap="square">
            <a:spAutoFit/>
          </a:bodyPr>
          <a:lstStyle/>
          <a:p>
            <a:pPr algn="ctr"/>
            <a:r>
              <a:rPr lang="en-US" b="1" dirty="0">
                <a:latin typeface="Times New Roman" pitchFamily="18" charset="0"/>
                <a:cs typeface="Times New Roman" pitchFamily="18" charset="0"/>
              </a:rPr>
              <a:t>Truth Table Of A 1x16 </a:t>
            </a:r>
            <a:r>
              <a:rPr lang="en-US" b="1" dirty="0" smtClean="0">
                <a:latin typeface="Times New Roman" pitchFamily="18" charset="0"/>
                <a:cs typeface="Times New Roman" pitchFamily="18" charset="0"/>
              </a:rPr>
              <a:t>De-Multiplexer</a:t>
            </a:r>
          </a:p>
          <a:p>
            <a:pPr algn="ctr"/>
            <a:endParaRPr lang="en-US" b="1"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The 1x16 DEMUX was designed by using the two 1x8 DEMUX and one 1x2 DEMUX. The 1x16 DEMUX have two input lines. It has eight outputs. Let us see the block diagram of the 1x16 DEMUX as mentioned below.</a:t>
            </a:r>
          </a:p>
        </p:txBody>
      </p:sp>
      <p:pic>
        <p:nvPicPr>
          <p:cNvPr id="409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8894" y="2020226"/>
            <a:ext cx="5392711" cy="3882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37907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1736093075"/>
              </p:ext>
            </p:extLst>
          </p:nvPr>
        </p:nvGraphicFramePr>
        <p:xfrm>
          <a:off x="827583" y="620689"/>
          <a:ext cx="7560840" cy="5637522"/>
        </p:xfrm>
        <a:graphic>
          <a:graphicData uri="http://schemas.openxmlformats.org/drawingml/2006/table">
            <a:tbl>
              <a:tblPr/>
              <a:tblGrid>
                <a:gridCol w="182741"/>
                <a:gridCol w="388321"/>
                <a:gridCol w="388321"/>
                <a:gridCol w="388321"/>
                <a:gridCol w="388321"/>
                <a:gridCol w="388321"/>
                <a:gridCol w="388321"/>
                <a:gridCol w="388321"/>
                <a:gridCol w="388321"/>
                <a:gridCol w="388321"/>
                <a:gridCol w="388321"/>
                <a:gridCol w="388321"/>
                <a:gridCol w="388321"/>
                <a:gridCol w="388321"/>
                <a:gridCol w="388321"/>
                <a:gridCol w="388321"/>
                <a:gridCol w="388321"/>
                <a:gridCol w="388321"/>
                <a:gridCol w="388321"/>
                <a:gridCol w="388321"/>
              </a:tblGrid>
              <a:tr h="351966">
                <a:tc gridSpan="4">
                  <a:txBody>
                    <a:bodyPr/>
                    <a:lstStyle/>
                    <a:p>
                      <a:pPr algn="ctr" rtl="0" fontAlgn="base"/>
                      <a:r>
                        <a:rPr lang="en-US" sz="1000" b="1" dirty="0">
                          <a:effectLst/>
                          <a:latin typeface="Times New Roman" pitchFamily="18" charset="0"/>
                          <a:cs typeface="Times New Roman" pitchFamily="18" charset="0"/>
                        </a:rPr>
                        <a:t>SELECTION INPUTS</a:t>
                      </a:r>
                      <a:endParaRPr lang="en-US" sz="1000" b="0" dirty="0">
                        <a:effectLst/>
                        <a:latin typeface="Times New Roman" pitchFamily="18" charset="0"/>
                        <a:cs typeface="Times New Roman" pitchFamily="18" charset="0"/>
                      </a:endParaRPr>
                    </a:p>
                  </a:txBody>
                  <a:tcPr marL="19942" marR="19942" marT="49854" marB="4985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16">
                  <a:txBody>
                    <a:bodyPr/>
                    <a:lstStyle/>
                    <a:p>
                      <a:pPr algn="ctr" rtl="0" fontAlgn="base"/>
                      <a:r>
                        <a:rPr lang="en-US" sz="1000" b="1" dirty="0">
                          <a:effectLst/>
                          <a:latin typeface="Times New Roman" pitchFamily="18" charset="0"/>
                          <a:cs typeface="Times New Roman" pitchFamily="18" charset="0"/>
                        </a:rPr>
                        <a:t>OUTPUTS</a:t>
                      </a:r>
                      <a:endParaRPr lang="en-US" sz="1000" b="0" dirty="0">
                        <a:effectLst/>
                        <a:latin typeface="Times New Roman" pitchFamily="18" charset="0"/>
                        <a:cs typeface="Times New Roman" pitchFamily="18" charset="0"/>
                      </a:endParaRPr>
                    </a:p>
                  </a:txBody>
                  <a:tcPr marL="49854" marR="49854" marT="49854" marB="4985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407563">
                <a:tc>
                  <a:txBody>
                    <a:bodyPr/>
                    <a:lstStyle/>
                    <a:p>
                      <a:pPr algn="ctr" rtl="0" fontAlgn="base"/>
                      <a:r>
                        <a:rPr lang="en-US" sz="1000" b="1">
                          <a:effectLst/>
                          <a:latin typeface="Times New Roman" pitchFamily="18" charset="0"/>
                          <a:cs typeface="Times New Roman" pitchFamily="18" charset="0"/>
                        </a:rPr>
                        <a:t>S</a:t>
                      </a:r>
                      <a:r>
                        <a:rPr lang="en-US" sz="1000" b="1" baseline="-25000">
                          <a:effectLst/>
                          <a:latin typeface="Times New Roman" pitchFamily="18" charset="0"/>
                          <a:cs typeface="Times New Roman" pitchFamily="18" charset="0"/>
                        </a:rPr>
                        <a:t>3</a:t>
                      </a:r>
                      <a:endParaRPr lang="en-US" sz="1000" b="0">
                        <a:effectLst/>
                        <a:latin typeface="Times New Roman" pitchFamily="18" charset="0"/>
                        <a:cs typeface="Times New Roman" pitchFamily="18" charset="0"/>
                      </a:endParaRPr>
                    </a:p>
                  </a:txBody>
                  <a:tcPr marL="19942" marR="19942" marT="43463" marB="434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rtl="0" fontAlgn="base"/>
                      <a:r>
                        <a:rPr lang="en-US" sz="1000" b="0">
                          <a:effectLst/>
                          <a:latin typeface="Times New Roman" pitchFamily="18" charset="0"/>
                          <a:cs typeface="Times New Roman" pitchFamily="18" charset="0"/>
                        </a:rPr>
                        <a:t>S</a:t>
                      </a:r>
                      <a:r>
                        <a:rPr lang="en-US" sz="1000" b="0" baseline="-25000">
                          <a:effectLst/>
                          <a:latin typeface="Times New Roman" pitchFamily="18" charset="0"/>
                          <a:cs typeface="Times New Roman" pitchFamily="18" charset="0"/>
                        </a:rPr>
                        <a:t>2</a:t>
                      </a:r>
                      <a:endParaRPr lang="en-US" sz="1000" b="0">
                        <a:effectLst/>
                        <a:latin typeface="Times New Roman" pitchFamily="18" charset="0"/>
                        <a:cs typeface="Times New Roman" pitchFamily="18" charset="0"/>
                      </a:endParaRP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S</a:t>
                      </a:r>
                      <a:r>
                        <a:rPr lang="en-US" sz="1000" b="0" baseline="-25000">
                          <a:effectLst/>
                          <a:latin typeface="Times New Roman" pitchFamily="18" charset="0"/>
                          <a:cs typeface="Times New Roman" pitchFamily="18" charset="0"/>
                        </a:rPr>
                        <a:t>1</a:t>
                      </a:r>
                      <a:endParaRPr lang="en-US" sz="1000" b="0">
                        <a:effectLst/>
                        <a:latin typeface="Times New Roman" pitchFamily="18" charset="0"/>
                        <a:cs typeface="Times New Roman" pitchFamily="18" charset="0"/>
                      </a:endParaRP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S</a:t>
                      </a:r>
                      <a:r>
                        <a:rPr lang="en-US" sz="1000" b="0" baseline="-25000">
                          <a:effectLst/>
                          <a:latin typeface="Times New Roman" pitchFamily="18" charset="0"/>
                          <a:cs typeface="Times New Roman" pitchFamily="18" charset="0"/>
                        </a:rPr>
                        <a:t>0</a:t>
                      </a:r>
                      <a:endParaRPr lang="en-US" sz="1000" b="0">
                        <a:effectLst/>
                        <a:latin typeface="Times New Roman" pitchFamily="18" charset="0"/>
                        <a:cs typeface="Times New Roman" pitchFamily="18" charset="0"/>
                      </a:endParaRP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Y</a:t>
                      </a:r>
                      <a:r>
                        <a:rPr lang="en-US" sz="1000" b="0" baseline="-25000">
                          <a:effectLst/>
                          <a:latin typeface="Times New Roman" pitchFamily="18" charset="0"/>
                          <a:cs typeface="Times New Roman" pitchFamily="18" charset="0"/>
                        </a:rPr>
                        <a:t>15</a:t>
                      </a:r>
                      <a:endParaRPr lang="en-US" sz="1000" b="0">
                        <a:effectLst/>
                        <a:latin typeface="Times New Roman" pitchFamily="18" charset="0"/>
                        <a:cs typeface="Times New Roman" pitchFamily="18" charset="0"/>
                      </a:endParaRP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Y</a:t>
                      </a:r>
                      <a:r>
                        <a:rPr lang="en-US" sz="1000" b="0" baseline="-25000">
                          <a:effectLst/>
                          <a:latin typeface="Times New Roman" pitchFamily="18" charset="0"/>
                          <a:cs typeface="Times New Roman" pitchFamily="18" charset="0"/>
                        </a:rPr>
                        <a:t>14</a:t>
                      </a:r>
                      <a:endParaRPr lang="en-US" sz="1000" b="0">
                        <a:effectLst/>
                        <a:latin typeface="Times New Roman" pitchFamily="18" charset="0"/>
                        <a:cs typeface="Times New Roman" pitchFamily="18" charset="0"/>
                      </a:endParaRP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Y</a:t>
                      </a:r>
                      <a:r>
                        <a:rPr lang="en-US" sz="1000" b="0" baseline="-25000">
                          <a:effectLst/>
                          <a:latin typeface="Times New Roman" pitchFamily="18" charset="0"/>
                          <a:cs typeface="Times New Roman" pitchFamily="18" charset="0"/>
                        </a:rPr>
                        <a:t>13</a:t>
                      </a:r>
                      <a:endParaRPr lang="en-US" sz="1000" b="0">
                        <a:effectLst/>
                        <a:latin typeface="Times New Roman" pitchFamily="18" charset="0"/>
                        <a:cs typeface="Times New Roman" pitchFamily="18" charset="0"/>
                      </a:endParaRP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dirty="0">
                          <a:effectLst/>
                          <a:latin typeface="Times New Roman" pitchFamily="18" charset="0"/>
                          <a:cs typeface="Times New Roman" pitchFamily="18" charset="0"/>
                        </a:rPr>
                        <a:t>Y</a:t>
                      </a:r>
                      <a:r>
                        <a:rPr lang="en-US" sz="1000" b="0" baseline="-25000" dirty="0">
                          <a:effectLst/>
                          <a:latin typeface="Times New Roman" pitchFamily="18" charset="0"/>
                          <a:cs typeface="Times New Roman" pitchFamily="18" charset="0"/>
                        </a:rPr>
                        <a:t>12</a:t>
                      </a:r>
                      <a:endParaRPr lang="en-US" sz="1000" b="0" dirty="0">
                        <a:effectLst/>
                        <a:latin typeface="Times New Roman" pitchFamily="18" charset="0"/>
                        <a:cs typeface="Times New Roman" pitchFamily="18" charset="0"/>
                      </a:endParaRP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dirty="0">
                          <a:effectLst/>
                          <a:latin typeface="Times New Roman" pitchFamily="18" charset="0"/>
                          <a:cs typeface="Times New Roman" pitchFamily="18" charset="0"/>
                        </a:rPr>
                        <a:t>Y</a:t>
                      </a:r>
                      <a:r>
                        <a:rPr lang="en-US" sz="1000" b="0" baseline="-25000" dirty="0">
                          <a:effectLst/>
                          <a:latin typeface="Times New Roman" pitchFamily="18" charset="0"/>
                          <a:cs typeface="Times New Roman" pitchFamily="18" charset="0"/>
                        </a:rPr>
                        <a:t>11</a:t>
                      </a:r>
                      <a:endParaRPr lang="en-US" sz="1000" b="0" dirty="0">
                        <a:effectLst/>
                        <a:latin typeface="Times New Roman" pitchFamily="18" charset="0"/>
                        <a:cs typeface="Times New Roman" pitchFamily="18" charset="0"/>
                      </a:endParaRP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dirty="0">
                          <a:effectLst/>
                          <a:latin typeface="Times New Roman" pitchFamily="18" charset="0"/>
                          <a:cs typeface="Times New Roman" pitchFamily="18" charset="0"/>
                        </a:rPr>
                        <a:t>Y</a:t>
                      </a:r>
                      <a:r>
                        <a:rPr lang="en-US" sz="1000" b="0" baseline="-25000" dirty="0">
                          <a:effectLst/>
                          <a:latin typeface="Times New Roman" pitchFamily="18" charset="0"/>
                          <a:cs typeface="Times New Roman" pitchFamily="18" charset="0"/>
                        </a:rPr>
                        <a:t>10</a:t>
                      </a:r>
                      <a:endParaRPr lang="en-US" sz="1000" b="0" dirty="0">
                        <a:effectLst/>
                        <a:latin typeface="Times New Roman" pitchFamily="18" charset="0"/>
                        <a:cs typeface="Times New Roman" pitchFamily="18" charset="0"/>
                      </a:endParaRP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Y</a:t>
                      </a:r>
                      <a:r>
                        <a:rPr lang="en-US" sz="1000" b="0" baseline="-25000">
                          <a:effectLst/>
                          <a:latin typeface="Times New Roman" pitchFamily="18" charset="0"/>
                          <a:cs typeface="Times New Roman" pitchFamily="18" charset="0"/>
                        </a:rPr>
                        <a:t>9</a:t>
                      </a:r>
                      <a:endParaRPr lang="en-US" sz="1000" b="0">
                        <a:effectLst/>
                        <a:latin typeface="Times New Roman" pitchFamily="18" charset="0"/>
                        <a:cs typeface="Times New Roman" pitchFamily="18" charset="0"/>
                      </a:endParaRP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Y</a:t>
                      </a:r>
                      <a:r>
                        <a:rPr lang="en-US" sz="1000" b="0" baseline="-25000">
                          <a:effectLst/>
                          <a:latin typeface="Times New Roman" pitchFamily="18" charset="0"/>
                          <a:cs typeface="Times New Roman" pitchFamily="18" charset="0"/>
                        </a:rPr>
                        <a:t>8</a:t>
                      </a:r>
                      <a:endParaRPr lang="en-US" sz="1000" b="0">
                        <a:effectLst/>
                        <a:latin typeface="Times New Roman" pitchFamily="18" charset="0"/>
                        <a:cs typeface="Times New Roman" pitchFamily="18" charset="0"/>
                      </a:endParaRP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Y</a:t>
                      </a:r>
                      <a:r>
                        <a:rPr lang="en-US" sz="1000" b="0" baseline="-25000">
                          <a:effectLst/>
                          <a:latin typeface="Times New Roman" pitchFamily="18" charset="0"/>
                          <a:cs typeface="Times New Roman" pitchFamily="18" charset="0"/>
                        </a:rPr>
                        <a:t>7</a:t>
                      </a:r>
                      <a:endParaRPr lang="en-US" sz="1000" b="0">
                        <a:effectLst/>
                        <a:latin typeface="Times New Roman" pitchFamily="18" charset="0"/>
                        <a:cs typeface="Times New Roman" pitchFamily="18" charset="0"/>
                      </a:endParaRP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Y</a:t>
                      </a:r>
                      <a:r>
                        <a:rPr lang="en-US" sz="1000" b="0" baseline="-25000">
                          <a:effectLst/>
                          <a:latin typeface="Times New Roman" pitchFamily="18" charset="0"/>
                          <a:cs typeface="Times New Roman" pitchFamily="18" charset="0"/>
                        </a:rPr>
                        <a:t>6</a:t>
                      </a:r>
                      <a:endParaRPr lang="en-US" sz="1000" b="0">
                        <a:effectLst/>
                        <a:latin typeface="Times New Roman" pitchFamily="18" charset="0"/>
                        <a:cs typeface="Times New Roman" pitchFamily="18" charset="0"/>
                      </a:endParaRP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Y</a:t>
                      </a:r>
                      <a:r>
                        <a:rPr lang="en-US" sz="1000" b="0" baseline="-25000">
                          <a:effectLst/>
                          <a:latin typeface="Times New Roman" pitchFamily="18" charset="0"/>
                          <a:cs typeface="Times New Roman" pitchFamily="18" charset="0"/>
                        </a:rPr>
                        <a:t>5</a:t>
                      </a:r>
                      <a:endParaRPr lang="en-US" sz="1000" b="0">
                        <a:effectLst/>
                        <a:latin typeface="Times New Roman" pitchFamily="18" charset="0"/>
                        <a:cs typeface="Times New Roman" pitchFamily="18" charset="0"/>
                      </a:endParaRP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Y</a:t>
                      </a:r>
                      <a:r>
                        <a:rPr lang="en-US" sz="1000" b="0" baseline="-25000">
                          <a:effectLst/>
                          <a:latin typeface="Times New Roman" pitchFamily="18" charset="0"/>
                          <a:cs typeface="Times New Roman" pitchFamily="18" charset="0"/>
                        </a:rPr>
                        <a:t>4</a:t>
                      </a:r>
                      <a:endParaRPr lang="en-US" sz="1000" b="0">
                        <a:effectLst/>
                        <a:latin typeface="Times New Roman" pitchFamily="18" charset="0"/>
                        <a:cs typeface="Times New Roman" pitchFamily="18" charset="0"/>
                      </a:endParaRP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Y</a:t>
                      </a:r>
                      <a:r>
                        <a:rPr lang="en-US" sz="1000" b="0" baseline="-25000">
                          <a:effectLst/>
                          <a:latin typeface="Times New Roman" pitchFamily="18" charset="0"/>
                          <a:cs typeface="Times New Roman" pitchFamily="18" charset="0"/>
                        </a:rPr>
                        <a:t>3</a:t>
                      </a:r>
                      <a:endParaRPr lang="en-US" sz="1000" b="0">
                        <a:effectLst/>
                        <a:latin typeface="Times New Roman" pitchFamily="18" charset="0"/>
                        <a:cs typeface="Times New Roman" pitchFamily="18" charset="0"/>
                      </a:endParaRP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Y</a:t>
                      </a:r>
                      <a:r>
                        <a:rPr lang="en-US" sz="1000" b="0" baseline="-25000">
                          <a:effectLst/>
                          <a:latin typeface="Times New Roman" pitchFamily="18" charset="0"/>
                          <a:cs typeface="Times New Roman" pitchFamily="18" charset="0"/>
                        </a:rPr>
                        <a:t>2</a:t>
                      </a:r>
                      <a:endParaRPr lang="en-US" sz="1000" b="0">
                        <a:effectLst/>
                        <a:latin typeface="Times New Roman" pitchFamily="18" charset="0"/>
                        <a:cs typeface="Times New Roman" pitchFamily="18" charset="0"/>
                      </a:endParaRP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Y</a:t>
                      </a:r>
                      <a:r>
                        <a:rPr lang="en-US" sz="1000" b="0" baseline="-25000">
                          <a:effectLst/>
                          <a:latin typeface="Times New Roman" pitchFamily="18" charset="0"/>
                          <a:cs typeface="Times New Roman" pitchFamily="18" charset="0"/>
                        </a:rPr>
                        <a:t>1</a:t>
                      </a:r>
                      <a:endParaRPr lang="en-US" sz="1000" b="0">
                        <a:effectLst/>
                        <a:latin typeface="Times New Roman" pitchFamily="18" charset="0"/>
                        <a:cs typeface="Times New Roman" pitchFamily="18" charset="0"/>
                      </a:endParaRP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Y</a:t>
                      </a:r>
                      <a:r>
                        <a:rPr lang="en-US" sz="1000" b="0" baseline="-25000">
                          <a:effectLst/>
                          <a:latin typeface="Times New Roman" pitchFamily="18" charset="0"/>
                          <a:cs typeface="Times New Roman" pitchFamily="18" charset="0"/>
                        </a:rPr>
                        <a:t>0</a:t>
                      </a:r>
                      <a:endParaRPr lang="en-US" sz="1000" b="0">
                        <a:effectLst/>
                        <a:latin typeface="Times New Roman" pitchFamily="18" charset="0"/>
                        <a:cs typeface="Times New Roman" pitchFamily="18" charset="0"/>
                      </a:endParaRP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268310">
                <a:tc>
                  <a:txBody>
                    <a:bodyPr/>
                    <a:lstStyle/>
                    <a:p>
                      <a:pPr algn="ctr" fontAlgn="base"/>
                      <a:r>
                        <a:rPr lang="en-US" sz="1000" b="1">
                          <a:effectLst/>
                          <a:latin typeface="Times New Roman" pitchFamily="18" charset="0"/>
                          <a:cs typeface="Times New Roman" pitchFamily="18" charset="0"/>
                        </a:rPr>
                        <a:t>0</a:t>
                      </a:r>
                      <a:endParaRPr lang="en-US" sz="1000" b="0">
                        <a:effectLst/>
                        <a:latin typeface="Times New Roman" pitchFamily="18" charset="0"/>
                        <a:cs typeface="Times New Roman" pitchFamily="18" charset="0"/>
                      </a:endParaRPr>
                    </a:p>
                  </a:txBody>
                  <a:tcPr marL="19942" marR="19942" marT="43463" marB="434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dirty="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dirty="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dirty="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A</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268310">
                <a:tc>
                  <a:txBody>
                    <a:bodyPr/>
                    <a:lstStyle/>
                    <a:p>
                      <a:pPr algn="ctr" fontAlgn="base"/>
                      <a:r>
                        <a:rPr lang="en-US" sz="1000" b="1">
                          <a:effectLst/>
                          <a:latin typeface="Times New Roman" pitchFamily="18" charset="0"/>
                          <a:cs typeface="Times New Roman" pitchFamily="18" charset="0"/>
                        </a:rPr>
                        <a:t>0</a:t>
                      </a:r>
                      <a:endParaRPr lang="en-US" sz="1000" b="0">
                        <a:effectLst/>
                        <a:latin typeface="Times New Roman" pitchFamily="18" charset="0"/>
                        <a:cs typeface="Times New Roman" pitchFamily="18" charset="0"/>
                      </a:endParaRPr>
                    </a:p>
                  </a:txBody>
                  <a:tcPr marL="19942" marR="19942" marT="43463" marB="434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dirty="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dirty="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A</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268310">
                <a:tc>
                  <a:txBody>
                    <a:bodyPr/>
                    <a:lstStyle/>
                    <a:p>
                      <a:pPr algn="ctr" fontAlgn="base"/>
                      <a:r>
                        <a:rPr lang="en-US" sz="1000" b="1">
                          <a:effectLst/>
                          <a:latin typeface="Times New Roman" pitchFamily="18" charset="0"/>
                          <a:cs typeface="Times New Roman" pitchFamily="18" charset="0"/>
                        </a:rPr>
                        <a:t>0</a:t>
                      </a:r>
                      <a:endParaRPr lang="en-US" sz="1000" b="0">
                        <a:effectLst/>
                        <a:latin typeface="Times New Roman" pitchFamily="18" charset="0"/>
                        <a:cs typeface="Times New Roman" pitchFamily="18" charset="0"/>
                      </a:endParaRPr>
                    </a:p>
                  </a:txBody>
                  <a:tcPr marL="19942" marR="19942" marT="43463" marB="434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dirty="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A</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268310">
                <a:tc>
                  <a:txBody>
                    <a:bodyPr/>
                    <a:lstStyle/>
                    <a:p>
                      <a:pPr algn="ctr" fontAlgn="base"/>
                      <a:r>
                        <a:rPr lang="en-US" sz="1000" b="1">
                          <a:effectLst/>
                          <a:latin typeface="Times New Roman" pitchFamily="18" charset="0"/>
                          <a:cs typeface="Times New Roman" pitchFamily="18" charset="0"/>
                        </a:rPr>
                        <a:t>0</a:t>
                      </a:r>
                      <a:endParaRPr lang="en-US" sz="1000" b="0">
                        <a:effectLst/>
                        <a:latin typeface="Times New Roman" pitchFamily="18" charset="0"/>
                        <a:cs typeface="Times New Roman" pitchFamily="18" charset="0"/>
                      </a:endParaRPr>
                    </a:p>
                  </a:txBody>
                  <a:tcPr marL="19942" marR="19942" marT="43463" marB="434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dirty="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A</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268310">
                <a:tc>
                  <a:txBody>
                    <a:bodyPr/>
                    <a:lstStyle/>
                    <a:p>
                      <a:pPr algn="ctr" fontAlgn="base"/>
                      <a:r>
                        <a:rPr lang="en-US" sz="1000" b="1">
                          <a:effectLst/>
                          <a:latin typeface="Times New Roman" pitchFamily="18" charset="0"/>
                          <a:cs typeface="Times New Roman" pitchFamily="18" charset="0"/>
                        </a:rPr>
                        <a:t>0</a:t>
                      </a:r>
                      <a:endParaRPr lang="en-US" sz="1000" b="0">
                        <a:effectLst/>
                        <a:latin typeface="Times New Roman" pitchFamily="18" charset="0"/>
                        <a:cs typeface="Times New Roman" pitchFamily="18" charset="0"/>
                      </a:endParaRPr>
                    </a:p>
                  </a:txBody>
                  <a:tcPr marL="19942" marR="19942" marT="43463" marB="434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dirty="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A</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268310">
                <a:tc>
                  <a:txBody>
                    <a:bodyPr/>
                    <a:lstStyle/>
                    <a:p>
                      <a:pPr algn="ctr" fontAlgn="base"/>
                      <a:r>
                        <a:rPr lang="en-US" sz="1000" b="1">
                          <a:effectLst/>
                          <a:latin typeface="Times New Roman" pitchFamily="18" charset="0"/>
                          <a:cs typeface="Times New Roman" pitchFamily="18" charset="0"/>
                        </a:rPr>
                        <a:t>0</a:t>
                      </a:r>
                      <a:endParaRPr lang="en-US" sz="1000" b="0">
                        <a:effectLst/>
                        <a:latin typeface="Times New Roman" pitchFamily="18" charset="0"/>
                        <a:cs typeface="Times New Roman" pitchFamily="18" charset="0"/>
                      </a:endParaRPr>
                    </a:p>
                  </a:txBody>
                  <a:tcPr marL="19942" marR="19942" marT="43463" marB="434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A</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268310">
                <a:tc>
                  <a:txBody>
                    <a:bodyPr/>
                    <a:lstStyle/>
                    <a:p>
                      <a:pPr algn="ctr" fontAlgn="base"/>
                      <a:r>
                        <a:rPr lang="en-US" sz="1000" b="1">
                          <a:effectLst/>
                          <a:latin typeface="Times New Roman" pitchFamily="18" charset="0"/>
                          <a:cs typeface="Times New Roman" pitchFamily="18" charset="0"/>
                        </a:rPr>
                        <a:t>0</a:t>
                      </a:r>
                      <a:endParaRPr lang="en-US" sz="1000" b="0">
                        <a:effectLst/>
                        <a:latin typeface="Times New Roman" pitchFamily="18" charset="0"/>
                        <a:cs typeface="Times New Roman" pitchFamily="18" charset="0"/>
                      </a:endParaRPr>
                    </a:p>
                  </a:txBody>
                  <a:tcPr marL="19942" marR="19942" marT="43463" marB="434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A</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dirty="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268310">
                <a:tc>
                  <a:txBody>
                    <a:bodyPr/>
                    <a:lstStyle/>
                    <a:p>
                      <a:pPr algn="ctr" fontAlgn="base"/>
                      <a:r>
                        <a:rPr lang="en-US" sz="1000" b="1">
                          <a:effectLst/>
                          <a:latin typeface="Times New Roman" pitchFamily="18" charset="0"/>
                          <a:cs typeface="Times New Roman" pitchFamily="18" charset="0"/>
                        </a:rPr>
                        <a:t>0</a:t>
                      </a:r>
                      <a:endParaRPr lang="en-US" sz="1000" b="0">
                        <a:effectLst/>
                        <a:latin typeface="Times New Roman" pitchFamily="18" charset="0"/>
                        <a:cs typeface="Times New Roman" pitchFamily="18" charset="0"/>
                      </a:endParaRPr>
                    </a:p>
                  </a:txBody>
                  <a:tcPr marL="19942" marR="19942" marT="43463" marB="434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A</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268310">
                <a:tc>
                  <a:txBody>
                    <a:bodyPr/>
                    <a:lstStyle/>
                    <a:p>
                      <a:pPr algn="ctr" fontAlgn="base"/>
                      <a:r>
                        <a:rPr lang="en-US" sz="1000" b="1">
                          <a:effectLst/>
                          <a:latin typeface="Times New Roman" pitchFamily="18" charset="0"/>
                          <a:cs typeface="Times New Roman" pitchFamily="18" charset="0"/>
                        </a:rPr>
                        <a:t>1</a:t>
                      </a:r>
                      <a:endParaRPr lang="en-US" sz="1000" b="0">
                        <a:effectLst/>
                        <a:latin typeface="Times New Roman" pitchFamily="18" charset="0"/>
                        <a:cs typeface="Times New Roman" pitchFamily="18" charset="0"/>
                      </a:endParaRPr>
                    </a:p>
                  </a:txBody>
                  <a:tcPr marL="19942" marR="19942" marT="43463" marB="434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A</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dirty="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268310">
                <a:tc>
                  <a:txBody>
                    <a:bodyPr/>
                    <a:lstStyle/>
                    <a:p>
                      <a:pPr algn="ctr" fontAlgn="base"/>
                      <a:r>
                        <a:rPr lang="en-US" sz="1000" b="1">
                          <a:effectLst/>
                          <a:latin typeface="Times New Roman" pitchFamily="18" charset="0"/>
                          <a:cs typeface="Times New Roman" pitchFamily="18" charset="0"/>
                        </a:rPr>
                        <a:t>1</a:t>
                      </a:r>
                      <a:endParaRPr lang="en-US" sz="1000" b="0">
                        <a:effectLst/>
                        <a:latin typeface="Times New Roman" pitchFamily="18" charset="0"/>
                        <a:cs typeface="Times New Roman" pitchFamily="18" charset="0"/>
                      </a:endParaRPr>
                    </a:p>
                  </a:txBody>
                  <a:tcPr marL="19942" marR="19942" marT="43463" marB="434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A</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268310">
                <a:tc>
                  <a:txBody>
                    <a:bodyPr/>
                    <a:lstStyle/>
                    <a:p>
                      <a:pPr algn="ctr" fontAlgn="base"/>
                      <a:r>
                        <a:rPr lang="en-US" sz="1000" b="1">
                          <a:effectLst/>
                          <a:latin typeface="Times New Roman" pitchFamily="18" charset="0"/>
                          <a:cs typeface="Times New Roman" pitchFamily="18" charset="0"/>
                        </a:rPr>
                        <a:t>1</a:t>
                      </a:r>
                      <a:endParaRPr lang="en-US" sz="1000" b="0">
                        <a:effectLst/>
                        <a:latin typeface="Times New Roman" pitchFamily="18" charset="0"/>
                        <a:cs typeface="Times New Roman" pitchFamily="18" charset="0"/>
                      </a:endParaRPr>
                    </a:p>
                  </a:txBody>
                  <a:tcPr marL="19942" marR="19942" marT="43463" marB="434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A</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dirty="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268310">
                <a:tc>
                  <a:txBody>
                    <a:bodyPr/>
                    <a:lstStyle/>
                    <a:p>
                      <a:pPr algn="ctr" fontAlgn="base"/>
                      <a:r>
                        <a:rPr lang="en-US" sz="1000" b="1">
                          <a:effectLst/>
                          <a:latin typeface="Times New Roman" pitchFamily="18" charset="0"/>
                          <a:cs typeface="Times New Roman" pitchFamily="18" charset="0"/>
                        </a:rPr>
                        <a:t>1</a:t>
                      </a:r>
                      <a:endParaRPr lang="en-US" sz="1000" b="0">
                        <a:effectLst/>
                        <a:latin typeface="Times New Roman" pitchFamily="18" charset="0"/>
                        <a:cs typeface="Times New Roman" pitchFamily="18" charset="0"/>
                      </a:endParaRPr>
                    </a:p>
                  </a:txBody>
                  <a:tcPr marL="19942" marR="19942" marT="43463" marB="434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A</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268310">
                <a:tc>
                  <a:txBody>
                    <a:bodyPr/>
                    <a:lstStyle/>
                    <a:p>
                      <a:pPr algn="ctr" fontAlgn="base"/>
                      <a:r>
                        <a:rPr lang="en-US" sz="1000" b="1">
                          <a:effectLst/>
                          <a:latin typeface="Times New Roman" pitchFamily="18" charset="0"/>
                          <a:cs typeface="Times New Roman" pitchFamily="18" charset="0"/>
                        </a:rPr>
                        <a:t>1</a:t>
                      </a:r>
                      <a:endParaRPr lang="en-US" sz="1000" b="0">
                        <a:effectLst/>
                        <a:latin typeface="Times New Roman" pitchFamily="18" charset="0"/>
                        <a:cs typeface="Times New Roman" pitchFamily="18" charset="0"/>
                      </a:endParaRPr>
                    </a:p>
                  </a:txBody>
                  <a:tcPr marL="19942" marR="19942" marT="43463" marB="434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A</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dirty="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268310">
                <a:tc>
                  <a:txBody>
                    <a:bodyPr/>
                    <a:lstStyle/>
                    <a:p>
                      <a:pPr algn="ctr" fontAlgn="base"/>
                      <a:r>
                        <a:rPr lang="en-US" sz="1000" b="1">
                          <a:effectLst/>
                          <a:latin typeface="Times New Roman" pitchFamily="18" charset="0"/>
                          <a:cs typeface="Times New Roman" pitchFamily="18" charset="0"/>
                        </a:rPr>
                        <a:t>1</a:t>
                      </a:r>
                      <a:endParaRPr lang="en-US" sz="1000" b="0">
                        <a:effectLst/>
                        <a:latin typeface="Times New Roman" pitchFamily="18" charset="0"/>
                        <a:cs typeface="Times New Roman" pitchFamily="18" charset="0"/>
                      </a:endParaRPr>
                    </a:p>
                  </a:txBody>
                  <a:tcPr marL="19942" marR="19942" marT="43463" marB="434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A</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268310">
                <a:tc>
                  <a:txBody>
                    <a:bodyPr/>
                    <a:lstStyle/>
                    <a:p>
                      <a:pPr algn="ctr" fontAlgn="base"/>
                      <a:r>
                        <a:rPr lang="en-US" sz="1000" b="1">
                          <a:effectLst/>
                          <a:latin typeface="Times New Roman" pitchFamily="18" charset="0"/>
                          <a:cs typeface="Times New Roman" pitchFamily="18" charset="0"/>
                        </a:rPr>
                        <a:t>1</a:t>
                      </a:r>
                      <a:endParaRPr lang="en-US" sz="1000" b="0">
                        <a:effectLst/>
                        <a:latin typeface="Times New Roman" pitchFamily="18" charset="0"/>
                        <a:cs typeface="Times New Roman" pitchFamily="18" charset="0"/>
                      </a:endParaRPr>
                    </a:p>
                  </a:txBody>
                  <a:tcPr marL="19942" marR="19942" marT="43463" marB="434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A</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dirty="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498113">
                <a:tc>
                  <a:txBody>
                    <a:bodyPr/>
                    <a:lstStyle/>
                    <a:p>
                      <a:pPr algn="ctr" fontAlgn="base"/>
                      <a:r>
                        <a:rPr lang="en-US" sz="1000" b="1">
                          <a:effectLst/>
                          <a:latin typeface="Times New Roman" pitchFamily="18" charset="0"/>
                          <a:cs typeface="Times New Roman" pitchFamily="18" charset="0"/>
                        </a:rPr>
                        <a:t>1</a:t>
                      </a:r>
                      <a:endParaRPr lang="en-US" sz="1000" b="0">
                        <a:effectLst/>
                        <a:latin typeface="Times New Roman" pitchFamily="18" charset="0"/>
                        <a:cs typeface="Times New Roman" pitchFamily="18" charset="0"/>
                      </a:endParaRPr>
                    </a:p>
                  </a:txBody>
                  <a:tcPr marL="19942" marR="19942" marT="43463" marB="434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1</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r>
                        <a:rPr lang="en-US" sz="1000" b="0">
                          <a:effectLst/>
                          <a:latin typeface="Times New Roman" pitchFamily="18" charset="0"/>
                          <a:cs typeface="Times New Roman" pitchFamily="18" charset="0"/>
                        </a:rPr>
                        <a:t>A</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a:effectLst/>
                          <a:latin typeface="Times New Roman" pitchFamily="18" charset="0"/>
                          <a:cs typeface="Times New Roman" pitchFamily="18" charset="0"/>
                        </a:rPr>
                        <a:t>0</a:t>
                      </a:r>
                    </a:p>
                  </a:txBody>
                  <a:tcPr marL="49854" marR="49854" marT="69796" marB="6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000" b="0" dirty="0">
                          <a:effectLst/>
                          <a:latin typeface="Times New Roman" pitchFamily="18" charset="0"/>
                          <a:cs typeface="Times New Roman" pitchFamily="18" charset="0"/>
                        </a:rPr>
                        <a:t>0</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base"/>
                      <a:r>
                        <a:rPr lang="en-US" sz="1000" b="0" dirty="0">
                          <a:effectLst/>
                          <a:latin typeface="Times New Roman" pitchFamily="18" charset="0"/>
                          <a:cs typeface="Times New Roman" pitchFamily="18" charset="0"/>
                        </a:rPr>
                        <a:t>0</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ase"/>
                      <a:r>
                        <a:rPr lang="en-US" sz="1000" b="0" dirty="0">
                          <a:effectLst/>
                          <a:latin typeface="Times New Roman" pitchFamily="18" charset="0"/>
                          <a:cs typeface="Times New Roman" pitchFamily="18" charset="0"/>
                        </a:rPr>
                        <a:t>0</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ase"/>
                      <a:r>
                        <a:rPr lang="en-US" sz="1000" b="0" dirty="0">
                          <a:effectLst/>
                          <a:latin typeface="Times New Roman" pitchFamily="18" charset="0"/>
                          <a:cs typeface="Times New Roman" pitchFamily="18" charset="0"/>
                        </a:rPr>
                        <a:t>0</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extLst>
      <p:ext uri="{BB962C8B-B14F-4D97-AF65-F5344CB8AC3E}">
        <p14:creationId xmlns:p14="http://schemas.microsoft.com/office/powerpoint/2010/main" val="33537907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
        <p:nvSpPr>
          <p:cNvPr id="2" name="Rectangle 1"/>
          <p:cNvSpPr/>
          <p:nvPr/>
        </p:nvSpPr>
        <p:spPr>
          <a:xfrm>
            <a:off x="467544" y="2204864"/>
            <a:ext cx="8208912" cy="830997"/>
          </a:xfrm>
          <a:prstGeom prst="rect">
            <a:avLst/>
          </a:prstGeom>
        </p:spPr>
        <p:txBody>
          <a:bodyPr wrap="square">
            <a:spAutoFit/>
          </a:bodyPr>
          <a:lstStyle/>
          <a:p>
            <a:pPr algn="ctr"/>
            <a:r>
              <a:rPr lang="en-US" sz="2400" b="1" i="1" dirty="0">
                <a:latin typeface="Times New Roman" pitchFamily="18" charset="0"/>
                <a:cs typeface="Times New Roman" pitchFamily="18" charset="0"/>
              </a:rPr>
              <a:t>Ex. 3.18.1 Design 1 : 8 </a:t>
            </a:r>
            <a:r>
              <a:rPr lang="en-US" sz="2400" b="1" i="1" dirty="0" err="1">
                <a:latin typeface="Times New Roman" pitchFamily="18" charset="0"/>
                <a:cs typeface="Times New Roman" pitchFamily="18" charset="0"/>
              </a:rPr>
              <a:t>demultiplexer</a:t>
            </a:r>
            <a:r>
              <a:rPr lang="en-US" sz="2400" b="1" i="1" dirty="0">
                <a:latin typeface="Times New Roman" pitchFamily="18" charset="0"/>
                <a:cs typeface="Times New Roman" pitchFamily="18" charset="0"/>
              </a:rPr>
              <a:t> using two 1 : 4 </a:t>
            </a:r>
            <a:r>
              <a:rPr lang="en-US" sz="2400" b="1" i="1" dirty="0" err="1">
                <a:latin typeface="Times New Roman" pitchFamily="18" charset="0"/>
                <a:cs typeface="Times New Roman" pitchFamily="18" charset="0"/>
              </a:rPr>
              <a:t>demultiplexers</a:t>
            </a:r>
            <a:r>
              <a:rPr lang="en-US" sz="2400" b="1" i="1" dirty="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09732715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
        <p:nvSpPr>
          <p:cNvPr id="2" name="Rectangle 1"/>
          <p:cNvSpPr>
            <a:spLocks noChangeArrowheads="1"/>
          </p:cNvSpPr>
          <p:nvPr/>
        </p:nvSpPr>
        <p:spPr bwMode="auto">
          <a:xfrm>
            <a:off x="190686" y="1628800"/>
            <a:ext cx="8729127" cy="2677656"/>
          </a:xfrm>
          <a:prstGeom prst="rect">
            <a:avLst/>
          </a:prstGeom>
          <a:extLs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just"/>
            <a:r>
              <a:rPr lang="en-US" sz="2400" dirty="0">
                <a:latin typeface="Times New Roman" pitchFamily="18" charset="0"/>
                <a:cs typeface="Times New Roman" pitchFamily="18" charset="0"/>
              </a:rPr>
              <a:t>Step 1 : Connect Din signal to Din input of both the </a:t>
            </a:r>
            <a:r>
              <a:rPr lang="en-US" sz="2400" dirty="0" err="1">
                <a:latin typeface="Times New Roman" pitchFamily="18" charset="0"/>
                <a:cs typeface="Times New Roman" pitchFamily="18" charset="0"/>
              </a:rPr>
              <a:t>demultiplexers</a:t>
            </a:r>
            <a:r>
              <a:rPr lang="en-US" sz="2400" dirty="0" smtClean="0">
                <a:latin typeface="Times New Roman" pitchFamily="18" charset="0"/>
                <a:cs typeface="Times New Roman" pitchFamily="18" charset="0"/>
              </a:rPr>
              <a:t>.</a:t>
            </a:r>
          </a:p>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Step 2 : Connect select lines B and C to select lines S1 and S0 of the both </a:t>
            </a:r>
            <a:r>
              <a:rPr lang="en-US" sz="2400" dirty="0" err="1">
                <a:latin typeface="Times New Roman" pitchFamily="18" charset="0"/>
                <a:cs typeface="Times New Roman" pitchFamily="18" charset="0"/>
              </a:rPr>
              <a:t>demultiplexers</a:t>
            </a:r>
            <a:r>
              <a:rPr lang="en-US" sz="2400" dirty="0">
                <a:latin typeface="Times New Roman" pitchFamily="18" charset="0"/>
                <a:cs typeface="Times New Roman" pitchFamily="18" charset="0"/>
              </a:rPr>
              <a:t>, respectively</a:t>
            </a:r>
            <a:r>
              <a:rPr lang="en-US" sz="2400" dirty="0" smtClean="0">
                <a:latin typeface="Times New Roman" pitchFamily="18" charset="0"/>
                <a:cs typeface="Times New Roman" pitchFamily="18" charset="0"/>
              </a:rPr>
              <a:t>.</a:t>
            </a:r>
          </a:p>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Step 3 : Connect most significant select line (A) such that when A = 0 DEMUX 1 is enabled and when A = 1 DEMUX 2 is enabled.</a:t>
            </a:r>
          </a:p>
        </p:txBody>
      </p:sp>
    </p:spTree>
    <p:extLst>
      <p:ext uri="{BB962C8B-B14F-4D97-AF65-F5344CB8AC3E}">
        <p14:creationId xmlns:p14="http://schemas.microsoft.com/office/powerpoint/2010/main" val="209732715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pic>
        <p:nvPicPr>
          <p:cNvPr id="10242" name="Picture 2" descr="https://www.poriyaan.in/media/imgPori/images12/rSXsTaO.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6401" y="620688"/>
            <a:ext cx="5937697" cy="4752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732715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
        <p:nvSpPr>
          <p:cNvPr id="7" name="Rectangle 6"/>
          <p:cNvSpPr/>
          <p:nvPr/>
        </p:nvSpPr>
        <p:spPr>
          <a:xfrm>
            <a:off x="670055" y="1124744"/>
            <a:ext cx="7848872" cy="461665"/>
          </a:xfrm>
          <a:prstGeom prst="rect">
            <a:avLst/>
          </a:prstGeom>
        </p:spPr>
        <p:txBody>
          <a:bodyPr wrap="square">
            <a:spAutoFit/>
          </a:bodyPr>
          <a:lstStyle/>
          <a:p>
            <a:pPr algn="ctr"/>
            <a:r>
              <a:rPr lang="fr-FR" sz="2400" b="1" i="1" dirty="0" err="1">
                <a:latin typeface="Times New Roman" pitchFamily="18" charset="0"/>
                <a:cs typeface="Times New Roman" pitchFamily="18" charset="0"/>
              </a:rPr>
              <a:t>Implement</a:t>
            </a:r>
            <a:r>
              <a:rPr lang="fr-FR" sz="2400" b="1" i="1" dirty="0">
                <a:latin typeface="Times New Roman" pitchFamily="18" charset="0"/>
                <a:cs typeface="Times New Roman" pitchFamily="18" charset="0"/>
              </a:rPr>
              <a:t> 1 : 16 </a:t>
            </a:r>
            <a:r>
              <a:rPr lang="fr-FR" sz="2400" b="1" i="1" dirty="0" err="1">
                <a:latin typeface="Times New Roman" pitchFamily="18" charset="0"/>
                <a:cs typeface="Times New Roman" pitchFamily="18" charset="0"/>
              </a:rPr>
              <a:t>demultiplexer</a:t>
            </a:r>
            <a:r>
              <a:rPr lang="fr-FR" sz="2400" b="1" i="1" dirty="0">
                <a:latin typeface="Times New Roman" pitchFamily="18" charset="0"/>
                <a:cs typeface="Times New Roman" pitchFamily="18" charset="0"/>
              </a:rPr>
              <a:t> </a:t>
            </a:r>
            <a:r>
              <a:rPr lang="fr-FR" sz="2400" b="1" i="1" dirty="0" err="1">
                <a:latin typeface="Times New Roman" pitchFamily="18" charset="0"/>
                <a:cs typeface="Times New Roman" pitchFamily="18" charset="0"/>
              </a:rPr>
              <a:t>using</a:t>
            </a:r>
            <a:r>
              <a:rPr lang="fr-FR" sz="2400" b="1" i="1" dirty="0">
                <a:latin typeface="Times New Roman" pitchFamily="18" charset="0"/>
                <a:cs typeface="Times New Roman" pitchFamily="18" charset="0"/>
              </a:rPr>
              <a:t> 1 : 4 </a:t>
            </a:r>
            <a:r>
              <a:rPr lang="fr-FR" sz="2400" b="1" i="1" dirty="0" err="1">
                <a:latin typeface="Times New Roman" pitchFamily="18" charset="0"/>
                <a:cs typeface="Times New Roman" pitchFamily="18" charset="0"/>
              </a:rPr>
              <a:t>demultiplexers</a:t>
            </a:r>
            <a:r>
              <a:rPr lang="fr-FR" sz="2400" b="1" i="1" dirty="0">
                <a:latin typeface="Times New Roman" pitchFamily="18" charset="0"/>
                <a:cs typeface="Times New Roman" pitchFamily="18" charset="0"/>
              </a:rPr>
              <a:t>.</a:t>
            </a:r>
            <a:endParaRPr lang="en-US" sz="2400" b="1" i="1" dirty="0">
              <a:latin typeface="Times New Roman" pitchFamily="18" charset="0"/>
              <a:cs typeface="Times New Roman" pitchFamily="18" charset="0"/>
            </a:endParaRPr>
          </a:p>
        </p:txBody>
      </p:sp>
      <p:sp>
        <p:nvSpPr>
          <p:cNvPr id="8" name="Rectangle 1"/>
          <p:cNvSpPr>
            <a:spLocks noChangeArrowheads="1"/>
          </p:cNvSpPr>
          <p:nvPr/>
        </p:nvSpPr>
        <p:spPr bwMode="auto">
          <a:xfrm>
            <a:off x="379149" y="1772816"/>
            <a:ext cx="8496068" cy="3170099"/>
          </a:xfrm>
          <a:prstGeom prst="rect">
            <a:avLst/>
          </a:prstGeom>
          <a:extLs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just"/>
            <a:r>
              <a:rPr lang="en-US" sz="2000" dirty="0">
                <a:latin typeface="Times New Roman" pitchFamily="18" charset="0"/>
                <a:cs typeface="Times New Roman" pitchFamily="18" charset="0"/>
              </a:rPr>
              <a:t>The 1 : 16 </a:t>
            </a:r>
            <a:r>
              <a:rPr lang="en-US" sz="2000" dirty="0" err="1">
                <a:latin typeface="Times New Roman" pitchFamily="18" charset="0"/>
                <a:cs typeface="Times New Roman" pitchFamily="18" charset="0"/>
              </a:rPr>
              <a:t>demultiplexer</a:t>
            </a:r>
            <a:r>
              <a:rPr lang="en-US" sz="2000" dirty="0">
                <a:latin typeface="Times New Roman" pitchFamily="18" charset="0"/>
                <a:cs typeface="Times New Roman" pitchFamily="18" charset="0"/>
              </a:rPr>
              <a:t> has 16 outputs. To select one of the 16 output, the circuit needs 4 (v 24 = 16) select lines. Each 1 : 4 </a:t>
            </a:r>
            <a:r>
              <a:rPr lang="en-US" sz="2000" dirty="0" err="1">
                <a:latin typeface="Times New Roman" pitchFamily="18" charset="0"/>
                <a:cs typeface="Times New Roman" pitchFamily="18" charset="0"/>
              </a:rPr>
              <a:t>demultiplexer</a:t>
            </a:r>
            <a:r>
              <a:rPr lang="en-US" sz="2000" dirty="0">
                <a:latin typeface="Times New Roman" pitchFamily="18" charset="0"/>
                <a:cs typeface="Times New Roman" pitchFamily="18" charset="0"/>
              </a:rPr>
              <a:t> requires 2 select lines</a:t>
            </a:r>
            <a:r>
              <a:rPr lang="en-US" sz="2000" dirty="0" smtClean="0">
                <a:latin typeface="Times New Roman" pitchFamily="18" charset="0"/>
                <a:cs typeface="Times New Roman" pitchFamily="18" charset="0"/>
              </a:rPr>
              <a:t>.</a:t>
            </a:r>
          </a:p>
          <a:p>
            <a:pPr algn="just"/>
            <a:endParaRPr lang="en-US" sz="2000" dirty="0">
              <a:latin typeface="Times New Roman" pitchFamily="18" charset="0"/>
              <a:cs typeface="Times New Roman" pitchFamily="18" charset="0"/>
            </a:endParaRPr>
          </a:p>
          <a:p>
            <a:pPr algn="just"/>
            <a:r>
              <a:rPr lang="en-US" sz="2000" b="1" dirty="0">
                <a:latin typeface="Times New Roman" pitchFamily="18" charset="0"/>
                <a:cs typeface="Times New Roman" pitchFamily="18" charset="0"/>
              </a:rPr>
              <a:t>Step 1 :</a:t>
            </a:r>
            <a:r>
              <a:rPr lang="en-US" sz="2000" dirty="0">
                <a:latin typeface="Times New Roman" pitchFamily="18" charset="0"/>
                <a:cs typeface="Times New Roman" pitchFamily="18" charset="0"/>
              </a:rPr>
              <a:t> Connect two least significant select lines (S1, S0) to select lines of four 4 : 1 </a:t>
            </a:r>
            <a:r>
              <a:rPr lang="en-US" sz="2000" dirty="0" err="1">
                <a:latin typeface="Times New Roman" pitchFamily="18" charset="0"/>
                <a:cs typeface="Times New Roman" pitchFamily="18" charset="0"/>
              </a:rPr>
              <a:t>demultiplexer</a:t>
            </a:r>
            <a:r>
              <a:rPr lang="en-US" sz="2000" dirty="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r>
              <a:rPr lang="en-US" sz="2000" b="1" dirty="0">
                <a:latin typeface="Times New Roman" pitchFamily="18" charset="0"/>
                <a:cs typeface="Times New Roman" pitchFamily="18" charset="0"/>
              </a:rPr>
              <a:t>Step 2 : </a:t>
            </a:r>
            <a:r>
              <a:rPr lang="en-US" sz="2000" dirty="0">
                <a:latin typeface="Times New Roman" pitchFamily="18" charset="0"/>
                <a:cs typeface="Times New Roman" pitchFamily="18" charset="0"/>
              </a:rPr>
              <a:t>Connect one more 4 : 1 </a:t>
            </a:r>
            <a:r>
              <a:rPr lang="en-US" sz="2000" dirty="0" err="1">
                <a:latin typeface="Times New Roman" pitchFamily="18" charset="0"/>
                <a:cs typeface="Times New Roman" pitchFamily="18" charset="0"/>
              </a:rPr>
              <a:t>demultiplexer</a:t>
            </a:r>
            <a:r>
              <a:rPr lang="en-US" sz="2000" dirty="0">
                <a:latin typeface="Times New Roman" pitchFamily="18" charset="0"/>
                <a:cs typeface="Times New Roman" pitchFamily="18" charset="0"/>
              </a:rPr>
              <a:t> such that its four outputs are routed to the data inputs of the four </a:t>
            </a:r>
            <a:r>
              <a:rPr lang="en-US" sz="2000" dirty="0" err="1">
                <a:latin typeface="Times New Roman" pitchFamily="18" charset="0"/>
                <a:cs typeface="Times New Roman" pitchFamily="18" charset="0"/>
              </a:rPr>
              <a:t>demultiplexers</a:t>
            </a:r>
            <a:r>
              <a:rPr lang="en-US" sz="2000" dirty="0">
                <a:latin typeface="Times New Roman" pitchFamily="18" charset="0"/>
                <a:cs typeface="Times New Roman" pitchFamily="18" charset="0"/>
              </a:rPr>
              <a:t>. Connect higher select lines (S3, S2) to the select lines of this </a:t>
            </a:r>
            <a:r>
              <a:rPr lang="en-US" sz="2000" dirty="0" err="1">
                <a:latin typeface="Times New Roman" pitchFamily="18" charset="0"/>
                <a:cs typeface="Times New Roman" pitchFamily="18" charset="0"/>
              </a:rPr>
              <a:t>demultiplexer</a:t>
            </a:r>
            <a:r>
              <a:rPr lang="en-US" sz="2000" dirty="0">
                <a:latin typeface="Times New Roman" pitchFamily="18" charset="0"/>
                <a:cs typeface="Times New Roman" pitchFamily="18" charset="0"/>
              </a:rPr>
              <a:t>.</a:t>
            </a:r>
          </a:p>
        </p:txBody>
      </p:sp>
    </p:spTree>
    <p:extLst>
      <p:ext uri="{BB962C8B-B14F-4D97-AF65-F5344CB8AC3E}">
        <p14:creationId xmlns:p14="http://schemas.microsoft.com/office/powerpoint/2010/main" val="213458726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pic>
        <p:nvPicPr>
          <p:cNvPr id="12290" name="Picture 2" descr="https://www.poriyaan.in/media/imgPori/images12/lWorAjI.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6029" y="304247"/>
            <a:ext cx="4978441" cy="5861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458726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
        <p:nvSpPr>
          <p:cNvPr id="2" name="Rectangle 1"/>
          <p:cNvSpPr>
            <a:spLocks noChangeArrowheads="1"/>
          </p:cNvSpPr>
          <p:nvPr/>
        </p:nvSpPr>
        <p:spPr bwMode="auto">
          <a:xfrm>
            <a:off x="611560" y="260648"/>
            <a:ext cx="8064896" cy="224676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1" i="1" u="none" strike="noStrike" cap="none" normalizeH="0" baseline="0" dirty="0" smtClean="0">
                <a:ln>
                  <a:noFill/>
                </a:ln>
                <a:solidFill>
                  <a:srgbClr val="212529"/>
                </a:solidFill>
                <a:effectLst/>
                <a:latin typeface="Times New Roman" pitchFamily="18" charset="0"/>
                <a:cs typeface="Times New Roman" pitchFamily="18" charset="0"/>
              </a:rPr>
              <a:t>Ex. 3.18.6 Implement the following functions using </a:t>
            </a:r>
            <a:r>
              <a:rPr kumimoji="0" lang="en-US" sz="2000" b="1" i="1" u="none" strike="noStrike" cap="none" normalizeH="0" baseline="0" dirty="0" err="1" smtClean="0">
                <a:ln>
                  <a:noFill/>
                </a:ln>
                <a:solidFill>
                  <a:srgbClr val="212529"/>
                </a:solidFill>
                <a:effectLst/>
                <a:latin typeface="Times New Roman" pitchFamily="18" charset="0"/>
                <a:cs typeface="Times New Roman" pitchFamily="18" charset="0"/>
              </a:rPr>
              <a:t>demultiplexer</a:t>
            </a:r>
            <a:r>
              <a:rPr kumimoji="0" lang="en-US" sz="2000" b="1" i="1" u="none" strike="noStrike" cap="none" normalizeH="0" baseline="0" dirty="0" smtClean="0">
                <a:ln>
                  <a:noFill/>
                </a:ln>
                <a:solidFill>
                  <a:srgbClr val="212529"/>
                </a:solidFill>
                <a:effectLst/>
                <a:latin typeface="Times New Roman" pitchFamily="18" charset="0"/>
                <a:cs typeface="Times New Roman" pitchFamily="18" charset="0"/>
              </a:rPr>
              <a:t> :</a:t>
            </a:r>
            <a:endParaRPr kumimoji="0" lang="en-US" sz="105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1" i="1" u="none" strike="noStrike" cap="none" normalizeH="0" baseline="0" dirty="0" smtClean="0">
                <a:ln>
                  <a:noFill/>
                </a:ln>
                <a:solidFill>
                  <a:srgbClr val="212529"/>
                </a:solidFill>
                <a:effectLst/>
                <a:latin typeface="Times New Roman" pitchFamily="18" charset="0"/>
                <a:cs typeface="Times New Roman" pitchFamily="18" charset="0"/>
              </a:rPr>
              <a:t>f</a:t>
            </a:r>
            <a:r>
              <a:rPr kumimoji="0" lang="en-US" sz="1200" b="1" i="1" u="none" strike="noStrike" cap="none" normalizeH="0" baseline="-30000" dirty="0" smtClean="0">
                <a:ln>
                  <a:noFill/>
                </a:ln>
                <a:solidFill>
                  <a:srgbClr val="212529"/>
                </a:solidFill>
                <a:effectLst/>
                <a:latin typeface="Times New Roman" pitchFamily="18" charset="0"/>
                <a:cs typeface="Times New Roman" pitchFamily="18" charset="0"/>
              </a:rPr>
              <a:t>1</a:t>
            </a:r>
            <a:r>
              <a:rPr kumimoji="0" lang="en-US" sz="2000" b="1" i="1" u="none" strike="noStrike" cap="none" normalizeH="0" baseline="0" dirty="0" smtClean="0">
                <a:ln>
                  <a:noFill/>
                </a:ln>
                <a:solidFill>
                  <a:srgbClr val="212529"/>
                </a:solidFill>
                <a:effectLst/>
                <a:latin typeface="Times New Roman" pitchFamily="18" charset="0"/>
                <a:cs typeface="Times New Roman" pitchFamily="18" charset="0"/>
              </a:rPr>
              <a:t> (A, B, C) = ∑ m (0, 3, 7)</a:t>
            </a:r>
            <a:endParaRPr kumimoji="0" lang="en-US" sz="105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1" i="1" u="none" strike="noStrike" cap="none" normalizeH="0" baseline="0" dirty="0" smtClean="0">
                <a:ln>
                  <a:noFill/>
                </a:ln>
                <a:solidFill>
                  <a:srgbClr val="212529"/>
                </a:solidFill>
                <a:effectLst/>
                <a:latin typeface="Times New Roman" pitchFamily="18" charset="0"/>
                <a:cs typeface="Times New Roman" pitchFamily="18" charset="0"/>
              </a:rPr>
              <a:t>f</a:t>
            </a:r>
            <a:r>
              <a:rPr kumimoji="0" lang="en-US" sz="1200" b="1" i="1" u="none" strike="noStrike" cap="none" normalizeH="0" baseline="-30000" dirty="0" smtClean="0">
                <a:ln>
                  <a:noFill/>
                </a:ln>
                <a:solidFill>
                  <a:srgbClr val="212529"/>
                </a:solidFill>
                <a:effectLst/>
                <a:latin typeface="Times New Roman" pitchFamily="18" charset="0"/>
                <a:cs typeface="Times New Roman" pitchFamily="18" charset="0"/>
              </a:rPr>
              <a:t>2</a:t>
            </a:r>
            <a:r>
              <a:rPr kumimoji="0" lang="en-US" sz="2000" b="1" i="1" u="none" strike="noStrike" cap="none" normalizeH="0" baseline="0" dirty="0" smtClean="0">
                <a:ln>
                  <a:noFill/>
                </a:ln>
                <a:solidFill>
                  <a:srgbClr val="212529"/>
                </a:solidFill>
                <a:effectLst/>
                <a:latin typeface="Times New Roman" pitchFamily="18" charset="0"/>
                <a:cs typeface="Times New Roman" pitchFamily="18" charset="0"/>
              </a:rPr>
              <a:t> (A, B, C) = ∑ m (1, 2, 5)</a:t>
            </a:r>
            <a:endParaRPr kumimoji="0" lang="en-US" sz="105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212529"/>
                </a:solidFill>
                <a:effectLst/>
                <a:latin typeface="Times New Roman" pitchFamily="18" charset="0"/>
                <a:cs typeface="Times New Roman" pitchFamily="18" charset="0"/>
              </a:rPr>
              <a:t>Sol. :</a:t>
            </a:r>
            <a:endParaRPr kumimoji="0" lang="en-US" sz="105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212529"/>
                </a:solidFill>
                <a:effectLst/>
                <a:latin typeface="Times New Roman" pitchFamily="18" charset="0"/>
                <a:cs typeface="Times New Roman" pitchFamily="18" charset="0"/>
              </a:rPr>
              <a:t>f</a:t>
            </a:r>
            <a:r>
              <a:rPr kumimoji="0" lang="en-US" sz="1200" b="0" i="0" u="none" strike="noStrike" cap="none" normalizeH="0" baseline="-30000" dirty="0" smtClean="0">
                <a:ln>
                  <a:noFill/>
                </a:ln>
                <a:solidFill>
                  <a:srgbClr val="212529"/>
                </a:solidFill>
                <a:effectLst/>
                <a:latin typeface="Times New Roman" pitchFamily="18" charset="0"/>
                <a:cs typeface="Times New Roman" pitchFamily="18" charset="0"/>
              </a:rPr>
              <a:t>1</a:t>
            </a:r>
            <a:r>
              <a:rPr kumimoji="0" lang="en-US" sz="2000" b="0" i="0" u="none" strike="noStrike" cap="none" normalizeH="0" baseline="0" dirty="0" smtClean="0">
                <a:ln>
                  <a:noFill/>
                </a:ln>
                <a:solidFill>
                  <a:srgbClr val="212529"/>
                </a:solidFill>
                <a:effectLst/>
                <a:latin typeface="Times New Roman" pitchFamily="18" charset="0"/>
                <a:cs typeface="Times New Roman" pitchFamily="18" charset="0"/>
              </a:rPr>
              <a:t> (A, B, C) = ∑ m (0, 3, 7)</a:t>
            </a:r>
            <a:endParaRPr kumimoji="0" lang="en-US" sz="105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212529"/>
                </a:solidFill>
                <a:effectLst/>
                <a:latin typeface="Times New Roman" pitchFamily="18" charset="0"/>
                <a:cs typeface="Times New Roman" pitchFamily="18" charset="0"/>
              </a:rPr>
              <a:t>f</a:t>
            </a:r>
            <a:r>
              <a:rPr kumimoji="0" lang="en-US" sz="1200" b="0" i="0" u="none" strike="noStrike" cap="none" normalizeH="0" baseline="-30000" dirty="0" smtClean="0">
                <a:ln>
                  <a:noFill/>
                </a:ln>
                <a:solidFill>
                  <a:srgbClr val="212529"/>
                </a:solidFill>
                <a:effectLst/>
                <a:latin typeface="Times New Roman" pitchFamily="18" charset="0"/>
                <a:cs typeface="Times New Roman" pitchFamily="18" charset="0"/>
              </a:rPr>
              <a:t>2</a:t>
            </a:r>
            <a:r>
              <a:rPr kumimoji="0" lang="en-US" sz="2000" b="0" i="0" u="none" strike="noStrike" cap="none" normalizeH="0" baseline="0" dirty="0" smtClean="0">
                <a:ln>
                  <a:noFill/>
                </a:ln>
                <a:solidFill>
                  <a:srgbClr val="212529"/>
                </a:solidFill>
                <a:effectLst/>
                <a:latin typeface="Times New Roman" pitchFamily="18" charset="0"/>
                <a:cs typeface="Times New Roman" pitchFamily="18" charset="0"/>
              </a:rPr>
              <a:t> (A, B, C) = ∑ m (1, 2, 5)</a:t>
            </a:r>
            <a:endParaRPr kumimoji="0" lang="en-US" sz="105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212529"/>
                </a:solidFill>
                <a:effectLst/>
                <a:latin typeface="Times New Roman" pitchFamily="18" charset="0"/>
                <a:cs typeface="Times New Roman" pitchFamily="18" charset="0"/>
              </a:rPr>
              <a:t>Implementation using 1 : 8 </a:t>
            </a:r>
            <a:r>
              <a:rPr kumimoji="0" lang="en-US" sz="2000" b="0" i="0" u="none" strike="noStrike" cap="none" normalizeH="0" baseline="0" dirty="0" err="1" smtClean="0">
                <a:ln>
                  <a:noFill/>
                </a:ln>
                <a:solidFill>
                  <a:srgbClr val="212529"/>
                </a:solidFill>
                <a:effectLst/>
                <a:latin typeface="Times New Roman" pitchFamily="18" charset="0"/>
                <a:cs typeface="Times New Roman" pitchFamily="18" charset="0"/>
              </a:rPr>
              <a:t>demultiplexer</a:t>
            </a:r>
            <a:r>
              <a:rPr kumimoji="0" lang="en-US" sz="2000" b="0" i="0" u="none" strike="noStrike" cap="none" normalizeH="0" baseline="0" dirty="0" smtClean="0">
                <a:ln>
                  <a:noFill/>
                </a:ln>
                <a:solidFill>
                  <a:srgbClr val="212529"/>
                </a:solidFill>
                <a:effectLst/>
                <a:latin typeface="Times New Roman" pitchFamily="18" charset="0"/>
                <a:cs typeface="Times New Roman" pitchFamily="18" charset="0"/>
              </a:rPr>
              <a:t>.</a:t>
            </a:r>
            <a:endParaRPr kumimoji="0" lang="en-US" sz="2800" b="0" i="0" u="none" strike="noStrike" cap="none" normalizeH="0" baseline="0" dirty="0" smtClean="0">
              <a:ln>
                <a:noFill/>
              </a:ln>
              <a:solidFill>
                <a:schemeClr val="tx1"/>
              </a:solidFill>
              <a:effectLst/>
              <a:latin typeface="Times New Roman" pitchFamily="18" charset="0"/>
              <a:cs typeface="Times New Roman" pitchFamily="18" charset="0"/>
            </a:endParaRPr>
          </a:p>
        </p:txBody>
      </p:sp>
      <p:pic>
        <p:nvPicPr>
          <p:cNvPr id="13315" name="Picture 3" descr="https://www.poriyaan.in/media/imgPori/images12/MxyZOEc.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9751" y="2986237"/>
            <a:ext cx="4886325" cy="2886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143837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
        <p:nvSpPr>
          <p:cNvPr id="2" name="Rectangle 1"/>
          <p:cNvSpPr/>
          <p:nvPr/>
        </p:nvSpPr>
        <p:spPr>
          <a:xfrm>
            <a:off x="539552" y="630560"/>
            <a:ext cx="8064896" cy="400110"/>
          </a:xfrm>
          <a:prstGeom prst="rect">
            <a:avLst/>
          </a:prstGeom>
          <a:solidFill>
            <a:srgbClr val="FFFFFF"/>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r>
              <a:rPr lang="en-US" sz="2000" b="1" i="1" dirty="0">
                <a:solidFill>
                  <a:srgbClr val="212529"/>
                </a:solidFill>
                <a:latin typeface="Times New Roman" pitchFamily="18" charset="0"/>
                <a:cs typeface="Times New Roman" pitchFamily="18" charset="0"/>
              </a:rPr>
              <a:t>Ex. 3.18.5 Implement full </a:t>
            </a:r>
            <a:r>
              <a:rPr lang="en-US" sz="2000" b="1" i="1" dirty="0" err="1">
                <a:solidFill>
                  <a:srgbClr val="212529"/>
                </a:solidFill>
                <a:latin typeface="Times New Roman" pitchFamily="18" charset="0"/>
                <a:cs typeface="Times New Roman" pitchFamily="18" charset="0"/>
              </a:rPr>
              <a:t>subtractor</a:t>
            </a:r>
            <a:r>
              <a:rPr lang="en-US" sz="2000" b="1" i="1" dirty="0">
                <a:solidFill>
                  <a:srgbClr val="212529"/>
                </a:solidFill>
                <a:latin typeface="Times New Roman" pitchFamily="18" charset="0"/>
                <a:cs typeface="Times New Roman" pitchFamily="18" charset="0"/>
              </a:rPr>
              <a:t> using </a:t>
            </a:r>
            <a:r>
              <a:rPr lang="en-US" sz="2000" b="1" i="1" dirty="0" err="1">
                <a:solidFill>
                  <a:srgbClr val="212529"/>
                </a:solidFill>
                <a:latin typeface="Times New Roman" pitchFamily="18" charset="0"/>
                <a:cs typeface="Times New Roman" pitchFamily="18" charset="0"/>
              </a:rPr>
              <a:t>demultiplexer</a:t>
            </a:r>
            <a:r>
              <a:rPr lang="en-US" sz="2000" b="1" i="1" dirty="0">
                <a:solidFill>
                  <a:srgbClr val="212529"/>
                </a:solidFill>
                <a:latin typeface="Times New Roman" pitchFamily="18" charset="0"/>
                <a:cs typeface="Times New Roman" pitchFamily="18" charset="0"/>
              </a:rPr>
              <a:t>.</a:t>
            </a:r>
            <a:endParaRPr lang="en-US" sz="2000" b="1" i="1" dirty="0">
              <a:solidFill>
                <a:srgbClr val="212529"/>
              </a:solidFill>
              <a:latin typeface="Times New Roman" pitchFamily="18" charset="0"/>
              <a:cs typeface="Times New Roman" pitchFamily="18" charset="0"/>
            </a:endParaRPr>
          </a:p>
        </p:txBody>
      </p:sp>
      <p:sp>
        <p:nvSpPr>
          <p:cNvPr id="7" name="Rectangle 6"/>
          <p:cNvSpPr/>
          <p:nvPr/>
        </p:nvSpPr>
        <p:spPr>
          <a:xfrm>
            <a:off x="1549506" y="1196752"/>
            <a:ext cx="6487673" cy="707886"/>
          </a:xfrm>
          <a:prstGeom prst="rect">
            <a:avLst/>
          </a:prstGeom>
        </p:spPr>
        <p:txBody>
          <a:bodyPr wrap="none">
            <a:spAutoFit/>
          </a:bodyPr>
          <a:lstStyle/>
          <a:p>
            <a:r>
              <a:rPr lang="en-US" sz="2000" dirty="0">
                <a:solidFill>
                  <a:srgbClr val="212529"/>
                </a:solidFill>
                <a:latin typeface="Times New Roman" pitchFamily="18" charset="0"/>
                <a:cs typeface="Times New Roman" pitchFamily="18" charset="0"/>
              </a:rPr>
              <a:t>Step 1 : Write the truth table of full </a:t>
            </a:r>
            <a:r>
              <a:rPr lang="en-US" sz="2000" dirty="0" err="1">
                <a:solidFill>
                  <a:srgbClr val="212529"/>
                </a:solidFill>
                <a:latin typeface="Times New Roman" pitchFamily="18" charset="0"/>
                <a:cs typeface="Times New Roman" pitchFamily="18" charset="0"/>
              </a:rPr>
              <a:t>subtractor</a:t>
            </a:r>
            <a:r>
              <a:rPr lang="en-US" sz="2000" dirty="0">
                <a:solidFill>
                  <a:srgbClr val="212529"/>
                </a:solidFill>
                <a:latin typeface="Times New Roman" pitchFamily="18" charset="0"/>
                <a:cs typeface="Times New Roman" pitchFamily="18" charset="0"/>
              </a:rPr>
              <a:t>.</a:t>
            </a:r>
          </a:p>
          <a:p>
            <a:pPr algn="just"/>
            <a:r>
              <a:rPr lang="en-US" sz="2000" dirty="0">
                <a:solidFill>
                  <a:srgbClr val="212529"/>
                </a:solidFill>
                <a:latin typeface="Times New Roman" pitchFamily="18" charset="0"/>
                <a:cs typeface="Times New Roman" pitchFamily="18" charset="0"/>
              </a:rPr>
              <a:t>Step 2 : Represent output of full-</a:t>
            </a:r>
            <a:r>
              <a:rPr lang="en-US" sz="2000" dirty="0" err="1">
                <a:solidFill>
                  <a:srgbClr val="212529"/>
                </a:solidFill>
                <a:latin typeface="Times New Roman" pitchFamily="18" charset="0"/>
                <a:cs typeface="Times New Roman" pitchFamily="18" charset="0"/>
              </a:rPr>
              <a:t>subtractors</a:t>
            </a:r>
            <a:r>
              <a:rPr lang="en-US" sz="2000" dirty="0">
                <a:solidFill>
                  <a:srgbClr val="212529"/>
                </a:solidFill>
                <a:latin typeface="Times New Roman" pitchFamily="18" charset="0"/>
                <a:cs typeface="Times New Roman" pitchFamily="18" charset="0"/>
              </a:rPr>
              <a:t> in </a:t>
            </a:r>
            <a:r>
              <a:rPr lang="en-US" sz="2000" dirty="0" err="1">
                <a:solidFill>
                  <a:srgbClr val="212529"/>
                </a:solidFill>
                <a:latin typeface="Times New Roman" pitchFamily="18" charset="0"/>
                <a:cs typeface="Times New Roman" pitchFamily="18" charset="0"/>
              </a:rPr>
              <a:t>minterm</a:t>
            </a:r>
            <a:r>
              <a:rPr lang="en-US" sz="2000" dirty="0">
                <a:solidFill>
                  <a:srgbClr val="212529"/>
                </a:solidFill>
                <a:latin typeface="Times New Roman" pitchFamily="18" charset="0"/>
                <a:cs typeface="Times New Roman" pitchFamily="18" charset="0"/>
              </a:rPr>
              <a:t> form</a:t>
            </a:r>
            <a:r>
              <a:rPr lang="en-US" dirty="0" smtClean="0"/>
              <a:t>.</a:t>
            </a:r>
            <a:endParaRPr lang="en-US" dirty="0"/>
          </a:p>
        </p:txBody>
      </p:sp>
      <p:pic>
        <p:nvPicPr>
          <p:cNvPr id="15362" name="Picture 2" descr="https://www.poriyaan.in/media/imgPori/images12/7pqYF4m.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5362" y="2276872"/>
            <a:ext cx="3328777" cy="3096344"/>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4004139" y="2472151"/>
            <a:ext cx="4117177" cy="2554545"/>
          </a:xfrm>
          <a:prstGeom prst="rect">
            <a:avLst/>
          </a:prstGeom>
          <a:extLs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just"/>
            <a:r>
              <a:rPr lang="en-US" sz="2000" dirty="0">
                <a:solidFill>
                  <a:srgbClr val="212529"/>
                </a:solidFill>
                <a:latin typeface="Times New Roman" pitchFamily="18" charset="0"/>
                <a:cs typeface="Times New Roman" pitchFamily="18" charset="0"/>
              </a:rPr>
              <a:t>For full </a:t>
            </a:r>
            <a:r>
              <a:rPr lang="en-US" sz="2000" dirty="0" err="1">
                <a:solidFill>
                  <a:srgbClr val="212529"/>
                </a:solidFill>
                <a:latin typeface="Times New Roman" pitchFamily="18" charset="0"/>
                <a:cs typeface="Times New Roman" pitchFamily="18" charset="0"/>
              </a:rPr>
              <a:t>subtractor</a:t>
            </a:r>
            <a:r>
              <a:rPr lang="en-US" sz="2000" dirty="0">
                <a:solidFill>
                  <a:srgbClr val="212529"/>
                </a:solidFill>
                <a:latin typeface="Times New Roman" pitchFamily="18" charset="0"/>
                <a:cs typeface="Times New Roman" pitchFamily="18" charset="0"/>
              </a:rPr>
              <a:t> difference D function can be written as </a:t>
            </a:r>
            <a:endParaRPr lang="en-US" sz="2000" dirty="0" smtClean="0">
              <a:solidFill>
                <a:srgbClr val="212529"/>
              </a:solidFill>
              <a:latin typeface="Times New Roman" pitchFamily="18" charset="0"/>
              <a:cs typeface="Times New Roman" pitchFamily="18" charset="0"/>
            </a:endParaRPr>
          </a:p>
          <a:p>
            <a:pPr algn="just"/>
            <a:endParaRPr lang="en-US" sz="2000" dirty="0" smtClean="0">
              <a:solidFill>
                <a:srgbClr val="212529"/>
              </a:solidFill>
              <a:latin typeface="Times New Roman" pitchFamily="18" charset="0"/>
              <a:cs typeface="Times New Roman" pitchFamily="18" charset="0"/>
            </a:endParaRPr>
          </a:p>
          <a:p>
            <a:pPr algn="just"/>
            <a:r>
              <a:rPr lang="en-US" sz="2000" b="1" dirty="0" smtClean="0">
                <a:solidFill>
                  <a:srgbClr val="212529"/>
                </a:solidFill>
                <a:latin typeface="Times New Roman" pitchFamily="18" charset="0"/>
                <a:cs typeface="Times New Roman" pitchFamily="18" charset="0"/>
              </a:rPr>
              <a:t>D </a:t>
            </a:r>
            <a:r>
              <a:rPr lang="en-US" sz="2000" b="1" dirty="0">
                <a:solidFill>
                  <a:srgbClr val="212529"/>
                </a:solidFill>
                <a:latin typeface="Times New Roman" pitchFamily="18" charset="0"/>
                <a:cs typeface="Times New Roman" pitchFamily="18" charset="0"/>
              </a:rPr>
              <a:t>= f (A, B, C) = ∑ m (1, 2, 4, 7) </a:t>
            </a:r>
            <a:endParaRPr lang="en-US" sz="2000" b="1" dirty="0" smtClean="0">
              <a:solidFill>
                <a:srgbClr val="212529"/>
              </a:solidFill>
              <a:latin typeface="Times New Roman" pitchFamily="18" charset="0"/>
              <a:cs typeface="Times New Roman" pitchFamily="18" charset="0"/>
            </a:endParaRPr>
          </a:p>
          <a:p>
            <a:pPr algn="just"/>
            <a:r>
              <a:rPr lang="en-US" sz="2000" dirty="0" smtClean="0">
                <a:solidFill>
                  <a:srgbClr val="212529"/>
                </a:solidFill>
                <a:latin typeface="Times New Roman" pitchFamily="18" charset="0"/>
                <a:cs typeface="Times New Roman" pitchFamily="18" charset="0"/>
              </a:rPr>
              <a:t>and </a:t>
            </a:r>
          </a:p>
          <a:p>
            <a:pPr algn="just"/>
            <a:r>
              <a:rPr lang="en-US" sz="2000" dirty="0" smtClean="0">
                <a:solidFill>
                  <a:srgbClr val="212529"/>
                </a:solidFill>
                <a:latin typeface="Times New Roman" pitchFamily="18" charset="0"/>
                <a:cs typeface="Times New Roman" pitchFamily="18" charset="0"/>
              </a:rPr>
              <a:t>Bout</a:t>
            </a:r>
            <a:r>
              <a:rPr lang="en-US" sz="2000" dirty="0">
                <a:solidFill>
                  <a:srgbClr val="212529"/>
                </a:solidFill>
                <a:latin typeface="Times New Roman" pitchFamily="18" charset="0"/>
                <a:cs typeface="Times New Roman" pitchFamily="18" charset="0"/>
              </a:rPr>
              <a:t> function can be written as</a:t>
            </a:r>
            <a:r>
              <a:rPr lang="en-US" sz="2000" dirty="0" smtClean="0">
                <a:solidFill>
                  <a:srgbClr val="212529"/>
                </a:solidFill>
                <a:latin typeface="Times New Roman" pitchFamily="18" charset="0"/>
                <a:cs typeface="Times New Roman" pitchFamily="18" charset="0"/>
              </a:rPr>
              <a:t>,</a:t>
            </a:r>
          </a:p>
          <a:p>
            <a:pPr algn="just"/>
            <a:endParaRPr lang="en-US" sz="2000" dirty="0">
              <a:solidFill>
                <a:srgbClr val="212529"/>
              </a:solidFill>
              <a:latin typeface="Times New Roman" pitchFamily="18" charset="0"/>
              <a:cs typeface="Times New Roman" pitchFamily="18" charset="0"/>
            </a:endParaRPr>
          </a:p>
          <a:p>
            <a:pPr algn="just"/>
            <a:r>
              <a:rPr lang="en-US" sz="2000" b="1" dirty="0">
                <a:solidFill>
                  <a:srgbClr val="212529"/>
                </a:solidFill>
                <a:latin typeface="Times New Roman" pitchFamily="18" charset="0"/>
                <a:cs typeface="Times New Roman" pitchFamily="18" charset="0"/>
              </a:rPr>
              <a:t>Bout = F (A, B, C) = ∑ m (1, 2, 3, 7)</a:t>
            </a:r>
          </a:p>
        </p:txBody>
      </p:sp>
    </p:spTree>
    <p:extLst>
      <p:ext uri="{BB962C8B-B14F-4D97-AF65-F5344CB8AC3E}">
        <p14:creationId xmlns:p14="http://schemas.microsoft.com/office/powerpoint/2010/main" val="333143837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
        <p:nvSpPr>
          <p:cNvPr id="2" name="Rectangle 1"/>
          <p:cNvSpPr>
            <a:spLocks noChangeArrowheads="1"/>
          </p:cNvSpPr>
          <p:nvPr/>
        </p:nvSpPr>
        <p:spPr bwMode="auto">
          <a:xfrm>
            <a:off x="251521" y="116632"/>
            <a:ext cx="8496944" cy="1631216"/>
          </a:xfrm>
          <a:prstGeom prst="rect">
            <a:avLst/>
          </a:prstGeom>
          <a:extLs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just"/>
            <a:r>
              <a:rPr lang="en-US" sz="2000" dirty="0" smtClean="0">
                <a:solidFill>
                  <a:srgbClr val="212529"/>
                </a:solidFill>
                <a:latin typeface="Times New Roman" pitchFamily="18" charset="0"/>
                <a:cs typeface="Times New Roman" pitchFamily="18" charset="0"/>
              </a:rPr>
              <a:t>Step 3: Logically </a:t>
            </a:r>
            <a:r>
              <a:rPr lang="en-US" sz="2000" dirty="0">
                <a:solidFill>
                  <a:srgbClr val="212529"/>
                </a:solidFill>
                <a:latin typeface="Times New Roman" pitchFamily="18" charset="0"/>
                <a:cs typeface="Times New Roman" pitchFamily="18" charset="0"/>
              </a:rPr>
              <a:t>OR the outputs corresponding to </a:t>
            </a:r>
            <a:r>
              <a:rPr lang="en-US" sz="2000" dirty="0" err="1">
                <a:solidFill>
                  <a:srgbClr val="212529"/>
                </a:solidFill>
                <a:latin typeface="Times New Roman" pitchFamily="18" charset="0"/>
                <a:cs typeface="Times New Roman" pitchFamily="18" charset="0"/>
              </a:rPr>
              <a:t>minterms</a:t>
            </a:r>
            <a:r>
              <a:rPr lang="en-US" sz="2000" dirty="0">
                <a:solidFill>
                  <a:srgbClr val="212529"/>
                </a:solidFill>
                <a:latin typeface="Times New Roman" pitchFamily="18" charset="0"/>
                <a:cs typeface="Times New Roman" pitchFamily="18" charset="0"/>
              </a:rPr>
              <a:t>.</a:t>
            </a:r>
          </a:p>
          <a:p>
            <a:pPr algn="just"/>
            <a:endParaRPr lang="en-US" sz="2000" dirty="0" smtClean="0">
              <a:solidFill>
                <a:srgbClr val="212529"/>
              </a:solidFill>
              <a:latin typeface="Times New Roman" pitchFamily="18" charset="0"/>
              <a:cs typeface="Times New Roman" pitchFamily="18" charset="0"/>
            </a:endParaRPr>
          </a:p>
          <a:p>
            <a:pPr algn="just"/>
            <a:r>
              <a:rPr lang="en-US" sz="2000" dirty="0" smtClean="0">
                <a:solidFill>
                  <a:srgbClr val="212529"/>
                </a:solidFill>
                <a:latin typeface="Times New Roman" pitchFamily="18" charset="0"/>
                <a:cs typeface="Times New Roman" pitchFamily="18" charset="0"/>
              </a:rPr>
              <a:t>With </a:t>
            </a:r>
            <a:r>
              <a:rPr lang="en-US" sz="2000" dirty="0">
                <a:solidFill>
                  <a:srgbClr val="212529"/>
                </a:solidFill>
                <a:latin typeface="Times New Roman" pitchFamily="18" charset="0"/>
                <a:cs typeface="Times New Roman" pitchFamily="18" charset="0"/>
              </a:rPr>
              <a:t>Din input 1, </a:t>
            </a:r>
            <a:r>
              <a:rPr lang="en-US" sz="2000" dirty="0" err="1">
                <a:solidFill>
                  <a:srgbClr val="212529"/>
                </a:solidFill>
                <a:latin typeface="Times New Roman" pitchFamily="18" charset="0"/>
                <a:cs typeface="Times New Roman" pitchFamily="18" charset="0"/>
              </a:rPr>
              <a:t>demultiplexer</a:t>
            </a:r>
            <a:r>
              <a:rPr lang="en-US" sz="2000" dirty="0">
                <a:solidFill>
                  <a:srgbClr val="212529"/>
                </a:solidFill>
                <a:latin typeface="Times New Roman" pitchFamily="18" charset="0"/>
                <a:cs typeface="Times New Roman" pitchFamily="18" charset="0"/>
              </a:rPr>
              <a:t> gives </a:t>
            </a:r>
            <a:r>
              <a:rPr lang="en-US" sz="2000" dirty="0" err="1">
                <a:solidFill>
                  <a:srgbClr val="212529"/>
                </a:solidFill>
                <a:latin typeface="Times New Roman" pitchFamily="18" charset="0"/>
                <a:cs typeface="Times New Roman" pitchFamily="18" charset="0"/>
              </a:rPr>
              <a:t>minterms</a:t>
            </a:r>
            <a:r>
              <a:rPr lang="en-US" sz="2000" dirty="0">
                <a:solidFill>
                  <a:srgbClr val="212529"/>
                </a:solidFill>
                <a:latin typeface="Times New Roman" pitchFamily="18" charset="0"/>
                <a:cs typeface="Times New Roman" pitchFamily="18" charset="0"/>
              </a:rPr>
              <a:t> at the output so by logically </a:t>
            </a:r>
            <a:r>
              <a:rPr lang="en-US" sz="2000" dirty="0" err="1">
                <a:solidFill>
                  <a:srgbClr val="212529"/>
                </a:solidFill>
                <a:latin typeface="Times New Roman" pitchFamily="18" charset="0"/>
                <a:cs typeface="Times New Roman" pitchFamily="18" charset="0"/>
              </a:rPr>
              <a:t>ORing</a:t>
            </a:r>
            <a:r>
              <a:rPr lang="en-US" sz="2000" dirty="0">
                <a:solidFill>
                  <a:srgbClr val="212529"/>
                </a:solidFill>
                <a:latin typeface="Times New Roman" pitchFamily="18" charset="0"/>
                <a:cs typeface="Times New Roman" pitchFamily="18" charset="0"/>
              </a:rPr>
              <a:t> required </a:t>
            </a:r>
            <a:r>
              <a:rPr lang="en-US" sz="2000" dirty="0" err="1">
                <a:solidFill>
                  <a:srgbClr val="212529"/>
                </a:solidFill>
                <a:latin typeface="Times New Roman" pitchFamily="18" charset="0"/>
                <a:cs typeface="Times New Roman" pitchFamily="18" charset="0"/>
              </a:rPr>
              <a:t>minterms</a:t>
            </a:r>
            <a:r>
              <a:rPr lang="en-US" sz="2000" dirty="0">
                <a:solidFill>
                  <a:srgbClr val="212529"/>
                </a:solidFill>
                <a:latin typeface="Times New Roman" pitchFamily="18" charset="0"/>
                <a:cs typeface="Times New Roman" pitchFamily="18" charset="0"/>
              </a:rPr>
              <a:t> we can implement Boolean functions for full </a:t>
            </a:r>
            <a:r>
              <a:rPr lang="en-US" sz="2000" dirty="0" err="1">
                <a:solidFill>
                  <a:srgbClr val="212529"/>
                </a:solidFill>
                <a:latin typeface="Times New Roman" pitchFamily="18" charset="0"/>
                <a:cs typeface="Times New Roman" pitchFamily="18" charset="0"/>
              </a:rPr>
              <a:t>subtractor</a:t>
            </a:r>
            <a:r>
              <a:rPr lang="en-US" sz="2000" dirty="0">
                <a:solidFill>
                  <a:srgbClr val="212529"/>
                </a:solidFill>
                <a:latin typeface="Times New Roman" pitchFamily="18" charset="0"/>
                <a:cs typeface="Times New Roman" pitchFamily="18" charset="0"/>
              </a:rPr>
              <a:t>. </a:t>
            </a:r>
          </a:p>
        </p:txBody>
      </p:sp>
      <p:pic>
        <p:nvPicPr>
          <p:cNvPr id="16387" name="Picture 3" descr="https://www.poriyaan.in/media/imgPori/images12/KJX1eGG.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40650" y="1800533"/>
            <a:ext cx="50292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143837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
        <p:nvSpPr>
          <p:cNvPr id="2" name="Rectangle 1"/>
          <p:cNvSpPr>
            <a:spLocks noChangeArrowheads="1"/>
          </p:cNvSpPr>
          <p:nvPr/>
        </p:nvSpPr>
        <p:spPr bwMode="auto">
          <a:xfrm>
            <a:off x="999062" y="1268760"/>
            <a:ext cx="7125669" cy="30469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pPr>
            <a:r>
              <a:rPr lang="en-US" sz="2400" b="1" i="1" dirty="0">
                <a:solidFill>
                  <a:srgbClr val="212529"/>
                </a:solidFill>
                <a:latin typeface="Times New Roman" pitchFamily="18" charset="0"/>
                <a:cs typeface="Times New Roman" pitchFamily="18" charset="0"/>
              </a:rPr>
              <a:t>Examples for </a:t>
            </a:r>
            <a:r>
              <a:rPr lang="en-US" sz="2400" b="1" i="1" dirty="0" smtClean="0">
                <a:solidFill>
                  <a:srgbClr val="212529"/>
                </a:solidFill>
                <a:latin typeface="Times New Roman" pitchFamily="18" charset="0"/>
                <a:cs typeface="Times New Roman" pitchFamily="18" charset="0"/>
              </a:rPr>
              <a:t>Practice:</a:t>
            </a:r>
          </a:p>
          <a:p>
            <a:pPr algn="just" fontAlgn="base">
              <a:spcBef>
                <a:spcPct val="0"/>
              </a:spcBef>
              <a:spcAft>
                <a:spcPct val="0"/>
              </a:spcAft>
            </a:pPr>
            <a:endParaRPr lang="en-US" sz="2400" b="1" i="1" dirty="0">
              <a:solidFill>
                <a:srgbClr val="212529"/>
              </a:solidFill>
              <a:latin typeface="Times New Roman" pitchFamily="18" charset="0"/>
              <a:cs typeface="Times New Roman" pitchFamily="18" charset="0"/>
            </a:endParaRPr>
          </a:p>
          <a:p>
            <a:pPr algn="just" fontAlgn="base">
              <a:spcBef>
                <a:spcPct val="0"/>
              </a:spcBef>
              <a:spcAft>
                <a:spcPct val="0"/>
              </a:spcAft>
            </a:pPr>
            <a:r>
              <a:rPr lang="en-US" sz="2400" dirty="0">
                <a:solidFill>
                  <a:srgbClr val="212529"/>
                </a:solidFill>
                <a:latin typeface="Times New Roman" pitchFamily="18" charset="0"/>
                <a:cs typeface="Times New Roman" pitchFamily="18" charset="0"/>
              </a:rPr>
              <a:t>Ex. 3.18.7 Implement full adder using </a:t>
            </a:r>
            <a:r>
              <a:rPr lang="en-US" sz="2400" dirty="0" err="1">
                <a:solidFill>
                  <a:srgbClr val="212529"/>
                </a:solidFill>
                <a:latin typeface="Times New Roman" pitchFamily="18" charset="0"/>
                <a:cs typeface="Times New Roman" pitchFamily="18" charset="0"/>
              </a:rPr>
              <a:t>demultiplexer</a:t>
            </a:r>
            <a:r>
              <a:rPr lang="en-US" sz="2400" dirty="0" smtClean="0">
                <a:solidFill>
                  <a:srgbClr val="212529"/>
                </a:solidFill>
                <a:latin typeface="Times New Roman" pitchFamily="18" charset="0"/>
                <a:cs typeface="Times New Roman" pitchFamily="18" charset="0"/>
              </a:rPr>
              <a:t>.</a:t>
            </a:r>
          </a:p>
          <a:p>
            <a:pPr algn="just" fontAlgn="base">
              <a:spcBef>
                <a:spcPct val="0"/>
              </a:spcBef>
              <a:spcAft>
                <a:spcPct val="0"/>
              </a:spcAft>
            </a:pPr>
            <a:endParaRPr lang="en-US" sz="2400" dirty="0">
              <a:solidFill>
                <a:srgbClr val="212529"/>
              </a:solidFill>
              <a:latin typeface="Times New Roman" pitchFamily="18" charset="0"/>
              <a:cs typeface="Times New Roman" pitchFamily="18" charset="0"/>
            </a:endParaRPr>
          </a:p>
          <a:p>
            <a:pPr algn="just" fontAlgn="base">
              <a:spcBef>
                <a:spcPct val="0"/>
              </a:spcBef>
              <a:spcAft>
                <a:spcPct val="0"/>
              </a:spcAft>
            </a:pPr>
            <a:r>
              <a:rPr lang="en-US" sz="2400" dirty="0">
                <a:solidFill>
                  <a:srgbClr val="212529"/>
                </a:solidFill>
                <a:latin typeface="Times New Roman" pitchFamily="18" charset="0"/>
                <a:cs typeface="Times New Roman" pitchFamily="18" charset="0"/>
              </a:rPr>
              <a:t>Ex. 3.18.8 Implement the following functions using </a:t>
            </a:r>
            <a:r>
              <a:rPr lang="en-US" sz="2400" dirty="0" err="1">
                <a:solidFill>
                  <a:srgbClr val="212529"/>
                </a:solidFill>
                <a:latin typeface="Times New Roman" pitchFamily="18" charset="0"/>
                <a:cs typeface="Times New Roman" pitchFamily="18" charset="0"/>
              </a:rPr>
              <a:t>demultiplexer</a:t>
            </a:r>
            <a:endParaRPr lang="en-US" sz="2400" dirty="0">
              <a:solidFill>
                <a:srgbClr val="212529"/>
              </a:solidFill>
              <a:latin typeface="Times New Roman" pitchFamily="18" charset="0"/>
              <a:cs typeface="Times New Roman" pitchFamily="18" charset="0"/>
            </a:endParaRPr>
          </a:p>
          <a:p>
            <a:pPr algn="just" fontAlgn="base">
              <a:spcBef>
                <a:spcPct val="0"/>
              </a:spcBef>
              <a:spcAft>
                <a:spcPct val="0"/>
              </a:spcAft>
            </a:pPr>
            <a:r>
              <a:rPr lang="en-US" sz="2400" dirty="0">
                <a:solidFill>
                  <a:srgbClr val="212529"/>
                </a:solidFill>
                <a:latin typeface="Times New Roman" pitchFamily="18" charset="0"/>
                <a:cs typeface="Times New Roman" pitchFamily="18" charset="0"/>
              </a:rPr>
              <a:t>f1 (A, B, C) = ∑ m (1, 5, 7)</a:t>
            </a:r>
          </a:p>
          <a:p>
            <a:pPr algn="just" fontAlgn="base">
              <a:spcBef>
                <a:spcPct val="0"/>
              </a:spcBef>
              <a:spcAft>
                <a:spcPct val="0"/>
              </a:spcAft>
            </a:pPr>
            <a:r>
              <a:rPr lang="en-US" sz="2400" dirty="0">
                <a:solidFill>
                  <a:srgbClr val="212529"/>
                </a:solidFill>
                <a:latin typeface="Times New Roman" pitchFamily="18" charset="0"/>
                <a:cs typeface="Times New Roman" pitchFamily="18" charset="0"/>
              </a:rPr>
              <a:t>f2 (A, B, C) = ∑ m (3, 6, 7)</a:t>
            </a:r>
          </a:p>
        </p:txBody>
      </p:sp>
    </p:spTree>
    <p:extLst>
      <p:ext uri="{BB962C8B-B14F-4D97-AF65-F5344CB8AC3E}">
        <p14:creationId xmlns:p14="http://schemas.microsoft.com/office/powerpoint/2010/main" val="333143837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
        <p:nvSpPr>
          <p:cNvPr id="2" name="Rectangle 1"/>
          <p:cNvSpPr/>
          <p:nvPr/>
        </p:nvSpPr>
        <p:spPr>
          <a:xfrm>
            <a:off x="395536" y="474345"/>
            <a:ext cx="8452080" cy="4801314"/>
          </a:xfrm>
          <a:prstGeom prst="rect">
            <a:avLst/>
          </a:prstGeom>
        </p:spPr>
        <p:txBody>
          <a:bodyPr wrap="square">
            <a:spAutoFit/>
          </a:bodyPr>
          <a:lstStyle/>
          <a:p>
            <a:pPr algn="ctr"/>
            <a:r>
              <a:rPr lang="en-US" b="1" dirty="0">
                <a:latin typeface="Times New Roman" pitchFamily="18" charset="0"/>
                <a:cs typeface="Times New Roman" pitchFamily="18" charset="0"/>
              </a:rPr>
              <a:t>Advantages of the </a:t>
            </a:r>
            <a:r>
              <a:rPr lang="en-US" b="1" dirty="0" smtClean="0">
                <a:latin typeface="Times New Roman" pitchFamily="18" charset="0"/>
                <a:cs typeface="Times New Roman" pitchFamily="18" charset="0"/>
              </a:rPr>
              <a:t>DEMUX</a:t>
            </a:r>
          </a:p>
          <a:p>
            <a:pPr algn="ctr"/>
            <a:endParaRPr lang="en-US" b="1" dirty="0">
              <a:latin typeface="Times New Roman" pitchFamily="18" charset="0"/>
              <a:cs typeface="Times New Roman" pitchFamily="18" charset="0"/>
            </a:endParaRPr>
          </a:p>
          <a:p>
            <a:pPr marL="285750" indent="-285750" algn="just">
              <a:buFont typeface="Arial" pitchFamily="34" charset="0"/>
              <a:buChar char="•"/>
            </a:pPr>
            <a:r>
              <a:rPr lang="en-US" dirty="0">
                <a:latin typeface="Times New Roman" pitchFamily="18" charset="0"/>
                <a:cs typeface="Times New Roman" pitchFamily="18" charset="0"/>
              </a:rPr>
              <a:t>The DEMUX increases the efficiency of the particular communication system as it takes data from a specific input source and distributes it to different sources.</a:t>
            </a:r>
          </a:p>
          <a:p>
            <a:pPr marL="285750" indent="-285750" algn="just">
              <a:buFont typeface="Arial" pitchFamily="34" charset="0"/>
              <a:buChar char="•"/>
            </a:pPr>
            <a:r>
              <a:rPr lang="en-US" dirty="0">
                <a:latin typeface="Times New Roman" pitchFamily="18" charset="0"/>
                <a:cs typeface="Times New Roman" pitchFamily="18" charset="0"/>
              </a:rPr>
              <a:t>The DEMUX helps to separate the different signals from the mixed data sources. Then it distributes these data to different sources.</a:t>
            </a:r>
          </a:p>
          <a:p>
            <a:pPr marL="285750" indent="-285750" algn="just">
              <a:buFont typeface="Arial" pitchFamily="34" charset="0"/>
              <a:buChar char="•"/>
            </a:pPr>
            <a:r>
              <a:rPr lang="en-US" dirty="0">
                <a:latin typeface="Times New Roman" pitchFamily="18" charset="0"/>
                <a:cs typeface="Times New Roman" pitchFamily="18" charset="0"/>
              </a:rPr>
              <a:t>DEMUX can decode the signal outputs of the </a:t>
            </a:r>
            <a:r>
              <a:rPr lang="en-US" dirty="0">
                <a:latin typeface="Times New Roman" pitchFamily="18" charset="0"/>
                <a:cs typeface="Times New Roman" pitchFamily="18" charset="0"/>
                <a:hlinkClick r:id="rId6"/>
              </a:rPr>
              <a:t>multiplexer</a:t>
            </a:r>
            <a:r>
              <a:rPr lang="en-US" dirty="0">
                <a:latin typeface="Times New Roman" pitchFamily="18" charset="0"/>
                <a:cs typeface="Times New Roman" pitchFamily="18" charset="0"/>
              </a:rPr>
              <a:t>, as the system works in a reverse way of the MUX.</a:t>
            </a:r>
          </a:p>
          <a:p>
            <a:pPr algn="ctr"/>
            <a:endParaRPr lang="en-US" b="1" dirty="0" smtClean="0">
              <a:latin typeface="Times New Roman" pitchFamily="18" charset="0"/>
              <a:cs typeface="Times New Roman" pitchFamily="18" charset="0"/>
            </a:endParaRPr>
          </a:p>
          <a:p>
            <a:pPr algn="ctr"/>
            <a:endParaRPr lang="en-US" b="1" dirty="0">
              <a:latin typeface="Times New Roman" pitchFamily="18" charset="0"/>
              <a:cs typeface="Times New Roman" pitchFamily="18" charset="0"/>
            </a:endParaRPr>
          </a:p>
          <a:p>
            <a:pPr algn="ctr"/>
            <a:r>
              <a:rPr lang="en-US" b="1" dirty="0" smtClean="0">
                <a:latin typeface="Times New Roman" pitchFamily="18" charset="0"/>
                <a:cs typeface="Times New Roman" pitchFamily="18" charset="0"/>
              </a:rPr>
              <a:t>Disadvantages </a:t>
            </a:r>
            <a:r>
              <a:rPr lang="en-US" b="1" dirty="0">
                <a:latin typeface="Times New Roman" pitchFamily="18" charset="0"/>
                <a:cs typeface="Times New Roman" pitchFamily="18" charset="0"/>
              </a:rPr>
              <a:t>of the </a:t>
            </a:r>
            <a:r>
              <a:rPr lang="en-US" b="1" dirty="0" smtClean="0">
                <a:latin typeface="Times New Roman" pitchFamily="18" charset="0"/>
                <a:cs typeface="Times New Roman" pitchFamily="18" charset="0"/>
              </a:rPr>
              <a:t>DEMUX</a:t>
            </a:r>
          </a:p>
          <a:p>
            <a:pPr algn="ctr"/>
            <a:endParaRPr lang="en-US" b="1" dirty="0">
              <a:latin typeface="Times New Roman" pitchFamily="18" charset="0"/>
              <a:cs typeface="Times New Roman" pitchFamily="18" charset="0"/>
            </a:endParaRPr>
          </a:p>
          <a:p>
            <a:pPr marL="285750" indent="-285750" algn="just">
              <a:buFont typeface="Arial" pitchFamily="34" charset="0"/>
              <a:buChar char="•"/>
            </a:pPr>
            <a:r>
              <a:rPr lang="en-US" dirty="0">
                <a:latin typeface="Times New Roman" pitchFamily="18" charset="0"/>
                <a:cs typeface="Times New Roman" pitchFamily="18" charset="0"/>
              </a:rPr>
              <a:t>The DEMUX may cause a wastage of bandwidth as it distributes the refined data in different channels. These channels can overlap with each other which leads to the loss of signal.</a:t>
            </a:r>
          </a:p>
          <a:p>
            <a:pPr marL="285750" indent="-285750" algn="just">
              <a:buFont typeface="Arial" pitchFamily="34" charset="0"/>
              <a:buChar char="•"/>
            </a:pPr>
            <a:r>
              <a:rPr lang="en-US" dirty="0">
                <a:latin typeface="Times New Roman" pitchFamily="18" charset="0"/>
                <a:cs typeface="Times New Roman" pitchFamily="18" charset="0"/>
              </a:rPr>
              <a:t>The DEMUX may cause problems in the synchronization of signals. The data channels can overlap with each other which leads to the delay in the whole process.</a:t>
            </a:r>
          </a:p>
        </p:txBody>
      </p:sp>
    </p:spTree>
    <p:extLst>
      <p:ext uri="{BB962C8B-B14F-4D97-AF65-F5344CB8AC3E}">
        <p14:creationId xmlns:p14="http://schemas.microsoft.com/office/powerpoint/2010/main" val="33537907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1;p33"/>
          <p:cNvPicPr preferRelativeResize="0"/>
          <p:nvPr/>
        </p:nvPicPr>
        <p:blipFill rotWithShape="1">
          <a:blip r:embed="rId2">
            <a:alphaModFix/>
          </a:blip>
          <a:srcRect/>
          <a:stretch/>
        </p:blipFill>
        <p:spPr>
          <a:xfrm rot="5400000">
            <a:off x="4362258" y="2097119"/>
            <a:ext cx="385984" cy="9177497"/>
          </a:xfrm>
          <a:prstGeom prst="rect">
            <a:avLst/>
          </a:prstGeom>
          <a:noFill/>
          <a:ln>
            <a:noFill/>
          </a:ln>
        </p:spPr>
      </p:pic>
      <p:pic>
        <p:nvPicPr>
          <p:cNvPr id="4" name="Google Shape;302;p33"/>
          <p:cNvPicPr preferRelativeResize="0"/>
          <p:nvPr/>
        </p:nvPicPr>
        <p:blipFill rotWithShape="1">
          <a:blip r:embed="rId3">
            <a:alphaModFix/>
          </a:blip>
          <a:srcRect/>
          <a:stretch/>
        </p:blipFill>
        <p:spPr>
          <a:xfrm rot="5400000">
            <a:off x="3378189" y="2920767"/>
            <a:ext cx="176409" cy="6999785"/>
          </a:xfrm>
          <a:prstGeom prst="rect">
            <a:avLst/>
          </a:prstGeom>
          <a:noFill/>
          <a:ln>
            <a:noFill/>
          </a:ln>
        </p:spPr>
      </p:pic>
      <p:pic>
        <p:nvPicPr>
          <p:cNvPr id="5" name="Google Shape;303;p33" descr="A close up of a sign&#10;&#10;Description automatically generated"/>
          <p:cNvPicPr preferRelativeResize="0">
            <a:picLocks/>
          </p:cNvPicPr>
          <p:nvPr/>
        </p:nvPicPr>
        <p:blipFill rotWithShape="1">
          <a:blip r:embed="rId4">
            <a:alphaModFix/>
          </a:blip>
          <a:srcRect/>
          <a:stretch/>
        </p:blipFill>
        <p:spPr>
          <a:xfrm>
            <a:off x="8121316" y="5610533"/>
            <a:ext cx="726300" cy="721800"/>
          </a:xfrm>
          <a:prstGeom prst="rect">
            <a:avLst/>
          </a:prstGeom>
          <a:noFill/>
          <a:ln>
            <a:noFill/>
          </a:ln>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108380" y="5605573"/>
            <a:ext cx="2231371" cy="594811"/>
          </a:xfrm>
          <a:prstGeom prst="rect">
            <a:avLst/>
          </a:prstGeom>
        </p:spPr>
      </p:pic>
      <p:sp>
        <p:nvSpPr>
          <p:cNvPr id="2" name="Rectangle 1"/>
          <p:cNvSpPr/>
          <p:nvPr/>
        </p:nvSpPr>
        <p:spPr>
          <a:xfrm>
            <a:off x="611560" y="836712"/>
            <a:ext cx="8064896" cy="4278094"/>
          </a:xfrm>
          <a:prstGeom prst="rect">
            <a:avLst/>
          </a:prstGeom>
        </p:spPr>
        <p:txBody>
          <a:bodyPr wrap="square">
            <a:spAutoFit/>
          </a:bodyPr>
          <a:lstStyle/>
          <a:p>
            <a:pPr algn="ctr"/>
            <a:r>
              <a:rPr lang="en-US" sz="2000" b="1" dirty="0">
                <a:latin typeface="Times New Roman" pitchFamily="18" charset="0"/>
                <a:cs typeface="Times New Roman" pitchFamily="18" charset="0"/>
              </a:rPr>
              <a:t>Applications of </a:t>
            </a:r>
            <a:r>
              <a:rPr lang="en-US" sz="2000" b="1" dirty="0" smtClean="0">
                <a:latin typeface="Times New Roman" pitchFamily="18" charset="0"/>
                <a:cs typeface="Times New Roman" pitchFamily="18" charset="0"/>
              </a:rPr>
              <a:t>DEMUX</a:t>
            </a:r>
          </a:p>
          <a:p>
            <a:pPr algn="ctr"/>
            <a:endParaRPr lang="en-US" b="1" dirty="0">
              <a:latin typeface="Times New Roman" pitchFamily="18" charset="0"/>
              <a:cs typeface="Times New Roman" pitchFamily="18" charset="0"/>
            </a:endParaRPr>
          </a:p>
          <a:p>
            <a:pPr marL="285750" indent="-285750" algn="just">
              <a:buFont typeface="Arial" pitchFamily="34" charset="0"/>
              <a:buChar char="•"/>
            </a:pPr>
            <a:r>
              <a:rPr lang="en-US" dirty="0">
                <a:latin typeface="Times New Roman" pitchFamily="18" charset="0"/>
                <a:cs typeface="Times New Roman" pitchFamily="18" charset="0"/>
              </a:rPr>
              <a:t>DEMUXs are majorly used to design the ALU circuits and parallel data segments.</a:t>
            </a:r>
          </a:p>
          <a:p>
            <a:pPr marL="285750" indent="-285750" algn="just">
              <a:buFont typeface="Arial" pitchFamily="34" charset="0"/>
              <a:buChar char="•"/>
            </a:pPr>
            <a:r>
              <a:rPr lang="en-US" dirty="0">
                <a:latin typeface="Times New Roman" pitchFamily="18" charset="0"/>
                <a:cs typeface="Times New Roman" pitchFamily="18" charset="0"/>
              </a:rPr>
              <a:t>The DEMUXs convert the output of the MUX into the actual input. On the receiver end, the DEMUX can be used to verify the original form of the data to carry out the entire communication process.</a:t>
            </a:r>
          </a:p>
          <a:p>
            <a:pPr marL="285750" indent="-285750" algn="just">
              <a:buFont typeface="Arial" pitchFamily="34" charset="0"/>
              <a:buChar char="•"/>
            </a:pPr>
            <a:r>
              <a:rPr lang="en-US" dirty="0">
                <a:latin typeface="Times New Roman" pitchFamily="18" charset="0"/>
                <a:cs typeface="Times New Roman" pitchFamily="18" charset="0"/>
              </a:rPr>
              <a:t>DEMUX helps to save the output. The output generally saved to the ALU. The output will be saved in the registers and the various storage units of the system.</a:t>
            </a:r>
          </a:p>
          <a:p>
            <a:pPr marL="285750" indent="-285750" algn="just">
              <a:buFont typeface="Arial" pitchFamily="34" charset="0"/>
              <a:buChar char="•"/>
            </a:pPr>
            <a:r>
              <a:rPr lang="en-US" dirty="0">
                <a:latin typeface="Times New Roman" pitchFamily="18" charset="0"/>
                <a:cs typeface="Times New Roman" pitchFamily="18" charset="0"/>
              </a:rPr>
              <a:t>Each DEMUX has a connection with multiple registers which helps to store the processed data into it.</a:t>
            </a:r>
          </a:p>
          <a:p>
            <a:pPr marL="285750" indent="-285750" algn="just">
              <a:buFont typeface="Arial" pitchFamily="34" charset="0"/>
              <a:buChar char="•"/>
            </a:pPr>
            <a:r>
              <a:rPr lang="en-US" dirty="0">
                <a:latin typeface="Times New Roman" pitchFamily="18" charset="0"/>
                <a:cs typeface="Times New Roman" pitchFamily="18" charset="0"/>
              </a:rPr>
              <a:t>The counterpart of the DEMUX regulates the data signal at the output stage of the DEMUX operation. These data can be retrieved later to read out </a:t>
            </a:r>
            <a:r>
              <a:rPr lang="en-US" dirty="0" err="1">
                <a:latin typeface="Times New Roman" pitchFamily="18" charset="0"/>
                <a:cs typeface="Times New Roman" pitchFamily="18" charset="0"/>
              </a:rPr>
              <a:t>parallelly</a:t>
            </a:r>
            <a:r>
              <a:rPr lang="en-US" dirty="0">
                <a:latin typeface="Times New Roman" pitchFamily="18" charset="0"/>
                <a:cs typeface="Times New Roman" pitchFamily="18" charset="0"/>
              </a:rPr>
              <a:t>.</a:t>
            </a:r>
          </a:p>
          <a:p>
            <a:pPr marL="285750" indent="-285750" algn="just">
              <a:buFont typeface="Arial" pitchFamily="34" charset="0"/>
              <a:buChar char="•"/>
            </a:pPr>
            <a:r>
              <a:rPr lang="en-US" dirty="0">
                <a:latin typeface="Times New Roman" pitchFamily="18" charset="0"/>
                <a:cs typeface="Times New Roman" pitchFamily="18" charset="0"/>
              </a:rPr>
              <a:t>In the audio or video system, the DEMUX distributes them in different channels. In broadcasting, the DEMUX separates the composite signal into an individual one.</a:t>
            </a:r>
          </a:p>
        </p:txBody>
      </p:sp>
    </p:spTree>
    <p:extLst>
      <p:ext uri="{BB962C8B-B14F-4D97-AF65-F5344CB8AC3E}">
        <p14:creationId xmlns:p14="http://schemas.microsoft.com/office/powerpoint/2010/main" val="33537907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27059</TotalTime>
  <Words>2659</Words>
  <Application>Microsoft Office PowerPoint</Application>
  <PresentationFormat>On-screen Show (4:3)</PresentationFormat>
  <Paragraphs>1503</Paragraphs>
  <Slides>72</Slides>
  <Notes>38</Notes>
  <HiddenSlides>0</HiddenSlides>
  <MMClips>0</MMClips>
  <ScaleCrop>false</ScaleCrop>
  <HeadingPairs>
    <vt:vector size="4" baseType="variant">
      <vt:variant>
        <vt:lpstr>Theme</vt:lpstr>
      </vt:variant>
      <vt:variant>
        <vt:i4>1</vt:i4>
      </vt:variant>
      <vt:variant>
        <vt:lpstr>Slide Titles</vt:lpstr>
      </vt:variant>
      <vt:variant>
        <vt:i4>72</vt:i4>
      </vt:variant>
    </vt:vector>
  </HeadingPairs>
  <TitlesOfParts>
    <vt:vector size="73" baseType="lpstr">
      <vt:lpstr>Office Theme</vt:lpstr>
      <vt:lpstr>Digital Logic Design</vt:lpstr>
      <vt:lpstr>Combinational Circuits</vt:lpstr>
      <vt:lpstr>Contents</vt:lpstr>
      <vt:lpstr>Half Adder</vt:lpstr>
      <vt:lpstr>Full Adders</vt:lpstr>
      <vt:lpstr>Full Adder using 2 half Adders</vt:lpstr>
      <vt:lpstr>PowerPoint Presentation</vt:lpstr>
      <vt:lpstr>Half Subtractor</vt:lpstr>
      <vt:lpstr>Full Subtractor</vt:lpstr>
      <vt:lpstr>Full Subtractor</vt:lpstr>
      <vt:lpstr>Full Subtractor using Half Subtractors</vt:lpstr>
      <vt:lpstr>PowerPoint Presentation</vt:lpstr>
      <vt:lpstr>4 bit adder using full Adder</vt:lpstr>
      <vt:lpstr>4 bit adder IC 7483</vt:lpstr>
      <vt:lpstr>Controlled Adder Subtractor</vt:lpstr>
      <vt:lpstr>Controlled Adder Subtractor</vt:lpstr>
      <vt:lpstr>2:1 Multiplexers</vt:lpstr>
      <vt:lpstr>4:1 Multiplexers</vt:lpstr>
      <vt:lpstr>4:1 Multiplexers using 2:1 Mux</vt:lpstr>
      <vt:lpstr>Multiplexer Tree : 8:1 using 4:1 Mux</vt:lpstr>
      <vt:lpstr>Multiplexer Tree …16:1 using 4:1 Mux</vt:lpstr>
      <vt:lpstr>Multiplexers 8:1 : IC 74151</vt:lpstr>
      <vt:lpstr>Dual 4:1 Mux  IC 74153</vt:lpstr>
      <vt:lpstr>Decoder</vt:lpstr>
      <vt:lpstr>2:4 Decoder</vt:lpstr>
      <vt:lpstr>Decoder with active low output</vt:lpstr>
      <vt:lpstr>Decoder with enable input</vt:lpstr>
      <vt:lpstr>Decoder Tree 3:8 decoder using 2:4</vt:lpstr>
      <vt:lpstr>IC 74138: 3:8 Decoder</vt:lpstr>
      <vt:lpstr>Function Implementation using Multiplexer</vt:lpstr>
      <vt:lpstr>Function Implementation using Multiplexer</vt:lpstr>
      <vt:lpstr>Function Implementation using Multiplexer</vt:lpstr>
      <vt:lpstr>Function Implementation using Multiplexer</vt:lpstr>
      <vt:lpstr>Function Implementation using Decoder </vt:lpstr>
      <vt:lpstr>Function Implementation using Decoder</vt:lpstr>
      <vt:lpstr>1 bit Comparator</vt:lpstr>
      <vt:lpstr> 2 bit Comparator</vt:lpstr>
      <vt:lpstr> 2 bit Comparator</vt:lpstr>
      <vt:lpstr>4 bit Comparator</vt:lpstr>
      <vt:lpstr>4 bit Comparator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Design Laboratory</dc:title>
  <dc:creator>Admin</dc:creator>
  <cp:lastModifiedBy>SNS</cp:lastModifiedBy>
  <cp:revision>67</cp:revision>
  <dcterms:created xsi:type="dcterms:W3CDTF">2025-08-08T05:28:27Z</dcterms:created>
  <dcterms:modified xsi:type="dcterms:W3CDTF">2026-03-02T05:52:17Z</dcterms:modified>
</cp:coreProperties>
</file>