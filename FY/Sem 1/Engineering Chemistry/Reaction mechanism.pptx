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93" r:id="rId31"/>
    <p:sldId id="285" r:id="rId32"/>
    <p:sldId id="286" r:id="rId33"/>
    <p:sldId id="287" r:id="rId34"/>
    <p:sldId id="288" r:id="rId35"/>
    <p:sldId id="289" r:id="rId36"/>
    <p:sldId id="290" r:id="rId37"/>
    <p:sldId id="291" r:id="rId38"/>
    <p:sldId id="292" r:id="rId39"/>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p:scale>
          <a:sx n="60" d="100"/>
          <a:sy n="60" d="100"/>
        </p:scale>
        <p:origin x="-1456" y="-1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11/6/2025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11/6/2025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11/6/2025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11/6/2025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11/6/2025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11/6/2025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11/6/2025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hyperlink" Target="https://www.google.com/search?sa=X&amp;sca_esv=94f04881634f051b&amp;rlz=1C1GCEU_enIN1060IN1060&amp;biw=1280&amp;bih=585&amp;q=Wurtz-Fittig+reaction&amp;ved=2ahUKEwiOy__E2teQAxWSSGcHHTfKIr0QxccNegQIFxAB&amp;mstk=AUtExfCgcdufca3UaiKnLKIwOg_tlVbmhCdVb6U_JZWhNagOEgIwl8MPgu1wYjQkMOYkKxhegIvUf0O0S2jY2DijXhsL2AuuPEs18p8La5efoHudMSVSLr1AreLoszvvJgN1eGV5GwcCu80DIAHb3yeSK4HHlQdLpS3VAzJWBz2VU2OKR4k_G5kBalXwjVzUCbqibyzIJMUrSHY7B8kUhghcPK69bksLWUENMFv_Q2ArTwBWDw&amp;csui=3" TargetMode="Externa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hyperlink" Target="https://www.google.com/search?sca_esv=eb68ead9e93085bb&amp;rlz=1C1GCEU_enIN1060IN1060&amp;q=Lewis+acid+catalyst&amp;source=lnms&amp;fbs=AIIjpHz2LkAPJDdeiKYzFgacvjxVmKaDDQLwycTxV2L0apBPyNTRLJN5Yi1fzSp12MAsxddz5xJE5w7Rju6k3BgvwaMAxUFdPcQCYbdHadzXLI5zkfzhKaIWL6NfHQAAtMmsYdt7maIDvVt2Blw83VaSjRK0vWAoycsDNvR36jLLEXIkQyptk0SFER6Tt8eujtruRBXwW4twrfl2fsCVB9dTQ0rrGWvrYG443rXPtPiRUigSLkFsVdI&amp;sa=X&amp;ved=2ahUKEwioyor8o92QAxWLoa8BHa24FEoQgK4QegYIAQgAEAY&amp;biw=1280&amp;bih=585&amp;dpr=1.5" TargetMode="Externa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IN" dirty="0" smtClean="0"/>
              <a:t>Reaction Mechanism</a:t>
            </a:r>
            <a:endParaRPr lang="en-IN" dirty="0"/>
          </a:p>
        </p:txBody>
      </p:sp>
      <p:sp>
        <p:nvSpPr>
          <p:cNvPr id="3" name="Subtitle 2"/>
          <p:cNvSpPr>
            <a:spLocks noGrp="1"/>
          </p:cNvSpPr>
          <p:nvPr>
            <p:ph type="subTitle" idx="1"/>
          </p:nvPr>
        </p:nvSpPr>
        <p:spPr/>
        <p:txBody>
          <a:bodyPr/>
          <a:lstStyle/>
          <a:p>
            <a:r>
              <a:rPr lang="en-IN" dirty="0" err="1" smtClean="0"/>
              <a:t>Dr.</a:t>
            </a:r>
            <a:r>
              <a:rPr lang="en-IN" dirty="0" smtClean="0"/>
              <a:t> </a:t>
            </a:r>
            <a:r>
              <a:rPr lang="en-IN" dirty="0" err="1" smtClean="0"/>
              <a:t>Druman</a:t>
            </a:r>
            <a:r>
              <a:rPr lang="en-IN" dirty="0" smtClean="0"/>
              <a:t> Ramesh </a:t>
            </a:r>
            <a:r>
              <a:rPr lang="en-IN" dirty="0" err="1" smtClean="0"/>
              <a:t>Utekar</a:t>
            </a:r>
            <a:endParaRPr lang="en-IN" dirty="0"/>
          </a:p>
        </p:txBody>
      </p:sp>
    </p:spTree>
    <p:extLst>
      <p:ext uri="{BB962C8B-B14F-4D97-AF65-F5344CB8AC3E}">
        <p14:creationId xmlns:p14="http://schemas.microsoft.com/office/powerpoint/2010/main" val="554690779"/>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Aldol condensation </a:t>
            </a:r>
            <a:endParaRPr lang="en-IN" dirty="0"/>
          </a:p>
        </p:txBody>
      </p:sp>
      <p:sp>
        <p:nvSpPr>
          <p:cNvPr id="3" name="Content Placeholder 2"/>
          <p:cNvSpPr>
            <a:spLocks noGrp="1"/>
          </p:cNvSpPr>
          <p:nvPr>
            <p:ph idx="1"/>
          </p:nvPr>
        </p:nvSpPr>
        <p:spPr/>
        <p:txBody>
          <a:bodyPr>
            <a:normAutofit lnSpcReduction="10000"/>
          </a:bodyPr>
          <a:lstStyle/>
          <a:p>
            <a:r>
              <a:rPr lang="en-US" dirty="0"/>
              <a:t>Aldol condensation is an organic reaction where two carbonyl compounds, typically aldehydes or ketones with an alpha-hydrogen, react to form a β-</a:t>
            </a:r>
            <a:r>
              <a:rPr lang="en-US" dirty="0" err="1"/>
              <a:t>hydroxy</a:t>
            </a:r>
            <a:r>
              <a:rPr lang="en-US" dirty="0"/>
              <a:t> aldehyde or ketone (the "aldol"). This initial product can then undergo a dehydration step to form an α,β-unsaturated carbonyl compound. The reaction requires a base or acid catalyst and involves an </a:t>
            </a:r>
            <a:r>
              <a:rPr lang="en-US" dirty="0" err="1"/>
              <a:t>enolate</a:t>
            </a:r>
            <a:r>
              <a:rPr lang="en-US" dirty="0"/>
              <a:t> ion intermediate to create a new carbon-carbon bond.</a:t>
            </a:r>
            <a:endParaRPr lang="en-IN" dirty="0"/>
          </a:p>
        </p:txBody>
      </p:sp>
    </p:spTree>
    <p:extLst>
      <p:ext uri="{BB962C8B-B14F-4D97-AF65-F5344CB8AC3E}">
        <p14:creationId xmlns:p14="http://schemas.microsoft.com/office/powerpoint/2010/main" val="46492732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4" name="AutoShape 2" descr="Aldol Condensation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027" name="Picture 3"/>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371600" y="457200"/>
            <a:ext cx="6218153" cy="21486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29" name="Picture 5" descr="crossed aldol condensation"/>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28799" y="2667000"/>
            <a:ext cx="6314661" cy="383931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13291127"/>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pic>
        <p:nvPicPr>
          <p:cNvPr id="2050"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762000" y="533400"/>
            <a:ext cx="7580822" cy="52157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13008890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pic>
        <p:nvPicPr>
          <p:cNvPr id="3074"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958086" y="1295400"/>
            <a:ext cx="6890514" cy="48958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22649244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M</a:t>
            </a:r>
            <a:r>
              <a:rPr lang="en-IN" dirty="0" smtClean="0"/>
              <a:t>echanism</a:t>
            </a:r>
            <a:endParaRPr lang="en-IN" dirty="0"/>
          </a:p>
        </p:txBody>
      </p:sp>
      <p:pic>
        <p:nvPicPr>
          <p:cNvPr id="4100" name="Picture 4" descr="Explain the mechanism of aldol condensati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3400" y="1524000"/>
            <a:ext cx="7604834" cy="5181600"/>
          </a:xfrm>
          <a:prstGeom prst="rect">
            <a:avLst/>
          </a:prstGeom>
          <a:noFill/>
          <a:extLst>
            <a:ext uri="{909E8E84-426E-40DD-AFC4-6F175D3DCCD1}">
              <a14:hiddenFill xmlns:a14="http://schemas.microsoft.com/office/drawing/2010/main">
                <a:solidFill>
                  <a:srgbClr val="FFFFFF"/>
                </a:solidFill>
              </a14:hiddenFill>
            </a:ext>
          </a:extLst>
        </p:spPr>
      </p:pic>
      <p:sp>
        <p:nvSpPr>
          <p:cNvPr id="4" name="Content Placeholder 3"/>
          <p:cNvSpPr>
            <a:spLocks noGrp="1"/>
          </p:cNvSpPr>
          <p:nvPr>
            <p:ph idx="1"/>
          </p:nvPr>
        </p:nvSpPr>
        <p:spPr/>
        <p:txBody>
          <a:bodyPr/>
          <a:lstStyle/>
          <a:p>
            <a:endParaRPr lang="en-IN" dirty="0"/>
          </a:p>
        </p:txBody>
      </p:sp>
    </p:spTree>
    <p:extLst>
      <p:ext uri="{BB962C8B-B14F-4D97-AF65-F5344CB8AC3E}">
        <p14:creationId xmlns:p14="http://schemas.microsoft.com/office/powerpoint/2010/main" val="310708916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pic>
        <p:nvPicPr>
          <p:cNvPr id="5122"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52400" y="228600"/>
            <a:ext cx="8827641" cy="58049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44768533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u="sng" dirty="0"/>
              <a:t>Baeyer-</a:t>
            </a:r>
            <a:r>
              <a:rPr lang="en-IN" u="sng" dirty="0" err="1"/>
              <a:t>Villiger</a:t>
            </a:r>
            <a:r>
              <a:rPr lang="en-IN" u="sng" dirty="0"/>
              <a:t> </a:t>
            </a:r>
            <a:r>
              <a:rPr lang="en-IN" u="sng" dirty="0" smtClean="0"/>
              <a:t>Oxidation</a:t>
            </a:r>
            <a:endParaRPr lang="en-IN" dirty="0"/>
          </a:p>
        </p:txBody>
      </p:sp>
      <p:sp>
        <p:nvSpPr>
          <p:cNvPr id="3" name="Content Placeholder 2"/>
          <p:cNvSpPr>
            <a:spLocks noGrp="1"/>
          </p:cNvSpPr>
          <p:nvPr>
            <p:ph idx="1"/>
          </p:nvPr>
        </p:nvSpPr>
        <p:spPr/>
        <p:txBody>
          <a:bodyPr>
            <a:normAutofit fontScale="85000" lnSpcReduction="10000"/>
          </a:bodyPr>
          <a:lstStyle/>
          <a:p>
            <a:r>
              <a:rPr lang="en-US" dirty="0"/>
              <a:t>The </a:t>
            </a:r>
            <a:r>
              <a:rPr lang="en-US" dirty="0" smtClean="0"/>
              <a:t>Baeyer-</a:t>
            </a:r>
            <a:r>
              <a:rPr lang="en-US" dirty="0" err="1" smtClean="0"/>
              <a:t>Villiger</a:t>
            </a:r>
            <a:r>
              <a:rPr lang="en-US" dirty="0" smtClean="0"/>
              <a:t> </a:t>
            </a:r>
            <a:r>
              <a:rPr lang="en-US" dirty="0"/>
              <a:t>oxidation, which is a chemical reaction that converts a ketone into an ester or a cyclic ketone into a lactone using a </a:t>
            </a:r>
            <a:r>
              <a:rPr lang="en-US" dirty="0" err="1"/>
              <a:t>peroxyacid</a:t>
            </a:r>
            <a:r>
              <a:rPr lang="en-US" dirty="0"/>
              <a:t>. </a:t>
            </a:r>
            <a:endParaRPr lang="en-US" dirty="0" smtClean="0"/>
          </a:p>
          <a:p>
            <a:r>
              <a:rPr lang="en-US" dirty="0" smtClean="0"/>
              <a:t>The </a:t>
            </a:r>
            <a:r>
              <a:rPr lang="en-US" dirty="0"/>
              <a:t>reaction involves inserting an oxygen atom between the carbonyl group and an adjacent carbon atom, with the specific group that migrates determined by its migratory aptitude (tertiary &gt; secondary &gt; phenyl &gt; primary &gt; methyl). </a:t>
            </a:r>
            <a:endParaRPr lang="en-US" dirty="0" smtClean="0"/>
          </a:p>
          <a:p>
            <a:r>
              <a:rPr lang="en-US" dirty="0" smtClean="0"/>
              <a:t>This </a:t>
            </a:r>
            <a:r>
              <a:rPr lang="en-US" dirty="0"/>
              <a:t>reaction is important in the synthesis of various organic compounds, including pharmaceuticals and flavors.  </a:t>
            </a:r>
            <a:endParaRPr lang="en-IN" dirty="0"/>
          </a:p>
        </p:txBody>
      </p:sp>
    </p:spTree>
    <p:extLst>
      <p:ext uri="{BB962C8B-B14F-4D97-AF65-F5344CB8AC3E}">
        <p14:creationId xmlns:p14="http://schemas.microsoft.com/office/powerpoint/2010/main" val="226114442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pic>
        <p:nvPicPr>
          <p:cNvPr id="6146" name="Picture 2"/>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2286000" y="152400"/>
            <a:ext cx="3269513" cy="65135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50777181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pic>
        <p:nvPicPr>
          <p:cNvPr id="7170"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381000" y="762000"/>
            <a:ext cx="7924800" cy="21132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72" name="Picture 4" descr="Baeyer-Villiger Oxidation - Chemistry Steps"/>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66800" y="2819400"/>
            <a:ext cx="6324600" cy="3892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82159795"/>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Examples</a:t>
            </a:r>
            <a:endParaRPr lang="en-IN" dirty="0"/>
          </a:p>
        </p:txBody>
      </p:sp>
      <p:pic>
        <p:nvPicPr>
          <p:cNvPr id="8194"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447800" y="1447800"/>
            <a:ext cx="6587527" cy="37833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547298156"/>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Dakin reaction</a:t>
            </a:r>
            <a:endParaRPr lang="en-IN" dirty="0"/>
          </a:p>
        </p:txBody>
      </p:sp>
      <p:sp>
        <p:nvSpPr>
          <p:cNvPr id="3" name="Content Placeholder 2"/>
          <p:cNvSpPr>
            <a:spLocks noGrp="1"/>
          </p:cNvSpPr>
          <p:nvPr>
            <p:ph idx="1"/>
          </p:nvPr>
        </p:nvSpPr>
        <p:spPr>
          <a:xfrm>
            <a:off x="457200" y="1600201"/>
            <a:ext cx="8229600" cy="2667000"/>
          </a:xfrm>
        </p:spPr>
        <p:txBody>
          <a:bodyPr>
            <a:normAutofit fontScale="77500" lnSpcReduction="20000"/>
          </a:bodyPr>
          <a:lstStyle/>
          <a:p>
            <a:r>
              <a:rPr lang="en-US" dirty="0"/>
              <a:t>The Dakin reaction is an organic chemical reaction where an </a:t>
            </a:r>
            <a:r>
              <a:rPr lang="en-US" dirty="0" err="1"/>
              <a:t>ortho</a:t>
            </a:r>
            <a:r>
              <a:rPr lang="en-US" dirty="0"/>
              <a:t>- or para-hydroxylated phenyl aldehyde or ketone is oxidized by hydrogen peroxide in a basic solution to produce a </a:t>
            </a:r>
            <a:r>
              <a:rPr lang="en-US" dirty="0" err="1"/>
              <a:t>benzenediol</a:t>
            </a:r>
            <a:r>
              <a:rPr lang="en-US" dirty="0"/>
              <a:t> and a carboxylate. </a:t>
            </a:r>
            <a:endParaRPr lang="en-US" dirty="0" smtClean="0"/>
          </a:p>
          <a:p>
            <a:r>
              <a:rPr lang="en-US" dirty="0" smtClean="0"/>
              <a:t>The </a:t>
            </a:r>
            <a:r>
              <a:rPr lang="en-US" dirty="0"/>
              <a:t>reaction involves a nucleophilic addition, an aryl migration, and a subsequent hydrolysis of an intermediate ester. This process converts the aldehyde or ketone group into a hydroxyl group. </a:t>
            </a:r>
            <a:endParaRPr lang="en-IN" dirty="0"/>
          </a:p>
        </p:txBody>
      </p:sp>
      <p:sp>
        <p:nvSpPr>
          <p:cNvPr id="4" name="AutoShape 2" descr="Dakin oxidation | Dakin reaction | organic reaction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9219"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49412" y="4114800"/>
            <a:ext cx="3638550" cy="2543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12401345"/>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3" name="Content Placeholder 2"/>
          <p:cNvSpPr>
            <a:spLocks noGrp="1"/>
          </p:cNvSpPr>
          <p:nvPr>
            <p:ph idx="1"/>
          </p:nvPr>
        </p:nvSpPr>
        <p:spPr/>
        <p:txBody>
          <a:bodyPr/>
          <a:lstStyle/>
          <a:p>
            <a:endParaRPr lang="en-IN" dirty="0"/>
          </a:p>
        </p:txBody>
      </p:sp>
      <p:pic>
        <p:nvPicPr>
          <p:cNvPr id="10242" name="Picture 2" descr="A new avenue to the Dakin reaction in H 2 O 2 –WERSA - RSC Advances (RSC  Publishing) DOI:10.1039/C5RA20133K"/>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52600" y="685800"/>
            <a:ext cx="5497689" cy="5486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975281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pic>
        <p:nvPicPr>
          <p:cNvPr id="11266"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38200" y="439253"/>
            <a:ext cx="7246857" cy="54281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90123972"/>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err="1" smtClean="0"/>
              <a:t>Haloform</a:t>
            </a:r>
            <a:r>
              <a:rPr lang="en-US" dirty="0" smtClean="0"/>
              <a:t> Reaction</a:t>
            </a:r>
            <a:endParaRPr lang="en-IN" dirty="0"/>
          </a:p>
        </p:txBody>
      </p:sp>
      <p:sp>
        <p:nvSpPr>
          <p:cNvPr id="3" name="Content Placeholder 2"/>
          <p:cNvSpPr>
            <a:spLocks noGrp="1"/>
          </p:cNvSpPr>
          <p:nvPr>
            <p:ph idx="1"/>
          </p:nvPr>
        </p:nvSpPr>
        <p:spPr/>
        <p:txBody>
          <a:bodyPr>
            <a:normAutofit fontScale="85000" lnSpcReduction="10000"/>
          </a:bodyPr>
          <a:lstStyle/>
          <a:p>
            <a:r>
              <a:rPr lang="en-US" dirty="0"/>
              <a:t>The </a:t>
            </a:r>
            <a:r>
              <a:rPr lang="en-US" dirty="0" err="1"/>
              <a:t>haloform</a:t>
            </a:r>
            <a:r>
              <a:rPr lang="en-US" dirty="0"/>
              <a:t> reaction is a chemical reaction where a methyl ketone or a methyl-bearing aldehyde is converted into a </a:t>
            </a:r>
            <a:r>
              <a:rPr lang="en-US" dirty="0" err="1"/>
              <a:t>haloform</a:t>
            </a:r>
            <a:r>
              <a:rPr lang="en-US" dirty="0"/>
              <a:t> </a:t>
            </a:r>
            <a:r>
              <a:rPr lang="en-US" dirty="0" smtClean="0"/>
              <a:t>(𝐶𝐻𝑋3) </a:t>
            </a:r>
            <a:r>
              <a:rPr lang="en-US" dirty="0"/>
              <a:t>and a carboxylate salt. </a:t>
            </a:r>
            <a:endParaRPr lang="en-US" dirty="0" smtClean="0"/>
          </a:p>
          <a:p>
            <a:r>
              <a:rPr lang="en-US" dirty="0" smtClean="0"/>
              <a:t>It </a:t>
            </a:r>
            <a:r>
              <a:rPr lang="en-US" dirty="0"/>
              <a:t>involves treating the organic compound with a halogen (such as chlorine, bromine, or iodine) in the presence of a strong base, like sodium hydroxide. </a:t>
            </a:r>
            <a:endParaRPr lang="en-US" dirty="0" smtClean="0"/>
          </a:p>
          <a:p>
            <a:r>
              <a:rPr lang="en-US" dirty="0" smtClean="0"/>
              <a:t>The </a:t>
            </a:r>
            <a:r>
              <a:rPr lang="en-US" dirty="0"/>
              <a:t>reaction works on compounds with a methyl group bonded to the carbonyl carbon, and the products are a </a:t>
            </a:r>
            <a:r>
              <a:rPr lang="en-US" dirty="0" err="1"/>
              <a:t>haloform</a:t>
            </a:r>
            <a:r>
              <a:rPr lang="en-US" dirty="0"/>
              <a:t> and the corresponding salt of the carboxylic acid</a:t>
            </a:r>
            <a:endParaRPr lang="en-IN" dirty="0"/>
          </a:p>
        </p:txBody>
      </p:sp>
    </p:spTree>
    <p:extLst>
      <p:ext uri="{BB962C8B-B14F-4D97-AF65-F5344CB8AC3E}">
        <p14:creationId xmlns:p14="http://schemas.microsoft.com/office/powerpoint/2010/main" val="2604380906"/>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pic>
        <p:nvPicPr>
          <p:cNvPr id="12290"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28600" y="838200"/>
            <a:ext cx="8539886" cy="3729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52291836"/>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M</a:t>
            </a:r>
            <a:r>
              <a:rPr lang="en-IN" dirty="0" smtClean="0"/>
              <a:t>echanism</a:t>
            </a:r>
            <a:endParaRPr lang="en-IN" dirty="0"/>
          </a:p>
        </p:txBody>
      </p:sp>
      <p:sp>
        <p:nvSpPr>
          <p:cNvPr id="4" name="Content Placeholder 3"/>
          <p:cNvSpPr>
            <a:spLocks noGrp="1"/>
          </p:cNvSpPr>
          <p:nvPr>
            <p:ph idx="1"/>
          </p:nvPr>
        </p:nvSpPr>
        <p:spPr/>
        <p:txBody>
          <a:bodyPr/>
          <a:lstStyle/>
          <a:p>
            <a:endParaRPr lang="en-IN" dirty="0"/>
          </a:p>
        </p:txBody>
      </p:sp>
      <p:pic>
        <p:nvPicPr>
          <p:cNvPr id="13316" name="Picture 4" descr="Haloform Reaction"/>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71600" y="1447800"/>
            <a:ext cx="6248400" cy="51380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62581544"/>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pic>
        <p:nvPicPr>
          <p:cNvPr id="14338"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990600" y="1676400"/>
            <a:ext cx="6228750" cy="3124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020199791"/>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err="1" smtClean="0"/>
              <a:t>Sharpless</a:t>
            </a:r>
            <a:r>
              <a:rPr lang="en-IN" dirty="0" smtClean="0"/>
              <a:t> Epoxidation</a:t>
            </a:r>
            <a:endParaRPr lang="en-IN" dirty="0"/>
          </a:p>
        </p:txBody>
      </p:sp>
      <p:sp>
        <p:nvSpPr>
          <p:cNvPr id="3" name="Content Placeholder 2"/>
          <p:cNvSpPr>
            <a:spLocks noGrp="1"/>
          </p:cNvSpPr>
          <p:nvPr>
            <p:ph idx="1"/>
          </p:nvPr>
        </p:nvSpPr>
        <p:spPr/>
        <p:txBody>
          <a:bodyPr/>
          <a:lstStyle/>
          <a:p>
            <a:r>
              <a:rPr lang="en-IN" dirty="0"/>
              <a:t>The </a:t>
            </a:r>
            <a:r>
              <a:rPr lang="en-IN" dirty="0" err="1"/>
              <a:t>Sharpless</a:t>
            </a:r>
            <a:r>
              <a:rPr lang="en-IN" dirty="0"/>
              <a:t> epoxidation reaction is an enantioselective chemical reaction to prepare 2,3-epoxyalcohols from primary and secondary allylic alcohols. The oxidizing agent is </a:t>
            </a:r>
            <a:r>
              <a:rPr lang="en-IN" dirty="0" err="1"/>
              <a:t>tert</a:t>
            </a:r>
            <a:r>
              <a:rPr lang="en-IN" dirty="0"/>
              <a:t>-butyl </a:t>
            </a:r>
            <a:r>
              <a:rPr lang="en-IN" dirty="0" err="1"/>
              <a:t>hydroperoxide</a:t>
            </a:r>
            <a:r>
              <a:rPr lang="en-IN" dirty="0"/>
              <a:t>. The method relies on a catalyst formed from titanium tetra(</a:t>
            </a:r>
            <a:r>
              <a:rPr lang="en-IN" dirty="0" err="1"/>
              <a:t>isopropoxide</a:t>
            </a:r>
            <a:r>
              <a:rPr lang="en-IN" dirty="0"/>
              <a:t>) and diethyl tartrate.</a:t>
            </a:r>
          </a:p>
        </p:txBody>
      </p:sp>
    </p:spTree>
    <p:extLst>
      <p:ext uri="{BB962C8B-B14F-4D97-AF65-F5344CB8AC3E}">
        <p14:creationId xmlns:p14="http://schemas.microsoft.com/office/powerpoint/2010/main" val="392085370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pic>
        <p:nvPicPr>
          <p:cNvPr id="1026"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371600" y="1143000"/>
            <a:ext cx="6634151" cy="4339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402726677"/>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a:t>M</a:t>
            </a:r>
            <a:r>
              <a:rPr lang="en-IN" dirty="0" smtClean="0"/>
              <a:t>echanism</a:t>
            </a:r>
            <a:endParaRPr lang="en-IN" dirty="0"/>
          </a:p>
        </p:txBody>
      </p:sp>
      <p:pic>
        <p:nvPicPr>
          <p:cNvPr id="2050"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565796" y="2057400"/>
            <a:ext cx="7776437" cy="3505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77479223"/>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3" name="Content Placeholder 2"/>
          <p:cNvSpPr>
            <a:spLocks noGrp="1"/>
          </p:cNvSpPr>
          <p:nvPr>
            <p:ph idx="1"/>
          </p:nvPr>
        </p:nvSpPr>
        <p:spPr/>
        <p:txBody>
          <a:bodyPr/>
          <a:lstStyle/>
          <a:p>
            <a:endParaRPr lang="en-IN" dirty="0"/>
          </a:p>
        </p:txBody>
      </p:sp>
      <p:pic>
        <p:nvPicPr>
          <p:cNvPr id="3076" name="Picture 4" descr="Utility"/>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47800" y="914400"/>
            <a:ext cx="5991225" cy="51816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33254314"/>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err="1" smtClean="0"/>
              <a:t>Wurtz</a:t>
            </a:r>
            <a:r>
              <a:rPr lang="en-IN" dirty="0" smtClean="0"/>
              <a:t> Synthesis</a:t>
            </a:r>
            <a:endParaRPr lang="en-IN" dirty="0"/>
          </a:p>
        </p:txBody>
      </p:sp>
      <p:sp>
        <p:nvSpPr>
          <p:cNvPr id="3" name="Content Placeholder 2"/>
          <p:cNvSpPr>
            <a:spLocks noGrp="1"/>
          </p:cNvSpPr>
          <p:nvPr>
            <p:ph idx="1"/>
          </p:nvPr>
        </p:nvSpPr>
        <p:spPr/>
        <p:txBody>
          <a:bodyPr/>
          <a:lstStyle/>
          <a:p>
            <a:r>
              <a:rPr lang="en-US" dirty="0" err="1"/>
              <a:t>Wurtz</a:t>
            </a:r>
            <a:r>
              <a:rPr lang="en-US" dirty="0"/>
              <a:t> synthesis is a reaction that couples two alkyl halides with sodium metal to form a higher alkane, often a symmetrical one. It is performed using dry ether as a solvent to prevent unwanted side reactions. A variation, the </a:t>
            </a:r>
            <a:r>
              <a:rPr lang="en-US" dirty="0" err="1">
                <a:hlinkClick r:id="rId2"/>
              </a:rPr>
              <a:t>Wurtz-Fittig</a:t>
            </a:r>
            <a:r>
              <a:rPr lang="en-US" dirty="0">
                <a:hlinkClick r:id="rId2"/>
              </a:rPr>
              <a:t> reaction</a:t>
            </a:r>
            <a:r>
              <a:rPr lang="en-US" dirty="0"/>
              <a:t>, couples an alkyl halide with an aryl halide to produce substituted aromatic compounds.</a:t>
            </a:r>
            <a:endParaRPr lang="en-IN" dirty="0"/>
          </a:p>
        </p:txBody>
      </p:sp>
    </p:spTree>
    <p:extLst>
      <p:ext uri="{BB962C8B-B14F-4D97-AF65-F5344CB8AC3E}">
        <p14:creationId xmlns:p14="http://schemas.microsoft.com/office/powerpoint/2010/main" val="3948910376"/>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pic>
        <p:nvPicPr>
          <p:cNvPr id="4098"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548922" y="1600200"/>
            <a:ext cx="8046156" cy="45259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85436772"/>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IN" dirty="0" smtClean="0"/>
              <a:t>Mechanism</a:t>
            </a:r>
            <a:endParaRPr lang="en-IN" dirty="0"/>
          </a:p>
        </p:txBody>
      </p:sp>
      <p:pic>
        <p:nvPicPr>
          <p:cNvPr id="5122"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457200" y="2209800"/>
            <a:ext cx="6632049" cy="31329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594031812"/>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pic>
        <p:nvPicPr>
          <p:cNvPr id="6146"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371600" y="685800"/>
            <a:ext cx="6096000" cy="5710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690594720"/>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err="1" smtClean="0"/>
              <a:t>Benzil</a:t>
            </a:r>
            <a:r>
              <a:rPr lang="en-IN" dirty="0" smtClean="0"/>
              <a:t> </a:t>
            </a:r>
            <a:r>
              <a:rPr lang="en-IN" dirty="0" err="1" smtClean="0"/>
              <a:t>Benzilic</a:t>
            </a:r>
            <a:r>
              <a:rPr lang="en-IN" dirty="0" smtClean="0"/>
              <a:t> acid rearrangement</a:t>
            </a:r>
            <a:endParaRPr lang="en-IN" dirty="0"/>
          </a:p>
        </p:txBody>
      </p:sp>
      <p:sp>
        <p:nvSpPr>
          <p:cNvPr id="3" name="Content Placeholder 2"/>
          <p:cNvSpPr>
            <a:spLocks noGrp="1"/>
          </p:cNvSpPr>
          <p:nvPr>
            <p:ph idx="1"/>
          </p:nvPr>
        </p:nvSpPr>
        <p:spPr/>
        <p:txBody>
          <a:bodyPr>
            <a:normAutofit lnSpcReduction="10000"/>
          </a:bodyPr>
          <a:lstStyle/>
          <a:p>
            <a:r>
              <a:rPr lang="en-US" dirty="0"/>
              <a:t>The </a:t>
            </a:r>
            <a:r>
              <a:rPr lang="en-US" dirty="0" err="1"/>
              <a:t>benzil</a:t>
            </a:r>
            <a:r>
              <a:rPr lang="en-US" dirty="0"/>
              <a:t> </a:t>
            </a:r>
            <a:r>
              <a:rPr lang="en-US" dirty="0" err="1"/>
              <a:t>benzilic</a:t>
            </a:r>
            <a:r>
              <a:rPr lang="en-US" dirty="0"/>
              <a:t> acid rearrangement is a base-catalyzed reaction where a 1,2-diketone, like </a:t>
            </a:r>
            <a:r>
              <a:rPr lang="en-US" dirty="0" err="1"/>
              <a:t>benzil</a:t>
            </a:r>
            <a:r>
              <a:rPr lang="en-US" dirty="0"/>
              <a:t>, rearranges to form an α-</a:t>
            </a:r>
            <a:r>
              <a:rPr lang="en-US" dirty="0" err="1"/>
              <a:t>hydroxycarboxylic</a:t>
            </a:r>
            <a:r>
              <a:rPr lang="en-US" dirty="0"/>
              <a:t> acid. This classic organic reaction involves a strong base (like KOH) attacking one of the carbonyl groups, followed by a 1,2-migration of an aryl group and proton transfer, ultimately producing the rearranged carboxylate salt, which can be acidified to form the final acid product. </a:t>
            </a:r>
            <a:endParaRPr lang="en-IN" dirty="0"/>
          </a:p>
        </p:txBody>
      </p:sp>
    </p:spTree>
    <p:extLst>
      <p:ext uri="{BB962C8B-B14F-4D97-AF65-F5344CB8AC3E}">
        <p14:creationId xmlns:p14="http://schemas.microsoft.com/office/powerpoint/2010/main" val="139174300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pic>
        <p:nvPicPr>
          <p:cNvPr id="7170"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371600" y="381000"/>
            <a:ext cx="6185181" cy="1885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AutoShape 4" descr="Benzil benzilic acid rearrangement ..."/>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7177" name="Picture 9" descr="Benzil benzilic acid rearrangement"/>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4540" y="2514600"/>
            <a:ext cx="8286750" cy="37052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6889818"/>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pic>
        <p:nvPicPr>
          <p:cNvPr id="4" name="Picture 7" descr="benzil benzilic acid rearrangement mechanism&#10;benzil benzilic acid rearrangement pdf&#10;benzilic acid rearrangement mechanism"/>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0" y="685800"/>
            <a:ext cx="8789002" cy="486330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3619324"/>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Examples</a:t>
            </a:r>
            <a:endParaRPr lang="en-IN" dirty="0"/>
          </a:p>
        </p:txBody>
      </p:sp>
      <p:pic>
        <p:nvPicPr>
          <p:cNvPr id="7170"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209800" y="1371600"/>
            <a:ext cx="4953000" cy="19018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AutoShape 4" descr="Benzil benzilic acid rearrangement | PPTX"/>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7173" name="Picture 5"/>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28800" y="3352800"/>
            <a:ext cx="6019800" cy="3386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0038316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err="1" smtClean="0"/>
              <a:t>Pinacol</a:t>
            </a:r>
            <a:r>
              <a:rPr lang="en-US" dirty="0" smtClean="0"/>
              <a:t> </a:t>
            </a:r>
            <a:r>
              <a:rPr lang="en-US" dirty="0"/>
              <a:t>to </a:t>
            </a:r>
            <a:r>
              <a:rPr lang="en-US" dirty="0" err="1" smtClean="0"/>
              <a:t>Pinacolone</a:t>
            </a:r>
            <a:r>
              <a:rPr lang="en-US" dirty="0" smtClean="0"/>
              <a:t> </a:t>
            </a:r>
            <a:r>
              <a:rPr lang="en-US" dirty="0"/>
              <a:t>rearrangement</a:t>
            </a:r>
            <a:endParaRPr lang="en-IN" dirty="0"/>
          </a:p>
        </p:txBody>
      </p:sp>
      <p:sp>
        <p:nvSpPr>
          <p:cNvPr id="3" name="Content Placeholder 2"/>
          <p:cNvSpPr>
            <a:spLocks noGrp="1"/>
          </p:cNvSpPr>
          <p:nvPr>
            <p:ph idx="1"/>
          </p:nvPr>
        </p:nvSpPr>
        <p:spPr/>
        <p:txBody>
          <a:bodyPr>
            <a:normAutofit lnSpcReduction="10000"/>
          </a:bodyPr>
          <a:lstStyle/>
          <a:p>
            <a:r>
              <a:rPr lang="en-US" dirty="0"/>
              <a:t>The </a:t>
            </a:r>
            <a:r>
              <a:rPr lang="en-US" dirty="0" err="1"/>
              <a:t>pinacol</a:t>
            </a:r>
            <a:r>
              <a:rPr lang="en-US" dirty="0"/>
              <a:t> to </a:t>
            </a:r>
            <a:r>
              <a:rPr lang="en-US" dirty="0" err="1"/>
              <a:t>pinacolone</a:t>
            </a:r>
            <a:r>
              <a:rPr lang="en-US" dirty="0"/>
              <a:t> rearrangement is an acid-catalyzed reaction where a 1,2-diol (</a:t>
            </a:r>
            <a:r>
              <a:rPr lang="en-US" dirty="0" err="1"/>
              <a:t>pinacol</a:t>
            </a:r>
            <a:r>
              <a:rPr lang="en-US" dirty="0"/>
              <a:t>) is converted into a carbonyl compound (ketone) by eliminating water and undergoing a molecular rearrangement. The mechanism involves protonation of one hydroxyl group, loss of water to form a carbocation, a 1,2-alkyl shift to form a more stable carbocation, and finally, deprotonation to yield the ketone product.  </a:t>
            </a:r>
            <a:endParaRPr lang="en-IN" dirty="0"/>
          </a:p>
        </p:txBody>
      </p:sp>
    </p:spTree>
    <p:extLst>
      <p:ext uri="{BB962C8B-B14F-4D97-AF65-F5344CB8AC3E}">
        <p14:creationId xmlns:p14="http://schemas.microsoft.com/office/powerpoint/2010/main" val="7014278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dirty="0"/>
          </a:p>
        </p:txBody>
      </p:sp>
      <p:pic>
        <p:nvPicPr>
          <p:cNvPr id="1026"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228600" y="685800"/>
            <a:ext cx="8382000" cy="24380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082137293"/>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Mechanism</a:t>
            </a:r>
            <a:endParaRPr lang="en-IN" dirty="0"/>
          </a:p>
        </p:txBody>
      </p:sp>
      <p:pic>
        <p:nvPicPr>
          <p:cNvPr id="2050"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457200" y="1828800"/>
            <a:ext cx="8172594" cy="3581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955972314"/>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sp>
        <p:nvSpPr>
          <p:cNvPr id="4" name="Content Placeholder 3"/>
          <p:cNvSpPr>
            <a:spLocks noGrp="1"/>
          </p:cNvSpPr>
          <p:nvPr>
            <p:ph idx="1"/>
          </p:nvPr>
        </p:nvSpPr>
        <p:spPr/>
        <p:txBody>
          <a:bodyPr/>
          <a:lstStyle/>
          <a:p>
            <a:endParaRPr lang="en-IN" dirty="0"/>
          </a:p>
        </p:txBody>
      </p:sp>
      <p:pic>
        <p:nvPicPr>
          <p:cNvPr id="3077"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43113" y="781050"/>
            <a:ext cx="5057775" cy="529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82356488"/>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Fries Rearrangement</a:t>
            </a:r>
            <a:endParaRPr lang="en-IN" dirty="0"/>
          </a:p>
        </p:txBody>
      </p:sp>
      <p:sp>
        <p:nvSpPr>
          <p:cNvPr id="3" name="Content Placeholder 2"/>
          <p:cNvSpPr>
            <a:spLocks noGrp="1"/>
          </p:cNvSpPr>
          <p:nvPr>
            <p:ph idx="1"/>
          </p:nvPr>
        </p:nvSpPr>
        <p:spPr/>
        <p:txBody>
          <a:bodyPr>
            <a:normAutofit fontScale="92500" lnSpcReduction="20000"/>
          </a:bodyPr>
          <a:lstStyle/>
          <a:p>
            <a:r>
              <a:rPr lang="en-US" dirty="0" smtClean="0"/>
              <a:t>The </a:t>
            </a:r>
            <a:r>
              <a:rPr lang="en-US" dirty="0"/>
              <a:t>Fries rearrangement is an organic reaction where an aryl ester is converted into a </a:t>
            </a:r>
            <a:r>
              <a:rPr lang="en-US" dirty="0" err="1"/>
              <a:t>hydroxy</a:t>
            </a:r>
            <a:r>
              <a:rPr lang="en-US" dirty="0"/>
              <a:t> aryl ketone by the migration of an acyl group to the aryl ring, using a </a:t>
            </a:r>
            <a:r>
              <a:rPr lang="en-US" dirty="0">
                <a:hlinkClick r:id="rId2"/>
              </a:rPr>
              <a:t>Lewis acid catalyst</a:t>
            </a:r>
            <a:r>
              <a:rPr lang="en-US" dirty="0"/>
              <a:t> </a:t>
            </a:r>
            <a:r>
              <a:rPr lang="en-US" dirty="0" smtClean="0"/>
              <a:t>like 3𝐴𝑙𝐶𝑙</a:t>
            </a:r>
            <a:r>
              <a:rPr lang="en-US" dirty="0"/>
              <a:t>3</a:t>
            </a:r>
          </a:p>
          <a:p>
            <a:r>
              <a:rPr lang="en-US" dirty="0" smtClean="0"/>
              <a:t>This </a:t>
            </a:r>
            <a:r>
              <a:rPr lang="en-US" dirty="0"/>
              <a:t>reaction is selective for the </a:t>
            </a:r>
            <a:r>
              <a:rPr lang="en-US" dirty="0" err="1"/>
              <a:t>ortho</a:t>
            </a:r>
            <a:r>
              <a:rPr lang="en-US" dirty="0"/>
              <a:t> and para positions on the aryl ring, and the product ratio can be controlled by adjusting reaction conditions like temperature. Lower temperatures favor the para product, while higher temperatures favor the </a:t>
            </a:r>
            <a:r>
              <a:rPr lang="en-US" dirty="0" err="1"/>
              <a:t>ortho</a:t>
            </a:r>
            <a:r>
              <a:rPr lang="en-US" dirty="0"/>
              <a:t> product. </a:t>
            </a:r>
            <a:endParaRPr lang="en-IN" dirty="0"/>
          </a:p>
        </p:txBody>
      </p:sp>
    </p:spTree>
    <p:extLst>
      <p:ext uri="{BB962C8B-B14F-4D97-AF65-F5344CB8AC3E}">
        <p14:creationId xmlns:p14="http://schemas.microsoft.com/office/powerpoint/2010/main" val="2713873087"/>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pic>
        <p:nvPicPr>
          <p:cNvPr id="4098"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948927" y="584200"/>
            <a:ext cx="7467601" cy="4978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563774404"/>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en-IN"/>
          </a:p>
        </p:txBody>
      </p:sp>
      <p:pic>
        <p:nvPicPr>
          <p:cNvPr id="5122"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914400" y="303117"/>
            <a:ext cx="6705600" cy="6526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57356540"/>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dirty="0" smtClean="0"/>
              <a:t>Applications</a:t>
            </a:r>
            <a:endParaRPr lang="en-IN" dirty="0"/>
          </a:p>
        </p:txBody>
      </p:sp>
      <p:pic>
        <p:nvPicPr>
          <p:cNvPr id="6146" name="Picture 2"/>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52400" y="1371600"/>
            <a:ext cx="8461455" cy="2332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94099817"/>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6992</TotalTime>
  <Words>242</Words>
  <Application>Microsoft Office PowerPoint</Application>
  <PresentationFormat>On-screen Show (4:3)</PresentationFormat>
  <Paragraphs>34</Paragraphs>
  <Slides>38</Slides>
  <Notes>0</Notes>
  <HiddenSlides>0</HiddenSlides>
  <MMClips>0</MMClips>
  <ScaleCrop>false</ScaleCrop>
  <HeadingPairs>
    <vt:vector size="4" baseType="variant">
      <vt:variant>
        <vt:lpstr>Theme</vt:lpstr>
      </vt:variant>
      <vt:variant>
        <vt:i4>1</vt:i4>
      </vt:variant>
      <vt:variant>
        <vt:lpstr>Slide Titles</vt:lpstr>
      </vt:variant>
      <vt:variant>
        <vt:i4>38</vt:i4>
      </vt:variant>
    </vt:vector>
  </HeadingPairs>
  <TitlesOfParts>
    <vt:vector size="39" baseType="lpstr">
      <vt:lpstr>Office Theme</vt:lpstr>
      <vt:lpstr>Reaction Mechanism</vt:lpstr>
      <vt:lpstr>Aldol condensation </vt:lpstr>
      <vt:lpstr>PowerPoint Presentation</vt:lpstr>
      <vt:lpstr>PowerPoint Presentation</vt:lpstr>
      <vt:lpstr>PowerPoint Presentation</vt:lpstr>
      <vt:lpstr>Mechanism</vt:lpstr>
      <vt:lpstr>PowerPoint Presentation</vt:lpstr>
      <vt:lpstr>Baeyer-Villiger Oxidation</vt:lpstr>
      <vt:lpstr>PowerPoint Presentation</vt:lpstr>
      <vt:lpstr>PowerPoint Presentation</vt:lpstr>
      <vt:lpstr>Examples</vt:lpstr>
      <vt:lpstr>Dakin reaction</vt:lpstr>
      <vt:lpstr>PowerPoint Presentation</vt:lpstr>
      <vt:lpstr>PowerPoint Presentation</vt:lpstr>
      <vt:lpstr>Haloform Reaction</vt:lpstr>
      <vt:lpstr>PowerPoint Presentation</vt:lpstr>
      <vt:lpstr>Mechanism</vt:lpstr>
      <vt:lpstr>PowerPoint Presentation</vt:lpstr>
      <vt:lpstr>Sharpless Epoxidation</vt:lpstr>
      <vt:lpstr>PowerPoint Presentation</vt:lpstr>
      <vt:lpstr>Mechanism</vt:lpstr>
      <vt:lpstr>PowerPoint Presentation</vt:lpstr>
      <vt:lpstr>Wurtz Synthesis</vt:lpstr>
      <vt:lpstr>PowerPoint Presentation</vt:lpstr>
      <vt:lpstr>Mechanism</vt:lpstr>
      <vt:lpstr>PowerPoint Presentation</vt:lpstr>
      <vt:lpstr>Benzil Benzilic acid rearrangement</vt:lpstr>
      <vt:lpstr>PowerPoint Presentation</vt:lpstr>
      <vt:lpstr>PowerPoint Presentation</vt:lpstr>
      <vt:lpstr>Examples</vt:lpstr>
      <vt:lpstr>Pinacol to Pinacolone rearrangement</vt:lpstr>
      <vt:lpstr>PowerPoint Presentation</vt:lpstr>
      <vt:lpstr>Mechanism</vt:lpstr>
      <vt:lpstr>PowerPoint Presentation</vt:lpstr>
      <vt:lpstr>Fries Rearrangement</vt:lpstr>
      <vt:lpstr>PowerPoint Presentation</vt:lpstr>
      <vt:lpstr>PowerPoint Presentation</vt:lpstr>
      <vt:lpstr>Applications</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Reaction Mechanism</dc:title>
  <dc:creator>Admin</dc:creator>
  <cp:lastModifiedBy>Admin</cp:lastModifiedBy>
  <cp:revision>16</cp:revision>
  <dcterms:created xsi:type="dcterms:W3CDTF">2006-08-16T00:00:00Z</dcterms:created>
  <dcterms:modified xsi:type="dcterms:W3CDTF">2025-11-10T03:47:07Z</dcterms:modified>
</cp:coreProperties>
</file>