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ink/ink1.xml" ContentType="application/inkml+xml"/>
  <Override PartName="/ppt/notesSlides/notesSlide9.xml" ContentType="application/vnd.openxmlformats-officedocument.presentationml.notesSlide+xml"/>
  <Override PartName="/ppt/ink/ink2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85" r:id="rId2"/>
    <p:sldId id="258" r:id="rId3"/>
    <p:sldId id="259" r:id="rId4"/>
    <p:sldId id="286" r:id="rId5"/>
    <p:sldId id="260" r:id="rId6"/>
    <p:sldId id="261" r:id="rId7"/>
    <p:sldId id="269" r:id="rId8"/>
    <p:sldId id="287" r:id="rId9"/>
    <p:sldId id="289" r:id="rId10"/>
    <p:sldId id="288" r:id="rId11"/>
    <p:sldId id="262" r:id="rId12"/>
    <p:sldId id="299" r:id="rId13"/>
    <p:sldId id="290" r:id="rId14"/>
    <p:sldId id="264" r:id="rId15"/>
    <p:sldId id="265" r:id="rId16"/>
    <p:sldId id="292" r:id="rId17"/>
    <p:sldId id="291" r:id="rId18"/>
    <p:sldId id="293" r:id="rId19"/>
    <p:sldId id="266" r:id="rId20"/>
    <p:sldId id="267" r:id="rId21"/>
    <p:sldId id="296" r:id="rId22"/>
    <p:sldId id="300" r:id="rId23"/>
    <p:sldId id="270" r:id="rId24"/>
    <p:sldId id="271" r:id="rId25"/>
    <p:sldId id="281" r:id="rId26"/>
    <p:sldId id="294" r:id="rId27"/>
    <p:sldId id="272" r:id="rId28"/>
    <p:sldId id="297" r:id="rId29"/>
    <p:sldId id="273" r:id="rId30"/>
    <p:sldId id="274" r:id="rId31"/>
    <p:sldId id="275" r:id="rId32"/>
    <p:sldId id="276" r:id="rId33"/>
    <p:sldId id="277" r:id="rId34"/>
    <p:sldId id="279" r:id="rId35"/>
    <p:sldId id="284" r:id="rId36"/>
    <p:sldId id="280" r:id="rId37"/>
    <p:sldId id="295" r:id="rId38"/>
    <p:sldId id="282" r:id="rId39"/>
    <p:sldId id="283" r:id="rId4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2" d="100"/>
          <a:sy n="62" d="100"/>
        </p:scale>
        <p:origin x="-1324" y="-6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248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</inkml:traceFormat>
        <inkml:channelProperties>
          <inkml:channelProperty channel="X" name="resolution" value="62.13592" units="1/cm"/>
          <inkml:channelProperty channel="Y" name="resolution" value="62.06897" units="1/cm"/>
        </inkml:channelProperties>
      </inkml:inkSource>
      <inkml:timestamp xml:id="ts0" timeString="2025-12-01T07:06:08.39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7462 8343,'-36'0,"19"0,-1 0,0 0,1 0,-1 0,0 0,-17 0,18 0,-1 0,-17 0,17 0,0 0,-35 35,18 1,0-1,17 0,-17 1,-18-1,35-17,1 34,17-34,0 17,-18-17,1 53,-1-19,18-16,-18-1,18 36,0-54,0 18,0 1,0 17,0-18,0 18,0-18,0 0,0 18,0 18,0-36,0 36,0-18,0-18,0 18,0 0,0-18,0 0,0 1,0-19,18 19,-18-1,18 0,-18 0,17 18,-17-17,18 16,-18-34,0 17,17 36,1-36,17-17,-17 17,17 0,1 54,34-19,-17 1,18-36,17 0,-35 1,-18-1,36 18,-36-36,0-17,-17 0,17 0,0 0,-17 0,0 0,-1 0,1 0,-1 0,19 0,-19 0,36 0,-17 0,-19 0,1 0,-1-17,36-36,-17 18,-19-1,19-17,-19 36,1-19,0-16,-18-1,35 0,-35 35,0-17,0-1,0 1,0 0,17 17,-17-17,0 17,18-17,-18-18,18-17,-18-36,0 35,0 36,0-18,0 0,-18 0,0 18,-17-53,0 35,17-18,18 36,0 0,-17-1,17 19,-18-36,0 35,-17-35,17 18,-17-18,35 18,-18-36,1 18,-1 0,18 36,-17-54,17 36,-18 17,18 1,0-1,-18 0,1 1,-19-1,19-17,17 17,-18 1,0-1,-17-17,18 17,-1-17,-35 17,18 0,-1 1,-16-1,16 18,19-17,-1 17,0-18,1 18,-19 0,36-35,-35 35,17 0,1 0,-1 0,1 0,-1 0,0 0,1 0,-19 0</inkml:trace>
  <inkml:trace contextRef="#ctx0" brushRef="#br0" timeOffset="3717.1063">7038 9684,'18'0,"0"0,17-18,18-35,123 18,106-36,-52 18,-1 1,-123 52,-36 0,1-53,52 53,-17-36,53 19,-18 17,-35 0,17-18,-52 18,-18 0,17 0,-34 0,34 0,-17 0,-35 0,17 0,36 0,-36 0,0 0,-17 0,52 35,-52-17,0-18,35 53,-36-35,1-1,-18 1,17-18,1 17,0 19,-1 17,-17-36,36 19,-19-1,-17-18,0 19,0-1,0 0,0-17,0 17,0-17,0 17,0-17,0 17,0-17,0 52,0-52,0 17,0-17,0 17,0 0,0-17,0 0,-17 17,-1-17,-17-1,-1 54,-34-18,17-18,18 36,-36-36,18-18,18 19,0 17,-71-18,0 0,0 0,0 18,36-35,-36 0,18 17,0-35,17 18,36-18,-1 17,-34-17,-1 0,-17 18,53-18,-36 0,-17 0,0 0,0 0,17 0,1 0,17 0,35 0,-17 0,0 0,-1 0,1 0,0 0,17-18,18 1,-18-1,1 0,-36-17,18 0,35 17,-36-35,36 36,-35-19,17 19,18-19,-17 19,-1-19,-17 19,0-18,35-1,-53 1,35 0,-17-1,17 1,18 17,-18-17,1 18,-1-1,-17-17,35 17,-18 18,18-18,-17 1,17-19,-18 19,18-1,0 1,-18-36,18 35,0 0,0 1,0-1,0 0,0 1,0-18,0 17,0 0,0 1,18 17,-18-18,18 18,-1-18,19 1,-36-1</inkml:trace>
  <inkml:trace contextRef="#ctx0" brushRef="#br0" timeOffset="8017.3899">6315 10654,'0'18,"18"-1,70 1,18 35,35-18,-35 0,17-17,-35-18,18 18,0-18,-18 0,-35 0,18 0,17 0,53 0,-18-18,-34 0,-1-17,35 0,-34-1,-54 36,-18 0,19 0,-19-17,19 17,-36-18,35-35,0-17,0-71,1 52,-36 36,17-17,-17 52,0-17,0 0,0 17,0-17,0-36,0 1,-17-18,-36-1,0 19,-88-89,70 88,1 19,34 34,-52-35,53 18,0 17,-1 0,1 18,0 0,0 0,-18 0,35 0,-53 0,-17-17,53 17,0 0,-1 0,-52 0,18 0,-19 0,37 0,16 0,1 0,0 0,-1 0,1 0,0 0,0 0,-36 17,0 1,1 0,-1-1,36 19,-88-1,17-17,35 17,-17-18,17 19,36-19,0 1,0-18,-1 18,1-18,17 17,-52 19,-1-19,-17 1,53-18,0 17,17-17,-17 0,-18 0,35 36,0-36,-52 17,-1-17,18 18,18-18,-18 18,18-18,0 17,17-17,0 0,1 0,17 18,-18-18,-17 18,35-1,0 1,0 0,0 17,0-18,0 19,0-1,0 18,0-18,0-17,18-1,-1 19,1 34,-1-34,1-19,0 18,-1 18,19 0,17 0,-18 18,0-18,18 0,0-18,-18-17,18 17,-35-18,-1 19,54-1,-18 0,-18-17,18 0,0 17,-18-35,1 17,52 19,-35-36,17 17,18-17,-17 18,17-18,-17 0,-1 0,36 0,-53 0,35 0,-17 0,-1 0,1-18,-53 18,34 0,-16 0,34-17,-34 17,16 0,1 0,0-18,-17 0,-1 18,35-17,-34 17,-19 0,1 0,0 0,-1 0,-17-18,18 18,0 0,-18-17,17 17,-17-18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</inkml:traceFormat>
        <inkml:channelProperties>
          <inkml:channelProperty channel="X" name="resolution" value="62.13592" units="1/cm"/>
          <inkml:channelProperty channel="Y" name="resolution" value="62.06897" units="1/cm"/>
        </inkml:channelProperties>
      </inkml:inkSource>
      <inkml:timestamp xml:id="ts0" timeString="2025-12-01T07:07:47.485"/>
    </inkml:context>
    <inkml:brush xml:id="br0">
      <inkml:brushProperty name="width" value="0.1" units="cm"/>
      <inkml:brushProperty name="height" value="0.1" units="cm"/>
      <inkml:brushProperty name="fitToCurve" value="1"/>
    </inkml:brush>
  </inkml:definitions>
  <inkml:traceGroup>
    <inkml:annotationXML>
      <emma:emma xmlns:emma="http://www.w3.org/2003/04/emma" version="1.0">
        <emma:interpretation id="{F55FF119-B16F-4EDF-9940-CEB3809BB4CE}" emma:medium="tactile" emma:mode="ink">
          <msink:context xmlns:msink="http://schemas.microsoft.com/ink/2010/main" type="writingRegion" rotatedBoundingBox="14897,4081 14954,4081 14954,4138 14897,4138"/>
        </emma:interpretation>
      </emma:emma>
    </inkml:annotationXML>
    <inkml:traceGroup>
      <inkml:annotationXML>
        <emma:emma xmlns:emma="http://www.w3.org/2003/04/emma" version="1.0">
          <emma:interpretation id="{87BD80D9-2521-4866-AC90-51C98532E8E1}" emma:medium="tactile" emma:mode="ink">
            <msink:context xmlns:msink="http://schemas.microsoft.com/ink/2010/main" type="paragraph" rotatedBoundingBox="14897,4081 14954,4081 14954,4138 14897,4138" alignmentLevel="1"/>
          </emma:interpretation>
        </emma:emma>
      </inkml:annotationXML>
      <inkml:traceGroup>
        <inkml:annotationXML>
          <emma:emma xmlns:emma="http://www.w3.org/2003/04/emma" version="1.0">
            <emma:interpretation id="{96EE1CC3-587A-4291-9B10-85253A1F1B37}" emma:medium="tactile" emma:mode="ink">
              <msink:context xmlns:msink="http://schemas.microsoft.com/ink/2010/main" type="line" rotatedBoundingBox="14897,4081 14954,4081 14954,4138 14897,4138"/>
            </emma:interpretation>
          </emma:emma>
        </inkml:annotationXML>
        <inkml:traceGroup>
          <inkml:annotationXML>
            <emma:emma xmlns:emma="http://www.w3.org/2003/04/emma" version="1.0">
              <emma:interpretation id="{8C90E464-4F7B-4805-A7B9-454BBD646574}" emma:medium="tactile" emma:mode="ink">
                <msink:context xmlns:msink="http://schemas.microsoft.com/ink/2010/main" type="inkWord" rotatedBoundingBox="14897,4081 14954,4081 14954,4138 14897,4138"/>
              </emma:interpretation>
              <emma:one-of disjunction-type="recognition" id="oneOf0">
                <emma:interpretation id="interp0" emma:lang="en-US" emma:confidence="0.5">
                  <emma:literal>.</emma:literal>
                </emma:interpretation>
                <emma:interpretation id="interp1" emma:lang="en-US" emma:confidence="0">
                  <emma:literal>,</emma:literal>
                </emma:interpretation>
                <emma:interpretation id="interp2" emma:lang="en-US" emma:confidence="0">
                  <emma:literal>:</emma:literal>
                </emma:interpretation>
                <emma:interpretation id="interp3" emma:lang="en-US" emma:confidence="0">
                  <emma:literal>?</emma:literal>
                </emma:interpretation>
                <emma:interpretation id="interp4" emma:lang="en-US" emma:confidence="0">
                  <emma:literal>-</emma:literal>
                </emma:interpretation>
              </emma:one-of>
            </emma:emma>
          </inkml:annotationXML>
          <inkml:trace contextRef="#ctx0" brushRef="#br0">57 57,'-28'0,"28"-29,0 1,-29 28</inkml:trace>
        </inkml:traceGroup>
      </inkml:traceGroup>
    </inkml:traceGroup>
  </inkml:traceGroup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228C4C-8F96-43BC-8797-ADFA826449FA}" type="datetimeFigureOut">
              <a:rPr lang="en-IN" smtClean="0"/>
              <a:t>02-12-2025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3096F1-7ECB-407D-8154-9FEEE7DB002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3858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23" name="Google Shape;2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685602"/>
            <a:ext cx="812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33" name="Google Shape;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2b06e3c580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53" name="Google Shape;53;g2b06e3c580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2b06e3c580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53" name="Google Shape;53;g2b06e3c580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972c5e1e3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g972c5e1e3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97079022d6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g97079022d6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972c5e1e3a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g972c5e1e3a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972c5e1e3a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g972c5e1e3a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9568553f5a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g9568553f5a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9568553f5a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g9568553f5a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9568553f5a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g9568553f5a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9568553f5a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g9568553f5a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971d29fc00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971d29fc00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972c5e1e3a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g972c5e1e3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972c5e1e3a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g972c5e1e3a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500" cy="411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330" tIns="85330" rIns="85330" bIns="85330" anchor="t" anchorCtr="0">
            <a:noAutofit/>
          </a:bodyPr>
          <a:lstStyle/>
          <a:p>
            <a:pPr>
              <a:buSzPts val="1500"/>
            </a:pPr>
            <a:endParaRPr/>
          </a:p>
        </p:txBody>
      </p:sp>
      <p:sp>
        <p:nvSpPr>
          <p:cNvPr id="42" name="Google Shape;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D6F1F-461B-46F4-A027-86537425BF3A}" type="datetimeFigureOut">
              <a:rPr lang="en-IN" smtClean="0"/>
              <a:t>02-12-2025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D5F04-770F-43CB-BE63-CF0113597AB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7358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D6F1F-461B-46F4-A027-86537425BF3A}" type="datetimeFigureOut">
              <a:rPr lang="en-IN" smtClean="0"/>
              <a:t>02-12-2025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D5F04-770F-43CB-BE63-CF0113597AB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7462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D6F1F-461B-46F4-A027-86537425BF3A}" type="datetimeFigureOut">
              <a:rPr lang="en-IN" smtClean="0"/>
              <a:t>02-12-2025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D5F04-770F-43CB-BE63-CF0113597AB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56298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D6F1F-461B-46F4-A027-86537425BF3A}" type="datetimeFigureOut">
              <a:rPr lang="en-IN" smtClean="0"/>
              <a:t>02-12-2025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D5F04-770F-43CB-BE63-CF0113597AB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36671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D6F1F-461B-46F4-A027-86537425BF3A}" type="datetimeFigureOut">
              <a:rPr lang="en-IN" smtClean="0"/>
              <a:t>02-12-2025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D5F04-770F-43CB-BE63-CF0113597AB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5831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D6F1F-461B-46F4-A027-86537425BF3A}" type="datetimeFigureOut">
              <a:rPr lang="en-IN" smtClean="0"/>
              <a:t>02-12-2025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D5F04-770F-43CB-BE63-CF0113597AB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87845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D6F1F-461B-46F4-A027-86537425BF3A}" type="datetimeFigureOut">
              <a:rPr lang="en-IN" smtClean="0"/>
              <a:t>02-12-2025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D5F04-770F-43CB-BE63-CF0113597AB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0340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D6F1F-461B-46F4-A027-86537425BF3A}" type="datetimeFigureOut">
              <a:rPr lang="en-IN" smtClean="0"/>
              <a:t>02-12-2025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D5F04-770F-43CB-BE63-CF0113597AB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58932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D6F1F-461B-46F4-A027-86537425BF3A}" type="datetimeFigureOut">
              <a:rPr lang="en-IN" smtClean="0"/>
              <a:t>02-12-2025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D5F04-770F-43CB-BE63-CF0113597AB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46680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D6F1F-461B-46F4-A027-86537425BF3A}" type="datetimeFigureOut">
              <a:rPr lang="en-IN" smtClean="0"/>
              <a:t>02-12-2025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D5F04-770F-43CB-BE63-CF0113597AB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62434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D6F1F-461B-46F4-A027-86537425BF3A}" type="datetimeFigureOut">
              <a:rPr lang="en-IN" smtClean="0"/>
              <a:t>02-12-2025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2D5F04-770F-43CB-BE63-CF0113597AB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44539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ED6F1F-461B-46F4-A027-86537425BF3A}" type="datetimeFigureOut">
              <a:rPr lang="en-IN" smtClean="0"/>
              <a:t>02-12-2025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2D5F04-770F-43CB-BE63-CF0113597AB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8797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emf"/><Relationship Id="rId3" Type="http://schemas.openxmlformats.org/officeDocument/2006/relationships/image" Target="../media/image1.png"/><Relationship Id="rId7" Type="http://schemas.openxmlformats.org/officeDocument/2006/relationships/customXml" Target="../ink/ink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emf"/><Relationship Id="rId3" Type="http://schemas.openxmlformats.org/officeDocument/2006/relationships/image" Target="../media/image1.png"/><Relationship Id="rId7" Type="http://schemas.openxmlformats.org/officeDocument/2006/relationships/customXml" Target="../ink/ink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image" Target="../media/image1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5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8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6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0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2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3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jpeg"/><Relationship Id="rId3" Type="http://schemas.openxmlformats.org/officeDocument/2006/relationships/image" Target="../media/image1.png"/><Relationship Id="rId7" Type="http://schemas.openxmlformats.org/officeDocument/2006/relationships/image" Target="../media/image34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"/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625" cy="132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buClr>
                <a:srgbClr val="C00000"/>
              </a:buClr>
              <a:buSzPts val="5300"/>
            </a:pPr>
            <a:r>
              <a:rPr lang="en-US" sz="3200" dirty="0">
                <a:solidFill>
                  <a:srgbClr val="C00000"/>
                </a:solidFill>
                <a:latin typeface="Marcellus"/>
                <a:ea typeface="Marcellus"/>
                <a:cs typeface="Marcellus"/>
                <a:sym typeface="Marcellus"/>
              </a:rPr>
              <a:t>Digital Logic Design</a:t>
            </a:r>
            <a:endParaRPr sz="3200" dirty="0">
              <a:solidFill>
                <a:srgbClr val="C00000"/>
              </a:solidFill>
              <a:latin typeface="Marcellus"/>
              <a:ea typeface="Marcellus"/>
              <a:cs typeface="Marcellus"/>
              <a:sym typeface="Marcellus"/>
            </a:endParaRPr>
          </a:p>
        </p:txBody>
      </p:sp>
      <p:sp>
        <p:nvSpPr>
          <p:cNvPr id="26" name="Google Shape;26;p1"/>
          <p:cNvSpPr txBox="1">
            <a:spLocks noGrp="1"/>
          </p:cNvSpPr>
          <p:nvPr>
            <p:ph type="body" idx="1"/>
          </p:nvPr>
        </p:nvSpPr>
        <p:spPr>
          <a:xfrm>
            <a:off x="1343921" y="1995583"/>
            <a:ext cx="6853688" cy="400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t" anchorCtr="0">
            <a:no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buSzPts val="2200"/>
              <a:buNone/>
            </a:pPr>
            <a:r>
              <a:rPr lang="en-US" sz="2500" dirty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Semester II</a:t>
            </a:r>
          </a:p>
          <a:p>
            <a:pPr marL="0" indent="0" algn="ctr">
              <a:lnSpc>
                <a:spcPct val="90000"/>
              </a:lnSpc>
              <a:spcBef>
                <a:spcPts val="0"/>
              </a:spcBef>
              <a:buSzPts val="2200"/>
              <a:buNone/>
            </a:pPr>
            <a:r>
              <a:rPr lang="en-US" sz="2500" dirty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FY</a:t>
            </a:r>
            <a:endParaRPr sz="2500" dirty="0">
              <a:solidFill>
                <a:srgbClr val="262626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indent="0" algn="ctr">
              <a:lnSpc>
                <a:spcPct val="90000"/>
              </a:lnSpc>
              <a:spcBef>
                <a:spcPts val="0"/>
              </a:spcBef>
              <a:buSzPts val="2200"/>
              <a:buNone/>
            </a:pPr>
            <a:endParaRPr sz="2500" dirty="0">
              <a:solidFill>
                <a:srgbClr val="262626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indent="0" algn="ctr">
              <a:lnSpc>
                <a:spcPct val="90000"/>
              </a:lnSpc>
              <a:spcBef>
                <a:spcPts val="0"/>
              </a:spcBef>
              <a:buSzPts val="2200"/>
              <a:buNone/>
            </a:pPr>
            <a:r>
              <a:rPr lang="en-US" sz="2500" dirty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Course Code</a:t>
            </a:r>
            <a:endParaRPr sz="2500" dirty="0">
              <a:solidFill>
                <a:srgbClr val="262626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indent="0" algn="ctr">
              <a:spcBef>
                <a:spcPts val="0"/>
              </a:spcBef>
              <a:buClr>
                <a:srgbClr val="000000"/>
              </a:buClr>
              <a:buNone/>
            </a:pPr>
            <a:r>
              <a:rPr lang="en-US" sz="2500" b="1" dirty="0"/>
              <a:t>316U06C203</a:t>
            </a:r>
          </a:p>
          <a:p>
            <a:pPr marL="0" indent="0" algn="ctr">
              <a:spcBef>
                <a:spcPts val="0"/>
              </a:spcBef>
              <a:buClr>
                <a:srgbClr val="000000"/>
              </a:buClr>
              <a:buNone/>
            </a:pPr>
            <a:r>
              <a:rPr lang="en-US" sz="2500" dirty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Jan – May 2026</a:t>
            </a:r>
            <a:endParaRPr sz="2500" dirty="0">
              <a:solidFill>
                <a:srgbClr val="262626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indent="0" algn="ctr">
              <a:lnSpc>
                <a:spcPct val="90000"/>
              </a:lnSpc>
              <a:spcBef>
                <a:spcPts val="0"/>
              </a:spcBef>
              <a:buSzPts val="2200"/>
              <a:buNone/>
            </a:pPr>
            <a:endParaRPr sz="2500" dirty="0">
              <a:solidFill>
                <a:srgbClr val="262626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indent="0" algn="ctr">
              <a:lnSpc>
                <a:spcPct val="90000"/>
              </a:lnSpc>
              <a:spcBef>
                <a:spcPts val="0"/>
              </a:spcBef>
              <a:buSzPts val="2200"/>
              <a:buNone/>
            </a:pPr>
            <a:endParaRPr sz="2500" dirty="0">
              <a:solidFill>
                <a:srgbClr val="262626"/>
              </a:solidFill>
              <a:latin typeface="Marcellus"/>
              <a:ea typeface="Marcellus"/>
              <a:cs typeface="Marcellus"/>
              <a:sym typeface="Marcellus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4" y="2219"/>
            <a:ext cx="425219" cy="6855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28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5673" y="0"/>
            <a:ext cx="157258" cy="544068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1" descr="A close up of a sign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6430" y="5830821"/>
            <a:ext cx="651512" cy="647488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lc="http://schemas.openxmlformats.org/drawingml/2006/lockedCanvas" xmlns:w15="http://schemas.microsoft.com/office/word/2012/wordml" xmlns="" xmlns:cx="http://schemas.microsoft.com/office/drawing/2014/chartex" xmlns:cx1="http://schemas.microsoft.com/office/drawing/2015/9/8/chartex" xmlns:cx2="http://schemas.microsoft.com/office/drawing/2015/10/21/chartex" xmlns:cx3="http://schemas.microsoft.com/office/drawing/2016/5/9/chartex" xmlns:cx4="http://schemas.microsoft.com/office/drawing/2016/5/10/chartex" xmlns:cx5="http://schemas.microsoft.com/office/drawing/2016/5/11/chartex" xmlns:cx6="http://schemas.microsoft.com/office/drawing/2016/5/12/chartex" xmlns:cx7="http://schemas.microsoft.com/office/drawing/2016/5/13/chartex" xmlns:cx8="http://schemas.microsoft.com/office/drawing/2016/5/14/chartex" xmlns:aink="http://schemas.microsoft.com/office/drawing/2016/ink" xmlns:am3d="http://schemas.microsoft.com/office/drawing/2017/model3d" xmlns:o="urn:schemas-microsoft-com:office:office" xmlns:oel="http://schemas.microsoft.com/office/2019/extlst" xmlns:v="urn:schemas-microsoft-com:vml" xmlns:w10="urn:schemas-microsoft-com:office:word" xmlns:w="http://schemas.openxmlformats.org/wordprocessingml/2006/main" xmlns:w16cex="http://schemas.microsoft.com/office/word/2018/wordml/cex" xmlns:w16cid="http://schemas.microsoft.com/office/word/2016/wordml/cid" xmlns:w16="http://schemas.microsoft.com/office/word/2018/wordml" xmlns:w16sdtdh="http://schemas.microsoft.com/office/word/2020/wordml/sdtdatahash" xmlns:w16se="http://schemas.microsoft.com/office/word/2015/wordml/symex" xmlns:a16="http://schemas.microsoft.com/office/drawing/2014/main" xmlns:wps="http://schemas.microsoft.com/office/word/2010/wordprocessingShape" xmlns:wne="http://schemas.microsoft.com/office/word/2006/wordml" xmlns:wpi="http://schemas.microsoft.com/office/word/2010/wordprocessingInk" xmlns:wpg="http://schemas.microsoft.com/office/word/2010/wordprocessingGroup" xmlns:w14="http://schemas.microsoft.com/office/word/2010/wordml" xmlns:wp="http://schemas.openxmlformats.org/drawingml/2006/wordprocessingDrawing" xmlns:wp14="http://schemas.microsoft.com/office/word/2010/wordprocessingDrawing" xmlns:m="http://schemas.openxmlformats.org/officeDocument/2006/math" xmlns:mc="http://schemas.openxmlformats.org/markup-compatibility/2006" xmlns:wpc="http://schemas.microsoft.com/office/word/2010/wordprocessingCanvas" id="{DA3B82F8-7F36-4AE6-A785-76BCA479C67E}"/>
              </a:ext>
            </a:extLst>
          </p:cNvPr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931" y="5830821"/>
            <a:ext cx="1350775" cy="647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3409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"/>
          <p:cNvSpPr txBox="1">
            <a:spLocks noGrp="1"/>
          </p:cNvSpPr>
          <p:nvPr>
            <p:ph type="title"/>
          </p:nvPr>
        </p:nvSpPr>
        <p:spPr>
          <a:xfrm>
            <a:off x="281843" y="2588907"/>
            <a:ext cx="8546813" cy="1020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lvl="0"/>
            <a:r>
              <a:rPr lang="en-IN" sz="3000" b="1" dirty="0" smtClean="0">
                <a:solidFill>
                  <a:srgbClr val="C00000"/>
                </a:solidFill>
                <a:latin typeface="Marcellus"/>
                <a:ea typeface="Marcellus"/>
                <a:cs typeface="Marcellus"/>
                <a:sym typeface="Marcellus"/>
              </a:rPr>
              <a:t>Combinational </a:t>
            </a:r>
            <a:r>
              <a:rPr lang="en-IN" sz="3000" b="1" dirty="0" err="1" smtClean="0">
                <a:solidFill>
                  <a:srgbClr val="C00000"/>
                </a:solidFill>
                <a:latin typeface="Marcellus"/>
                <a:ea typeface="Marcellus"/>
                <a:cs typeface="Marcellus"/>
                <a:sym typeface="Marcellus"/>
              </a:rPr>
              <a:t>Cirucits</a:t>
            </a:r>
            <a:endParaRPr sz="3000" b="1" dirty="0">
              <a:solidFill>
                <a:srgbClr val="C00000"/>
              </a:solidFill>
              <a:latin typeface="Marcellus"/>
              <a:ea typeface="Marcellus"/>
              <a:cs typeface="Marcellus"/>
              <a:sym typeface="Marcellus"/>
            </a:endParaRPr>
          </a:p>
        </p:txBody>
      </p:sp>
      <p:pic>
        <p:nvPicPr>
          <p:cNvPr id="36" name="Google Shape;36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2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37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8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38;p2" descr="A close up of a sign&#10;&#10;Description automatically generated"/>
          <p:cNvPicPr preferRelativeResize="0">
            <a:picLocks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21315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276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>
                <a:solidFill>
                  <a:srgbClr val="C00000"/>
                </a:solidFill>
                <a:latin typeface="Marcellus" charset="0"/>
              </a:rPr>
              <a:t>Contents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955110" y="913604"/>
            <a:ext cx="7572484" cy="46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640080" indent="-320040" algn="just">
              <a:buClr>
                <a:srgbClr val="000000"/>
              </a:buClr>
              <a:buSzPts val="2900"/>
              <a:buFont typeface="Arial" pitchFamily="34" charset="0"/>
              <a:buChar char="•"/>
            </a:pPr>
            <a:r>
              <a:rPr lang="en-US" sz="2400" b="1" dirty="0" smtClean="0">
                <a:latin typeface="Fira Sans" charset="0"/>
              </a:rPr>
              <a:t>Half and Full Adder, </a:t>
            </a:r>
          </a:p>
          <a:p>
            <a:pPr marL="640080" indent="-320040" algn="just">
              <a:buClr>
                <a:srgbClr val="000000"/>
              </a:buClr>
              <a:buSzPts val="2900"/>
              <a:buFont typeface="Arial" pitchFamily="34" charset="0"/>
              <a:buChar char="•"/>
            </a:pPr>
            <a:r>
              <a:rPr lang="en-US" sz="2400" b="1" dirty="0" smtClean="0">
                <a:latin typeface="Fira Sans" charset="0"/>
              </a:rPr>
              <a:t>Half and Full Subtractor, </a:t>
            </a:r>
          </a:p>
          <a:p>
            <a:pPr marL="640080" indent="-320040" algn="just">
              <a:buClr>
                <a:srgbClr val="000000"/>
              </a:buClr>
              <a:buSzPts val="2900"/>
              <a:buFont typeface="Arial" pitchFamily="34" charset="0"/>
              <a:buChar char="•"/>
            </a:pPr>
            <a:r>
              <a:rPr lang="en-US" sz="2400" b="1" dirty="0" smtClean="0">
                <a:latin typeface="Fira Sans" charset="0"/>
              </a:rPr>
              <a:t>Four Bit Binary Adder, </a:t>
            </a:r>
          </a:p>
          <a:p>
            <a:pPr marL="640080" indent="-320040" algn="just">
              <a:buClr>
                <a:srgbClr val="000000"/>
              </a:buClr>
              <a:buSzPts val="2900"/>
              <a:buFont typeface="Arial" pitchFamily="34" charset="0"/>
              <a:buChar char="•"/>
            </a:pPr>
            <a:r>
              <a:rPr lang="en-US" sz="2400" b="1" dirty="0" smtClean="0">
                <a:latin typeface="Fira Sans" charset="0"/>
              </a:rPr>
              <a:t>Four Bit Binary Subtractor (1’s and 2’s complement method) </a:t>
            </a:r>
          </a:p>
          <a:p>
            <a:pPr marL="640080" indent="-320040" algn="just">
              <a:buClr>
                <a:srgbClr val="000000"/>
              </a:buClr>
              <a:buSzPts val="2900"/>
              <a:buFont typeface="Arial" pitchFamily="34" charset="0"/>
              <a:buChar char="•"/>
            </a:pPr>
            <a:r>
              <a:rPr lang="en-US" sz="2400" b="1" dirty="0" smtClean="0">
                <a:latin typeface="Fira Sans" charset="0"/>
              </a:rPr>
              <a:t>Controller Adder / Subtractor</a:t>
            </a:r>
          </a:p>
          <a:p>
            <a:pPr marL="640080" indent="-320040" algn="just">
              <a:buClr>
                <a:srgbClr val="000000"/>
              </a:buClr>
              <a:buSzPts val="2900"/>
              <a:buFont typeface="Arial" pitchFamily="34" charset="0"/>
              <a:buChar char="•"/>
            </a:pPr>
            <a:r>
              <a:rPr lang="en-US" sz="2400" b="1" dirty="0" smtClean="0">
                <a:latin typeface="Fira Sans" charset="0"/>
              </a:rPr>
              <a:t>Multiplexers and multiplexer trees, </a:t>
            </a:r>
          </a:p>
          <a:p>
            <a:pPr marL="640080" indent="-320040" algn="just">
              <a:buClr>
                <a:srgbClr val="000000"/>
              </a:buClr>
              <a:buSzPts val="2900"/>
              <a:buFont typeface="Arial" pitchFamily="34" charset="0"/>
              <a:buChar char="•"/>
            </a:pPr>
            <a:r>
              <a:rPr lang="en-US" sz="2400" b="1" dirty="0" smtClean="0">
                <a:latin typeface="Fira Sans" charset="0"/>
              </a:rPr>
              <a:t>Decoders</a:t>
            </a:r>
          </a:p>
          <a:p>
            <a:pPr marL="640080" indent="-320040" algn="just">
              <a:buClr>
                <a:srgbClr val="000000"/>
              </a:buClr>
              <a:buSzPts val="2900"/>
              <a:buFont typeface="Arial" pitchFamily="34" charset="0"/>
              <a:buChar char="•"/>
            </a:pPr>
            <a:r>
              <a:rPr lang="en-US" sz="2400" b="1" dirty="0" smtClean="0">
                <a:latin typeface="Fira Sans" charset="0"/>
              </a:rPr>
              <a:t>Encoders</a:t>
            </a:r>
          </a:p>
          <a:p>
            <a:pPr marL="640080" indent="-320040" algn="just">
              <a:buClr>
                <a:srgbClr val="000000"/>
              </a:buClr>
              <a:buSzPts val="2900"/>
              <a:buFont typeface="Arial" pitchFamily="34" charset="0"/>
              <a:buChar char="•"/>
            </a:pPr>
            <a:r>
              <a:rPr lang="en-US" sz="2400" b="1" dirty="0" smtClean="0">
                <a:latin typeface="Fira Sans" charset="0"/>
              </a:rPr>
              <a:t>One bit, Two-bit ,4-bit Magnitude Comparator </a:t>
            </a:r>
            <a:endParaRPr lang="en-US" sz="2400" b="1" dirty="0">
              <a:solidFill>
                <a:schemeClr val="dk1"/>
              </a:solidFill>
              <a:latin typeface="Fira Sans" charset="0"/>
              <a:ea typeface="Fira Sans"/>
              <a:cs typeface="Fira Sans"/>
              <a:sym typeface="Fira Sans"/>
            </a:endParaRPr>
          </a:p>
          <a:p>
            <a:pPr marL="320040" algn="just">
              <a:buClr>
                <a:srgbClr val="000000"/>
              </a:buClr>
              <a:buSzPts val="2900"/>
            </a:pPr>
            <a:endParaRPr lang="en-US"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6094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2b06e3c580a_0_0"/>
          <p:cNvSpPr txBox="1">
            <a:spLocks noGrp="1"/>
          </p:cNvSpPr>
          <p:nvPr>
            <p:ph type="title"/>
          </p:nvPr>
        </p:nvSpPr>
        <p:spPr>
          <a:xfrm>
            <a:off x="300790" y="191861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100" b="1" dirty="0" smtClean="0">
                <a:solidFill>
                  <a:srgbClr val="C00000"/>
                </a:solidFill>
                <a:latin typeface="Marcellus"/>
                <a:ea typeface="Marcellus"/>
                <a:cs typeface="Marcellus"/>
                <a:sym typeface="Marcellus"/>
              </a:rPr>
              <a:t>Half Adder</a:t>
            </a:r>
            <a:endParaRPr lang="en-US" sz="3100" b="1" dirty="0">
              <a:solidFill>
                <a:srgbClr val="C00000"/>
              </a:solidFill>
              <a:latin typeface="Marcellus"/>
              <a:ea typeface="Marcellus"/>
              <a:cs typeface="Marcellus"/>
              <a:sym typeface="Marcellus"/>
            </a:endParaRPr>
          </a:p>
        </p:txBody>
      </p:sp>
      <p:pic>
        <p:nvPicPr>
          <p:cNvPr id="56" name="Google Shape;56;g2b06e3c580a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g2b06e3c580a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g2b06e3c580a_0_0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Picture 14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pic>
        <p:nvPicPr>
          <p:cNvPr id="19" name="Picture 7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40" b="18075"/>
          <a:stretch/>
        </p:blipFill>
        <p:spPr bwMode="auto">
          <a:xfrm>
            <a:off x="2363004" y="3551401"/>
            <a:ext cx="4279656" cy="21607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ectangle 5"/>
          <p:cNvSpPr/>
          <p:nvPr/>
        </p:nvSpPr>
        <p:spPr>
          <a:xfrm>
            <a:off x="4283968" y="1236822"/>
            <a:ext cx="4032448" cy="21544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 smtClean="0">
                <a:latin typeface="Fira Sans" charset="0"/>
              </a:rPr>
              <a:t>Half adder</a:t>
            </a:r>
          </a:p>
          <a:p>
            <a:r>
              <a:rPr lang="en-US" sz="2200" dirty="0" smtClean="0">
                <a:latin typeface="Fira Sans" charset="0"/>
              </a:rPr>
              <a:t> </a:t>
            </a:r>
          </a:p>
          <a:p>
            <a:r>
              <a:rPr lang="el-GR" sz="2200" dirty="0" smtClean="0">
                <a:latin typeface="Fira Sans" charset="0"/>
              </a:rPr>
              <a:t>Sum = Σ m (</a:t>
            </a:r>
            <a:r>
              <a:rPr lang="en-US" sz="2200" dirty="0" smtClean="0">
                <a:latin typeface="Fira Sans" charset="0"/>
              </a:rPr>
              <a:t>1,2</a:t>
            </a:r>
            <a:r>
              <a:rPr lang="el-GR" sz="2200" dirty="0" smtClean="0">
                <a:latin typeface="Fira Sans" charset="0"/>
              </a:rPr>
              <a:t>)</a:t>
            </a:r>
            <a:r>
              <a:rPr lang="en-US" sz="2200" dirty="0" smtClean="0">
                <a:latin typeface="Fira Sans" charset="0"/>
              </a:rPr>
              <a:t> = A </a:t>
            </a:r>
            <a:r>
              <a:rPr lang="en-US" sz="2200" dirty="0" err="1" smtClean="0">
                <a:latin typeface="Fira Sans" charset="0"/>
              </a:rPr>
              <a:t>xor</a:t>
            </a:r>
            <a:r>
              <a:rPr lang="en-US" sz="2200" dirty="0" smtClean="0">
                <a:latin typeface="Fira Sans" charset="0"/>
              </a:rPr>
              <a:t> B </a:t>
            </a:r>
            <a:endParaRPr lang="el-GR" sz="2200" dirty="0" smtClean="0">
              <a:latin typeface="Fira Sans" charset="0"/>
            </a:endParaRPr>
          </a:p>
          <a:p>
            <a:endParaRPr lang="en-US" sz="2200" dirty="0" smtClean="0">
              <a:latin typeface="Fira Sans" charset="0"/>
            </a:endParaRPr>
          </a:p>
          <a:p>
            <a:r>
              <a:rPr lang="el-GR" sz="2200" dirty="0" smtClean="0">
                <a:latin typeface="Fira Sans" charset="0"/>
              </a:rPr>
              <a:t>Carry  = Σ m (</a:t>
            </a:r>
            <a:r>
              <a:rPr lang="en-US" sz="2200" dirty="0" smtClean="0">
                <a:latin typeface="Fira Sans" charset="0"/>
              </a:rPr>
              <a:t>3</a:t>
            </a:r>
            <a:r>
              <a:rPr lang="el-GR" sz="2200" dirty="0" smtClean="0">
                <a:latin typeface="Fira Sans" charset="0"/>
              </a:rPr>
              <a:t>)</a:t>
            </a:r>
            <a:r>
              <a:rPr lang="en-US" sz="2200" dirty="0" smtClean="0">
                <a:latin typeface="Fira Sans" charset="0"/>
              </a:rPr>
              <a:t> =  A and B</a:t>
            </a:r>
            <a:endParaRPr lang="el-GR" sz="2200" dirty="0" smtClean="0">
              <a:latin typeface="Fira Sans" charset="0"/>
            </a:endParaRPr>
          </a:p>
          <a:p>
            <a:endParaRPr lang="el-GR" sz="2400" dirty="0" smtClean="0">
              <a:latin typeface="Fira Sans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9545019"/>
              </p:ext>
            </p:extLst>
          </p:nvPr>
        </p:nvGraphicFramePr>
        <p:xfrm>
          <a:off x="971600" y="1406911"/>
          <a:ext cx="2615952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988"/>
                <a:gridCol w="521804"/>
                <a:gridCol w="864096"/>
                <a:gridCol w="576064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A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B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Sum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Cy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885677" y="836712"/>
            <a:ext cx="295465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>
                <a:latin typeface="Fira Sans" charset="0"/>
              </a:rPr>
              <a:t>Half </a:t>
            </a:r>
            <a:r>
              <a:rPr lang="en-US" sz="2000" b="1" dirty="0" smtClean="0">
                <a:latin typeface="Fira Sans" charset="0"/>
              </a:rPr>
              <a:t>adder Truth Table	</a:t>
            </a:r>
            <a:endParaRPr lang="en-US" sz="2000" b="1" dirty="0">
              <a:latin typeface="Fir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9803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2b06e3c580a_0_0"/>
          <p:cNvSpPr txBox="1">
            <a:spLocks noGrp="1"/>
          </p:cNvSpPr>
          <p:nvPr>
            <p:ph type="title"/>
          </p:nvPr>
        </p:nvSpPr>
        <p:spPr>
          <a:xfrm>
            <a:off x="300790" y="191861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100" b="1" dirty="0" smtClean="0">
                <a:solidFill>
                  <a:srgbClr val="C00000"/>
                </a:solidFill>
                <a:latin typeface="Marcellus"/>
                <a:ea typeface="Marcellus"/>
                <a:cs typeface="Marcellus"/>
                <a:sym typeface="Marcellus"/>
              </a:rPr>
              <a:t>Full Adders</a:t>
            </a:r>
            <a:endParaRPr lang="en-US" sz="3100" b="1" dirty="0">
              <a:solidFill>
                <a:srgbClr val="C00000"/>
              </a:solidFill>
              <a:latin typeface="Marcellus"/>
              <a:ea typeface="Marcellus"/>
              <a:cs typeface="Marcellus"/>
              <a:sym typeface="Marcellus"/>
            </a:endParaRPr>
          </a:p>
        </p:txBody>
      </p:sp>
      <p:pic>
        <p:nvPicPr>
          <p:cNvPr id="56" name="Google Shape;56;g2b06e3c580a_0_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g2b06e3c580a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g2b06e3c580a_0_0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Picture 14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pic>
        <p:nvPicPr>
          <p:cNvPr id="21" name="Picture 2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6" t="4635" r="5555" b="7983"/>
          <a:stretch/>
        </p:blipFill>
        <p:spPr bwMode="auto">
          <a:xfrm>
            <a:off x="683568" y="2492896"/>
            <a:ext cx="4322740" cy="31921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Rectangle 6"/>
          <p:cNvSpPr/>
          <p:nvPr/>
        </p:nvSpPr>
        <p:spPr>
          <a:xfrm>
            <a:off x="683568" y="980728"/>
            <a:ext cx="3871682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 smtClean="0">
                <a:latin typeface="Fira Sans" charset="0"/>
              </a:rPr>
              <a:t>Full adder</a:t>
            </a:r>
          </a:p>
          <a:p>
            <a:r>
              <a:rPr lang="en-US" sz="2200" dirty="0" smtClean="0">
                <a:latin typeface="Fira Sans" charset="0"/>
              </a:rPr>
              <a:t> </a:t>
            </a:r>
            <a:r>
              <a:rPr lang="el-GR" sz="2200" dirty="0" smtClean="0">
                <a:latin typeface="Fira Sans" charset="0"/>
              </a:rPr>
              <a:t>Carry  = Σ m (</a:t>
            </a:r>
            <a:r>
              <a:rPr lang="en-US" sz="2200" dirty="0" smtClean="0">
                <a:latin typeface="Fira Sans" charset="0"/>
              </a:rPr>
              <a:t>3,5,6,7</a:t>
            </a:r>
            <a:r>
              <a:rPr lang="el-GR" sz="2200" dirty="0" smtClean="0">
                <a:latin typeface="Fira Sans" charset="0"/>
              </a:rPr>
              <a:t>)</a:t>
            </a:r>
            <a:endParaRPr lang="en-US" sz="2200" dirty="0" smtClean="0">
              <a:latin typeface="Fira Sans" charset="0"/>
            </a:endParaRPr>
          </a:p>
          <a:p>
            <a:r>
              <a:rPr lang="en-US" sz="2200" dirty="0">
                <a:latin typeface="Fira Sans" charset="0"/>
              </a:rPr>
              <a:t> </a:t>
            </a:r>
            <a:r>
              <a:rPr lang="en-US" sz="2200" dirty="0" smtClean="0">
                <a:latin typeface="Fira Sans" charset="0"/>
              </a:rPr>
              <a:t>           =  A.B + </a:t>
            </a:r>
            <a:r>
              <a:rPr lang="en-US" sz="2200" dirty="0" err="1" smtClean="0">
                <a:latin typeface="Fira Sans" charset="0"/>
              </a:rPr>
              <a:t>A.Cin</a:t>
            </a:r>
            <a:r>
              <a:rPr lang="en-US" sz="2200" dirty="0" smtClean="0">
                <a:latin typeface="Fira Sans" charset="0"/>
              </a:rPr>
              <a:t>+ </a:t>
            </a:r>
            <a:r>
              <a:rPr lang="en-US" sz="2200" dirty="0" err="1" smtClean="0">
                <a:latin typeface="Fira Sans" charset="0"/>
              </a:rPr>
              <a:t>B.Cin</a:t>
            </a:r>
            <a:endParaRPr lang="el-GR" sz="2200" dirty="0" smtClean="0">
              <a:latin typeface="Fira Sans" charset="0"/>
            </a:endParaRPr>
          </a:p>
          <a:p>
            <a:r>
              <a:rPr lang="el-GR" sz="2200" dirty="0" smtClean="0">
                <a:latin typeface="Fira Sans" charset="0"/>
              </a:rPr>
              <a:t>Sum = Σ m (</a:t>
            </a:r>
            <a:r>
              <a:rPr lang="en-US" sz="2200" dirty="0" smtClean="0">
                <a:latin typeface="Fira Sans" charset="0"/>
              </a:rPr>
              <a:t>1,2,4,7</a:t>
            </a:r>
            <a:r>
              <a:rPr lang="el-GR" sz="2200" dirty="0" smtClean="0">
                <a:latin typeface="Fira Sans" charset="0"/>
              </a:rPr>
              <a:t>)</a:t>
            </a:r>
            <a:endParaRPr lang="en-US" sz="2200" dirty="0" smtClean="0">
              <a:latin typeface="Fira Sans" charset="0"/>
            </a:endParaRPr>
          </a:p>
          <a:p>
            <a:r>
              <a:rPr lang="en-US" sz="2200" dirty="0">
                <a:latin typeface="Fira Sans" charset="0"/>
              </a:rPr>
              <a:t>	</a:t>
            </a:r>
            <a:r>
              <a:rPr lang="en-US" sz="2200" dirty="0" smtClean="0">
                <a:latin typeface="Fira Sans" charset="0"/>
              </a:rPr>
              <a:t>= A </a:t>
            </a:r>
            <a:r>
              <a:rPr lang="en-US" sz="2200" dirty="0" err="1" smtClean="0">
                <a:latin typeface="Fira Sans" charset="0"/>
              </a:rPr>
              <a:t>xor</a:t>
            </a:r>
            <a:r>
              <a:rPr lang="en-US" sz="2200" dirty="0" smtClean="0">
                <a:latin typeface="Fira Sans" charset="0"/>
              </a:rPr>
              <a:t> B </a:t>
            </a:r>
            <a:r>
              <a:rPr lang="en-US" sz="2200" dirty="0" err="1" smtClean="0">
                <a:latin typeface="Fira Sans" charset="0"/>
              </a:rPr>
              <a:t>xor</a:t>
            </a:r>
            <a:r>
              <a:rPr lang="en-US" sz="2200" dirty="0" smtClean="0">
                <a:latin typeface="Fira Sans" charset="0"/>
              </a:rPr>
              <a:t> </a:t>
            </a:r>
            <a:r>
              <a:rPr lang="en-US" sz="2200" dirty="0" err="1" smtClean="0">
                <a:latin typeface="Fira Sans" charset="0"/>
              </a:rPr>
              <a:t>Cin</a:t>
            </a:r>
            <a:endParaRPr lang="el-GR" sz="2200" dirty="0" smtClean="0">
              <a:latin typeface="Fira Sans" charset="0"/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5808752"/>
              </p:ext>
            </p:extLst>
          </p:nvPr>
        </p:nvGraphicFramePr>
        <p:xfrm>
          <a:off x="5097227" y="1483042"/>
          <a:ext cx="3240361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56"/>
                <a:gridCol w="576064"/>
                <a:gridCol w="672988"/>
                <a:gridCol w="892352"/>
                <a:gridCol w="594901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A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B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err="1" smtClean="0">
                          <a:latin typeface="Fira Sans" charset="0"/>
                        </a:rPr>
                        <a:t>Cin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Sum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Cy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" name="Rectangle 1"/>
          <p:cNvSpPr/>
          <p:nvPr/>
        </p:nvSpPr>
        <p:spPr>
          <a:xfrm>
            <a:off x="4788024" y="908720"/>
            <a:ext cx="387798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200" b="1" dirty="0" smtClean="0">
                <a:latin typeface="Fira Sans" charset="0"/>
              </a:rPr>
              <a:t>Full adder </a:t>
            </a:r>
            <a:r>
              <a:rPr lang="en-US" sz="2200" b="1" dirty="0">
                <a:latin typeface="Fira Sans" charset="0"/>
              </a:rPr>
              <a:t>Truth Table</a:t>
            </a:r>
            <a:r>
              <a:rPr lang="en-US" b="1" dirty="0">
                <a:latin typeface="Fira Sans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471625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Full Adder using 2 half Adders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467544" y="913604"/>
            <a:ext cx="7632848" cy="2111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lvl="0" algn="just">
              <a:lnSpc>
                <a:spcPct val="90000"/>
              </a:lnSpc>
            </a:pPr>
            <a:r>
              <a:rPr lang="en-US" sz="2000" b="1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Half Adder:   </a:t>
            </a:r>
            <a:r>
              <a:rPr lang="en-US" sz="2000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	Sum = A </a:t>
            </a:r>
            <a:r>
              <a:rPr lang="en-US" sz="2000" dirty="0" err="1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xor</a:t>
            </a:r>
            <a:r>
              <a:rPr lang="en-US" sz="2000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 B , 		Carry = A . B </a:t>
            </a:r>
          </a:p>
          <a:p>
            <a:pPr lvl="0" algn="just">
              <a:lnSpc>
                <a:spcPct val="90000"/>
              </a:lnSpc>
            </a:pPr>
            <a:endParaRPr lang="en-US" sz="2000" dirty="0" smtClean="0">
              <a:solidFill>
                <a:srgbClr val="262626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lvl="0" algn="just">
              <a:lnSpc>
                <a:spcPct val="90000"/>
              </a:lnSpc>
            </a:pPr>
            <a:r>
              <a:rPr lang="en-US" sz="2000" b="1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Full Adder: </a:t>
            </a:r>
            <a:r>
              <a:rPr lang="en-US" sz="2000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Sum = A </a:t>
            </a:r>
            <a:r>
              <a:rPr lang="en-US" sz="2000" dirty="0" err="1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xor</a:t>
            </a:r>
            <a:r>
              <a:rPr lang="en-US" sz="2000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 B </a:t>
            </a:r>
            <a:r>
              <a:rPr lang="en-US" sz="2000" dirty="0" err="1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xor</a:t>
            </a:r>
            <a:r>
              <a:rPr lang="en-US" sz="2000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 </a:t>
            </a:r>
            <a:r>
              <a:rPr lang="en-US" sz="2000" dirty="0" err="1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Cin</a:t>
            </a:r>
            <a:r>
              <a:rPr lang="en-US" sz="2000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, 	Carry = AB +</a:t>
            </a:r>
            <a:r>
              <a:rPr lang="en-US" sz="2000" dirty="0" err="1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BCin</a:t>
            </a:r>
            <a:r>
              <a:rPr lang="en-US" sz="2000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+ A </a:t>
            </a:r>
            <a:r>
              <a:rPr lang="en-US" sz="2000" dirty="0" err="1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Cin</a:t>
            </a:r>
            <a:endParaRPr lang="en-US" sz="2000" dirty="0" smtClean="0">
              <a:solidFill>
                <a:srgbClr val="262626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lvl="0" algn="just">
              <a:lnSpc>
                <a:spcPct val="90000"/>
              </a:lnSpc>
            </a:pPr>
            <a:endParaRPr lang="en-US" sz="2000" dirty="0" smtClean="0">
              <a:solidFill>
                <a:srgbClr val="262626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lvl="0" algn="just">
              <a:lnSpc>
                <a:spcPct val="90000"/>
              </a:lnSpc>
            </a:pPr>
            <a:r>
              <a:rPr lang="en-US" sz="2000" b="1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Full adder using 2 half adders </a:t>
            </a:r>
          </a:p>
          <a:p>
            <a:pPr lvl="0" algn="just">
              <a:lnSpc>
                <a:spcPct val="90000"/>
              </a:lnSpc>
            </a:pPr>
            <a:r>
              <a:rPr lang="en-US" sz="2000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Carry = A.B + (A </a:t>
            </a:r>
            <a:r>
              <a:rPr lang="en-US" sz="2000" dirty="0" err="1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xor</a:t>
            </a:r>
            <a:r>
              <a:rPr lang="en-US" sz="2000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 B) .</a:t>
            </a:r>
            <a:r>
              <a:rPr lang="en-US" sz="2000" dirty="0" err="1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Cin</a:t>
            </a:r>
            <a:r>
              <a:rPr lang="en-US" sz="2000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 </a:t>
            </a:r>
          </a:p>
          <a:p>
            <a:pPr lvl="0" algn="just">
              <a:lnSpc>
                <a:spcPct val="90000"/>
              </a:lnSpc>
            </a:pPr>
            <a:r>
              <a:rPr lang="en-US" sz="2000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Prove that it is same as AB +</a:t>
            </a:r>
            <a:r>
              <a:rPr lang="en-US" sz="2000" dirty="0" err="1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BCin</a:t>
            </a:r>
            <a:r>
              <a:rPr lang="en-US" sz="2000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+ A </a:t>
            </a:r>
            <a:r>
              <a:rPr lang="en-US" sz="2000" dirty="0" err="1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Cin</a:t>
            </a:r>
            <a:endParaRPr lang="en-US" sz="2000" dirty="0" smtClean="0">
              <a:solidFill>
                <a:srgbClr val="262626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18" t="4290" r="28989" b="53206"/>
          <a:stretch/>
        </p:blipFill>
        <p:spPr>
          <a:xfrm>
            <a:off x="1512182" y="3034690"/>
            <a:ext cx="5505120" cy="295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4945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Half Subtractor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955110" y="913604"/>
            <a:ext cx="7572484" cy="46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lvl="0" algn="just">
              <a:lnSpc>
                <a:spcPct val="90000"/>
              </a:lnSpc>
            </a:pPr>
            <a:r>
              <a:rPr lang="en-US" sz="2400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Diff = A  XOR B , Bo = A’</a:t>
            </a:r>
            <a:r>
              <a:rPr lang="en-US" sz="2400" b="1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.</a:t>
            </a:r>
            <a:r>
              <a:rPr lang="en-US" sz="2400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 B </a:t>
            </a: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graphicFrame>
        <p:nvGraphicFramePr>
          <p:cNvPr id="10" name="Google Shape;174;p21"/>
          <p:cNvGraphicFramePr/>
          <p:nvPr>
            <p:extLst>
              <p:ext uri="{D42A27DB-BD31-4B8C-83A1-F6EECF244321}">
                <p14:modId xmlns:p14="http://schemas.microsoft.com/office/powerpoint/2010/main" val="3275941242"/>
              </p:ext>
            </p:extLst>
          </p:nvPr>
        </p:nvGraphicFramePr>
        <p:xfrm>
          <a:off x="5004048" y="1216593"/>
          <a:ext cx="2797548" cy="243825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99387"/>
                <a:gridCol w="699387"/>
                <a:gridCol w="699387"/>
                <a:gridCol w="699387"/>
              </a:tblGrid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</a:t>
                      </a:r>
                      <a:endParaRPr sz="20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B</a:t>
                      </a:r>
                      <a:endParaRPr sz="20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Diff</a:t>
                      </a:r>
                      <a:endParaRPr sz="20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Bo</a:t>
                      </a:r>
                      <a:endParaRPr sz="20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484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396" t="17119" r="35302" b="28715"/>
          <a:stretch/>
        </p:blipFill>
        <p:spPr>
          <a:xfrm>
            <a:off x="849874" y="1268760"/>
            <a:ext cx="4198625" cy="287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357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Full Subtractor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955110" y="913604"/>
            <a:ext cx="7572484" cy="46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r>
              <a:rPr lang="en-US" sz="2400" b="1" dirty="0">
                <a:latin typeface="Fira Sans" charset="0"/>
              </a:rPr>
              <a:t>Full </a:t>
            </a:r>
            <a:r>
              <a:rPr lang="en-US" sz="2400" b="1" dirty="0" smtClean="0">
                <a:latin typeface="Fira Sans" charset="0"/>
              </a:rPr>
              <a:t>Subtractor</a:t>
            </a:r>
            <a:endParaRPr lang="en-US" sz="2400" b="1" dirty="0">
              <a:latin typeface="Fira Sans" charset="0"/>
            </a:endParaRPr>
          </a:p>
          <a:p>
            <a:r>
              <a:rPr lang="en-US" sz="2400" dirty="0">
                <a:latin typeface="Fira Sans" charset="0"/>
              </a:rPr>
              <a:t> </a:t>
            </a:r>
            <a:r>
              <a:rPr lang="en-US" sz="2400" dirty="0" smtClean="0">
                <a:latin typeface="Fira Sans" charset="0"/>
              </a:rPr>
              <a:t>Bout</a:t>
            </a:r>
            <a:r>
              <a:rPr lang="el-GR" sz="2400" dirty="0" smtClean="0">
                <a:latin typeface="Fira Sans" charset="0"/>
              </a:rPr>
              <a:t>  </a:t>
            </a:r>
            <a:r>
              <a:rPr lang="el-GR" sz="2400" dirty="0">
                <a:latin typeface="Fira Sans" charset="0"/>
              </a:rPr>
              <a:t>= Σ m </a:t>
            </a:r>
            <a:r>
              <a:rPr lang="el-GR" sz="2400" dirty="0" smtClean="0">
                <a:latin typeface="Fira Sans" charset="0"/>
              </a:rPr>
              <a:t>(</a:t>
            </a:r>
            <a:r>
              <a:rPr lang="en-US" sz="2400" dirty="0" smtClean="0">
                <a:latin typeface="Fira Sans" charset="0"/>
              </a:rPr>
              <a:t>1,2,3,7</a:t>
            </a:r>
            <a:r>
              <a:rPr lang="el-GR" sz="2400" dirty="0">
                <a:latin typeface="Fira Sans" charset="0"/>
              </a:rPr>
              <a:t>)</a:t>
            </a:r>
            <a:endParaRPr lang="en-US" sz="2400" dirty="0">
              <a:latin typeface="Fira Sans" charset="0"/>
            </a:endParaRPr>
          </a:p>
          <a:p>
            <a:r>
              <a:rPr lang="en-US" sz="2400" dirty="0">
                <a:latin typeface="Fira Sans" charset="0"/>
              </a:rPr>
              <a:t>          </a:t>
            </a:r>
            <a:endParaRPr lang="en-US" sz="2400" dirty="0" smtClean="0">
              <a:latin typeface="Fira Sans" charset="0"/>
            </a:endParaRPr>
          </a:p>
          <a:p>
            <a:endParaRPr lang="en-US" sz="2400" dirty="0">
              <a:latin typeface="Fira Sans" charset="0"/>
            </a:endParaRPr>
          </a:p>
          <a:p>
            <a:endParaRPr lang="en-US" sz="2400" dirty="0" smtClean="0">
              <a:latin typeface="Fira Sans" charset="0"/>
            </a:endParaRPr>
          </a:p>
          <a:p>
            <a:endParaRPr lang="en-US" sz="2400" dirty="0">
              <a:latin typeface="Fira Sans" charset="0"/>
            </a:endParaRPr>
          </a:p>
          <a:p>
            <a:endParaRPr lang="en-US" sz="2400" dirty="0" smtClean="0">
              <a:latin typeface="Fira Sans" charset="0"/>
            </a:endParaRPr>
          </a:p>
          <a:p>
            <a:endParaRPr lang="en-US" sz="2400" dirty="0">
              <a:latin typeface="Fira Sans" charset="0"/>
            </a:endParaRPr>
          </a:p>
          <a:p>
            <a:endParaRPr lang="en-US" sz="2400" dirty="0" smtClean="0">
              <a:latin typeface="Fira Sans" charset="0"/>
            </a:endParaRPr>
          </a:p>
          <a:p>
            <a:r>
              <a:rPr lang="en-US" sz="2400" dirty="0" smtClean="0">
                <a:latin typeface="Fira Sans" charset="0"/>
              </a:rPr>
              <a:t>Bout = </a:t>
            </a:r>
            <a:r>
              <a:rPr lang="en-US" sz="2400" dirty="0">
                <a:latin typeface="Fira Sans" charset="0"/>
              </a:rPr>
              <a:t>A’B+ </a:t>
            </a:r>
            <a:r>
              <a:rPr lang="en-US" sz="2400" dirty="0" err="1">
                <a:latin typeface="Fira Sans" charset="0"/>
              </a:rPr>
              <a:t>A’Bin</a:t>
            </a:r>
            <a:r>
              <a:rPr lang="en-US" sz="2400" dirty="0">
                <a:latin typeface="Fira Sans" charset="0"/>
              </a:rPr>
              <a:t> + B Bin</a:t>
            </a:r>
            <a:endParaRPr lang="el-GR" sz="2400" dirty="0">
              <a:latin typeface="Fira Sans" charset="0"/>
            </a:endParaRPr>
          </a:p>
          <a:p>
            <a:r>
              <a:rPr lang="el-GR" sz="2400" dirty="0">
                <a:latin typeface="Fira Sans" charset="0"/>
              </a:rPr>
              <a:t>Sum = Σ m (</a:t>
            </a:r>
            <a:r>
              <a:rPr lang="en-US" sz="2400" dirty="0">
                <a:latin typeface="Fira Sans" charset="0"/>
              </a:rPr>
              <a:t>1,2,4,7</a:t>
            </a:r>
            <a:r>
              <a:rPr lang="el-GR" sz="2400" dirty="0">
                <a:latin typeface="Fira Sans" charset="0"/>
              </a:rPr>
              <a:t>)</a:t>
            </a:r>
            <a:endParaRPr lang="en-US" sz="2400" dirty="0">
              <a:latin typeface="Fira Sans" charset="0"/>
            </a:endParaRPr>
          </a:p>
          <a:p>
            <a:r>
              <a:rPr lang="en-US" sz="2400" dirty="0">
                <a:latin typeface="Fira Sans" charset="0"/>
              </a:rPr>
              <a:t>	= A </a:t>
            </a:r>
            <a:r>
              <a:rPr lang="en-US" sz="2400" dirty="0" err="1">
                <a:latin typeface="Fira Sans" charset="0"/>
              </a:rPr>
              <a:t>xor</a:t>
            </a:r>
            <a:r>
              <a:rPr lang="en-US" sz="2400" dirty="0">
                <a:latin typeface="Fira Sans" charset="0"/>
              </a:rPr>
              <a:t> B </a:t>
            </a:r>
            <a:r>
              <a:rPr lang="en-US" sz="2400" dirty="0" err="1">
                <a:latin typeface="Fira Sans" charset="0"/>
              </a:rPr>
              <a:t>xor</a:t>
            </a:r>
            <a:r>
              <a:rPr lang="en-US" sz="2400" dirty="0">
                <a:latin typeface="Fira Sans" charset="0"/>
              </a:rPr>
              <a:t> B</a:t>
            </a:r>
            <a:r>
              <a:rPr lang="en-US" sz="2400" dirty="0" smtClean="0">
                <a:latin typeface="Fira Sans" charset="0"/>
              </a:rPr>
              <a:t>in</a:t>
            </a:r>
            <a:endParaRPr lang="el-GR" sz="2400" dirty="0">
              <a:latin typeface="Fira Sans" charset="0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20073" y="913604"/>
            <a:ext cx="330752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Fira Sans" charset="0"/>
              </a:rPr>
              <a:t>Full </a:t>
            </a:r>
            <a:r>
              <a:rPr lang="en-US" b="1" dirty="0" smtClean="0">
                <a:latin typeface="Fira Sans" charset="0"/>
              </a:rPr>
              <a:t>Subtractor </a:t>
            </a:r>
            <a:r>
              <a:rPr lang="en-US" b="1" dirty="0">
                <a:latin typeface="Fira Sans" charset="0"/>
              </a:rPr>
              <a:t>Truth </a:t>
            </a:r>
            <a:r>
              <a:rPr lang="en-US" b="1" dirty="0" smtClean="0">
                <a:latin typeface="Fira Sans" charset="0"/>
              </a:rPr>
              <a:t>Table</a:t>
            </a:r>
            <a:endParaRPr lang="en-US" b="1" dirty="0">
              <a:latin typeface="Fira Sans" charset="0"/>
            </a:endParaRP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2199940"/>
              </p:ext>
            </p:extLst>
          </p:nvPr>
        </p:nvGraphicFramePr>
        <p:xfrm>
          <a:off x="5097227" y="1483042"/>
          <a:ext cx="3240361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56"/>
                <a:gridCol w="576064"/>
                <a:gridCol w="672988"/>
                <a:gridCol w="892352"/>
                <a:gridCol w="594901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A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B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Bin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Diff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Bo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852230"/>
              </p:ext>
            </p:extLst>
          </p:nvPr>
        </p:nvGraphicFramePr>
        <p:xfrm>
          <a:off x="1043608" y="2234688"/>
          <a:ext cx="3312370" cy="1542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2474"/>
                <a:gridCol w="662474"/>
                <a:gridCol w="662474"/>
                <a:gridCol w="662474"/>
                <a:gridCol w="662474"/>
              </a:tblGrid>
              <a:tr h="75006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smtClean="0">
                          <a:latin typeface="Fira Sans" charset="0"/>
                        </a:rPr>
                        <a:t>AB/Bin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smtClean="0">
                          <a:latin typeface="Fira Sans" charset="0"/>
                        </a:rPr>
                        <a:t>00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smtClean="0">
                          <a:latin typeface="Fira Sans" charset="0"/>
                        </a:rPr>
                        <a:t>01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smtClean="0">
                          <a:latin typeface="Fira Sans" charset="0"/>
                        </a:rPr>
                        <a:t>11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smtClean="0">
                          <a:latin typeface="Fira Sans" charset="0"/>
                        </a:rPr>
                        <a:t>10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smtClean="0">
                          <a:latin typeface="Fira Sans" charset="0"/>
                        </a:rPr>
                        <a:t>0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smtClean="0">
                          <a:latin typeface="Fira Sans" charset="0"/>
                        </a:rPr>
                        <a:t>0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smtClean="0">
                          <a:latin typeface="Fira Sans" charset="0"/>
                        </a:rPr>
                        <a:t>1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smtClean="0">
                          <a:latin typeface="Fira Sans" charset="0"/>
                        </a:rPr>
                        <a:t>0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smtClean="0">
                          <a:latin typeface="Fira Sans" charset="0"/>
                        </a:rPr>
                        <a:t>0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smtClean="0">
                          <a:latin typeface="Fira Sans" charset="0"/>
                        </a:rPr>
                        <a:t>1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smtClean="0">
                          <a:latin typeface="Fira Sans" charset="0"/>
                        </a:rPr>
                        <a:t>1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smtClean="0">
                          <a:latin typeface="Fira Sans" charset="0"/>
                        </a:rPr>
                        <a:t>1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smtClean="0">
                          <a:latin typeface="Fira Sans" charset="0"/>
                        </a:rPr>
                        <a:t>1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 smtClean="0">
                          <a:latin typeface="Fira Sans" charset="0"/>
                        </a:rPr>
                        <a:t>0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" name="Ink 4"/>
              <p14:cNvContentPartPr/>
              <p14:nvPr/>
            </p14:nvContentPartPr>
            <p14:xfrm>
              <a:off x="1784520" y="2978280"/>
              <a:ext cx="1803600" cy="978120"/>
            </p14:xfrm>
          </p:contentPart>
        </mc:Choice>
        <mc:Fallback xmlns="">
          <p:pic>
            <p:nvPicPr>
              <p:cNvPr id="5" name="Ink 4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775160" y="2968920"/>
                <a:ext cx="1822320" cy="99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248636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Full Subtractor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539552" y="913604"/>
            <a:ext cx="7572484" cy="46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r>
              <a:rPr lang="en-US" sz="2400" b="1" dirty="0">
                <a:latin typeface="Fira Sans" charset="0"/>
              </a:rPr>
              <a:t>Full </a:t>
            </a:r>
            <a:r>
              <a:rPr lang="en-US" sz="2400" b="1" dirty="0" smtClean="0">
                <a:latin typeface="Fira Sans" charset="0"/>
              </a:rPr>
              <a:t>Subtractor</a:t>
            </a:r>
            <a:endParaRPr lang="en-US" sz="2400" b="1" dirty="0">
              <a:latin typeface="Fira Sans" charset="0"/>
            </a:endParaRPr>
          </a:p>
          <a:p>
            <a:r>
              <a:rPr lang="en-US" sz="2400" dirty="0">
                <a:latin typeface="Fira Sans" charset="0"/>
              </a:rPr>
              <a:t> </a:t>
            </a:r>
            <a:r>
              <a:rPr lang="en-US" sz="2400" dirty="0" smtClean="0">
                <a:latin typeface="Fira Sans" charset="0"/>
              </a:rPr>
              <a:t>Bout</a:t>
            </a:r>
            <a:r>
              <a:rPr lang="el-GR" sz="2400" dirty="0" smtClean="0">
                <a:latin typeface="Fira Sans" charset="0"/>
              </a:rPr>
              <a:t>  </a:t>
            </a:r>
            <a:r>
              <a:rPr lang="el-GR" sz="2400" dirty="0">
                <a:latin typeface="Fira Sans" charset="0"/>
              </a:rPr>
              <a:t>= Σ m </a:t>
            </a:r>
            <a:r>
              <a:rPr lang="el-GR" sz="2400" dirty="0" smtClean="0">
                <a:latin typeface="Fira Sans" charset="0"/>
              </a:rPr>
              <a:t>(</a:t>
            </a:r>
            <a:r>
              <a:rPr lang="en-US" sz="2400" dirty="0" smtClean="0">
                <a:latin typeface="Fira Sans" charset="0"/>
              </a:rPr>
              <a:t>1,2,3,7</a:t>
            </a:r>
            <a:r>
              <a:rPr lang="el-GR" sz="2400" dirty="0" smtClean="0">
                <a:latin typeface="Fira Sans" charset="0"/>
              </a:rPr>
              <a:t>)</a:t>
            </a:r>
            <a:endParaRPr lang="en-US" sz="2400" dirty="0" smtClean="0">
              <a:latin typeface="Fira Sans" charset="0"/>
            </a:endParaRPr>
          </a:p>
          <a:p>
            <a:r>
              <a:rPr lang="en-US" sz="2400" dirty="0" smtClean="0">
                <a:latin typeface="Fira Sans" charset="0"/>
              </a:rPr>
              <a:t>Bout = </a:t>
            </a:r>
            <a:r>
              <a:rPr lang="en-US" sz="2400" dirty="0">
                <a:latin typeface="Fira Sans" charset="0"/>
              </a:rPr>
              <a:t>A’B+ </a:t>
            </a:r>
            <a:r>
              <a:rPr lang="en-US" sz="2400" dirty="0" err="1">
                <a:latin typeface="Fira Sans" charset="0"/>
              </a:rPr>
              <a:t>A’Bin</a:t>
            </a:r>
            <a:r>
              <a:rPr lang="en-US" sz="2400" dirty="0">
                <a:latin typeface="Fira Sans" charset="0"/>
              </a:rPr>
              <a:t> + B Bin</a:t>
            </a:r>
            <a:endParaRPr lang="el-GR" sz="2400" dirty="0">
              <a:latin typeface="Fira Sans" charset="0"/>
            </a:endParaRPr>
          </a:p>
          <a:p>
            <a:r>
              <a:rPr lang="el-GR" sz="2400" dirty="0">
                <a:latin typeface="Fira Sans" charset="0"/>
              </a:rPr>
              <a:t>Sum = Σ m (</a:t>
            </a:r>
            <a:r>
              <a:rPr lang="en-US" sz="2400" dirty="0">
                <a:latin typeface="Fira Sans" charset="0"/>
              </a:rPr>
              <a:t>1,2,4,7</a:t>
            </a:r>
            <a:r>
              <a:rPr lang="el-GR" sz="2400" dirty="0">
                <a:latin typeface="Fira Sans" charset="0"/>
              </a:rPr>
              <a:t>)</a:t>
            </a:r>
            <a:endParaRPr lang="en-US" sz="2400" dirty="0">
              <a:latin typeface="Fira Sans" charset="0"/>
            </a:endParaRPr>
          </a:p>
          <a:p>
            <a:r>
              <a:rPr lang="en-US" sz="2400" dirty="0">
                <a:latin typeface="Fira Sans" charset="0"/>
              </a:rPr>
              <a:t>	= A </a:t>
            </a:r>
            <a:r>
              <a:rPr lang="en-US" sz="2400" dirty="0" err="1">
                <a:latin typeface="Fira Sans" charset="0"/>
              </a:rPr>
              <a:t>xor</a:t>
            </a:r>
            <a:r>
              <a:rPr lang="en-US" sz="2400" dirty="0">
                <a:latin typeface="Fira Sans" charset="0"/>
              </a:rPr>
              <a:t> B </a:t>
            </a:r>
            <a:r>
              <a:rPr lang="en-US" sz="2400" dirty="0" err="1">
                <a:latin typeface="Fira Sans" charset="0"/>
              </a:rPr>
              <a:t>xor</a:t>
            </a:r>
            <a:r>
              <a:rPr lang="en-US" sz="2400" dirty="0">
                <a:latin typeface="Fira Sans" charset="0"/>
              </a:rPr>
              <a:t> B</a:t>
            </a:r>
            <a:r>
              <a:rPr lang="en-US" sz="2400" dirty="0" smtClean="0">
                <a:latin typeface="Fira Sans" charset="0"/>
              </a:rPr>
              <a:t>in</a:t>
            </a:r>
            <a:endParaRPr lang="el-GR" sz="2400" dirty="0">
              <a:latin typeface="Fira Sans" charset="0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20" name="Ink 19"/>
              <p14:cNvContentPartPr/>
              <p14:nvPr/>
            </p14:nvContentPartPr>
            <p14:xfrm>
              <a:off x="5363094" y="1469293"/>
              <a:ext cx="20880" cy="20880"/>
            </p14:xfrm>
          </p:contentPart>
        </mc:Choice>
        <mc:Fallback xmlns="">
          <p:pic>
            <p:nvPicPr>
              <p:cNvPr id="20" name="Ink 19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345094" y="1451293"/>
                <a:ext cx="56880" cy="56880"/>
              </a:xfrm>
              <a:prstGeom prst="rect">
                <a:avLst/>
              </a:prstGeom>
            </p:spPr>
          </p:pic>
        </mc:Fallback>
      </mc:AlternateContent>
      <p:pic>
        <p:nvPicPr>
          <p:cNvPr id="21" name="Picture 20"/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935" t="17118" r="28006" b="27301"/>
          <a:stretch/>
        </p:blipFill>
        <p:spPr>
          <a:xfrm>
            <a:off x="4067945" y="1268760"/>
            <a:ext cx="4752528" cy="3311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0291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Full Subtractor using Half Subtractors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955110" y="913604"/>
            <a:ext cx="7572484" cy="46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lvl="0" algn="just">
              <a:lnSpc>
                <a:spcPct val="90000"/>
              </a:lnSpc>
            </a:pPr>
            <a:r>
              <a:rPr lang="en-US" sz="2400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Diff = A  XOR B XOR Bin</a:t>
            </a:r>
          </a:p>
          <a:p>
            <a:pPr lvl="0" algn="just">
              <a:lnSpc>
                <a:spcPct val="90000"/>
              </a:lnSpc>
            </a:pPr>
            <a:r>
              <a:rPr lang="en-US" sz="2400" dirty="0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Bo =</a:t>
            </a:r>
            <a:r>
              <a:rPr lang="en-US" sz="2400" dirty="0" err="1" smtClean="0">
                <a:solidFill>
                  <a:srgbClr val="262626"/>
                </a:solidFill>
                <a:latin typeface="Fira Sans"/>
                <a:ea typeface="Fira Sans"/>
                <a:cs typeface="Fira Sans"/>
                <a:sym typeface="Fira Sans"/>
              </a:rPr>
              <a:t>A’B+A’Bin+BBin</a:t>
            </a:r>
            <a:endParaRPr lang="en-US" sz="2400" dirty="0" smtClean="0">
              <a:solidFill>
                <a:srgbClr val="262626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20073" y="913604"/>
            <a:ext cx="330752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Fira Sans" charset="0"/>
              </a:rPr>
              <a:t>Full </a:t>
            </a:r>
            <a:r>
              <a:rPr lang="en-US" b="1" dirty="0" smtClean="0">
                <a:latin typeface="Fira Sans" charset="0"/>
              </a:rPr>
              <a:t>Subtractor </a:t>
            </a:r>
            <a:r>
              <a:rPr lang="en-US" b="1" dirty="0">
                <a:latin typeface="Fira Sans" charset="0"/>
              </a:rPr>
              <a:t>Truth </a:t>
            </a:r>
            <a:r>
              <a:rPr lang="en-US" b="1" dirty="0" smtClean="0">
                <a:latin typeface="Fira Sans" charset="0"/>
              </a:rPr>
              <a:t>Table</a:t>
            </a:r>
            <a:endParaRPr lang="en-US" b="1" dirty="0">
              <a:latin typeface="Fira Sans" charset="0"/>
            </a:endParaRP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3693960"/>
              </p:ext>
            </p:extLst>
          </p:nvPr>
        </p:nvGraphicFramePr>
        <p:xfrm>
          <a:off x="5097227" y="1483042"/>
          <a:ext cx="3240361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56"/>
                <a:gridCol w="576064"/>
                <a:gridCol w="672988"/>
                <a:gridCol w="892352"/>
                <a:gridCol w="594901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A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B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Bin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Diff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Bo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200" dirty="0" smtClean="0">
                          <a:latin typeface="Fira Sans" charset="0"/>
                        </a:rPr>
                        <a:t>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97" t="23909" r="26758" b="37549"/>
          <a:stretch/>
        </p:blipFill>
        <p:spPr>
          <a:xfrm>
            <a:off x="183595" y="1628776"/>
            <a:ext cx="4892461" cy="2069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3267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4 </a:t>
            </a:r>
            <a:r>
              <a:rPr lang="en-US" sz="3000" b="1" dirty="0">
                <a:solidFill>
                  <a:srgbClr val="C00000"/>
                </a:solidFill>
                <a:latin typeface="Marcellus" charset="0"/>
              </a:rPr>
              <a:t>bit adder using full </a:t>
            </a:r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Adder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955110" y="913604"/>
            <a:ext cx="7572484" cy="46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914400" lvl="0">
              <a:lnSpc>
                <a:spcPct val="90000"/>
              </a:lnSpc>
            </a:pPr>
            <a:endParaRPr lang="en-US" sz="2400" dirty="0" smtClean="0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pic>
        <p:nvPicPr>
          <p:cNvPr id="10" name="Picture 2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72" t="15281" r="17921" b="9589"/>
          <a:stretch/>
        </p:blipFill>
        <p:spPr bwMode="auto">
          <a:xfrm>
            <a:off x="668094" y="814938"/>
            <a:ext cx="7359804" cy="48366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83097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4 </a:t>
            </a:r>
            <a:r>
              <a:rPr lang="en-US" sz="3000" b="1" dirty="0">
                <a:solidFill>
                  <a:srgbClr val="C00000"/>
                </a:solidFill>
                <a:latin typeface="Marcellus" charset="0"/>
              </a:rPr>
              <a:t>bit adder </a:t>
            </a:r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IC 7483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955110" y="913604"/>
            <a:ext cx="7572484" cy="46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914400" lvl="0">
              <a:lnSpc>
                <a:spcPct val="90000"/>
              </a:lnSpc>
            </a:pPr>
            <a:endParaRPr lang="en-US" sz="2400" dirty="0" smtClean="0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pic>
        <p:nvPicPr>
          <p:cNvPr id="11" name="Picture 2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112" t="15880" r="17163" b="25543"/>
          <a:stretch/>
        </p:blipFill>
        <p:spPr bwMode="auto">
          <a:xfrm>
            <a:off x="1115616" y="980728"/>
            <a:ext cx="7037798" cy="40171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853793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Controlled Adder Subtractor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3"/>
          <p:cNvSpPr txBox="1"/>
          <p:nvPr/>
        </p:nvSpPr>
        <p:spPr>
          <a:xfrm>
            <a:off x="955110" y="943191"/>
            <a:ext cx="7572484" cy="46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algn="just">
              <a:buClr>
                <a:srgbClr val="000000"/>
              </a:buClr>
              <a:buSzPts val="2900"/>
            </a:pPr>
            <a:r>
              <a:rPr lang="en-US" sz="2000" b="1" dirty="0" smtClean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Circuit which can be Controlled as adder as well as subtractor</a:t>
            </a:r>
          </a:p>
          <a:p>
            <a:pPr marL="320040" algn="just">
              <a:buClr>
                <a:srgbClr val="000000"/>
              </a:buClr>
              <a:buSzPts val="2900"/>
            </a:pPr>
            <a:r>
              <a:rPr lang="en-US" sz="2000" b="1" dirty="0" smtClean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If control input C = 0 …Adder</a:t>
            </a:r>
          </a:p>
          <a:p>
            <a:pPr marL="320040" algn="just">
              <a:buClr>
                <a:srgbClr val="000000"/>
              </a:buClr>
              <a:buSzPts val="2900"/>
            </a:pPr>
            <a:r>
              <a:rPr lang="en-US" sz="2000" b="1" dirty="0" smtClean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If Control input C = 1 …Subtractor</a:t>
            </a:r>
          </a:p>
          <a:p>
            <a:pPr marL="320040" algn="just">
              <a:buClr>
                <a:srgbClr val="000000"/>
              </a:buClr>
              <a:buSzPts val="2900"/>
            </a:pPr>
            <a:r>
              <a:rPr lang="en-US" sz="2000" b="1" dirty="0" smtClean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Addition		          Subtraction:  by 2’s complement</a:t>
            </a:r>
          </a:p>
          <a:p>
            <a:pPr marL="320040" algn="just">
              <a:buClr>
                <a:srgbClr val="000000"/>
              </a:buClr>
              <a:buSzPts val="2900"/>
            </a:pPr>
            <a:endParaRPr lang="en-US"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algn="just">
              <a:buClr>
                <a:srgbClr val="000000"/>
              </a:buClr>
              <a:buSzPts val="2900"/>
            </a:pPr>
            <a:endParaRPr lang="en-US" sz="2000" b="1" dirty="0" smtClean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algn="just">
              <a:buClr>
                <a:srgbClr val="000000"/>
              </a:buClr>
              <a:buSzPts val="2900"/>
            </a:pPr>
            <a:endParaRPr lang="en-US"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algn="just">
              <a:buClr>
                <a:srgbClr val="000000"/>
              </a:buClr>
              <a:buSzPts val="2900"/>
            </a:pPr>
            <a:endParaRPr lang="en-US" sz="2000" b="1" dirty="0" smtClean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algn="just">
              <a:buClr>
                <a:srgbClr val="000000"/>
              </a:buClr>
              <a:buSzPts val="2900"/>
            </a:pPr>
            <a:endParaRPr lang="en-US"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algn="just">
              <a:buClr>
                <a:srgbClr val="000000"/>
              </a:buClr>
              <a:buSzPts val="2900"/>
            </a:pPr>
            <a:endParaRPr lang="en-US" sz="2000" b="1" dirty="0" smtClean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algn="just">
              <a:buClr>
                <a:srgbClr val="000000"/>
              </a:buClr>
              <a:buSzPts val="2900"/>
            </a:pPr>
            <a:r>
              <a:rPr lang="en-US" sz="2000" b="1" dirty="0" smtClean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1’s complement of B can be obtained by 4 XOR gates as</a:t>
            </a:r>
          </a:p>
          <a:p>
            <a:pPr marL="320040" algn="just">
              <a:buClr>
                <a:srgbClr val="000000"/>
              </a:buClr>
              <a:buSzPts val="2900"/>
            </a:pPr>
            <a:r>
              <a:rPr lang="en-US" sz="2000" b="1" dirty="0" smtClean="0">
                <a:solidFill>
                  <a:srgbClr val="FF0000"/>
                </a:solidFill>
                <a:latin typeface="Fira Sans"/>
                <a:ea typeface="Fira Sans"/>
                <a:cs typeface="Fira Sans"/>
                <a:sym typeface="Fira Sans"/>
              </a:rPr>
              <a:t>1 </a:t>
            </a:r>
            <a:r>
              <a:rPr lang="en-US" sz="2000" b="1" dirty="0" err="1" smtClean="0">
                <a:solidFill>
                  <a:srgbClr val="FF0000"/>
                </a:solidFill>
                <a:latin typeface="Fira Sans"/>
                <a:ea typeface="Fira Sans"/>
                <a:cs typeface="Fira Sans"/>
                <a:sym typeface="Fira Sans"/>
              </a:rPr>
              <a:t>xor</a:t>
            </a:r>
            <a:r>
              <a:rPr lang="en-US" sz="2000" b="1" dirty="0" smtClean="0">
                <a:solidFill>
                  <a:srgbClr val="FF0000"/>
                </a:solidFill>
                <a:latin typeface="Fira Sans"/>
                <a:ea typeface="Fira Sans"/>
                <a:cs typeface="Fira Sans"/>
                <a:sym typeface="Fira Sans"/>
              </a:rPr>
              <a:t> A  = A’ , 0 </a:t>
            </a:r>
            <a:r>
              <a:rPr lang="en-US" sz="2000" b="1" dirty="0" err="1" smtClean="0">
                <a:solidFill>
                  <a:srgbClr val="FF0000"/>
                </a:solidFill>
                <a:latin typeface="Fira Sans"/>
                <a:ea typeface="Fira Sans"/>
                <a:cs typeface="Fira Sans"/>
                <a:sym typeface="Fira Sans"/>
              </a:rPr>
              <a:t>xor</a:t>
            </a:r>
            <a:r>
              <a:rPr lang="en-US" sz="2000" b="1" dirty="0" smtClean="0">
                <a:solidFill>
                  <a:srgbClr val="FF0000"/>
                </a:solidFill>
                <a:latin typeface="Fira Sans"/>
                <a:ea typeface="Fira Sans"/>
                <a:cs typeface="Fira Sans"/>
                <a:sym typeface="Fira Sans"/>
              </a:rPr>
              <a:t> A  = A </a:t>
            </a: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679312"/>
              </p:ext>
            </p:extLst>
          </p:nvPr>
        </p:nvGraphicFramePr>
        <p:xfrm>
          <a:off x="683568" y="2636912"/>
          <a:ext cx="3424790" cy="161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/>
                <a:gridCol w="648072"/>
                <a:gridCol w="648072"/>
                <a:gridCol w="576064"/>
                <a:gridCol w="616478"/>
              </a:tblGrid>
              <a:tr h="370840">
                <a:tc>
                  <a:txBody>
                    <a:bodyPr/>
                    <a:lstStyle/>
                    <a:p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A3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A2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A1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A0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+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B3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B2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B1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B0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C3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C2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C1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C0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>
                          <a:latin typeface="Fira Sans" charset="0"/>
                        </a:rPr>
                        <a:t>Cout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Fira Sans" charset="0"/>
                        </a:rPr>
                        <a:t>S3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Fira Sans" charset="0"/>
                        </a:rPr>
                        <a:t>S2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Fira Sans" charset="0"/>
                        </a:rPr>
                        <a:t>S1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Fira Sans" charset="0"/>
                        </a:rPr>
                        <a:t>S0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0346968"/>
              </p:ext>
            </p:extLst>
          </p:nvPr>
        </p:nvGraphicFramePr>
        <p:xfrm>
          <a:off x="4576598" y="2636912"/>
          <a:ext cx="3424790" cy="161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/>
                <a:gridCol w="648072"/>
                <a:gridCol w="648072"/>
                <a:gridCol w="576064"/>
                <a:gridCol w="616478"/>
              </a:tblGrid>
              <a:tr h="370840">
                <a:tc>
                  <a:txBody>
                    <a:bodyPr/>
                    <a:lstStyle/>
                    <a:p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A3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A2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A1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A0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+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B3’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B2’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B1’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B0’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C3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C2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C1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C0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>
                          <a:latin typeface="Fira Sans" charset="0"/>
                        </a:rPr>
                        <a:t>1</a:t>
                      </a:r>
                      <a:endParaRPr lang="en-IN" sz="2000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>
                          <a:latin typeface="Fira Sans" charset="0"/>
                        </a:rPr>
                        <a:t>Cout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Fira Sans" charset="0"/>
                        </a:rPr>
                        <a:t>S3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Fira Sans" charset="0"/>
                        </a:rPr>
                        <a:t>S2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Fira Sans" charset="0"/>
                        </a:rPr>
                        <a:t>S1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>
                          <a:latin typeface="Fira Sans" charset="0"/>
                        </a:rPr>
                        <a:t>S0</a:t>
                      </a:r>
                      <a:endParaRPr lang="en-IN" sz="2200" dirty="0">
                        <a:latin typeface="Fira Sans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923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Controlled Adder Subtractor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3"/>
          <p:cNvSpPr txBox="1"/>
          <p:nvPr/>
        </p:nvSpPr>
        <p:spPr>
          <a:xfrm>
            <a:off x="955110" y="913604"/>
            <a:ext cx="7572484" cy="46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062" y="913604"/>
            <a:ext cx="7488037" cy="4278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097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2:1 Multiplexers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967340" y="958326"/>
            <a:ext cx="4108716" cy="1276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lvl="0"/>
            <a:r>
              <a:rPr lang="en-US" sz="2200" dirty="0" smtClean="0">
                <a:latin typeface="Fira Sans"/>
                <a:ea typeface="Fira Sans"/>
                <a:cs typeface="Fira Sans"/>
                <a:sym typeface="Fira Sans"/>
              </a:rPr>
              <a:t>Y = S0’.I0 + S0. I1</a:t>
            </a: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r>
              <a:rPr lang="en-US" sz="2200" dirty="0" smtClean="0">
                <a:latin typeface="Fira Sans"/>
                <a:ea typeface="Fira Sans"/>
                <a:cs typeface="Fira Sans"/>
                <a:sym typeface="Fira Sans"/>
              </a:rPr>
              <a:t>	</a:t>
            </a: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graphicFrame>
        <p:nvGraphicFramePr>
          <p:cNvPr id="11" name="Google Shape;174;p21"/>
          <p:cNvGraphicFramePr/>
          <p:nvPr>
            <p:extLst>
              <p:ext uri="{D42A27DB-BD31-4B8C-83A1-F6EECF244321}">
                <p14:modId xmlns:p14="http://schemas.microsoft.com/office/powerpoint/2010/main" val="3218793950"/>
              </p:ext>
            </p:extLst>
          </p:nvPr>
        </p:nvGraphicFramePr>
        <p:xfrm>
          <a:off x="5796136" y="961155"/>
          <a:ext cx="1728192" cy="146295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64096"/>
                <a:gridCol w="864096"/>
              </a:tblGrid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S0</a:t>
                      </a:r>
                      <a:endParaRPr sz="20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Y</a:t>
                      </a:r>
                      <a:endParaRPr sz="2000" b="1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484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I0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I1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03" t="24896" r="33188" b="28432"/>
          <a:stretch/>
        </p:blipFill>
        <p:spPr>
          <a:xfrm>
            <a:off x="467544" y="2251690"/>
            <a:ext cx="4725460" cy="285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097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4:1 Multiplexers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967340" y="958326"/>
            <a:ext cx="4108716" cy="1276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lvl="0"/>
            <a:r>
              <a:rPr lang="en-US" sz="2200" dirty="0" smtClean="0">
                <a:latin typeface="Fira Sans"/>
                <a:ea typeface="Fira Sans"/>
                <a:cs typeface="Fira Sans"/>
                <a:sym typeface="Fira Sans"/>
              </a:rPr>
              <a:t>Y = S0’.I0 + S0. I1</a:t>
            </a: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r>
              <a:rPr lang="en-US" sz="2200" dirty="0" smtClean="0">
                <a:latin typeface="Fira Sans"/>
                <a:ea typeface="Fira Sans"/>
                <a:cs typeface="Fira Sans"/>
                <a:sym typeface="Fira Sans"/>
              </a:rPr>
              <a:t>	</a:t>
            </a: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03" t="24896" r="33188" b="28432"/>
          <a:stretch/>
        </p:blipFill>
        <p:spPr>
          <a:xfrm>
            <a:off x="467544" y="2251690"/>
            <a:ext cx="4725460" cy="285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6756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4:1 Multiplexers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323528" y="840016"/>
            <a:ext cx="5869597" cy="5062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lvl="0"/>
            <a:r>
              <a:rPr lang="en-US" sz="2200" b="1" dirty="0" smtClean="0">
                <a:latin typeface="Fira Sans"/>
                <a:ea typeface="Fira Sans"/>
                <a:cs typeface="Fira Sans"/>
                <a:sym typeface="Fira Sans"/>
              </a:rPr>
              <a:t>4:1 Multiplexer</a:t>
            </a:r>
            <a:r>
              <a:rPr lang="en-US" sz="2200" dirty="0" smtClean="0">
                <a:latin typeface="Fira Sans"/>
                <a:ea typeface="Fira Sans"/>
                <a:cs typeface="Fira Sans"/>
                <a:sym typeface="Fira Sans"/>
              </a:rPr>
              <a:t> </a:t>
            </a:r>
          </a:p>
          <a:p>
            <a:pPr lvl="0"/>
            <a:r>
              <a:rPr lang="en-US" sz="2200" dirty="0" smtClean="0">
                <a:latin typeface="Fira Sans"/>
                <a:ea typeface="Fira Sans"/>
                <a:cs typeface="Fira Sans"/>
                <a:sym typeface="Fira Sans"/>
              </a:rPr>
              <a:t>Y = S1’.S0’.I0 + S1’.S0.I1+S1.S0’.I2+S1.S0.I3</a:t>
            </a: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r>
              <a:rPr lang="en-US" sz="2200" dirty="0" smtClean="0">
                <a:latin typeface="Fira Sans"/>
                <a:ea typeface="Fira Sans"/>
                <a:cs typeface="Fira Sans"/>
                <a:sym typeface="Fira Sans"/>
              </a:rPr>
              <a:t>	</a:t>
            </a: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pic>
        <p:nvPicPr>
          <p:cNvPr id="10" name="Google Shape;185;p22"/>
          <p:cNvPicPr preferRelativeResize="0"/>
          <p:nvPr/>
        </p:nvPicPr>
        <p:blipFill rotWithShape="1">
          <a:blip r:embed="rId7">
            <a:alphaModFix/>
          </a:blip>
          <a:srcRect l="28513" t="21961" r="11834" b="11651"/>
          <a:stretch/>
        </p:blipFill>
        <p:spPr>
          <a:xfrm>
            <a:off x="395536" y="1628800"/>
            <a:ext cx="5326668" cy="312294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" name="Google Shape;174;p21"/>
          <p:cNvGraphicFramePr/>
          <p:nvPr>
            <p:extLst>
              <p:ext uri="{D42A27DB-BD31-4B8C-83A1-F6EECF244321}">
                <p14:modId xmlns:p14="http://schemas.microsoft.com/office/powerpoint/2010/main" val="2150177445"/>
              </p:ext>
            </p:extLst>
          </p:nvPr>
        </p:nvGraphicFramePr>
        <p:xfrm>
          <a:off x="6300192" y="933247"/>
          <a:ext cx="2592288" cy="243825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64096"/>
                <a:gridCol w="864096"/>
                <a:gridCol w="864096"/>
              </a:tblGrid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S1</a:t>
                      </a:r>
                      <a:endParaRPr sz="20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S0</a:t>
                      </a:r>
                      <a:endParaRPr sz="20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Y</a:t>
                      </a:r>
                      <a:endParaRPr sz="2000" b="1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484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I0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I1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I2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I3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35569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4:1 Multiplexers using 2:1 Mux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323528" y="840016"/>
            <a:ext cx="5869597" cy="50629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lvl="0"/>
            <a:r>
              <a:rPr lang="en-US" sz="2200" b="1" dirty="0" smtClean="0">
                <a:latin typeface="Fira Sans"/>
                <a:ea typeface="Fira Sans"/>
                <a:cs typeface="Fira Sans"/>
                <a:sym typeface="Fira Sans"/>
              </a:rPr>
              <a:t>4:1 Multiplexer</a:t>
            </a:r>
            <a:r>
              <a:rPr lang="en-US" sz="2200" dirty="0" smtClean="0">
                <a:latin typeface="Fira Sans"/>
                <a:ea typeface="Fira Sans"/>
                <a:cs typeface="Fira Sans"/>
                <a:sym typeface="Fira Sans"/>
              </a:rPr>
              <a:t> </a:t>
            </a:r>
          </a:p>
          <a:p>
            <a:pPr lvl="0"/>
            <a:r>
              <a:rPr lang="en-US" sz="2200" dirty="0" smtClean="0">
                <a:latin typeface="Fira Sans"/>
                <a:ea typeface="Fira Sans"/>
                <a:cs typeface="Fira Sans"/>
                <a:sym typeface="Fira Sans"/>
              </a:rPr>
              <a:t>Y = S1’.S0’.I0 + S1’.S0.I1+S1.S0’.I2+S1.S0.I3</a:t>
            </a: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endParaRPr lang="en-US" sz="2200" dirty="0" smtClean="0">
              <a:latin typeface="Fira Sans"/>
              <a:ea typeface="Fira Sans"/>
              <a:cs typeface="Fira Sans"/>
              <a:sym typeface="Fira Sans"/>
            </a:endParaRPr>
          </a:p>
          <a:p>
            <a:pPr lvl="0"/>
            <a:r>
              <a:rPr lang="en-US" sz="2200" dirty="0" smtClean="0">
                <a:latin typeface="Fira Sans"/>
                <a:ea typeface="Fira Sans"/>
                <a:cs typeface="Fira Sans"/>
                <a:sym typeface="Fira Sans"/>
              </a:rPr>
              <a:t>	</a:t>
            </a: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graphicFrame>
        <p:nvGraphicFramePr>
          <p:cNvPr id="12" name="Google Shape;174;p21"/>
          <p:cNvGraphicFramePr/>
          <p:nvPr>
            <p:extLst>
              <p:ext uri="{D42A27DB-BD31-4B8C-83A1-F6EECF244321}">
                <p14:modId xmlns:p14="http://schemas.microsoft.com/office/powerpoint/2010/main" val="1030038604"/>
              </p:ext>
            </p:extLst>
          </p:nvPr>
        </p:nvGraphicFramePr>
        <p:xfrm>
          <a:off x="6227148" y="1628800"/>
          <a:ext cx="2592288" cy="243825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64096"/>
                <a:gridCol w="864096"/>
                <a:gridCol w="864096"/>
              </a:tblGrid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S1</a:t>
                      </a:r>
                      <a:endParaRPr sz="20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S0</a:t>
                      </a:r>
                      <a:endParaRPr sz="20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Y</a:t>
                      </a:r>
                      <a:endParaRPr sz="2000" b="1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484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I0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I1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I2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I3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017" t="17118" r="25478" b="23906"/>
          <a:stretch/>
        </p:blipFill>
        <p:spPr>
          <a:xfrm>
            <a:off x="741608" y="1916832"/>
            <a:ext cx="5449570" cy="3156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043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Multiplexer Tree : 8:1 using 4:1 Mux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955110" y="913604"/>
            <a:ext cx="7572484" cy="46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08" t="3682" r="20543" b="12874"/>
          <a:stretch/>
        </p:blipFill>
        <p:spPr>
          <a:xfrm>
            <a:off x="1691680" y="993782"/>
            <a:ext cx="6641226" cy="4442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097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Multiplexer Tree …16:1 using 4:1 Mux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955110" y="913604"/>
            <a:ext cx="7572484" cy="46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pic>
        <p:nvPicPr>
          <p:cNvPr id="10" name="Google Shape;207;p24"/>
          <p:cNvPicPr preferRelativeResize="0"/>
          <p:nvPr/>
        </p:nvPicPr>
        <p:blipFill rotWithShape="1">
          <a:blip r:embed="rId7">
            <a:alphaModFix/>
          </a:blip>
          <a:srcRect l="32662" t="25323" r="14365" b="14555"/>
          <a:stretch/>
        </p:blipFill>
        <p:spPr>
          <a:xfrm>
            <a:off x="108381" y="900050"/>
            <a:ext cx="7872849" cy="496474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830979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Multiplexers 8:1 : IC 74151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955110" y="913604"/>
            <a:ext cx="7572484" cy="46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pic>
        <p:nvPicPr>
          <p:cNvPr id="3074" name="Picture 2" descr="https://sginfobmt.wordpress.com/wp-content/uploads/2014/09/092714_1512_multiplexer2.png?w=960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784" y="1054753"/>
            <a:ext cx="3038475" cy="1990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https://sginfobmt.wordpress.com/wp-content/uploads/2014/09/092714_1512_multiplexer5.png?w=960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3045478"/>
            <a:ext cx="59817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851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Dual 4:1 Mux  IC 74153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sp>
        <p:nvSpPr>
          <p:cNvPr id="2" name="AutoShape 2" descr="Analysis of a 4-Way Integrated Multiplexer ; the 74153 ..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" name="AutoShape 4" descr="Analysis of a 4-Way Integrated Multiplexer ; the 74153 ...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5126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775" y="1173447"/>
            <a:ext cx="3526869" cy="26656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5" name="Rectangle 7"/>
          <p:cNvSpPr>
            <a:spLocks noChangeArrowheads="1"/>
          </p:cNvSpPr>
          <p:nvPr/>
        </p:nvSpPr>
        <p:spPr bwMode="auto">
          <a:xfrm>
            <a:off x="5220071" y="988781"/>
            <a:ext cx="1411669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dirty="0" smtClean="0">
                <a:ln>
                  <a:noFill/>
                </a:ln>
                <a:solidFill>
                  <a:srgbClr val="000000"/>
                </a:solidFill>
                <a:effectLst/>
                <a:latin typeface="Fira Sans" charset="0"/>
                <a:cs typeface="Times New Roman" pitchFamily="18" charset="0"/>
              </a:rPr>
              <a:t>Truth Table</a:t>
            </a:r>
            <a:endParaRPr kumimoji="0" lang="en-US" sz="1800" b="0" i="0" u="none" strike="noStrike" cap="none" normalizeH="0" dirty="0" smtClean="0">
              <a:ln>
                <a:noFill/>
              </a:ln>
              <a:solidFill>
                <a:schemeClr val="tx1"/>
              </a:solidFill>
              <a:effectLst/>
              <a:latin typeface="Fira Sans" charset="0"/>
              <a:cs typeface="Arial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37433"/>
              </p:ext>
            </p:extLst>
          </p:nvPr>
        </p:nvGraphicFramePr>
        <p:xfrm>
          <a:off x="4577132" y="1358113"/>
          <a:ext cx="362406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6016"/>
                <a:gridCol w="906016"/>
                <a:gridCol w="726015"/>
                <a:gridCol w="1086017"/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tx1"/>
                          </a:solidFill>
                          <a:latin typeface="Fira Sans" charset="0"/>
                        </a:rPr>
                        <a:t>Inputs</a:t>
                      </a:r>
                      <a:endParaRPr lang="en-IN" dirty="0">
                        <a:solidFill>
                          <a:schemeClr val="tx1"/>
                        </a:solidFill>
                        <a:latin typeface="Fira Sans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solidFill>
                            <a:schemeClr val="tx1"/>
                          </a:solidFill>
                          <a:latin typeface="Fira Sans" charset="0"/>
                        </a:rPr>
                        <a:t>Output</a:t>
                      </a:r>
                      <a:endParaRPr lang="en-IN" dirty="0">
                        <a:solidFill>
                          <a:schemeClr val="tx1"/>
                        </a:solidFill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 smtClean="0">
                          <a:solidFill>
                            <a:schemeClr val="tx1"/>
                          </a:solidFill>
                          <a:latin typeface="Fira Sans" charset="0"/>
                          <a:ea typeface="+mn-ea"/>
                          <a:cs typeface="+mn-cs"/>
                        </a:rPr>
                        <a:t>B</a:t>
                      </a:r>
                      <a:endParaRPr lang="en-IN" sz="1800" b="1" kern="1200" dirty="0">
                        <a:solidFill>
                          <a:schemeClr val="tx1"/>
                        </a:solidFill>
                        <a:latin typeface="Fira Sans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 smtClean="0">
                          <a:solidFill>
                            <a:schemeClr val="tx1"/>
                          </a:solidFill>
                          <a:latin typeface="Fira Sans" charset="0"/>
                          <a:ea typeface="+mn-ea"/>
                          <a:cs typeface="+mn-cs"/>
                        </a:rPr>
                        <a:t>A</a:t>
                      </a:r>
                      <a:endParaRPr lang="en-IN" sz="1800" b="1" kern="1200" dirty="0">
                        <a:solidFill>
                          <a:schemeClr val="tx1"/>
                        </a:solidFill>
                        <a:latin typeface="Fira Sans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 smtClean="0">
                          <a:solidFill>
                            <a:schemeClr val="tx1"/>
                          </a:solidFill>
                          <a:latin typeface="Fira Sans" charset="0"/>
                          <a:ea typeface="+mn-ea"/>
                          <a:cs typeface="+mn-cs"/>
                        </a:rPr>
                        <a:t>G’</a:t>
                      </a:r>
                      <a:endParaRPr lang="en-IN" sz="1800" b="1" kern="1200" dirty="0">
                        <a:solidFill>
                          <a:schemeClr val="tx1"/>
                        </a:solidFill>
                        <a:latin typeface="Fira Sans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 smtClean="0">
                          <a:solidFill>
                            <a:schemeClr val="tx1"/>
                          </a:solidFill>
                          <a:latin typeface="Fira Sans" charset="0"/>
                          <a:ea typeface="+mn-ea"/>
                          <a:cs typeface="+mn-cs"/>
                        </a:rPr>
                        <a:t>Y</a:t>
                      </a:r>
                      <a:endParaRPr lang="en-IN" sz="1800" b="1" kern="1200" dirty="0">
                        <a:solidFill>
                          <a:schemeClr val="tx1"/>
                        </a:solidFill>
                        <a:latin typeface="Fira Sans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X</a:t>
                      </a:r>
                      <a:endParaRPr lang="en-IN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X</a:t>
                      </a:r>
                      <a:endParaRPr lang="en-IN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1</a:t>
                      </a:r>
                      <a:endParaRPr lang="en-IN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0</a:t>
                      </a:r>
                      <a:endParaRPr lang="en-IN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0</a:t>
                      </a:r>
                      <a:endParaRPr lang="en-IN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0</a:t>
                      </a:r>
                      <a:endParaRPr lang="en-IN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0</a:t>
                      </a:r>
                      <a:endParaRPr lang="en-IN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D0</a:t>
                      </a:r>
                      <a:endParaRPr lang="en-IN" dirty="0">
                        <a:latin typeface="Fira Sans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0</a:t>
                      </a:r>
                      <a:endParaRPr lang="en-IN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1</a:t>
                      </a:r>
                      <a:endParaRPr lang="en-IN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0</a:t>
                      </a:r>
                      <a:endParaRPr lang="en-IN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D1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1</a:t>
                      </a:r>
                      <a:endParaRPr lang="en-IN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0</a:t>
                      </a:r>
                      <a:endParaRPr lang="en-IN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0</a:t>
                      </a:r>
                      <a:endParaRPr lang="en-IN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D2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1</a:t>
                      </a:r>
                      <a:endParaRPr lang="en-IN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1</a:t>
                      </a:r>
                      <a:endParaRPr lang="en-IN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0</a:t>
                      </a:r>
                      <a:endParaRPr lang="en-IN" dirty="0">
                        <a:latin typeface="Fira Sans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smtClean="0">
                          <a:latin typeface="Fira Sans" charset="0"/>
                        </a:rPr>
                        <a:t>D3</a:t>
                      </a: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9892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5"/>
          <p:cNvSpPr txBox="1">
            <a:spLocks noGrp="1"/>
          </p:cNvSpPr>
          <p:nvPr>
            <p:ph type="title"/>
          </p:nvPr>
        </p:nvSpPr>
        <p:spPr>
          <a:xfrm>
            <a:off x="300791" y="191861"/>
            <a:ext cx="8546850" cy="72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C00000"/>
                </a:solidFill>
                <a:latin typeface="Marcellus"/>
                <a:ea typeface="Marcellus"/>
                <a:cs typeface="Marcellus"/>
                <a:sym typeface="Marcellus"/>
              </a:rPr>
              <a:t>Decoder</a:t>
            </a:r>
            <a:endParaRPr sz="3600" dirty="0"/>
          </a:p>
        </p:txBody>
      </p:sp>
      <p:pic>
        <p:nvPicPr>
          <p:cNvPr id="213" name="Google Shape;213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9"/>
            <a:ext cx="385984" cy="9177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7"/>
            <a:ext cx="176409" cy="69997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5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00" cy="7218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5"/>
          <p:cNvSpPr txBox="1"/>
          <p:nvPr/>
        </p:nvSpPr>
        <p:spPr>
          <a:xfrm>
            <a:off x="702675" y="809825"/>
            <a:ext cx="7738650" cy="455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600" dirty="0">
                <a:latin typeface="Fira Sans"/>
                <a:ea typeface="Fira Sans"/>
                <a:cs typeface="Fira Sans"/>
                <a:sym typeface="Fira Sans"/>
              </a:rPr>
              <a:t>	</a:t>
            </a:r>
            <a:r>
              <a:rPr lang="en-US" sz="2000" b="1" dirty="0" smtClean="0">
                <a:latin typeface="Fira Sans"/>
                <a:ea typeface="Fira Sans"/>
                <a:cs typeface="Fira Sans"/>
                <a:sym typeface="Fira Sans"/>
              </a:rPr>
              <a:t>Truth table </a:t>
            </a:r>
            <a:r>
              <a:rPr lang="en-US" sz="1600" dirty="0">
                <a:latin typeface="Fira Sans"/>
                <a:ea typeface="Fira Sans"/>
                <a:cs typeface="Fira Sans"/>
                <a:sym typeface="Fira Sans"/>
              </a:rPr>
              <a:t>			</a:t>
            </a:r>
            <a:r>
              <a:rPr lang="en-US" sz="2400" b="1" dirty="0" smtClean="0">
                <a:latin typeface="Fira Sans"/>
                <a:ea typeface="Fira Sans"/>
                <a:cs typeface="Fira Sans"/>
                <a:sym typeface="Fira Sans"/>
              </a:rPr>
              <a:t>Minterm Generator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latin typeface="Fira Sans"/>
                <a:ea typeface="Fira Sans"/>
                <a:cs typeface="Fira Sans"/>
                <a:sym typeface="Fira Sans"/>
              </a:rPr>
              <a:t>							</a:t>
            </a:r>
            <a:r>
              <a:rPr lang="en-US" sz="1600" dirty="0" smtClean="0">
                <a:latin typeface="Fira Sans"/>
                <a:ea typeface="Fira Sans"/>
                <a:cs typeface="Fira Sans"/>
                <a:sym typeface="Fira Sans"/>
              </a:rPr>
              <a:t>						</a:t>
            </a:r>
            <a:r>
              <a:rPr lang="en-US" sz="2400" dirty="0" smtClean="0">
                <a:latin typeface="Fira Sans"/>
                <a:ea typeface="Fira Sans"/>
                <a:cs typeface="Fira Sans"/>
                <a:sym typeface="Fira Sans"/>
              </a:rPr>
              <a:t>O0=D1’D0</a:t>
            </a:r>
            <a:endParaRPr sz="2400" dirty="0"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latin typeface="Fira Sans"/>
                <a:ea typeface="Fira Sans"/>
                <a:cs typeface="Fira Sans"/>
                <a:sym typeface="Fira Sans"/>
              </a:rPr>
              <a:t> 													O1 = D1’D0</a:t>
            </a:r>
            <a:endParaRPr sz="2400" dirty="0"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latin typeface="Fira Sans"/>
                <a:ea typeface="Fira Sans"/>
                <a:cs typeface="Fira Sans"/>
                <a:sym typeface="Fira Sans"/>
              </a:rPr>
              <a:t>													O2 = D1D0’</a:t>
            </a:r>
            <a:endParaRPr sz="2400" dirty="0"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latin typeface="Fira Sans"/>
                <a:ea typeface="Fira Sans"/>
                <a:cs typeface="Fira Sans"/>
                <a:sym typeface="Fira Sans"/>
              </a:rPr>
              <a:t>													O3 = D1D0</a:t>
            </a:r>
            <a:endParaRPr sz="2400" dirty="0"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latin typeface="Fira Sans"/>
              <a:ea typeface="Fira Sans"/>
              <a:cs typeface="Fira Sans"/>
              <a:sym typeface="Fira Sans"/>
            </a:endParaRPr>
          </a:p>
        </p:txBody>
      </p:sp>
      <p:graphicFrame>
        <p:nvGraphicFramePr>
          <p:cNvPr id="218" name="Google Shape;218;p25"/>
          <p:cNvGraphicFramePr/>
          <p:nvPr>
            <p:extLst>
              <p:ext uri="{D42A27DB-BD31-4B8C-83A1-F6EECF244321}">
                <p14:modId xmlns:p14="http://schemas.microsoft.com/office/powerpoint/2010/main" val="1458671815"/>
              </p:ext>
            </p:extLst>
          </p:nvPr>
        </p:nvGraphicFramePr>
        <p:xfrm>
          <a:off x="539552" y="1484784"/>
          <a:ext cx="4221000" cy="270275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703500"/>
                <a:gridCol w="703500"/>
                <a:gridCol w="703500"/>
                <a:gridCol w="703500"/>
                <a:gridCol w="703500"/>
                <a:gridCol w="703500"/>
              </a:tblGrid>
              <a:tr h="5405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O3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O2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O1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O0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</a:tr>
              <a:tr h="5405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</a:tr>
              <a:tr h="5405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405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5405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</a:tr>
            </a:tbl>
          </a:graphicData>
        </a:graphic>
      </p:graphicFrame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0" y="5605573"/>
            <a:ext cx="2231371" cy="5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1224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6"/>
          <p:cNvSpPr txBox="1">
            <a:spLocks noGrp="1"/>
          </p:cNvSpPr>
          <p:nvPr>
            <p:ph type="title"/>
          </p:nvPr>
        </p:nvSpPr>
        <p:spPr>
          <a:xfrm>
            <a:off x="300791" y="191861"/>
            <a:ext cx="8546850" cy="72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smtClean="0">
                <a:solidFill>
                  <a:srgbClr val="C00000"/>
                </a:solidFill>
                <a:latin typeface="Marcellus"/>
                <a:ea typeface="Marcellus"/>
                <a:cs typeface="Marcellus"/>
                <a:sym typeface="Marcellus"/>
              </a:rPr>
              <a:t>2:4 Decoder</a:t>
            </a:r>
            <a:endParaRPr sz="3600" dirty="0"/>
          </a:p>
        </p:txBody>
      </p:sp>
      <p:pic>
        <p:nvPicPr>
          <p:cNvPr id="224" name="Google Shape;224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9"/>
            <a:ext cx="385984" cy="9177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7"/>
            <a:ext cx="176409" cy="69997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6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00" cy="721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6"/>
          <p:cNvSpPr txBox="1"/>
          <p:nvPr/>
        </p:nvSpPr>
        <p:spPr>
          <a:xfrm>
            <a:off x="702675" y="809825"/>
            <a:ext cx="7738650" cy="455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229" name="Google Shape;229;p26"/>
          <p:cNvPicPr preferRelativeResize="0"/>
          <p:nvPr/>
        </p:nvPicPr>
        <p:blipFill rotWithShape="1">
          <a:blip r:embed="rId6">
            <a:alphaModFix/>
          </a:blip>
          <a:srcRect l="36068" t="27120" r="13988" b="12985"/>
          <a:stretch/>
        </p:blipFill>
        <p:spPr>
          <a:xfrm>
            <a:off x="1691680" y="1075574"/>
            <a:ext cx="4901306" cy="440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/>
          <p:cNvPicPr/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0" y="5605573"/>
            <a:ext cx="2231371" cy="5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22606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34"/>
          <p:cNvSpPr txBox="1">
            <a:spLocks noGrp="1"/>
          </p:cNvSpPr>
          <p:nvPr>
            <p:ph type="title"/>
          </p:nvPr>
        </p:nvSpPr>
        <p:spPr>
          <a:xfrm>
            <a:off x="300791" y="191861"/>
            <a:ext cx="8546850" cy="72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C00000"/>
                </a:solidFill>
                <a:latin typeface="Marcellus"/>
                <a:ea typeface="Marcellus"/>
                <a:cs typeface="Marcellus"/>
                <a:sym typeface="Marcellus"/>
              </a:rPr>
              <a:t>Decoder with active low output</a:t>
            </a:r>
            <a:endParaRPr sz="3600"/>
          </a:p>
        </p:txBody>
      </p:sp>
      <p:pic>
        <p:nvPicPr>
          <p:cNvPr id="312" name="Google Shape;31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9"/>
            <a:ext cx="385984" cy="9177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3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7"/>
            <a:ext cx="176409" cy="699978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34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00" cy="721800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34"/>
          <p:cNvSpPr txBox="1"/>
          <p:nvPr/>
        </p:nvSpPr>
        <p:spPr>
          <a:xfrm>
            <a:off x="701875" y="809825"/>
            <a:ext cx="3653301" cy="1971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2000" b="1" dirty="0" err="1" smtClean="0">
                <a:latin typeface="Fira Sans"/>
                <a:ea typeface="Fira Sans"/>
                <a:cs typeface="Fira Sans"/>
                <a:sym typeface="Fira Sans"/>
              </a:rPr>
              <a:t>Maxterm</a:t>
            </a:r>
            <a:r>
              <a:rPr lang="en-IN" sz="2000" b="1" dirty="0" smtClean="0">
                <a:latin typeface="Fira Sans"/>
                <a:ea typeface="Fira Sans"/>
                <a:cs typeface="Fira Sans"/>
                <a:sym typeface="Fira Sans"/>
              </a:rPr>
              <a:t> Generator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 smtClean="0">
                <a:latin typeface="Fira Sans"/>
                <a:ea typeface="Fira Sans"/>
                <a:cs typeface="Fira Sans"/>
                <a:sym typeface="Fira Sans"/>
              </a:rPr>
              <a:t>	O0= ( D1+D0)</a:t>
            </a:r>
            <a:endParaRPr sz="2000" b="1" dirty="0"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Fira Sans"/>
                <a:ea typeface="Fira Sans"/>
                <a:cs typeface="Fira Sans"/>
                <a:sym typeface="Fira Sans"/>
              </a:rPr>
              <a:t> 	</a:t>
            </a:r>
            <a:r>
              <a:rPr lang="en-US" sz="2000" b="1" dirty="0" smtClean="0">
                <a:latin typeface="Fira Sans"/>
                <a:ea typeface="Fira Sans"/>
                <a:cs typeface="Fira Sans"/>
                <a:sym typeface="Fira Sans"/>
              </a:rPr>
              <a:t>O1 = (D1+D0’)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Fira Sans"/>
                <a:ea typeface="Fira Sans"/>
                <a:cs typeface="Fira Sans"/>
                <a:sym typeface="Fira Sans"/>
              </a:rPr>
              <a:t> </a:t>
            </a:r>
            <a:r>
              <a:rPr lang="en-US" sz="2000" b="1" dirty="0" smtClean="0">
                <a:latin typeface="Fira Sans"/>
                <a:ea typeface="Fira Sans"/>
                <a:cs typeface="Fira Sans"/>
                <a:sym typeface="Fira Sans"/>
              </a:rPr>
              <a:t>          O2 </a:t>
            </a:r>
            <a:r>
              <a:rPr lang="en-US" sz="2000" b="1" dirty="0">
                <a:latin typeface="Fira Sans"/>
                <a:ea typeface="Fira Sans"/>
                <a:cs typeface="Fira Sans"/>
                <a:sym typeface="Fira Sans"/>
              </a:rPr>
              <a:t>= </a:t>
            </a:r>
            <a:r>
              <a:rPr lang="en-US" sz="2000" b="1" dirty="0" smtClean="0">
                <a:latin typeface="Fira Sans"/>
                <a:ea typeface="Fira Sans"/>
                <a:cs typeface="Fira Sans"/>
                <a:sym typeface="Fira Sans"/>
              </a:rPr>
              <a:t>(D1’+D0)</a:t>
            </a:r>
            <a:endParaRPr sz="2000" b="1" dirty="0"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Fira Sans"/>
                <a:ea typeface="Fira Sans"/>
                <a:cs typeface="Fira Sans"/>
                <a:sym typeface="Fira Sans"/>
              </a:rPr>
              <a:t>	</a:t>
            </a:r>
            <a:r>
              <a:rPr lang="en-US" sz="2000" b="1" dirty="0" smtClean="0">
                <a:latin typeface="Fira Sans"/>
                <a:ea typeface="Fira Sans"/>
                <a:cs typeface="Fira Sans"/>
                <a:sym typeface="Fira Sans"/>
              </a:rPr>
              <a:t>O3 </a:t>
            </a:r>
            <a:r>
              <a:rPr lang="en-US" sz="2000" b="1" dirty="0">
                <a:latin typeface="Fira Sans"/>
                <a:ea typeface="Fira Sans"/>
                <a:cs typeface="Fira Sans"/>
                <a:sym typeface="Fira Sans"/>
              </a:rPr>
              <a:t>= </a:t>
            </a:r>
            <a:r>
              <a:rPr lang="en-US" sz="2000" b="1" dirty="0" smtClean="0">
                <a:latin typeface="Fira Sans"/>
                <a:ea typeface="Fira Sans"/>
                <a:cs typeface="Fira Sans"/>
                <a:sym typeface="Fira Sans"/>
              </a:rPr>
              <a:t>(D1’+D0’)</a:t>
            </a:r>
            <a:endParaRPr sz="2000" b="1" dirty="0"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latin typeface="Fira Sans"/>
              <a:ea typeface="Fira Sans"/>
              <a:cs typeface="Fira Sans"/>
              <a:sym typeface="Fira Sans"/>
            </a:endParaRPr>
          </a:p>
        </p:txBody>
      </p:sp>
      <p:graphicFrame>
        <p:nvGraphicFramePr>
          <p:cNvPr id="317" name="Google Shape;317;p34"/>
          <p:cNvGraphicFramePr/>
          <p:nvPr>
            <p:extLst>
              <p:ext uri="{D42A27DB-BD31-4B8C-83A1-F6EECF244321}">
                <p14:modId xmlns:p14="http://schemas.microsoft.com/office/powerpoint/2010/main" val="2852736524"/>
              </p:ext>
            </p:extLst>
          </p:nvPr>
        </p:nvGraphicFramePr>
        <p:xfrm>
          <a:off x="5004048" y="908720"/>
          <a:ext cx="3500922" cy="243825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83487"/>
                <a:gridCol w="583487"/>
                <a:gridCol w="583487"/>
                <a:gridCol w="583487"/>
                <a:gridCol w="583487"/>
                <a:gridCol w="583487"/>
              </a:tblGrid>
              <a:tr h="446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O3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O2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O1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O0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</a:tr>
              <a:tr h="446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46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46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46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0" y="5605573"/>
            <a:ext cx="2231371" cy="594811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77" t="18956" r="28385" b="18531"/>
          <a:stretch/>
        </p:blipFill>
        <p:spPr>
          <a:xfrm>
            <a:off x="539552" y="2564904"/>
            <a:ext cx="4388423" cy="3108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3167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34"/>
          <p:cNvSpPr txBox="1">
            <a:spLocks noGrp="1"/>
          </p:cNvSpPr>
          <p:nvPr>
            <p:ph type="title"/>
          </p:nvPr>
        </p:nvSpPr>
        <p:spPr>
          <a:xfrm>
            <a:off x="300791" y="191861"/>
            <a:ext cx="8546850" cy="72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>
                <a:solidFill>
                  <a:srgbClr val="C00000"/>
                </a:solidFill>
                <a:latin typeface="Marcellus"/>
                <a:ea typeface="Marcellus"/>
                <a:cs typeface="Marcellus"/>
                <a:sym typeface="Marcellus"/>
              </a:rPr>
              <a:t>Decoder with </a:t>
            </a:r>
            <a:r>
              <a:rPr lang="en-US" sz="3600" dirty="0" smtClean="0">
                <a:solidFill>
                  <a:srgbClr val="C00000"/>
                </a:solidFill>
                <a:latin typeface="Marcellus"/>
                <a:ea typeface="Marcellus"/>
                <a:cs typeface="Marcellus"/>
                <a:sym typeface="Marcellus"/>
              </a:rPr>
              <a:t>enable input</a:t>
            </a:r>
            <a:endParaRPr sz="3600" dirty="0"/>
          </a:p>
        </p:txBody>
      </p:sp>
      <p:pic>
        <p:nvPicPr>
          <p:cNvPr id="312" name="Google Shape;31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9"/>
            <a:ext cx="385984" cy="9177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3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7"/>
            <a:ext cx="176409" cy="699978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34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00" cy="721800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34"/>
          <p:cNvSpPr txBox="1"/>
          <p:nvPr/>
        </p:nvSpPr>
        <p:spPr>
          <a:xfrm>
            <a:off x="701875" y="809825"/>
            <a:ext cx="3653301" cy="1827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sz="2000" b="1" dirty="0" err="1" smtClean="0">
                <a:latin typeface="Fira Sans"/>
                <a:ea typeface="Fira Sans"/>
                <a:cs typeface="Fira Sans"/>
                <a:sym typeface="Fira Sans"/>
              </a:rPr>
              <a:t>Maxterm</a:t>
            </a:r>
            <a:r>
              <a:rPr lang="en-IN" sz="2000" b="1" dirty="0" smtClean="0">
                <a:latin typeface="Fira Sans"/>
                <a:ea typeface="Fira Sans"/>
                <a:cs typeface="Fira Sans"/>
                <a:sym typeface="Fira Sans"/>
              </a:rPr>
              <a:t> Generator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 smtClean="0">
                <a:latin typeface="Fira Sans"/>
                <a:ea typeface="Fira Sans"/>
                <a:cs typeface="Fira Sans"/>
                <a:sym typeface="Fira Sans"/>
              </a:rPr>
              <a:t>	O0= En.D1’D0’</a:t>
            </a:r>
            <a:endParaRPr sz="2000" b="1" dirty="0"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Fira Sans"/>
                <a:ea typeface="Fira Sans"/>
                <a:cs typeface="Fira Sans"/>
                <a:sym typeface="Fira Sans"/>
              </a:rPr>
              <a:t> 	</a:t>
            </a:r>
            <a:r>
              <a:rPr lang="en-US" sz="2000" b="1" dirty="0" smtClean="0">
                <a:latin typeface="Fira Sans"/>
                <a:ea typeface="Fira Sans"/>
                <a:cs typeface="Fira Sans"/>
                <a:sym typeface="Fira Sans"/>
              </a:rPr>
              <a:t>O1 = En.D1’D0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Fira Sans"/>
                <a:ea typeface="Fira Sans"/>
                <a:cs typeface="Fira Sans"/>
                <a:sym typeface="Fira Sans"/>
              </a:rPr>
              <a:t> </a:t>
            </a:r>
            <a:r>
              <a:rPr lang="en-US" sz="2000" b="1" dirty="0" smtClean="0">
                <a:latin typeface="Fira Sans"/>
                <a:ea typeface="Fira Sans"/>
                <a:cs typeface="Fira Sans"/>
                <a:sym typeface="Fira Sans"/>
              </a:rPr>
              <a:t>          O2 </a:t>
            </a:r>
            <a:r>
              <a:rPr lang="en-US" sz="2000" b="1" dirty="0">
                <a:latin typeface="Fira Sans"/>
                <a:ea typeface="Fira Sans"/>
                <a:cs typeface="Fira Sans"/>
                <a:sym typeface="Fira Sans"/>
              </a:rPr>
              <a:t>= </a:t>
            </a:r>
            <a:r>
              <a:rPr lang="en-US" sz="2000" b="1" dirty="0" smtClean="0">
                <a:latin typeface="Fira Sans"/>
                <a:ea typeface="Fira Sans"/>
                <a:cs typeface="Fira Sans"/>
                <a:sym typeface="Fira Sans"/>
              </a:rPr>
              <a:t>En.D1D0’</a:t>
            </a:r>
            <a:endParaRPr sz="2000" b="1" dirty="0"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latin typeface="Fira Sans"/>
                <a:ea typeface="Fira Sans"/>
                <a:cs typeface="Fira Sans"/>
                <a:sym typeface="Fira Sans"/>
              </a:rPr>
              <a:t>	</a:t>
            </a:r>
            <a:r>
              <a:rPr lang="en-US" sz="2000" b="1" dirty="0" smtClean="0">
                <a:latin typeface="Fira Sans"/>
                <a:ea typeface="Fira Sans"/>
                <a:cs typeface="Fira Sans"/>
                <a:sym typeface="Fira Sans"/>
              </a:rPr>
              <a:t>O3 </a:t>
            </a:r>
            <a:r>
              <a:rPr lang="en-US" sz="2000" b="1" dirty="0">
                <a:latin typeface="Fira Sans"/>
                <a:ea typeface="Fira Sans"/>
                <a:cs typeface="Fira Sans"/>
                <a:sym typeface="Fira Sans"/>
              </a:rPr>
              <a:t>= </a:t>
            </a:r>
            <a:r>
              <a:rPr lang="en-US" sz="2000" b="1" dirty="0" smtClean="0">
                <a:latin typeface="Fira Sans"/>
                <a:ea typeface="Fira Sans"/>
                <a:cs typeface="Fira Sans"/>
                <a:sym typeface="Fira Sans"/>
              </a:rPr>
              <a:t>En.D1D0</a:t>
            </a:r>
            <a:endParaRPr sz="2000" b="1" dirty="0"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latin typeface="Fira Sans"/>
              <a:ea typeface="Fira Sans"/>
              <a:cs typeface="Fira Sans"/>
              <a:sym typeface="Fira Sans"/>
            </a:endParaRPr>
          </a:p>
        </p:txBody>
      </p:sp>
      <p:graphicFrame>
        <p:nvGraphicFramePr>
          <p:cNvPr id="317" name="Google Shape;317;p34"/>
          <p:cNvGraphicFramePr/>
          <p:nvPr>
            <p:extLst>
              <p:ext uri="{D42A27DB-BD31-4B8C-83A1-F6EECF244321}">
                <p14:modId xmlns:p14="http://schemas.microsoft.com/office/powerpoint/2010/main" val="2150901777"/>
              </p:ext>
            </p:extLst>
          </p:nvPr>
        </p:nvGraphicFramePr>
        <p:xfrm>
          <a:off x="5364086" y="908720"/>
          <a:ext cx="3140886" cy="274302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48698"/>
                <a:gridCol w="448698"/>
                <a:gridCol w="448698"/>
                <a:gridCol w="448698"/>
                <a:gridCol w="448698"/>
                <a:gridCol w="448698"/>
                <a:gridCol w="448698"/>
              </a:tblGrid>
              <a:tr h="40804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En</a:t>
                      </a:r>
                      <a:endParaRPr sz="18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D1</a:t>
                      </a:r>
                      <a:endParaRPr sz="18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D0</a:t>
                      </a:r>
                      <a:endParaRPr sz="18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O3</a:t>
                      </a:r>
                      <a:endParaRPr sz="18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O2</a:t>
                      </a:r>
                      <a:endParaRPr sz="18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O1</a:t>
                      </a:r>
                      <a:endParaRPr sz="18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O0</a:t>
                      </a:r>
                      <a:endParaRPr sz="18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</a:tr>
              <a:tr h="40804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X 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X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</a:tr>
              <a:tr h="40804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0804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0804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0804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0" y="5605573"/>
            <a:ext cx="2231371" cy="594811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59" t="9338" r="23834" b="13722"/>
          <a:stretch/>
        </p:blipFill>
        <p:spPr>
          <a:xfrm>
            <a:off x="701875" y="2504418"/>
            <a:ext cx="4367943" cy="2927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6416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7"/>
          <p:cNvSpPr txBox="1">
            <a:spLocks noGrp="1"/>
          </p:cNvSpPr>
          <p:nvPr>
            <p:ph type="title"/>
          </p:nvPr>
        </p:nvSpPr>
        <p:spPr>
          <a:xfrm>
            <a:off x="300791" y="191861"/>
            <a:ext cx="8546850" cy="72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C00000"/>
                </a:solidFill>
                <a:latin typeface="Marcellus"/>
                <a:ea typeface="Marcellus"/>
                <a:cs typeface="Marcellus"/>
                <a:sym typeface="Marcellus"/>
              </a:rPr>
              <a:t>Decoder Tree</a:t>
            </a:r>
            <a:endParaRPr sz="3600"/>
          </a:p>
        </p:txBody>
      </p:sp>
      <p:pic>
        <p:nvPicPr>
          <p:cNvPr id="235" name="Google Shape;235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9"/>
            <a:ext cx="385984" cy="9177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7"/>
            <a:ext cx="176409" cy="69997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7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00" cy="721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27"/>
          <p:cNvPicPr preferRelativeResize="0"/>
          <p:nvPr/>
        </p:nvPicPr>
        <p:blipFill rotWithShape="1">
          <a:blip r:embed="rId6">
            <a:alphaModFix/>
          </a:blip>
          <a:srcRect l="28573" t="24427" r="12342" b="10742"/>
          <a:stretch/>
        </p:blipFill>
        <p:spPr>
          <a:xfrm>
            <a:off x="2047566" y="1207064"/>
            <a:ext cx="5402429" cy="444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/>
          <p:cNvPicPr/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0" y="5605573"/>
            <a:ext cx="2231371" cy="5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6733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IC 74138: 3:8 Decoder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1" y="5605573"/>
            <a:ext cx="1433886" cy="594811"/>
          </a:xfrm>
          <a:prstGeom prst="rect">
            <a:avLst/>
          </a:prstGeom>
        </p:spPr>
      </p:pic>
      <p:pic>
        <p:nvPicPr>
          <p:cNvPr id="6146" name="Picture 2" descr="IC 74138 pin diagram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381" y="959219"/>
            <a:ext cx="4157393" cy="3137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IC 74138 Truth Table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0731" y="913604"/>
            <a:ext cx="4763269" cy="3600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0751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9"/>
          <p:cNvSpPr txBox="1">
            <a:spLocks noGrp="1"/>
          </p:cNvSpPr>
          <p:nvPr>
            <p:ph type="title"/>
          </p:nvPr>
        </p:nvSpPr>
        <p:spPr>
          <a:xfrm>
            <a:off x="300791" y="191861"/>
            <a:ext cx="8546850" cy="72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C00000"/>
                </a:solidFill>
                <a:latin typeface="Marcellus"/>
                <a:ea typeface="Marcellus"/>
                <a:cs typeface="Marcellus"/>
                <a:sym typeface="Marcellus"/>
              </a:rPr>
              <a:t>Function Implementation using Multiplexer</a:t>
            </a:r>
            <a:endParaRPr sz="3600"/>
          </a:p>
        </p:txBody>
      </p:sp>
      <p:pic>
        <p:nvPicPr>
          <p:cNvPr id="255" name="Google Shape;255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9"/>
            <a:ext cx="385984" cy="9177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7"/>
            <a:ext cx="176409" cy="69997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9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00" cy="7218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9"/>
          <p:cNvSpPr txBox="1"/>
          <p:nvPr/>
        </p:nvSpPr>
        <p:spPr>
          <a:xfrm>
            <a:off x="702675" y="809825"/>
            <a:ext cx="7738650" cy="455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F= </a:t>
            </a:r>
            <a:r>
              <a:rPr lang="en-US" sz="2400" dirty="0" err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Σm</a:t>
            </a:r>
            <a:r>
              <a:rPr lang="en-US" sz="2400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(0,1,2,5,7)								</a:t>
            </a:r>
            <a:endParaRPr sz="2400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600" dirty="0">
              <a:latin typeface="Fira Sans"/>
              <a:ea typeface="Fira Sans"/>
              <a:cs typeface="Fira Sans"/>
              <a:sym typeface="Fira Sans"/>
            </a:endParaRPr>
          </a:p>
        </p:txBody>
      </p:sp>
      <p:graphicFrame>
        <p:nvGraphicFramePr>
          <p:cNvPr id="260" name="Google Shape;260;p29"/>
          <p:cNvGraphicFramePr/>
          <p:nvPr>
            <p:extLst>
              <p:ext uri="{D42A27DB-BD31-4B8C-83A1-F6EECF244321}">
                <p14:modId xmlns:p14="http://schemas.microsoft.com/office/powerpoint/2010/main" val="1614912014"/>
              </p:ext>
            </p:extLst>
          </p:nvPr>
        </p:nvGraphicFramePr>
        <p:xfrm>
          <a:off x="967223" y="1412776"/>
          <a:ext cx="2507755" cy="411453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01551"/>
                <a:gridCol w="501551"/>
                <a:gridCol w="501551"/>
                <a:gridCol w="501551"/>
                <a:gridCol w="501551"/>
              </a:tblGrid>
              <a:tr h="44004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</a:t>
                      </a:r>
                      <a:endParaRPr sz="18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B</a:t>
                      </a:r>
                      <a:endParaRPr sz="18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C</a:t>
                      </a:r>
                      <a:endParaRPr sz="18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Y</a:t>
                      </a:r>
                      <a:endParaRPr sz="18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</a:tr>
              <a:tr h="44004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 anchor="ctr"/>
                </a:tc>
              </a:tr>
              <a:tr h="44004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4004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C’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 anchor="ctr"/>
                </a:tc>
              </a:tr>
              <a:tr h="44004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4004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C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 anchor="ctr"/>
                </a:tc>
              </a:tr>
              <a:tr h="44004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4004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 row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C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 anchor="ctr"/>
                </a:tc>
              </a:tr>
              <a:tr h="44004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8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0" y="5605573"/>
            <a:ext cx="2231371" cy="594811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48" t="18673" r="29648" b="30977"/>
          <a:stretch/>
        </p:blipFill>
        <p:spPr>
          <a:xfrm>
            <a:off x="3540220" y="1484784"/>
            <a:ext cx="5080205" cy="280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1072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0"/>
          <p:cNvSpPr txBox="1">
            <a:spLocks noGrp="1"/>
          </p:cNvSpPr>
          <p:nvPr>
            <p:ph type="title"/>
          </p:nvPr>
        </p:nvSpPr>
        <p:spPr>
          <a:xfrm>
            <a:off x="323528" y="0"/>
            <a:ext cx="8735705" cy="72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dirty="0">
                <a:solidFill>
                  <a:srgbClr val="C00000"/>
                </a:solidFill>
                <a:latin typeface="Marcellus"/>
                <a:ea typeface="Marcellus"/>
                <a:cs typeface="Marcellus"/>
                <a:sym typeface="Marcellus"/>
              </a:rPr>
              <a:t>Function Implementation using Multiplexer</a:t>
            </a:r>
            <a:endParaRPr sz="3400" dirty="0"/>
          </a:p>
        </p:txBody>
      </p:sp>
      <p:pic>
        <p:nvPicPr>
          <p:cNvPr id="266" name="Google Shape;266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9"/>
            <a:ext cx="385984" cy="9177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7"/>
            <a:ext cx="176409" cy="69997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30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00" cy="721800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30"/>
          <p:cNvSpPr txBox="1"/>
          <p:nvPr/>
        </p:nvSpPr>
        <p:spPr>
          <a:xfrm>
            <a:off x="108380" y="809900"/>
            <a:ext cx="3455508" cy="455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F= </a:t>
            </a:r>
            <a:r>
              <a:rPr lang="en-US" sz="2400" b="1" dirty="0" err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Σm</a:t>
            </a:r>
            <a:r>
              <a:rPr lang="en-US" sz="2400" b="1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(0,2,5,7,8,10,13,15) </a:t>
            </a:r>
            <a:endParaRPr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Implement using </a:t>
            </a:r>
            <a:endParaRPr lang="en-US" sz="2400" b="1" dirty="0" smtClean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Aft>
                <a:spcPts val="0"/>
              </a:spcAft>
              <a:buNone/>
            </a:pPr>
            <a:r>
              <a:rPr lang="en-US" sz="2400" b="1" dirty="0" smtClean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8</a:t>
            </a:r>
            <a:r>
              <a:rPr lang="en-US" sz="2400" b="1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: 1 mux</a:t>
            </a:r>
            <a:endParaRPr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Implement using </a:t>
            </a:r>
            <a:endParaRPr lang="en-US" sz="2400" b="1" dirty="0" smtClean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Aft>
                <a:spcPts val="0"/>
              </a:spcAft>
              <a:buNone/>
            </a:pPr>
            <a:r>
              <a:rPr lang="en-US" sz="2400" b="1" dirty="0" smtClean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4:1 </a:t>
            </a:r>
            <a:r>
              <a:rPr lang="en-US" sz="2400" b="1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mux</a:t>
            </a:r>
            <a:endParaRPr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Using 8:1 Mux </a:t>
            </a:r>
            <a:endParaRPr sz="2400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ABC are select Lines </a:t>
            </a:r>
            <a:endParaRPr sz="2400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graphicFrame>
        <p:nvGraphicFramePr>
          <p:cNvPr id="271" name="Google Shape;271;p30"/>
          <p:cNvGraphicFramePr/>
          <p:nvPr>
            <p:extLst>
              <p:ext uri="{D42A27DB-BD31-4B8C-83A1-F6EECF244321}">
                <p14:modId xmlns:p14="http://schemas.microsoft.com/office/powerpoint/2010/main" val="3707964834"/>
              </p:ext>
            </p:extLst>
          </p:nvPr>
        </p:nvGraphicFramePr>
        <p:xfrm>
          <a:off x="3707904" y="890825"/>
          <a:ext cx="2692914" cy="438885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48819"/>
                <a:gridCol w="448819"/>
                <a:gridCol w="448819"/>
                <a:gridCol w="448819"/>
                <a:gridCol w="448819"/>
                <a:gridCol w="448819"/>
              </a:tblGrid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B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C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F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D’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 anchor="ctr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D’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 anchor="ctr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 anchor="ctr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 anchor="ctr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72" name="Google Shape;272;p30"/>
          <p:cNvGraphicFramePr/>
          <p:nvPr>
            <p:extLst>
              <p:ext uri="{D42A27DB-BD31-4B8C-83A1-F6EECF244321}">
                <p14:modId xmlns:p14="http://schemas.microsoft.com/office/powerpoint/2010/main" val="2886432656"/>
              </p:ext>
            </p:extLst>
          </p:nvPr>
        </p:nvGraphicFramePr>
        <p:xfrm>
          <a:off x="6444208" y="890825"/>
          <a:ext cx="2589078" cy="438885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31513"/>
                <a:gridCol w="431513"/>
                <a:gridCol w="431513"/>
                <a:gridCol w="431513"/>
                <a:gridCol w="431513"/>
                <a:gridCol w="431513"/>
              </a:tblGrid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B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C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F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D’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 anchor="ctr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D’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 anchor="ctr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 anchor="ctr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 anchor="ctr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0" name="Picture 9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0" y="5605573"/>
            <a:ext cx="2231371" cy="5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9263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31"/>
          <p:cNvSpPr txBox="1">
            <a:spLocks noGrp="1"/>
          </p:cNvSpPr>
          <p:nvPr>
            <p:ph type="title"/>
          </p:nvPr>
        </p:nvSpPr>
        <p:spPr>
          <a:xfrm>
            <a:off x="300791" y="191861"/>
            <a:ext cx="8546850" cy="72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C00000"/>
                </a:solidFill>
                <a:latin typeface="Marcellus"/>
                <a:ea typeface="Marcellus"/>
                <a:cs typeface="Marcellus"/>
                <a:sym typeface="Marcellus"/>
              </a:rPr>
              <a:t>Function Implementation using Multiplexer</a:t>
            </a:r>
            <a:endParaRPr sz="3600"/>
          </a:p>
        </p:txBody>
      </p:sp>
      <p:pic>
        <p:nvPicPr>
          <p:cNvPr id="278" name="Google Shape;278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9"/>
            <a:ext cx="385984" cy="9177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7"/>
            <a:ext cx="176409" cy="69997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31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00" cy="7218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31"/>
          <p:cNvSpPr txBox="1"/>
          <p:nvPr/>
        </p:nvSpPr>
        <p:spPr>
          <a:xfrm>
            <a:off x="702675" y="809825"/>
            <a:ext cx="3509285" cy="455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b="1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F= </a:t>
            </a:r>
            <a:r>
              <a:rPr lang="en-US" sz="2400" b="1" dirty="0" err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Σm</a:t>
            </a:r>
            <a:r>
              <a:rPr lang="en-US" sz="2400" b="1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(0,2,5,7,8,10,13,15) </a:t>
            </a:r>
            <a:endParaRPr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b="1" dirty="0" smtClean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Implement </a:t>
            </a:r>
            <a:r>
              <a:rPr lang="en-US" sz="2400" b="1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using 4:1 mux</a:t>
            </a:r>
            <a:endParaRPr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b="1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Use select Lines as AB </a:t>
            </a:r>
            <a:endParaRPr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graphicFrame>
        <p:nvGraphicFramePr>
          <p:cNvPr id="283" name="Google Shape;283;p31"/>
          <p:cNvGraphicFramePr/>
          <p:nvPr>
            <p:extLst>
              <p:ext uri="{D42A27DB-BD31-4B8C-83A1-F6EECF244321}">
                <p14:modId xmlns:p14="http://schemas.microsoft.com/office/powerpoint/2010/main" val="2500931609"/>
              </p:ext>
            </p:extLst>
          </p:nvPr>
        </p:nvGraphicFramePr>
        <p:xfrm>
          <a:off x="4860031" y="1530513"/>
          <a:ext cx="3888431" cy="35355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145199"/>
                <a:gridCol w="731529"/>
                <a:gridCol w="670568"/>
                <a:gridCol w="670568"/>
                <a:gridCol w="670567"/>
              </a:tblGrid>
              <a:tr h="4636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AB / </a:t>
                      </a:r>
                      <a:endParaRPr sz="20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CD</a:t>
                      </a:r>
                      <a:endParaRPr sz="20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00</a:t>
                      </a:r>
                      <a:endParaRPr sz="24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01</a:t>
                      </a: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10</a:t>
                      </a: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11</a:t>
                      </a: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</a:tr>
              <a:tr h="4636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00</a:t>
                      </a: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</a:tr>
              <a:tr h="4636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01</a:t>
                      </a:r>
                      <a:endParaRPr sz="2400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</a:tr>
              <a:tr h="4636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10</a:t>
                      </a: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</a:tr>
              <a:tr h="4636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11</a:t>
                      </a: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</a:tr>
              <a:tr h="4636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D’</a:t>
                      </a:r>
                      <a:endParaRPr sz="24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kern="1200" dirty="0" smtClean="0">
                          <a:solidFill>
                            <a:schemeClr val="tx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</a:t>
                      </a:r>
                      <a:endParaRPr sz="2400" b="1" kern="1200" dirty="0">
                        <a:solidFill>
                          <a:schemeClr val="tx1"/>
                        </a:solidFill>
                        <a:latin typeface="Fira Sans"/>
                        <a:ea typeface="Fira Sans"/>
                        <a:cs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D’</a:t>
                      </a:r>
                      <a:endParaRPr sz="24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kern="1200" dirty="0" smtClean="0">
                          <a:solidFill>
                            <a:schemeClr val="tx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</a:t>
                      </a:r>
                      <a:endParaRPr sz="2400" b="1" kern="1200" dirty="0">
                        <a:solidFill>
                          <a:schemeClr val="tx1"/>
                        </a:solidFill>
                        <a:latin typeface="Fira Sans"/>
                        <a:ea typeface="Fira Sans"/>
                        <a:cs typeface="Fira Sans"/>
                      </a:endParaRPr>
                    </a:p>
                  </a:txBody>
                  <a:tcPr marL="68569" marR="68569" marT="91425" marB="91425"/>
                </a:tc>
              </a:tr>
            </a:tbl>
          </a:graphicData>
        </a:graphic>
      </p:graphicFrame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0" y="5642501"/>
            <a:ext cx="2231371" cy="5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0579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2"/>
          <p:cNvSpPr txBox="1">
            <a:spLocks noGrp="1"/>
          </p:cNvSpPr>
          <p:nvPr>
            <p:ph type="title"/>
          </p:nvPr>
        </p:nvSpPr>
        <p:spPr>
          <a:xfrm>
            <a:off x="300791" y="191861"/>
            <a:ext cx="8546850" cy="72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C00000"/>
                </a:solidFill>
                <a:latin typeface="Marcellus"/>
                <a:ea typeface="Marcellus"/>
                <a:cs typeface="Marcellus"/>
                <a:sym typeface="Marcellus"/>
              </a:rPr>
              <a:t>Function Implementation using Multiplexer</a:t>
            </a:r>
            <a:endParaRPr sz="3600"/>
          </a:p>
        </p:txBody>
      </p:sp>
      <p:pic>
        <p:nvPicPr>
          <p:cNvPr id="289" name="Google Shape;289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9"/>
            <a:ext cx="385984" cy="9177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3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7"/>
            <a:ext cx="176409" cy="699978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32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00" cy="721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32"/>
          <p:cNvSpPr txBox="1"/>
          <p:nvPr/>
        </p:nvSpPr>
        <p:spPr>
          <a:xfrm>
            <a:off x="300788" y="809900"/>
            <a:ext cx="3047076" cy="455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F= </a:t>
            </a:r>
            <a:r>
              <a:rPr lang="en-US" sz="2400" b="1" dirty="0" err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Σm</a:t>
            </a:r>
            <a:r>
              <a:rPr lang="en-US" sz="2400" b="1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(0,1,4,6,8,10,12,15) </a:t>
            </a:r>
            <a:endParaRPr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Implement using 8: 1 mux</a:t>
            </a:r>
            <a:endParaRPr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Implement using 4:1 mux</a:t>
            </a:r>
            <a:endParaRPr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Using 8:1 Mux </a:t>
            </a:r>
            <a:endParaRPr sz="2400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ABC are select Lines </a:t>
            </a:r>
            <a:endParaRPr sz="2400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graphicFrame>
        <p:nvGraphicFramePr>
          <p:cNvPr id="294" name="Google Shape;294;p32"/>
          <p:cNvGraphicFramePr/>
          <p:nvPr>
            <p:extLst>
              <p:ext uri="{D42A27DB-BD31-4B8C-83A1-F6EECF244321}">
                <p14:modId xmlns:p14="http://schemas.microsoft.com/office/powerpoint/2010/main" val="683356692"/>
              </p:ext>
            </p:extLst>
          </p:nvPr>
        </p:nvGraphicFramePr>
        <p:xfrm>
          <a:off x="3635896" y="939169"/>
          <a:ext cx="2692914" cy="438885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48819"/>
                <a:gridCol w="448819"/>
                <a:gridCol w="448819"/>
                <a:gridCol w="448819"/>
                <a:gridCol w="448819"/>
                <a:gridCol w="448819"/>
              </a:tblGrid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B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C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F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 anchor="ctr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 anchor="ctr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 anchor="ctr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 anchor="ctr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95" name="Google Shape;295;p32"/>
          <p:cNvGraphicFramePr/>
          <p:nvPr>
            <p:extLst>
              <p:ext uri="{D42A27DB-BD31-4B8C-83A1-F6EECF244321}">
                <p14:modId xmlns:p14="http://schemas.microsoft.com/office/powerpoint/2010/main" val="98578146"/>
              </p:ext>
            </p:extLst>
          </p:nvPr>
        </p:nvGraphicFramePr>
        <p:xfrm>
          <a:off x="6444208" y="890825"/>
          <a:ext cx="2589078" cy="438885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31513"/>
                <a:gridCol w="431513"/>
                <a:gridCol w="431513"/>
                <a:gridCol w="431513"/>
                <a:gridCol w="431513"/>
                <a:gridCol w="431513"/>
              </a:tblGrid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B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C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D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F</a:t>
                      </a: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b="1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 anchor="ctr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 anchor="ctr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 anchor="ctr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row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8569" marR="68569" marT="91425" marB="91425" anchor="ctr"/>
                </a:tc>
              </a:tr>
              <a:tr h="4194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solidFill>
                            <a:schemeClr val="dk1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/>
                    </a:p>
                  </a:txBody>
                  <a:tcPr marL="68569" marR="68569" marT="91425" marB="91425"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68569" marR="68569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0" name="Picture 9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0" y="5605573"/>
            <a:ext cx="2231371" cy="5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8021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3"/>
          <p:cNvSpPr txBox="1">
            <a:spLocks noGrp="1"/>
          </p:cNvSpPr>
          <p:nvPr>
            <p:ph type="title"/>
          </p:nvPr>
        </p:nvSpPr>
        <p:spPr>
          <a:xfrm>
            <a:off x="300791" y="191861"/>
            <a:ext cx="8546850" cy="72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C00000"/>
                </a:solidFill>
                <a:latin typeface="Marcellus"/>
                <a:ea typeface="Marcellus"/>
                <a:cs typeface="Marcellus"/>
                <a:sym typeface="Marcellus"/>
              </a:rPr>
              <a:t>Function Implementation using Decoder </a:t>
            </a:r>
            <a:endParaRPr sz="3600"/>
          </a:p>
        </p:txBody>
      </p:sp>
      <p:pic>
        <p:nvPicPr>
          <p:cNvPr id="301" name="Google Shape;301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9"/>
            <a:ext cx="385984" cy="9177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7"/>
            <a:ext cx="176409" cy="699978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3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00" cy="721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3"/>
          <p:cNvSpPr txBox="1"/>
          <p:nvPr/>
        </p:nvSpPr>
        <p:spPr>
          <a:xfrm>
            <a:off x="300788" y="809900"/>
            <a:ext cx="7738650" cy="455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F= </a:t>
            </a:r>
            <a:r>
              <a:rPr lang="en-US" sz="2400" b="1" dirty="0" err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Σm</a:t>
            </a:r>
            <a:r>
              <a:rPr lang="en-US" sz="2400" b="1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(0,1,4,6, 7) </a:t>
            </a:r>
            <a:endParaRPr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Implement using 3: 8 </a:t>
            </a:r>
            <a:r>
              <a:rPr lang="en-US" sz="2400" b="1" dirty="0" smtClean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decoder( Active High Output) </a:t>
            </a:r>
            <a:endParaRPr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306" name="Google Shape;306;p33"/>
          <p:cNvPicPr preferRelativeResize="0"/>
          <p:nvPr/>
        </p:nvPicPr>
        <p:blipFill rotWithShape="1">
          <a:blip r:embed="rId6">
            <a:alphaModFix/>
          </a:blip>
          <a:srcRect l="30646" t="23082" r="8060" b="32502"/>
          <a:stretch/>
        </p:blipFill>
        <p:spPr>
          <a:xfrm>
            <a:off x="1014863" y="2029726"/>
            <a:ext cx="5604806" cy="3044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/>
          <p:cNvPicPr/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0" y="5605573"/>
            <a:ext cx="2231371" cy="5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18600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5"/>
          <p:cNvSpPr txBox="1">
            <a:spLocks noGrp="1"/>
          </p:cNvSpPr>
          <p:nvPr>
            <p:ph type="title"/>
          </p:nvPr>
        </p:nvSpPr>
        <p:spPr>
          <a:xfrm>
            <a:off x="300791" y="191861"/>
            <a:ext cx="8546850" cy="72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C00000"/>
                </a:solidFill>
                <a:latin typeface="Marcellus"/>
                <a:ea typeface="Marcellus"/>
                <a:cs typeface="Marcellus"/>
                <a:sym typeface="Marcellus"/>
              </a:rPr>
              <a:t>Function Implementation using Decoder</a:t>
            </a:r>
            <a:endParaRPr sz="3600"/>
          </a:p>
        </p:txBody>
      </p:sp>
      <p:pic>
        <p:nvPicPr>
          <p:cNvPr id="323" name="Google Shape;323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9"/>
            <a:ext cx="385984" cy="91774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7"/>
            <a:ext cx="176409" cy="699978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35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00" cy="721800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35"/>
          <p:cNvSpPr txBox="1"/>
          <p:nvPr/>
        </p:nvSpPr>
        <p:spPr>
          <a:xfrm>
            <a:off x="300788" y="809900"/>
            <a:ext cx="7738650" cy="455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F= Σm(0,1,4,6,8,10,12,15) </a:t>
            </a:r>
            <a:endParaRPr sz="2400" b="1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Implement 4: 16 decoder </a:t>
            </a:r>
            <a:endParaRPr sz="2400" b="1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b="1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8" name="Picture 7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0" y="5605573"/>
            <a:ext cx="2231371" cy="59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2610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1 bit </a:t>
            </a:r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Comparator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467544" y="1018919"/>
            <a:ext cx="7572484" cy="46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algn="just">
              <a:buClr>
                <a:srgbClr val="000000"/>
              </a:buClr>
              <a:buSzPts val="2900"/>
            </a:pPr>
            <a:r>
              <a:rPr lang="en-US" sz="2000" b="1" dirty="0" smtClean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(A&lt;B) = A’B</a:t>
            </a:r>
          </a:p>
          <a:p>
            <a:pPr marL="320040" algn="just">
              <a:buClr>
                <a:srgbClr val="000000"/>
              </a:buClr>
              <a:buSzPts val="2900"/>
            </a:pPr>
            <a:r>
              <a:rPr lang="en-US" sz="2000" b="1" dirty="0" smtClean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( A=B) = A XNOR B</a:t>
            </a:r>
          </a:p>
          <a:p>
            <a:pPr marL="320040" algn="just">
              <a:buClr>
                <a:srgbClr val="000000"/>
              </a:buClr>
              <a:buSzPts val="2900"/>
            </a:pPr>
            <a:r>
              <a:rPr lang="en-US" sz="2000" b="1" dirty="0" smtClean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(A&gt;B) = AB’ </a:t>
            </a: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0" y="5605573"/>
            <a:ext cx="2231371" cy="594811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46" t="17589" r="29646" b="23766"/>
          <a:stretch/>
        </p:blipFill>
        <p:spPr>
          <a:xfrm>
            <a:off x="467544" y="2247147"/>
            <a:ext cx="4752528" cy="3059514"/>
          </a:xfrm>
          <a:prstGeom prst="rect">
            <a:avLst/>
          </a:prstGeom>
        </p:spPr>
      </p:pic>
      <p:graphicFrame>
        <p:nvGraphicFramePr>
          <p:cNvPr id="10" name="Google Shape;174;p21"/>
          <p:cNvGraphicFramePr/>
          <p:nvPr>
            <p:extLst>
              <p:ext uri="{D42A27DB-BD31-4B8C-83A1-F6EECF244321}">
                <p14:modId xmlns:p14="http://schemas.microsoft.com/office/powerpoint/2010/main" val="884376367"/>
              </p:ext>
            </p:extLst>
          </p:nvPr>
        </p:nvGraphicFramePr>
        <p:xfrm>
          <a:off x="5191383" y="1124744"/>
          <a:ext cx="3024334" cy="243042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32046"/>
                <a:gridCol w="432048"/>
                <a:gridCol w="720080"/>
                <a:gridCol w="720082"/>
                <a:gridCol w="720078"/>
              </a:tblGrid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</a:t>
                      </a:r>
                      <a:endParaRPr sz="18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B</a:t>
                      </a:r>
                      <a:endParaRPr sz="18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A&lt;B</a:t>
                      </a:r>
                      <a:endParaRPr sz="18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A=B</a:t>
                      </a:r>
                      <a:endParaRPr sz="18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A&gt;B</a:t>
                      </a:r>
                      <a:endParaRPr sz="18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4845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4798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20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642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 2 bit </a:t>
            </a:r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Comparator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0" y="5605573"/>
            <a:ext cx="2231371" cy="594811"/>
          </a:xfrm>
          <a:prstGeom prst="rect">
            <a:avLst/>
          </a:prstGeom>
        </p:spPr>
      </p:pic>
      <p:graphicFrame>
        <p:nvGraphicFramePr>
          <p:cNvPr id="10" name="Google Shape;174;p21"/>
          <p:cNvGraphicFramePr/>
          <p:nvPr>
            <p:extLst>
              <p:ext uri="{D42A27DB-BD31-4B8C-83A1-F6EECF244321}">
                <p14:modId xmlns:p14="http://schemas.microsoft.com/office/powerpoint/2010/main" val="1477711250"/>
              </p:ext>
            </p:extLst>
          </p:nvPr>
        </p:nvGraphicFramePr>
        <p:xfrm>
          <a:off x="755576" y="1124744"/>
          <a:ext cx="3485072" cy="370305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60737"/>
                <a:gridCol w="432048"/>
                <a:gridCol w="432048"/>
                <a:gridCol w="432048"/>
                <a:gridCol w="576064"/>
                <a:gridCol w="576064"/>
                <a:gridCol w="576063"/>
              </a:tblGrid>
              <a:tr h="397432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A1</a:t>
                      </a:r>
                      <a:endParaRPr sz="15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A0</a:t>
                      </a:r>
                      <a:endParaRPr sz="15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B1</a:t>
                      </a:r>
                      <a:endParaRPr sz="15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B0</a:t>
                      </a:r>
                      <a:endParaRPr sz="15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A&lt;B</a:t>
                      </a:r>
                      <a:endParaRPr sz="15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A=B</a:t>
                      </a:r>
                      <a:endParaRPr sz="15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A&gt;B</a:t>
                      </a:r>
                      <a:endParaRPr sz="15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7401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94612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5345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3004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3004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3004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3004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3004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Google Shape;174;p21"/>
          <p:cNvGraphicFramePr/>
          <p:nvPr>
            <p:extLst>
              <p:ext uri="{D42A27DB-BD31-4B8C-83A1-F6EECF244321}">
                <p14:modId xmlns:p14="http://schemas.microsoft.com/office/powerpoint/2010/main" val="3633272038"/>
              </p:ext>
            </p:extLst>
          </p:nvPr>
        </p:nvGraphicFramePr>
        <p:xfrm>
          <a:off x="4788024" y="1124744"/>
          <a:ext cx="3485072" cy="370305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60737"/>
                <a:gridCol w="432048"/>
                <a:gridCol w="432048"/>
                <a:gridCol w="432048"/>
                <a:gridCol w="576064"/>
                <a:gridCol w="576064"/>
                <a:gridCol w="576063"/>
              </a:tblGrid>
              <a:tr h="397432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A1</a:t>
                      </a:r>
                      <a:endParaRPr sz="15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A0</a:t>
                      </a:r>
                      <a:endParaRPr sz="15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B1</a:t>
                      </a:r>
                      <a:endParaRPr sz="15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B0</a:t>
                      </a:r>
                      <a:endParaRPr sz="15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A&lt;B</a:t>
                      </a:r>
                      <a:endParaRPr sz="15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A=B</a:t>
                      </a:r>
                      <a:endParaRPr sz="15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solidFill>
                            <a:srgbClr val="CC0000"/>
                          </a:solidFill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A&gt;B</a:t>
                      </a:r>
                      <a:endParaRPr sz="1500" b="1" dirty="0">
                        <a:solidFill>
                          <a:srgbClr val="CC0000"/>
                        </a:solidFill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7401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94612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35345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3004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3004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3004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3004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23004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1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Fira Sans"/>
                          <a:ea typeface="Fira Sans"/>
                          <a:cs typeface="Fira Sans"/>
                          <a:sym typeface="Fira Sans"/>
                        </a:rPr>
                        <a:t>0</a:t>
                      </a:r>
                      <a:endParaRPr sz="1500" b="1" dirty="0">
                        <a:latin typeface="Fira Sans"/>
                        <a:ea typeface="Fira Sans"/>
                        <a:cs typeface="Fira Sans"/>
                        <a:sym typeface="Fira Sans"/>
                      </a:endParaRPr>
                    </a:p>
                  </a:txBody>
                  <a:tcPr marL="91425" marR="91425" marT="91425" marB="91425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1767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 2 bit </a:t>
            </a:r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Comparator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0" y="5605573"/>
            <a:ext cx="2231371" cy="594811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26" t="11107" r="19616" b="15631"/>
          <a:stretch/>
        </p:blipFill>
        <p:spPr>
          <a:xfrm>
            <a:off x="668094" y="1145205"/>
            <a:ext cx="7994990" cy="4424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831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191854"/>
            <a:ext cx="8546813" cy="721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8227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4 bit Comparator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955110" y="913604"/>
            <a:ext cx="7572484" cy="46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algn="just">
              <a:buClr>
                <a:srgbClr val="000000"/>
              </a:buClr>
              <a:buSzPts val="2900"/>
            </a:pPr>
            <a:r>
              <a:rPr lang="en-US" sz="2400" b="1" dirty="0" smtClean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IC 7485 comparator</a:t>
            </a:r>
          </a:p>
          <a:p>
            <a:pPr marL="320040" algn="just">
              <a:buClr>
                <a:srgbClr val="000000"/>
              </a:buClr>
              <a:buSzPts val="2900"/>
            </a:pPr>
            <a:endParaRPr lang="en-US"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algn="just">
              <a:buClr>
                <a:srgbClr val="000000"/>
              </a:buClr>
              <a:buSzPts val="2900"/>
            </a:pPr>
            <a:r>
              <a:rPr lang="en-US" sz="2400" b="1" dirty="0" smtClean="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rPr>
              <a:t>			</a:t>
            </a:r>
            <a:endParaRPr sz="24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0" y="5605573"/>
            <a:ext cx="2231371" cy="594811"/>
          </a:xfrm>
          <a:prstGeom prst="rect">
            <a:avLst/>
          </a:prstGeom>
        </p:spPr>
      </p:pic>
      <p:pic>
        <p:nvPicPr>
          <p:cNvPr id="2050" name="Picture 2" descr="Pin Diagram of 7485 4-Bit Magnitude Comparator IC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066" y="1628800"/>
            <a:ext cx="3225494" cy="3489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able Listing Pin Configuration of 7485 IC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7369" y="919532"/>
            <a:ext cx="3642474" cy="5057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42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 txBox="1">
            <a:spLocks noGrp="1"/>
          </p:cNvSpPr>
          <p:nvPr>
            <p:ph type="title"/>
          </p:nvPr>
        </p:nvSpPr>
        <p:spPr>
          <a:xfrm>
            <a:off x="281843" y="34528"/>
            <a:ext cx="8400063" cy="514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38395" rIns="76790" bIns="38395" anchor="ctr" anchorCtr="0">
            <a:noAutofit/>
          </a:bodyPr>
          <a:lstStyle/>
          <a:p>
            <a:pPr marL="324000"/>
            <a:r>
              <a:rPr lang="en-US" sz="3000" b="1" dirty="0" smtClean="0">
                <a:solidFill>
                  <a:srgbClr val="C00000"/>
                </a:solidFill>
                <a:latin typeface="Marcellus" charset="0"/>
              </a:rPr>
              <a:t>4 bit Comparator</a:t>
            </a:r>
            <a:endParaRPr sz="3000" b="1" dirty="0">
              <a:solidFill>
                <a:srgbClr val="C00000"/>
              </a:solidFill>
              <a:latin typeface="Marcellus" charset="0"/>
            </a:endParaRPr>
          </a:p>
        </p:txBody>
      </p:sp>
      <p:pic>
        <p:nvPicPr>
          <p:cNvPr id="45" name="Google Shape;4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362258" y="2097118"/>
            <a:ext cx="385984" cy="91774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3378189" y="2920766"/>
            <a:ext cx="176409" cy="699978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" descr="A close up of a sign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5">
            <a:alphaModFix/>
          </a:blip>
          <a:srcRect/>
          <a:stretch/>
        </p:blipFill>
        <p:spPr>
          <a:xfrm>
            <a:off x="8121316" y="5610533"/>
            <a:ext cx="726375" cy="72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3"/>
          <p:cNvSpPr txBox="1"/>
          <p:nvPr/>
        </p:nvSpPr>
        <p:spPr>
          <a:xfrm>
            <a:off x="668094" y="814938"/>
            <a:ext cx="2997188" cy="28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6790" tIns="76790" rIns="76790" bIns="76790" anchor="t" anchorCtr="0">
            <a:noAutofit/>
          </a:bodyPr>
          <a:lstStyle/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  <a:p>
            <a:pPr marL="320040" indent="320040" algn="just">
              <a:buClr>
                <a:srgbClr val="000000"/>
              </a:buClr>
              <a:buSzPts val="2900"/>
            </a:pPr>
            <a:endParaRPr sz="2000" b="1" dirty="0">
              <a:solidFill>
                <a:schemeClr val="dk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pic>
        <p:nvPicPr>
          <p:cNvPr id="9" name="Picture 8"/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80" y="5605573"/>
            <a:ext cx="2231371" cy="594811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2" t="17978" r="36208" b="33483"/>
          <a:stretch/>
        </p:blipFill>
        <p:spPr bwMode="auto">
          <a:xfrm>
            <a:off x="428594" y="548680"/>
            <a:ext cx="8253312" cy="36481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92" t="30561" r="42862" b="40225"/>
          <a:stretch/>
        </p:blipFill>
        <p:spPr bwMode="auto">
          <a:xfrm>
            <a:off x="2051720" y="4099389"/>
            <a:ext cx="5589550" cy="20034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9642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26326</TotalTime>
  <Words>1311</Words>
  <Application>Microsoft Office PowerPoint</Application>
  <PresentationFormat>On-screen Show (4:3)</PresentationFormat>
  <Paragraphs>981</Paragraphs>
  <Slides>39</Slides>
  <Notes>39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0" baseType="lpstr">
      <vt:lpstr>Office Theme</vt:lpstr>
      <vt:lpstr>Digital Logic Design</vt:lpstr>
      <vt:lpstr>Combinational Cirucits</vt:lpstr>
      <vt:lpstr>Contents</vt:lpstr>
      <vt:lpstr>Half Adder</vt:lpstr>
      <vt:lpstr>Full Adders</vt:lpstr>
      <vt:lpstr>Full Adder using 2 half Adders</vt:lpstr>
      <vt:lpstr>Half Subtractor</vt:lpstr>
      <vt:lpstr>Full Subtractor</vt:lpstr>
      <vt:lpstr>Full Subtractor</vt:lpstr>
      <vt:lpstr>Full Subtractor using Half Subtractors</vt:lpstr>
      <vt:lpstr>4 bit adder using full Adder</vt:lpstr>
      <vt:lpstr>4 bit adder IC 7483</vt:lpstr>
      <vt:lpstr>Controlled Adder Subtractor</vt:lpstr>
      <vt:lpstr>Controlled Adder Subtractor</vt:lpstr>
      <vt:lpstr>2:1 Multiplexers</vt:lpstr>
      <vt:lpstr>4:1 Multiplexers</vt:lpstr>
      <vt:lpstr>4:1 Multiplexers</vt:lpstr>
      <vt:lpstr>4:1 Multiplexers using 2:1 Mux</vt:lpstr>
      <vt:lpstr>Multiplexer Tree : 8:1 using 4:1 Mux</vt:lpstr>
      <vt:lpstr>Multiplexer Tree …16:1 using 4:1 Mux</vt:lpstr>
      <vt:lpstr>Multiplexers 8:1 : IC 74151</vt:lpstr>
      <vt:lpstr>Dual 4:1 Mux  IC 74153</vt:lpstr>
      <vt:lpstr>Decoder</vt:lpstr>
      <vt:lpstr>2:4 Decoder</vt:lpstr>
      <vt:lpstr>Decoder with active low output</vt:lpstr>
      <vt:lpstr>Decoder with enable input</vt:lpstr>
      <vt:lpstr>Decoder Tree</vt:lpstr>
      <vt:lpstr>IC 74138: 3:8 Decoder</vt:lpstr>
      <vt:lpstr>Function Implementation using Multiplexer</vt:lpstr>
      <vt:lpstr>Function Implementation using Multiplexer</vt:lpstr>
      <vt:lpstr>Function Implementation using Multiplexer</vt:lpstr>
      <vt:lpstr>Function Implementation using Multiplexer</vt:lpstr>
      <vt:lpstr>Function Implementation using Decoder </vt:lpstr>
      <vt:lpstr>Function Implementation using Decoder</vt:lpstr>
      <vt:lpstr>1 bit Comparator</vt:lpstr>
      <vt:lpstr> 2 bit Comparator</vt:lpstr>
      <vt:lpstr> 2 bit Comparator</vt:lpstr>
      <vt:lpstr>4 bit Comparator</vt:lpstr>
      <vt:lpstr>4 bit Comparator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Design Laboratory</dc:title>
  <dc:creator>Admin</dc:creator>
  <cp:lastModifiedBy>Admin</cp:lastModifiedBy>
  <cp:revision>38</cp:revision>
  <dcterms:created xsi:type="dcterms:W3CDTF">2025-08-08T05:28:27Z</dcterms:created>
  <dcterms:modified xsi:type="dcterms:W3CDTF">2025-12-02T11:02:41Z</dcterms:modified>
</cp:coreProperties>
</file>